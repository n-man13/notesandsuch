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notesSlides/notesSlide9.xml" ContentType="application/vnd.openxmlformats-officedocument.presentationml.notesSlide+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notesSlides/notesSlide11.xml" ContentType="application/vnd.openxmlformats-officedocument.presentationml.notesSlide+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notesSlides/notesSlide13.xml" ContentType="application/vnd.openxmlformats-officedocument.presentationml.notesSlide+xml"/>
  <Override PartName="/ppt/tags/tag23.xml" ContentType="application/vnd.openxmlformats-officedocument.presentationml.tags+xml"/>
  <Override PartName="/ppt/notesSlides/notesSlide14.xml" ContentType="application/vnd.openxmlformats-officedocument.presentationml.notesSlide+xml"/>
  <Override PartName="/ppt/tags/tag24.xml" ContentType="application/vnd.openxmlformats-officedocument.presentationml.tags+xml"/>
  <Override PartName="/ppt/notesSlides/notesSlide1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6.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7.xml" ContentType="application/vnd.openxmlformats-officedocument.presentationml.notesSlide+xml"/>
  <Override PartName="/ppt/tags/tag100.xml" ContentType="application/vnd.openxmlformats-officedocument.presentationml.tags+xml"/>
  <Override PartName="/ppt/notesSlides/notesSlide18.xml" ContentType="application/vnd.openxmlformats-officedocument.presentationml.notesSlide+xml"/>
  <Override PartName="/ppt/tags/tag101.xml" ContentType="application/vnd.openxmlformats-officedocument.presentationml.tags+xml"/>
  <Override PartName="/ppt/notesSlides/notesSlide19.xml" ContentType="application/vnd.openxmlformats-officedocument.presentationml.notesSlide+xml"/>
  <Override PartName="/ppt/tags/tag102.xml" ContentType="application/vnd.openxmlformats-officedocument.presentationml.tags+xml"/>
  <Override PartName="/ppt/notesSlides/notesSlide20.xml" ContentType="application/vnd.openxmlformats-officedocument.presentationml.notesSlide+xml"/>
  <Override PartName="/ppt/tags/tag103.xml" ContentType="application/vnd.openxmlformats-officedocument.presentationml.tags+xml"/>
  <Override PartName="/ppt/notesSlides/notesSlide21.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22.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23.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24.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25.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26.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27.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8.xml" ContentType="application/vnd.openxmlformats-officedocument.presentationml.notesSlide+xml"/>
  <Override PartName="/ppt/tags/tag184.xml" ContentType="application/vnd.openxmlformats-officedocument.presentationml.tags+xml"/>
  <Override PartName="/ppt/notesSlides/notesSlide29.xml" ContentType="application/vnd.openxmlformats-officedocument.presentationml.notesSlide+xml"/>
  <Override PartName="/ppt/tags/tag185.xml" ContentType="application/vnd.openxmlformats-officedocument.presentationml.tags+xml"/>
  <Override PartName="/ppt/notesSlides/notesSlide30.xml" ContentType="application/vnd.openxmlformats-officedocument.presentationml.notesSlide+xml"/>
  <Override PartName="/ppt/tags/tag186.xml" ContentType="application/vnd.openxmlformats-officedocument.presentationml.tags+xml"/>
  <Override PartName="/ppt/notesSlides/notesSlide31.xml" ContentType="application/vnd.openxmlformats-officedocument.presentationml.notesSlide+xml"/>
  <Override PartName="/ppt/tags/tag187.xml" ContentType="application/vnd.openxmlformats-officedocument.presentationml.tags+xml"/>
  <Override PartName="/ppt/notesSlides/notesSlide32.xml" ContentType="application/vnd.openxmlformats-officedocument.presentationml.notesSlide+xml"/>
  <Override PartName="/ppt/tags/tag188.xml" ContentType="application/vnd.openxmlformats-officedocument.presentationml.tags+xml"/>
  <Override PartName="/ppt/notesSlides/notesSlide33.xml" ContentType="application/vnd.openxmlformats-officedocument.presentationml.notesSlide+xml"/>
  <Override PartName="/ppt/tags/tag189.xml" ContentType="application/vnd.openxmlformats-officedocument.presentationml.tags+xml"/>
  <Override PartName="/ppt/notesSlides/notesSlide34.xml" ContentType="application/vnd.openxmlformats-officedocument.presentationml.notesSlide+xml"/>
  <Override PartName="/ppt/tags/tag190.xml" ContentType="application/vnd.openxmlformats-officedocument.presentationml.tags+xml"/>
  <Override PartName="/ppt/notesSlides/notesSlide35.xml" ContentType="application/vnd.openxmlformats-officedocument.presentationml.notesSlide+xml"/>
  <Override PartName="/ppt/tags/tag191.xml" ContentType="application/vnd.openxmlformats-officedocument.presentationml.tags+xml"/>
  <Override PartName="/ppt/notesSlides/notesSlide36.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notesSlides/notesSlide37.xml" ContentType="application/vnd.openxmlformats-officedocument.presentationml.notesSlide+xml"/>
  <Override PartName="/ppt/tags/tag194.xml" ContentType="application/vnd.openxmlformats-officedocument.presentationml.tags+xml"/>
  <Override PartName="/ppt/notesSlides/notesSlide38.xml" ContentType="application/vnd.openxmlformats-officedocument.presentationml.notesSlide+xml"/>
  <Override PartName="/ppt/tags/tag195.xml" ContentType="application/vnd.openxmlformats-officedocument.presentationml.tags+xml"/>
  <Override PartName="/ppt/notesSlides/notesSlide39.xml" ContentType="application/vnd.openxmlformats-officedocument.presentationml.notesSlide+xml"/>
  <Override PartName="/ppt/tags/tag196.xml" ContentType="application/vnd.openxmlformats-officedocument.presentationml.tags+xml"/>
  <Override PartName="/ppt/notesSlides/notesSlide40.xml" ContentType="application/vnd.openxmlformats-officedocument.presentationml.notesSlide+xml"/>
  <Override PartName="/ppt/tags/tag197.xml" ContentType="application/vnd.openxmlformats-officedocument.presentationml.tags+xml"/>
  <Override PartName="/ppt/notesSlides/notesSlide41.xml" ContentType="application/vnd.openxmlformats-officedocument.presentationml.notesSlide+xml"/>
  <Override PartName="/ppt/tags/tag198.xml" ContentType="application/vnd.openxmlformats-officedocument.presentationml.tags+xml"/>
  <Override PartName="/ppt/notesSlides/notesSlide42.xml" ContentType="application/vnd.openxmlformats-officedocument.presentationml.notesSlide+xml"/>
  <Override PartName="/ppt/tags/tag199.xml" ContentType="application/vnd.openxmlformats-officedocument.presentationml.tags+xml"/>
  <Override PartName="/ppt/notesSlides/notesSlide43.xml" ContentType="application/vnd.openxmlformats-officedocument.presentationml.notesSlide+xml"/>
  <Override PartName="/ppt/tags/tag200.xml" ContentType="application/vnd.openxmlformats-officedocument.presentationml.tags+xml"/>
  <Override PartName="/ppt/notesSlides/notesSlide44.xml" ContentType="application/vnd.openxmlformats-officedocument.presentationml.notesSlide+xml"/>
  <Override PartName="/ppt/tags/tag201.xml" ContentType="application/vnd.openxmlformats-officedocument.presentationml.tags+xml"/>
  <Override PartName="/ppt/notesSlides/notesSlide45.xml" ContentType="application/vnd.openxmlformats-officedocument.presentationml.notesSlide+xml"/>
  <Override PartName="/ppt/tags/tag202.xml" ContentType="application/vnd.openxmlformats-officedocument.presentationml.tags+xml"/>
  <Override PartName="/ppt/notesSlides/notesSlide46.xml" ContentType="application/vnd.openxmlformats-officedocument.presentationml.notesSlide+xml"/>
  <Override PartName="/ppt/tags/tag203.xml" ContentType="application/vnd.openxmlformats-officedocument.presentationml.tags+xml"/>
  <Override PartName="/ppt/notesSlides/notesSlide47.xml" ContentType="application/vnd.openxmlformats-officedocument.presentationml.notesSlide+xml"/>
  <Override PartName="/ppt/tags/tag204.xml" ContentType="application/vnd.openxmlformats-officedocument.presentationml.tags+xml"/>
  <Override PartName="/ppt/notesSlides/notesSlide48.xml" ContentType="application/vnd.openxmlformats-officedocument.presentationml.notesSlide+xml"/>
  <Override PartName="/ppt/tags/tag205.xml" ContentType="application/vnd.openxmlformats-officedocument.presentationml.tags+xml"/>
  <Override PartName="/ppt/notesSlides/notesSlide49.xml" ContentType="application/vnd.openxmlformats-officedocument.presentationml.notesSlide+xml"/>
  <Override PartName="/ppt/tags/tag206.xml" ContentType="application/vnd.openxmlformats-officedocument.presentationml.tags+xml"/>
  <Override PartName="/ppt/notesSlides/notesSlide50.xml" ContentType="application/vnd.openxmlformats-officedocument.presentationml.notesSlide+xml"/>
  <Override PartName="/ppt/tags/tag207.xml" ContentType="application/vnd.openxmlformats-officedocument.presentationml.tags+xml"/>
  <Override PartName="/ppt/notesSlides/notesSlide51.xml" ContentType="application/vnd.openxmlformats-officedocument.presentationml.notesSlide+xml"/>
  <Override PartName="/ppt/tags/tag208.xml" ContentType="application/vnd.openxmlformats-officedocument.presentationml.tags+xml"/>
  <Override PartName="/ppt/notesSlides/notesSlide52.xml" ContentType="application/vnd.openxmlformats-officedocument.presentationml.notesSlide+xml"/>
  <Override PartName="/ppt/tags/tag209.xml" ContentType="application/vnd.openxmlformats-officedocument.presentationml.tags+xml"/>
  <Override PartName="/ppt/notesSlides/notesSlide53.xml" ContentType="application/vnd.openxmlformats-officedocument.presentationml.notesSlide+xml"/>
  <Override PartName="/ppt/tags/tag210.xml" ContentType="application/vnd.openxmlformats-officedocument.presentationml.tags+xml"/>
  <Override PartName="/ppt/notesSlides/notesSlide54.xml" ContentType="application/vnd.openxmlformats-officedocument.presentationml.notesSlide+xml"/>
  <Override PartName="/ppt/tags/tag211.xml" ContentType="application/vnd.openxmlformats-officedocument.presentationml.tags+xml"/>
  <Override PartName="/ppt/notesSlides/notesSlide55.xml" ContentType="application/vnd.openxmlformats-officedocument.presentationml.notesSlide+xml"/>
  <Override PartName="/ppt/tags/tag212.xml" ContentType="application/vnd.openxmlformats-officedocument.presentationml.tags+xml"/>
  <Override PartName="/ppt/notesSlides/notesSlide56.xml" ContentType="application/vnd.openxmlformats-officedocument.presentationml.notesSlide+xml"/>
  <Override PartName="/ppt/tags/tag213.xml" ContentType="application/vnd.openxmlformats-officedocument.presentationml.tags+xml"/>
  <Override PartName="/ppt/notesSlides/notesSlide57.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notesSlides/notesSlide58.xml" ContentType="application/vnd.openxmlformats-officedocument.presentationml.notesSlide+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59.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60.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notesSlides/notesSlide61.xml" ContentType="application/vnd.openxmlformats-officedocument.presentationml.notesSlide+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notesSlides/notesSlide62.xml" ContentType="application/vnd.openxmlformats-officedocument.presentationml.notesSlide+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63.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notesSlides/notesSlide64.xml" ContentType="application/vnd.openxmlformats-officedocument.presentationml.notesSlide+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notesSlides/notesSlide65.xml" ContentType="application/vnd.openxmlformats-officedocument.presentationml.notesSlide+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notesSlides/notesSlide66.xml" ContentType="application/vnd.openxmlformats-officedocument.presentationml.notesSlide+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notesSlides/notesSlide67.xml" ContentType="application/vnd.openxmlformats-officedocument.presentationml.notesSlide+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notesSlides/notesSlide68.xml" ContentType="application/vnd.openxmlformats-officedocument.presentationml.notesSlide+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notesSlides/notesSlide69.xml" ContentType="application/vnd.openxmlformats-officedocument.presentationml.notesSlide+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notesSlides/notesSlide70.xml" ContentType="application/vnd.openxmlformats-officedocument.presentationml.notesSlide+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notesSlides/notesSlide71.xml" ContentType="application/vnd.openxmlformats-officedocument.presentationml.notesSlide+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72.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73.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notesSlides/notesSlide74.xml" ContentType="application/vnd.openxmlformats-officedocument.presentationml.notesSlide+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75.xml" ContentType="application/vnd.openxmlformats-officedocument.presentationml.notesSlide+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notesSlides/notesSlide76.xml" ContentType="application/vnd.openxmlformats-officedocument.presentationml.notesSlide+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notesSlides/notesSlide77.xml" ContentType="application/vnd.openxmlformats-officedocument.presentationml.notesSlide+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notesSlides/notesSlide78.xml" ContentType="application/vnd.openxmlformats-officedocument.presentationml.notesSlide+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notesSlides/notesSlide79.xml" ContentType="application/vnd.openxmlformats-officedocument.presentationml.notesSlide+xml"/>
  <Override PartName="/ppt/tags/tag451.xml" ContentType="application/vnd.openxmlformats-officedocument.presentationml.tags+xml"/>
  <Override PartName="/ppt/notesSlides/notesSlide80.xml" ContentType="application/vnd.openxmlformats-officedocument.presentationml.notesSlide+xml"/>
  <Override PartName="/ppt/tags/tag452.xml" ContentType="application/vnd.openxmlformats-officedocument.presentationml.tags+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4"/>
  </p:notesMasterIdLst>
  <p:sldIdLst>
    <p:sldId id="256" r:id="rId2"/>
    <p:sldId id="1237" r:id="rId3"/>
    <p:sldId id="1238" r:id="rId4"/>
    <p:sldId id="612" r:id="rId5"/>
    <p:sldId id="1239" r:id="rId6"/>
    <p:sldId id="1240" r:id="rId7"/>
    <p:sldId id="613" r:id="rId8"/>
    <p:sldId id="566" r:id="rId9"/>
    <p:sldId id="596" r:id="rId10"/>
    <p:sldId id="614" r:id="rId11"/>
    <p:sldId id="615" r:id="rId12"/>
    <p:sldId id="616" r:id="rId13"/>
    <p:sldId id="617" r:id="rId14"/>
    <p:sldId id="618" r:id="rId15"/>
    <p:sldId id="650" r:id="rId16"/>
    <p:sldId id="619" r:id="rId17"/>
    <p:sldId id="620" r:id="rId18"/>
    <p:sldId id="621" r:id="rId19"/>
    <p:sldId id="1241" r:id="rId20"/>
    <p:sldId id="1242" r:id="rId21"/>
    <p:sldId id="597" r:id="rId22"/>
    <p:sldId id="622" r:id="rId23"/>
    <p:sldId id="598" r:id="rId24"/>
    <p:sldId id="624" r:id="rId25"/>
    <p:sldId id="1243" r:id="rId26"/>
    <p:sldId id="1244" r:id="rId27"/>
    <p:sldId id="1245" r:id="rId28"/>
    <p:sldId id="1246" r:id="rId29"/>
    <p:sldId id="1247" r:id="rId30"/>
    <p:sldId id="1248" r:id="rId31"/>
    <p:sldId id="1249" r:id="rId32"/>
    <p:sldId id="627" r:id="rId33"/>
    <p:sldId id="623" r:id="rId34"/>
    <p:sldId id="1045" r:id="rId35"/>
    <p:sldId id="1233" r:id="rId36"/>
    <p:sldId id="1234" r:id="rId37"/>
    <p:sldId id="1235" r:id="rId38"/>
    <p:sldId id="1232" r:id="rId39"/>
    <p:sldId id="1250" r:id="rId40"/>
    <p:sldId id="1251" r:id="rId41"/>
    <p:sldId id="599" r:id="rId42"/>
    <p:sldId id="629" r:id="rId43"/>
    <p:sldId id="630" r:id="rId44"/>
    <p:sldId id="631" r:id="rId45"/>
    <p:sldId id="632" r:id="rId46"/>
    <p:sldId id="633" r:id="rId47"/>
    <p:sldId id="634" r:id="rId48"/>
    <p:sldId id="635" r:id="rId49"/>
    <p:sldId id="636" r:id="rId50"/>
    <p:sldId id="637" r:id="rId51"/>
    <p:sldId id="638" r:id="rId52"/>
    <p:sldId id="639" r:id="rId53"/>
    <p:sldId id="640" r:id="rId54"/>
    <p:sldId id="641" r:id="rId55"/>
    <p:sldId id="642" r:id="rId56"/>
    <p:sldId id="643" r:id="rId57"/>
    <p:sldId id="644" r:id="rId58"/>
    <p:sldId id="645" r:id="rId59"/>
    <p:sldId id="646" r:id="rId60"/>
    <p:sldId id="647" r:id="rId61"/>
    <p:sldId id="359" r:id="rId62"/>
    <p:sldId id="1252" r:id="rId63"/>
    <p:sldId id="1253" r:id="rId64"/>
    <p:sldId id="1254" r:id="rId65"/>
    <p:sldId id="1255" r:id="rId66"/>
    <p:sldId id="1256" r:id="rId67"/>
    <p:sldId id="1257" r:id="rId68"/>
    <p:sldId id="1258" r:id="rId69"/>
    <p:sldId id="1259" r:id="rId70"/>
    <p:sldId id="1260" r:id="rId71"/>
    <p:sldId id="1261" r:id="rId72"/>
    <p:sldId id="1262" r:id="rId73"/>
    <p:sldId id="1263" r:id="rId74"/>
    <p:sldId id="1264" r:id="rId75"/>
    <p:sldId id="1265" r:id="rId76"/>
    <p:sldId id="1266" r:id="rId77"/>
    <p:sldId id="1267" r:id="rId78"/>
    <p:sldId id="1268" r:id="rId79"/>
    <p:sldId id="1269" r:id="rId80"/>
    <p:sldId id="1270" r:id="rId81"/>
    <p:sldId id="1271" r:id="rId82"/>
    <p:sldId id="364" r:id="rId83"/>
    <p:sldId id="365" r:id="rId84"/>
    <p:sldId id="366" r:id="rId85"/>
    <p:sldId id="648" r:id="rId86"/>
    <p:sldId id="1272" r:id="rId87"/>
    <p:sldId id="1273" r:id="rId88"/>
    <p:sldId id="1274" r:id="rId89"/>
    <p:sldId id="1275" r:id="rId90"/>
    <p:sldId id="1276" r:id="rId91"/>
    <p:sldId id="369" r:id="rId92"/>
    <p:sldId id="370" r:id="rId93"/>
    <p:sldId id="1277" r:id="rId94"/>
    <p:sldId id="1278" r:id="rId95"/>
    <p:sldId id="1279" r:id="rId96"/>
    <p:sldId id="1280" r:id="rId97"/>
    <p:sldId id="1281" r:id="rId98"/>
    <p:sldId id="1282" r:id="rId99"/>
    <p:sldId id="1283" r:id="rId100"/>
    <p:sldId id="1284" r:id="rId101"/>
    <p:sldId id="1285" r:id="rId102"/>
    <p:sldId id="1286" r:id="rId103"/>
    <p:sldId id="1287" r:id="rId104"/>
    <p:sldId id="1288" r:id="rId105"/>
    <p:sldId id="1289" r:id="rId106"/>
    <p:sldId id="1290" r:id="rId107"/>
    <p:sldId id="1291" r:id="rId108"/>
    <p:sldId id="357" r:id="rId109"/>
    <p:sldId id="1236" r:id="rId110"/>
    <p:sldId id="1046" r:id="rId111"/>
    <p:sldId id="1229" r:id="rId112"/>
    <p:sldId id="1047" r:id="rId113"/>
  </p:sldIdLst>
  <p:sldSz cx="12192000" cy="6858000"/>
  <p:notesSz cx="6858000" cy="9144000"/>
  <p:embeddedFontLst>
    <p:embeddedFont>
      <p:font typeface="Avenir Next" panose="020B0503020202020204" pitchFamily="34" charset="0"/>
      <p:regular r:id="rId115"/>
      <p:bold r:id="rId116"/>
      <p:italic r:id="rId117"/>
      <p:boldItalic r:id="rId118"/>
    </p:embeddedFont>
    <p:embeddedFont>
      <p:font typeface="Broadway" pitchFamily="82" charset="77"/>
      <p:regular r:id="rId119"/>
    </p:embeddedFont>
    <p:embeddedFont>
      <p:font typeface="Cambria Math" panose="02040503050406030204" pitchFamily="18" charset="0"/>
      <p:regular r:id="rId120"/>
    </p:embeddedFont>
    <p:embeddedFont>
      <p:font typeface="Charmonman" pitchFamily="2" charset="-34"/>
      <p:regular r:id="rId121"/>
      <p:bold r:id="rId122"/>
    </p:embeddedFont>
    <p:embeddedFont>
      <p:font typeface="Gill Sans MT" panose="020B0502020104020203" pitchFamily="34" charset="77"/>
      <p:regular r:id="rId123"/>
      <p:bold r:id="rId124"/>
      <p:italic r:id="rId125"/>
      <p:boldItalic r:id="rId126"/>
    </p:embeddedFont>
    <p:embeddedFont>
      <p:font typeface="Lucida Console" panose="020B0609040504020204" pitchFamily="49" charset="0"/>
      <p:regular r:id="rId127"/>
    </p:embeddedFont>
    <p:embeddedFont>
      <p:font typeface="Lucida Sans Typewriter" panose="020B0509030504030204" pitchFamily="49" charset="77"/>
      <p:regular r:id="rId128"/>
      <p:bold r:id="rId129"/>
    </p:embeddedFont>
    <p:embeddedFont>
      <p:font typeface="Playfair Display" pitchFamily="2" charset="77"/>
      <p:regular r:id="rId130"/>
      <p:bold r:id="rId131"/>
      <p:italic r:id="rId132"/>
      <p:boldItalic r:id="rId133"/>
    </p:embeddedFont>
    <p:embeddedFont>
      <p:font typeface="Playfair Display Medium" pitchFamily="2" charset="77"/>
      <p:regular r:id="rId134"/>
      <p:italic r:id="rId135"/>
    </p:embeddedFont>
    <p:embeddedFont>
      <p:font typeface="Roboto Black" panose="02000000000000000000" pitchFamily="2" charset="0"/>
      <p:bold r:id="rId136"/>
      <p:italic r:id="rId137"/>
      <p:boldItalic r:id="rId138"/>
    </p:embeddedFont>
    <p:embeddedFont>
      <p:font typeface="Tahoma" panose="020B0604030504040204" pitchFamily="34" charset="0"/>
      <p:regular r:id="rId139"/>
      <p:bold r:id="rId1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3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41"/>
    <p:restoredTop sz="89524"/>
  </p:normalViewPr>
  <p:slideViewPr>
    <p:cSldViewPr snapToGrid="0">
      <p:cViewPr varScale="1">
        <p:scale>
          <a:sx n="114" d="100"/>
          <a:sy n="114" d="100"/>
        </p:scale>
        <p:origin x="9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3.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2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9.fntdata"/><Relationship Id="rId128" Type="http://schemas.openxmlformats.org/officeDocument/2006/relationships/font" Target="fonts/font14.fntdata"/><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font" Target="fonts/font4.fntdata"/><Relationship Id="rId134" Type="http://schemas.openxmlformats.org/officeDocument/2006/relationships/font" Target="fonts/font20.fntdata"/><Relationship Id="rId139" Type="http://schemas.openxmlformats.org/officeDocument/2006/relationships/font" Target="fonts/font2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0.fntdata"/><Relationship Id="rId129" Type="http://schemas.openxmlformats.org/officeDocument/2006/relationships/font" Target="fonts/font15.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26.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font" Target="fonts/font5.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6.fntdata"/><Relationship Id="rId135" Type="http://schemas.openxmlformats.org/officeDocument/2006/relationships/font" Target="fonts/font21.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6.fntdata"/><Relationship Id="rId125" Type="http://schemas.openxmlformats.org/officeDocument/2006/relationships/font" Target="fonts/font11.fntdata"/><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1.fntdata"/><Relationship Id="rId131" Type="http://schemas.openxmlformats.org/officeDocument/2006/relationships/font" Target="fonts/font17.fntdata"/><Relationship Id="rId136" Type="http://schemas.openxmlformats.org/officeDocument/2006/relationships/font" Target="fonts/font2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7.fntdata"/><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2.fntdata"/><Relationship Id="rId137"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8.fntdata"/><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9.fntdata"/><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F87E18-CAC3-7644-8F5A-A356800A1012}"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ECA0B-5070-1C41-9095-27C8E67755F0}" type="slidenum">
              <a:rPr lang="en-US" smtClean="0"/>
              <a:t>‹#›</a:t>
            </a:fld>
            <a:endParaRPr lang="en-US"/>
          </a:p>
        </p:txBody>
      </p:sp>
    </p:spTree>
    <p:extLst>
      <p:ext uri="{BB962C8B-B14F-4D97-AF65-F5344CB8AC3E}">
        <p14:creationId xmlns:p14="http://schemas.microsoft.com/office/powerpoint/2010/main" val="2542034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a:t>
            </a:fld>
            <a:endParaRPr lang="en-US"/>
          </a:p>
        </p:txBody>
      </p:sp>
    </p:spTree>
    <p:extLst>
      <p:ext uri="{BB962C8B-B14F-4D97-AF65-F5344CB8AC3E}">
        <p14:creationId xmlns:p14="http://schemas.microsoft.com/office/powerpoint/2010/main" val="3507850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a:t>
            </a:fld>
            <a:endParaRPr lang="en-US"/>
          </a:p>
        </p:txBody>
      </p:sp>
    </p:spTree>
    <p:extLst>
      <p:ext uri="{BB962C8B-B14F-4D97-AF65-F5344CB8AC3E}">
        <p14:creationId xmlns:p14="http://schemas.microsoft.com/office/powerpoint/2010/main" val="4094933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6</a:t>
            </a:fld>
            <a:endParaRPr lang="en-US"/>
          </a:p>
        </p:txBody>
      </p:sp>
    </p:spTree>
    <p:extLst>
      <p:ext uri="{BB962C8B-B14F-4D97-AF65-F5344CB8AC3E}">
        <p14:creationId xmlns:p14="http://schemas.microsoft.com/office/powerpoint/2010/main" val="4094933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7</a:t>
            </a:fld>
            <a:endParaRPr lang="en-US"/>
          </a:p>
        </p:txBody>
      </p:sp>
    </p:spTree>
    <p:extLst>
      <p:ext uri="{BB962C8B-B14F-4D97-AF65-F5344CB8AC3E}">
        <p14:creationId xmlns:p14="http://schemas.microsoft.com/office/powerpoint/2010/main" val="3301201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8</a:t>
            </a:fld>
            <a:endParaRPr lang="en-US"/>
          </a:p>
        </p:txBody>
      </p:sp>
    </p:spTree>
    <p:extLst>
      <p:ext uri="{BB962C8B-B14F-4D97-AF65-F5344CB8AC3E}">
        <p14:creationId xmlns:p14="http://schemas.microsoft.com/office/powerpoint/2010/main" val="3205324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9</a:t>
            </a:fld>
            <a:endParaRPr lang="en-US"/>
          </a:p>
        </p:txBody>
      </p:sp>
    </p:spTree>
    <p:extLst>
      <p:ext uri="{BB962C8B-B14F-4D97-AF65-F5344CB8AC3E}">
        <p14:creationId xmlns:p14="http://schemas.microsoft.com/office/powerpoint/2010/main" val="1523190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10</a:t>
            </a:fld>
            <a:endParaRPr lang="en-US"/>
          </a:p>
        </p:txBody>
      </p:sp>
    </p:spTree>
    <p:extLst>
      <p:ext uri="{BB962C8B-B14F-4D97-AF65-F5344CB8AC3E}">
        <p14:creationId xmlns:p14="http://schemas.microsoft.com/office/powerpoint/2010/main" val="3274449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11</a:t>
            </a:fld>
            <a:endParaRPr lang="en-US"/>
          </a:p>
        </p:txBody>
      </p:sp>
    </p:spTree>
    <p:extLst>
      <p:ext uri="{BB962C8B-B14F-4D97-AF65-F5344CB8AC3E}">
        <p14:creationId xmlns:p14="http://schemas.microsoft.com/office/powerpoint/2010/main" val="3364469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12</a:t>
            </a:fld>
            <a:endParaRPr lang="en-US"/>
          </a:p>
        </p:txBody>
      </p:sp>
    </p:spTree>
    <p:extLst>
      <p:ext uri="{BB962C8B-B14F-4D97-AF65-F5344CB8AC3E}">
        <p14:creationId xmlns:p14="http://schemas.microsoft.com/office/powerpoint/2010/main" val="3234196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13</a:t>
            </a:fld>
            <a:endParaRPr lang="en-US"/>
          </a:p>
        </p:txBody>
      </p:sp>
    </p:spTree>
    <p:extLst>
      <p:ext uri="{BB962C8B-B14F-4D97-AF65-F5344CB8AC3E}">
        <p14:creationId xmlns:p14="http://schemas.microsoft.com/office/powerpoint/2010/main" val="2346125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14</a:t>
            </a:fld>
            <a:endParaRPr lang="en-US"/>
          </a:p>
        </p:txBody>
      </p:sp>
    </p:spTree>
    <p:extLst>
      <p:ext uri="{BB962C8B-B14F-4D97-AF65-F5344CB8AC3E}">
        <p14:creationId xmlns:p14="http://schemas.microsoft.com/office/powerpoint/2010/main" val="2062220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7D580-0E93-05D4-1544-2F80366D7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8E96A-FE7E-3EB5-AADA-22670069B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DD1CB-4FBE-967C-A437-376505BD16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12C726-E7B3-6808-0620-84625FB7FC51}"/>
              </a:ext>
            </a:extLst>
          </p:cNvPr>
          <p:cNvSpPr>
            <a:spLocks noGrp="1"/>
          </p:cNvSpPr>
          <p:nvPr>
            <p:ph type="sldNum" sz="quarter" idx="5"/>
          </p:nvPr>
        </p:nvSpPr>
        <p:spPr/>
        <p:txBody>
          <a:bodyPr/>
          <a:lstStyle/>
          <a:p>
            <a:fld id="{761ECA0B-5070-1C41-9095-27C8E67755F0}" type="slidenum">
              <a:rPr lang="en-US" smtClean="0"/>
              <a:t>15</a:t>
            </a:fld>
            <a:endParaRPr lang="en-US"/>
          </a:p>
        </p:txBody>
      </p:sp>
    </p:spTree>
    <p:extLst>
      <p:ext uri="{BB962C8B-B14F-4D97-AF65-F5344CB8AC3E}">
        <p14:creationId xmlns:p14="http://schemas.microsoft.com/office/powerpoint/2010/main" val="2099013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16</a:t>
            </a:fld>
            <a:endParaRPr lang="en-US"/>
          </a:p>
        </p:txBody>
      </p:sp>
    </p:spTree>
    <p:extLst>
      <p:ext uri="{BB962C8B-B14F-4D97-AF65-F5344CB8AC3E}">
        <p14:creationId xmlns:p14="http://schemas.microsoft.com/office/powerpoint/2010/main" val="3451215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17</a:t>
            </a:fld>
            <a:endParaRPr lang="en-US"/>
          </a:p>
        </p:txBody>
      </p:sp>
    </p:spTree>
    <p:extLst>
      <p:ext uri="{BB962C8B-B14F-4D97-AF65-F5344CB8AC3E}">
        <p14:creationId xmlns:p14="http://schemas.microsoft.com/office/powerpoint/2010/main" val="2639680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18</a:t>
            </a:fld>
            <a:endParaRPr lang="en-US"/>
          </a:p>
        </p:txBody>
      </p:sp>
    </p:spTree>
    <p:extLst>
      <p:ext uri="{BB962C8B-B14F-4D97-AF65-F5344CB8AC3E}">
        <p14:creationId xmlns:p14="http://schemas.microsoft.com/office/powerpoint/2010/main" val="384538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19</a:t>
            </a:fld>
            <a:endParaRPr lang="en-US"/>
          </a:p>
        </p:txBody>
      </p:sp>
    </p:spTree>
    <p:extLst>
      <p:ext uri="{BB962C8B-B14F-4D97-AF65-F5344CB8AC3E}">
        <p14:creationId xmlns:p14="http://schemas.microsoft.com/office/powerpoint/2010/main" val="2181785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20</a:t>
            </a:fld>
            <a:endParaRPr lang="en-US"/>
          </a:p>
        </p:txBody>
      </p:sp>
    </p:spTree>
    <p:extLst>
      <p:ext uri="{BB962C8B-B14F-4D97-AF65-F5344CB8AC3E}">
        <p14:creationId xmlns:p14="http://schemas.microsoft.com/office/powerpoint/2010/main" val="2181785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21</a:t>
            </a:fld>
            <a:endParaRPr lang="en-US"/>
          </a:p>
        </p:txBody>
      </p:sp>
    </p:spTree>
    <p:extLst>
      <p:ext uri="{BB962C8B-B14F-4D97-AF65-F5344CB8AC3E}">
        <p14:creationId xmlns:p14="http://schemas.microsoft.com/office/powerpoint/2010/main" val="3927727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22</a:t>
            </a:fld>
            <a:endParaRPr lang="en-US"/>
          </a:p>
        </p:txBody>
      </p:sp>
    </p:spTree>
    <p:extLst>
      <p:ext uri="{BB962C8B-B14F-4D97-AF65-F5344CB8AC3E}">
        <p14:creationId xmlns:p14="http://schemas.microsoft.com/office/powerpoint/2010/main" val="7803458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23</a:t>
            </a:fld>
            <a:endParaRPr lang="en-US"/>
          </a:p>
        </p:txBody>
      </p:sp>
    </p:spTree>
    <p:extLst>
      <p:ext uri="{BB962C8B-B14F-4D97-AF65-F5344CB8AC3E}">
        <p14:creationId xmlns:p14="http://schemas.microsoft.com/office/powerpoint/2010/main" val="1378244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24</a:t>
            </a:fld>
            <a:endParaRPr lang="en-US"/>
          </a:p>
        </p:txBody>
      </p:sp>
    </p:spTree>
    <p:extLst>
      <p:ext uri="{BB962C8B-B14F-4D97-AF65-F5344CB8AC3E}">
        <p14:creationId xmlns:p14="http://schemas.microsoft.com/office/powerpoint/2010/main" val="2548893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25</a:t>
            </a:fld>
            <a:endParaRPr lang="en-US"/>
          </a:p>
        </p:txBody>
      </p:sp>
    </p:spTree>
    <p:extLst>
      <p:ext uri="{BB962C8B-B14F-4D97-AF65-F5344CB8AC3E}">
        <p14:creationId xmlns:p14="http://schemas.microsoft.com/office/powerpoint/2010/main" val="3517732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26</a:t>
            </a:fld>
            <a:endParaRPr lang="en-US"/>
          </a:p>
        </p:txBody>
      </p:sp>
    </p:spTree>
    <p:extLst>
      <p:ext uri="{BB962C8B-B14F-4D97-AF65-F5344CB8AC3E}">
        <p14:creationId xmlns:p14="http://schemas.microsoft.com/office/powerpoint/2010/main" val="3517732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27</a:t>
            </a:fld>
            <a:endParaRPr lang="en-US"/>
          </a:p>
        </p:txBody>
      </p:sp>
    </p:spTree>
    <p:extLst>
      <p:ext uri="{BB962C8B-B14F-4D97-AF65-F5344CB8AC3E}">
        <p14:creationId xmlns:p14="http://schemas.microsoft.com/office/powerpoint/2010/main" val="4256041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28</a:t>
            </a:fld>
            <a:endParaRPr lang="en-US"/>
          </a:p>
        </p:txBody>
      </p:sp>
    </p:spTree>
    <p:extLst>
      <p:ext uri="{BB962C8B-B14F-4D97-AF65-F5344CB8AC3E}">
        <p14:creationId xmlns:p14="http://schemas.microsoft.com/office/powerpoint/2010/main" val="4256041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29</a:t>
            </a:fld>
            <a:endParaRPr lang="en-US"/>
          </a:p>
        </p:txBody>
      </p:sp>
    </p:spTree>
    <p:extLst>
      <p:ext uri="{BB962C8B-B14F-4D97-AF65-F5344CB8AC3E}">
        <p14:creationId xmlns:p14="http://schemas.microsoft.com/office/powerpoint/2010/main" val="4256041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30</a:t>
            </a:fld>
            <a:endParaRPr lang="en-US"/>
          </a:p>
        </p:txBody>
      </p:sp>
    </p:spTree>
    <p:extLst>
      <p:ext uri="{BB962C8B-B14F-4D97-AF65-F5344CB8AC3E}">
        <p14:creationId xmlns:p14="http://schemas.microsoft.com/office/powerpoint/2010/main" val="42560415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31</a:t>
            </a:fld>
            <a:endParaRPr lang="en-US"/>
          </a:p>
        </p:txBody>
      </p:sp>
    </p:spTree>
    <p:extLst>
      <p:ext uri="{BB962C8B-B14F-4D97-AF65-F5344CB8AC3E}">
        <p14:creationId xmlns:p14="http://schemas.microsoft.com/office/powerpoint/2010/main" val="4256041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32</a:t>
            </a:fld>
            <a:endParaRPr lang="en-US"/>
          </a:p>
        </p:txBody>
      </p:sp>
    </p:spTree>
    <p:extLst>
      <p:ext uri="{BB962C8B-B14F-4D97-AF65-F5344CB8AC3E}">
        <p14:creationId xmlns:p14="http://schemas.microsoft.com/office/powerpoint/2010/main" val="3777357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33</a:t>
            </a:fld>
            <a:endParaRPr lang="en-US"/>
          </a:p>
        </p:txBody>
      </p:sp>
    </p:spTree>
    <p:extLst>
      <p:ext uri="{BB962C8B-B14F-4D97-AF65-F5344CB8AC3E}">
        <p14:creationId xmlns:p14="http://schemas.microsoft.com/office/powerpoint/2010/main" val="796095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dirty="0"/>
          </a:p>
        </p:txBody>
      </p:sp>
      <p:sp>
        <p:nvSpPr>
          <p:cNvPr id="4" name="מציין מיקום של מספר שקופית 3"/>
          <p:cNvSpPr>
            <a:spLocks noGrp="1"/>
          </p:cNvSpPr>
          <p:nvPr>
            <p:ph type="sldNum" sz="quarter" idx="10"/>
          </p:nvPr>
        </p:nvSpPr>
        <p:spPr/>
        <p:txBody>
          <a:bodyPr/>
          <a:lstStyle/>
          <a:p>
            <a:fld id="{B1CEBF4A-CA9D-417C-A2F3-4F6E4B4C6C48}" type="slidenum">
              <a:rPr lang="he-IL" altLang="en-US" smtClean="0"/>
              <a:pPr/>
              <a:t>34</a:t>
            </a:fld>
            <a:endParaRPr lang="en-US" altLang="en-US"/>
          </a:p>
        </p:txBody>
      </p:sp>
    </p:spTree>
    <p:extLst>
      <p:ext uri="{BB962C8B-B14F-4D97-AF65-F5344CB8AC3E}">
        <p14:creationId xmlns:p14="http://schemas.microsoft.com/office/powerpoint/2010/main" val="2368221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6382C-F007-2DDF-C1A1-537B79F4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DC4BB-A4B6-7B4A-50B3-D06B4B307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17BC2-2EF1-4FEA-66CE-013F6C064B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E051AD-D752-9699-2517-7A4E94ACD83E}"/>
              </a:ext>
            </a:extLst>
          </p:cNvPr>
          <p:cNvSpPr>
            <a:spLocks noGrp="1"/>
          </p:cNvSpPr>
          <p:nvPr>
            <p:ph type="sldNum" sz="quarter" idx="5"/>
          </p:nvPr>
        </p:nvSpPr>
        <p:spPr/>
        <p:txBody>
          <a:bodyPr/>
          <a:lstStyle/>
          <a:p>
            <a:fld id="{761ECA0B-5070-1C41-9095-27C8E67755F0}" type="slidenum">
              <a:rPr lang="en-US" smtClean="0"/>
              <a:t>35</a:t>
            </a:fld>
            <a:endParaRPr lang="en-US"/>
          </a:p>
        </p:txBody>
      </p:sp>
    </p:spTree>
    <p:extLst>
      <p:ext uri="{BB962C8B-B14F-4D97-AF65-F5344CB8AC3E}">
        <p14:creationId xmlns:p14="http://schemas.microsoft.com/office/powerpoint/2010/main" val="772848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86C4B-B406-ABD4-E472-0A0B99023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37CC2-46AA-956A-294F-B6DE7344E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50313-F7AF-4A10-BA42-A5ABD030B4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89C7D-7FC0-49F7-BD14-AAC3A20413A9}"/>
              </a:ext>
            </a:extLst>
          </p:cNvPr>
          <p:cNvSpPr>
            <a:spLocks noGrp="1"/>
          </p:cNvSpPr>
          <p:nvPr>
            <p:ph type="sldNum" sz="quarter" idx="5"/>
          </p:nvPr>
        </p:nvSpPr>
        <p:spPr/>
        <p:txBody>
          <a:bodyPr/>
          <a:lstStyle/>
          <a:p>
            <a:fld id="{761ECA0B-5070-1C41-9095-27C8E67755F0}" type="slidenum">
              <a:rPr lang="en-US" smtClean="0"/>
              <a:t>36</a:t>
            </a:fld>
            <a:endParaRPr lang="en-US"/>
          </a:p>
        </p:txBody>
      </p:sp>
    </p:spTree>
    <p:extLst>
      <p:ext uri="{BB962C8B-B14F-4D97-AF65-F5344CB8AC3E}">
        <p14:creationId xmlns:p14="http://schemas.microsoft.com/office/powerpoint/2010/main" val="4174587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12B2-B646-3BEE-7B61-8996AEB3C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14724-0E86-F005-219C-5F282F79B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D7DF8-590E-6DE7-6ED8-582D8A8A34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A054C6-5CE2-BF74-F88D-6C4014286FD6}"/>
              </a:ext>
            </a:extLst>
          </p:cNvPr>
          <p:cNvSpPr>
            <a:spLocks noGrp="1"/>
          </p:cNvSpPr>
          <p:nvPr>
            <p:ph type="sldNum" sz="quarter" idx="5"/>
          </p:nvPr>
        </p:nvSpPr>
        <p:spPr/>
        <p:txBody>
          <a:bodyPr/>
          <a:lstStyle/>
          <a:p>
            <a:fld id="{761ECA0B-5070-1C41-9095-27C8E67755F0}" type="slidenum">
              <a:rPr lang="en-US" smtClean="0"/>
              <a:t>37</a:t>
            </a:fld>
            <a:endParaRPr lang="en-US"/>
          </a:p>
        </p:txBody>
      </p:sp>
    </p:spTree>
    <p:extLst>
      <p:ext uri="{BB962C8B-B14F-4D97-AF65-F5344CB8AC3E}">
        <p14:creationId xmlns:p14="http://schemas.microsoft.com/office/powerpoint/2010/main" val="3313910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A6D3FC-A9C3-4DB4-B63E-405979A781FF}" type="slidenum">
              <a:rPr lang="he-IL" altLang="he-IL"/>
              <a:pPr/>
              <a:t>38</a:t>
            </a:fld>
            <a:endParaRPr lang="en-US" altLang="he-IL"/>
          </a:p>
        </p:txBody>
      </p:sp>
      <p:sp>
        <p:nvSpPr>
          <p:cNvPr id="437250" name="Rectangle 2"/>
          <p:cNvSpPr>
            <a:spLocks noGrp="1" noRot="1" noChangeAspect="1" noChangeArrowheads="1" noTextEdit="1"/>
          </p:cNvSpPr>
          <p:nvPr>
            <p:ph type="sldImg"/>
          </p:nvPr>
        </p:nvSpPr>
        <p:spPr>
          <a:xfrm>
            <a:off x="142875" y="768350"/>
            <a:ext cx="6818313" cy="3835400"/>
          </a:xfrm>
          <a:ln/>
        </p:spPr>
      </p:sp>
      <p:sp>
        <p:nvSpPr>
          <p:cNvPr id="437251" name="Rectangle 3"/>
          <p:cNvSpPr>
            <a:spLocks noGrp="1" noChangeArrowheads="1"/>
          </p:cNvSpPr>
          <p:nvPr>
            <p:ph type="body" idx="1"/>
          </p:nvPr>
        </p:nvSpPr>
        <p:spPr/>
        <p:txBody>
          <a:bodyPr/>
          <a:lstStyle/>
          <a:p>
            <a:endParaRPr lang="he-IL" altLang="he-IL"/>
          </a:p>
        </p:txBody>
      </p:sp>
    </p:spTree>
    <p:extLst>
      <p:ext uri="{BB962C8B-B14F-4D97-AF65-F5344CB8AC3E}">
        <p14:creationId xmlns:p14="http://schemas.microsoft.com/office/powerpoint/2010/main" val="29674089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39</a:t>
            </a:fld>
            <a:endParaRPr lang="en-US"/>
          </a:p>
        </p:txBody>
      </p:sp>
    </p:spTree>
    <p:extLst>
      <p:ext uri="{BB962C8B-B14F-4D97-AF65-F5344CB8AC3E}">
        <p14:creationId xmlns:p14="http://schemas.microsoft.com/office/powerpoint/2010/main" val="30941926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40</a:t>
            </a:fld>
            <a:endParaRPr lang="en-US"/>
          </a:p>
        </p:txBody>
      </p:sp>
    </p:spTree>
    <p:extLst>
      <p:ext uri="{BB962C8B-B14F-4D97-AF65-F5344CB8AC3E}">
        <p14:creationId xmlns:p14="http://schemas.microsoft.com/office/powerpoint/2010/main" val="30941926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41</a:t>
            </a:fld>
            <a:endParaRPr lang="en-US"/>
          </a:p>
        </p:txBody>
      </p:sp>
    </p:spTree>
    <p:extLst>
      <p:ext uri="{BB962C8B-B14F-4D97-AF65-F5344CB8AC3E}">
        <p14:creationId xmlns:p14="http://schemas.microsoft.com/office/powerpoint/2010/main" val="949553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42</a:t>
            </a:fld>
            <a:endParaRPr lang="en-US"/>
          </a:p>
        </p:txBody>
      </p:sp>
    </p:spTree>
    <p:extLst>
      <p:ext uri="{BB962C8B-B14F-4D97-AF65-F5344CB8AC3E}">
        <p14:creationId xmlns:p14="http://schemas.microsoft.com/office/powerpoint/2010/main" val="16700606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43</a:t>
            </a:fld>
            <a:endParaRPr lang="en-US"/>
          </a:p>
        </p:txBody>
      </p:sp>
    </p:spTree>
    <p:extLst>
      <p:ext uri="{BB962C8B-B14F-4D97-AF65-F5344CB8AC3E}">
        <p14:creationId xmlns:p14="http://schemas.microsoft.com/office/powerpoint/2010/main" val="8785383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44</a:t>
            </a:fld>
            <a:endParaRPr lang="en-US"/>
          </a:p>
        </p:txBody>
      </p:sp>
    </p:spTree>
    <p:extLst>
      <p:ext uri="{BB962C8B-B14F-4D97-AF65-F5344CB8AC3E}">
        <p14:creationId xmlns:p14="http://schemas.microsoft.com/office/powerpoint/2010/main" val="19155084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45</a:t>
            </a:fld>
            <a:endParaRPr lang="en-US"/>
          </a:p>
        </p:txBody>
      </p:sp>
    </p:spTree>
    <p:extLst>
      <p:ext uri="{BB962C8B-B14F-4D97-AF65-F5344CB8AC3E}">
        <p14:creationId xmlns:p14="http://schemas.microsoft.com/office/powerpoint/2010/main" val="30365346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46</a:t>
            </a:fld>
            <a:endParaRPr lang="en-US"/>
          </a:p>
        </p:txBody>
      </p:sp>
    </p:spTree>
    <p:extLst>
      <p:ext uri="{BB962C8B-B14F-4D97-AF65-F5344CB8AC3E}">
        <p14:creationId xmlns:p14="http://schemas.microsoft.com/office/powerpoint/2010/main" val="1965827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47</a:t>
            </a:fld>
            <a:endParaRPr lang="en-US"/>
          </a:p>
        </p:txBody>
      </p:sp>
    </p:spTree>
    <p:extLst>
      <p:ext uri="{BB962C8B-B14F-4D97-AF65-F5344CB8AC3E}">
        <p14:creationId xmlns:p14="http://schemas.microsoft.com/office/powerpoint/2010/main" val="27932518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48</a:t>
            </a:fld>
            <a:endParaRPr lang="en-US"/>
          </a:p>
        </p:txBody>
      </p:sp>
    </p:spTree>
    <p:extLst>
      <p:ext uri="{BB962C8B-B14F-4D97-AF65-F5344CB8AC3E}">
        <p14:creationId xmlns:p14="http://schemas.microsoft.com/office/powerpoint/2010/main" val="1000912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49</a:t>
            </a:fld>
            <a:endParaRPr lang="en-US"/>
          </a:p>
        </p:txBody>
      </p:sp>
    </p:spTree>
    <p:extLst>
      <p:ext uri="{BB962C8B-B14F-4D97-AF65-F5344CB8AC3E}">
        <p14:creationId xmlns:p14="http://schemas.microsoft.com/office/powerpoint/2010/main" val="28117959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50</a:t>
            </a:fld>
            <a:endParaRPr lang="en-US"/>
          </a:p>
        </p:txBody>
      </p:sp>
    </p:spTree>
    <p:extLst>
      <p:ext uri="{BB962C8B-B14F-4D97-AF65-F5344CB8AC3E}">
        <p14:creationId xmlns:p14="http://schemas.microsoft.com/office/powerpoint/2010/main" val="36808308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51</a:t>
            </a:fld>
            <a:endParaRPr lang="en-US"/>
          </a:p>
        </p:txBody>
      </p:sp>
    </p:spTree>
    <p:extLst>
      <p:ext uri="{BB962C8B-B14F-4D97-AF65-F5344CB8AC3E}">
        <p14:creationId xmlns:p14="http://schemas.microsoft.com/office/powerpoint/2010/main" val="2245712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52</a:t>
            </a:fld>
            <a:endParaRPr lang="en-US"/>
          </a:p>
        </p:txBody>
      </p:sp>
    </p:spTree>
    <p:extLst>
      <p:ext uri="{BB962C8B-B14F-4D97-AF65-F5344CB8AC3E}">
        <p14:creationId xmlns:p14="http://schemas.microsoft.com/office/powerpoint/2010/main" val="18279590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53</a:t>
            </a:fld>
            <a:endParaRPr lang="en-US"/>
          </a:p>
        </p:txBody>
      </p:sp>
    </p:spTree>
    <p:extLst>
      <p:ext uri="{BB962C8B-B14F-4D97-AF65-F5344CB8AC3E}">
        <p14:creationId xmlns:p14="http://schemas.microsoft.com/office/powerpoint/2010/main" val="33459959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54</a:t>
            </a:fld>
            <a:endParaRPr lang="en-US"/>
          </a:p>
        </p:txBody>
      </p:sp>
    </p:spTree>
    <p:extLst>
      <p:ext uri="{BB962C8B-B14F-4D97-AF65-F5344CB8AC3E}">
        <p14:creationId xmlns:p14="http://schemas.microsoft.com/office/powerpoint/2010/main" val="25415318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55</a:t>
            </a:fld>
            <a:endParaRPr lang="en-US"/>
          </a:p>
        </p:txBody>
      </p:sp>
    </p:spTree>
    <p:extLst>
      <p:ext uri="{BB962C8B-B14F-4D97-AF65-F5344CB8AC3E}">
        <p14:creationId xmlns:p14="http://schemas.microsoft.com/office/powerpoint/2010/main" val="3124722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56</a:t>
            </a:fld>
            <a:endParaRPr lang="en-US"/>
          </a:p>
        </p:txBody>
      </p:sp>
    </p:spTree>
    <p:extLst>
      <p:ext uri="{BB962C8B-B14F-4D97-AF65-F5344CB8AC3E}">
        <p14:creationId xmlns:p14="http://schemas.microsoft.com/office/powerpoint/2010/main" val="27637133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57</a:t>
            </a:fld>
            <a:endParaRPr lang="en-US"/>
          </a:p>
        </p:txBody>
      </p:sp>
    </p:spTree>
    <p:extLst>
      <p:ext uri="{BB962C8B-B14F-4D97-AF65-F5344CB8AC3E}">
        <p14:creationId xmlns:p14="http://schemas.microsoft.com/office/powerpoint/2010/main" val="19946327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58</a:t>
            </a:fld>
            <a:endParaRPr lang="en-US"/>
          </a:p>
        </p:txBody>
      </p:sp>
    </p:spTree>
    <p:extLst>
      <p:ext uri="{BB962C8B-B14F-4D97-AF65-F5344CB8AC3E}">
        <p14:creationId xmlns:p14="http://schemas.microsoft.com/office/powerpoint/2010/main" val="26354820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59</a:t>
            </a:fld>
            <a:endParaRPr lang="en-US"/>
          </a:p>
        </p:txBody>
      </p:sp>
    </p:spTree>
    <p:extLst>
      <p:ext uri="{BB962C8B-B14F-4D97-AF65-F5344CB8AC3E}">
        <p14:creationId xmlns:p14="http://schemas.microsoft.com/office/powerpoint/2010/main" val="18395262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ECA0B-5070-1C41-9095-27C8E67755F0}" type="slidenum">
              <a:rPr lang="en-US" smtClean="0"/>
              <a:t>60</a:t>
            </a:fld>
            <a:endParaRPr lang="en-US"/>
          </a:p>
        </p:txBody>
      </p:sp>
    </p:spTree>
    <p:extLst>
      <p:ext uri="{BB962C8B-B14F-4D97-AF65-F5344CB8AC3E}">
        <p14:creationId xmlns:p14="http://schemas.microsoft.com/office/powerpoint/2010/main" val="20956468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root certificate and public key are installed</a:t>
            </a:r>
          </a:p>
          <a:p>
            <a:endParaRPr lang="en-US" dirty="0"/>
          </a:p>
          <a:p>
            <a:endParaRPr lang="en-US" dirty="0"/>
          </a:p>
          <a:p>
            <a:r>
              <a:rPr lang="en-US" dirty="0"/>
              <a:t>Pinning for serve certificate</a:t>
            </a:r>
          </a:p>
          <a:p>
            <a:endParaRPr lang="en-US" dirty="0"/>
          </a:p>
          <a:p>
            <a:endParaRPr lang="en-US" dirty="0"/>
          </a:p>
          <a:p>
            <a:endParaRPr lang="en-US" dirty="0"/>
          </a:p>
          <a:p>
            <a:r>
              <a:rPr lang="en-US" dirty="0"/>
              <a:t>Other semantic checking also happens</a:t>
            </a:r>
          </a:p>
        </p:txBody>
      </p:sp>
    </p:spTree>
    <p:extLst>
      <p:ext uri="{BB962C8B-B14F-4D97-AF65-F5344CB8AC3E}">
        <p14:creationId xmlns:p14="http://schemas.microsoft.com/office/powerpoint/2010/main" val="20515369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heuristic, how did they do https interception</a:t>
            </a:r>
          </a:p>
        </p:txBody>
      </p:sp>
    </p:spTree>
    <p:extLst>
      <p:ext uri="{BB962C8B-B14F-4D97-AF65-F5344CB8AC3E}">
        <p14:creationId xmlns:p14="http://schemas.microsoft.com/office/powerpoint/2010/main" val="42471236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heuristic, how did they do https interception</a:t>
            </a:r>
          </a:p>
        </p:txBody>
      </p:sp>
    </p:spTree>
    <p:extLst>
      <p:ext uri="{BB962C8B-B14F-4D97-AF65-F5344CB8AC3E}">
        <p14:creationId xmlns:p14="http://schemas.microsoft.com/office/powerpoint/2010/main" val="42471236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heuristic, how did they do https interception</a:t>
            </a:r>
          </a:p>
        </p:txBody>
      </p:sp>
    </p:spTree>
    <p:extLst>
      <p:ext uri="{BB962C8B-B14F-4D97-AF65-F5344CB8AC3E}">
        <p14:creationId xmlns:p14="http://schemas.microsoft.com/office/powerpoint/2010/main" val="42471236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heuristic, how did they do https interception</a:t>
            </a:r>
          </a:p>
        </p:txBody>
      </p:sp>
    </p:spTree>
    <p:extLst>
      <p:ext uri="{BB962C8B-B14F-4D97-AF65-F5344CB8AC3E}">
        <p14:creationId xmlns:p14="http://schemas.microsoft.com/office/powerpoint/2010/main" val="42471236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packet inspector</a:t>
            </a:r>
          </a:p>
        </p:txBody>
      </p:sp>
    </p:spTree>
    <p:extLst>
      <p:ext uri="{BB962C8B-B14F-4D97-AF65-F5344CB8AC3E}">
        <p14:creationId xmlns:p14="http://schemas.microsoft.com/office/powerpoint/2010/main" val="9982704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DANE enables the administrator of a domain name to certify the keys used in that domain's TLS clients or servers by storing them in the Domain Name System (DNS). DANE needs the DNS records to be signed with DNSSEC for its security model to work.</a:t>
            </a:r>
          </a:p>
          <a:p>
            <a:endParaRPr lang="en-US" b="1" dirty="0"/>
          </a:p>
          <a:p>
            <a:r>
              <a:rPr lang="en-US" b="1" dirty="0"/>
              <a:t>Additionally DANE allows a domain owner to specify which CA is allowed to issue certificates for a particular resource, which solves the problem of any CA being able to issue certificates for any domain. </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DNSSEC  provide to DNS clients (resolvers) cryptographic  authentication of DNS data, authenticated denial of existence, and data integrity, but not availability or confidentiality.  // digital signatures</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A host or service’s certificate or public key can be added to an application at development time, or it can be added upon first encountering the certificate or public key.</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	App communicating with a particular server</a:t>
            </a:r>
          </a:p>
        </p:txBody>
      </p:sp>
    </p:spTree>
    <p:extLst>
      <p:ext uri="{BB962C8B-B14F-4D97-AF65-F5344CB8AC3E}">
        <p14:creationId xmlns:p14="http://schemas.microsoft.com/office/powerpoint/2010/main" val="23171421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DANE enables the administrator of a domain name to certify the keys used in that domain's TLS clients or servers by storing them in the Domain Name System (DNS). DANE needs the DNS records to be signed with DNSSEC for its security model to work.</a:t>
            </a:r>
          </a:p>
          <a:p>
            <a:endParaRPr lang="en-US" b="1" dirty="0"/>
          </a:p>
          <a:p>
            <a:r>
              <a:rPr lang="en-US" b="1" dirty="0"/>
              <a:t>Additionally DANE allows a domain owner to specify which CA is allowed to issue certificates for a particular resource, which solves the problem of any CA being able to issue certificates for any domain. </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DNSSEC  provide to DNS clients (resolvers) cryptographic  authentication of DNS data, authenticated denial of existence, and data integrity, but not availability or confidentiality.  // digital signatures</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A host or service’s certificate or public key can be added to an application at development time, or it can be added upon first encountering the certificate or public key.</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	App communicating with a particular server</a:t>
            </a:r>
          </a:p>
        </p:txBody>
      </p:sp>
    </p:spTree>
    <p:extLst>
      <p:ext uri="{BB962C8B-B14F-4D97-AF65-F5344CB8AC3E}">
        <p14:creationId xmlns:p14="http://schemas.microsoft.com/office/powerpoint/2010/main" val="23171421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DANE enables the administrator of a domain name to certify the keys used in that domain's TLS clients or servers by storing them in the Domain Name System (DNS). DANE needs the DNS records to be signed with DNSSEC for its security model to work.</a:t>
            </a:r>
          </a:p>
          <a:p>
            <a:endParaRPr lang="en-US" b="1" dirty="0"/>
          </a:p>
          <a:p>
            <a:r>
              <a:rPr lang="en-US" b="1" dirty="0"/>
              <a:t>Additionally DANE allows a domain owner to specify which CA is allowed to issue certificates for a particular resource, which solves the problem of any CA being able to issue certificates for any domain. </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DNSSEC  provide to DNS clients (resolvers) cryptographic  authentication of DNS data, authenticated denial of existence, and data integrity, but not availability or confidentiality.  // digital signatures</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A host or service’s certificate or public key can be added to an application at development time, or it can be added upon first encountering the certificate or public key.</a:t>
            </a:r>
          </a:p>
          <a:p>
            <a:endParaRPr lang="en-US" b="1" dirty="0">
              <a:cs typeface="Calibri" panose="020F0502020204030204"/>
            </a:endParaRPr>
          </a:p>
          <a:p>
            <a:endParaRPr lang="en-US" b="1" dirty="0">
              <a:cs typeface="Calibri" panose="020F0502020204030204"/>
            </a:endParaRPr>
          </a:p>
          <a:p>
            <a:r>
              <a:rPr lang="en-US" b="1" dirty="0">
                <a:cs typeface="Calibri" panose="020F0502020204030204"/>
              </a:rPr>
              <a:t>	App communicating with a particular server</a:t>
            </a:r>
          </a:p>
        </p:txBody>
      </p:sp>
    </p:spTree>
    <p:extLst>
      <p:ext uri="{BB962C8B-B14F-4D97-AF65-F5344CB8AC3E}">
        <p14:creationId xmlns:p14="http://schemas.microsoft.com/office/powerpoint/2010/main" val="23171421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about </a:t>
            </a:r>
            <a:r>
              <a:rPr lang="en-US" dirty="0" err="1"/>
              <a:t>trustbase</a:t>
            </a:r>
            <a:endParaRPr lang="en-US" dirty="0"/>
          </a:p>
        </p:txBody>
      </p:sp>
    </p:spTree>
    <p:extLst>
      <p:ext uri="{BB962C8B-B14F-4D97-AF65-F5344CB8AC3E}">
        <p14:creationId xmlns:p14="http://schemas.microsoft.com/office/powerpoint/2010/main" val="1242405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about </a:t>
            </a:r>
            <a:r>
              <a:rPr lang="en-US" dirty="0" err="1"/>
              <a:t>trustbase</a:t>
            </a:r>
            <a:endParaRPr lang="en-US" dirty="0"/>
          </a:p>
        </p:txBody>
      </p:sp>
    </p:spTree>
    <p:extLst>
      <p:ext uri="{BB962C8B-B14F-4D97-AF65-F5344CB8AC3E}">
        <p14:creationId xmlns:p14="http://schemas.microsoft.com/office/powerpoint/2010/main" val="1242405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about </a:t>
            </a:r>
            <a:r>
              <a:rPr lang="en-US" dirty="0" err="1"/>
              <a:t>trustbase</a:t>
            </a:r>
            <a:endParaRPr lang="en-US" dirty="0"/>
          </a:p>
        </p:txBody>
      </p:sp>
    </p:spTree>
    <p:extLst>
      <p:ext uri="{BB962C8B-B14F-4D97-AF65-F5344CB8AC3E}">
        <p14:creationId xmlns:p14="http://schemas.microsoft.com/office/powerpoint/2010/main" val="12424054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about </a:t>
            </a:r>
            <a:r>
              <a:rPr lang="en-US" dirty="0" err="1"/>
              <a:t>trustbase</a:t>
            </a:r>
            <a:endParaRPr lang="en-US" dirty="0"/>
          </a:p>
        </p:txBody>
      </p:sp>
    </p:spTree>
    <p:extLst>
      <p:ext uri="{BB962C8B-B14F-4D97-AF65-F5344CB8AC3E}">
        <p14:creationId xmlns:p14="http://schemas.microsoft.com/office/powerpoint/2010/main" val="1242405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about </a:t>
            </a:r>
            <a:r>
              <a:rPr lang="en-US" dirty="0" err="1"/>
              <a:t>trustbase</a:t>
            </a:r>
            <a:endParaRPr lang="en-US" dirty="0"/>
          </a:p>
        </p:txBody>
      </p:sp>
    </p:spTree>
    <p:extLst>
      <p:ext uri="{BB962C8B-B14F-4D97-AF65-F5344CB8AC3E}">
        <p14:creationId xmlns:p14="http://schemas.microsoft.com/office/powerpoint/2010/main" val="1242405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Contents of PSK-ticket</a:t>
            </a:r>
            <a:r>
              <a:rPr lang="en-US" baseline="0" dirty="0"/>
              <a:t> are handled by server: could be keys to lookup in DB (like session ID) or, more likely, send-encrypted-and-authenticated keys (like session tickets). Keys are used to authenticate exchange – and derive master key!</a:t>
            </a:r>
            <a:endParaRPr lang="en-US" dirty="0"/>
          </a:p>
        </p:txBody>
      </p:sp>
      <p:sp>
        <p:nvSpPr>
          <p:cNvPr id="4" name="מציין מיקום של מספר שקופית 3"/>
          <p:cNvSpPr>
            <a:spLocks noGrp="1"/>
          </p:cNvSpPr>
          <p:nvPr>
            <p:ph type="sldNum" sz="quarter" idx="10"/>
          </p:nvPr>
        </p:nvSpPr>
        <p:spPr/>
        <p:txBody>
          <a:bodyPr/>
          <a:lstStyle/>
          <a:p>
            <a:fld id="{B1CEBF4A-CA9D-417C-A2F3-4F6E4B4C6C48}" type="slidenum">
              <a:rPr lang="he-IL" altLang="en-US" smtClean="0"/>
              <a:pPr/>
              <a:t>110</a:t>
            </a:fld>
            <a:endParaRPr lang="en-US" altLang="en-US"/>
          </a:p>
        </p:txBody>
      </p:sp>
    </p:spTree>
    <p:extLst>
      <p:ext uri="{BB962C8B-B14F-4D97-AF65-F5344CB8AC3E}">
        <p14:creationId xmlns:p14="http://schemas.microsoft.com/office/powerpoint/2010/main" val="21638487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Contents of PSK-ticket</a:t>
            </a:r>
            <a:r>
              <a:rPr lang="en-US" baseline="0" dirty="0"/>
              <a:t> are handled by server: could be keys to lookup in DB (like session ID) or, more likely, send-encrypted-and-authenticated keys (like session tickets). Keys are used to authenticate exchange – and derive master key!</a:t>
            </a:r>
            <a:endParaRPr lang="en-US" dirty="0"/>
          </a:p>
        </p:txBody>
      </p:sp>
      <p:sp>
        <p:nvSpPr>
          <p:cNvPr id="4" name="מציין מיקום של מספר שקופית 3"/>
          <p:cNvSpPr>
            <a:spLocks noGrp="1"/>
          </p:cNvSpPr>
          <p:nvPr>
            <p:ph type="sldNum" sz="quarter" idx="10"/>
          </p:nvPr>
        </p:nvSpPr>
        <p:spPr/>
        <p:txBody>
          <a:bodyPr/>
          <a:lstStyle/>
          <a:p>
            <a:fld id="{B1CEBF4A-CA9D-417C-A2F3-4F6E4B4C6C48}" type="slidenum">
              <a:rPr lang="he-IL" altLang="en-US" smtClean="0"/>
              <a:pPr/>
              <a:t>111</a:t>
            </a:fld>
            <a:endParaRPr lang="en-US" altLang="en-US"/>
          </a:p>
        </p:txBody>
      </p:sp>
    </p:spTree>
    <p:extLst>
      <p:ext uri="{BB962C8B-B14F-4D97-AF65-F5344CB8AC3E}">
        <p14:creationId xmlns:p14="http://schemas.microsoft.com/office/powerpoint/2010/main" val="14660727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Contents of PSK-ticket</a:t>
            </a:r>
            <a:r>
              <a:rPr lang="en-US" baseline="0" dirty="0"/>
              <a:t> are handled by server: could be keys to lookup in DB (like session ID) or, more likely, send-encrypted-and-authenticated keys (like session tickets). Keys are used to authenticate exchange – and derive master key!</a:t>
            </a:r>
            <a:endParaRPr lang="en-US" dirty="0"/>
          </a:p>
        </p:txBody>
      </p:sp>
      <p:sp>
        <p:nvSpPr>
          <p:cNvPr id="4" name="מציין מיקום של מספר שקופית 3"/>
          <p:cNvSpPr>
            <a:spLocks noGrp="1"/>
          </p:cNvSpPr>
          <p:nvPr>
            <p:ph type="sldNum" sz="quarter" idx="10"/>
          </p:nvPr>
        </p:nvSpPr>
        <p:spPr/>
        <p:txBody>
          <a:bodyPr/>
          <a:lstStyle/>
          <a:p>
            <a:fld id="{B1CEBF4A-CA9D-417C-A2F3-4F6E4B4C6C48}" type="slidenum">
              <a:rPr lang="he-IL" altLang="en-US" smtClean="0"/>
              <a:pPr/>
              <a:t>112</a:t>
            </a:fld>
            <a:endParaRPr lang="en-US" altLang="en-US"/>
          </a:p>
        </p:txBody>
      </p:sp>
    </p:spTree>
    <p:extLst>
      <p:ext uri="{BB962C8B-B14F-4D97-AF65-F5344CB8AC3E}">
        <p14:creationId xmlns:p14="http://schemas.microsoft.com/office/powerpoint/2010/main" val="10702206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38108-892F-9329-1A67-AEA6E5211BB3}"/>
              </a:ext>
            </a:extLst>
          </p:cNvPr>
          <p:cNvSpPr>
            <a:spLocks noGrp="1"/>
          </p:cNvSpPr>
          <p:nvPr>
            <p:ph type="ctrTitle"/>
          </p:nvPr>
        </p:nvSpPr>
        <p:spPr>
          <a:xfrm>
            <a:off x="1524000" y="1122363"/>
            <a:ext cx="9144000" cy="2387600"/>
          </a:xfrm>
        </p:spPr>
        <p:txBody>
          <a:bodyPr anchor="b"/>
          <a:lstStyle>
            <a:lvl1pPr algn="ctr">
              <a:defRPr sz="6000">
                <a:latin typeface=""/>
              </a:defRPr>
            </a:lvl1pPr>
          </a:lstStyle>
          <a:p>
            <a:r>
              <a:rPr lang="en-US" dirty="0"/>
              <a:t>Click to edit Master title style</a:t>
            </a:r>
          </a:p>
        </p:txBody>
      </p:sp>
      <p:sp>
        <p:nvSpPr>
          <p:cNvPr id="3" name="Subtitle 2">
            <a:extLst>
              <a:ext uri="{FF2B5EF4-FFF2-40B4-BE49-F238E27FC236}">
                <a16:creationId xmlns:a16="http://schemas.microsoft.com/office/drawing/2014/main" id="{3D8985D6-3B28-9B3B-A664-9F9384F66134}"/>
              </a:ext>
            </a:extLst>
          </p:cNvPr>
          <p:cNvSpPr>
            <a:spLocks noGrp="1"/>
          </p:cNvSpPr>
          <p:nvPr>
            <p:ph type="subTitle" idx="1"/>
          </p:nvPr>
        </p:nvSpPr>
        <p:spPr>
          <a:xfrm>
            <a:off x="1524000" y="3602038"/>
            <a:ext cx="9144000" cy="1655762"/>
          </a:xfrm>
        </p:spPr>
        <p:txBody>
          <a:bodyPr/>
          <a:lstStyle>
            <a:lvl1pPr marL="0" indent="0" algn="ctr">
              <a:buNone/>
              <a:defRPr sz="2400">
                <a:latin typefac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2405921-6575-035D-1774-2506554CA19A}"/>
              </a:ext>
            </a:extLst>
          </p:cNvPr>
          <p:cNvSpPr>
            <a:spLocks noGrp="1"/>
          </p:cNvSpPr>
          <p:nvPr>
            <p:ph type="dt" sz="half" idx="10"/>
          </p:nvPr>
        </p:nvSpPr>
        <p:spPr/>
        <p:txBody>
          <a:bodyPr/>
          <a:lstStyle>
            <a:lvl1pPr>
              <a:defRPr>
                <a:latin typeface=""/>
              </a:defRPr>
            </a:lvl1pPr>
          </a:lstStyle>
          <a:p>
            <a:fld id="{7DB3996C-7414-5949-9F08-46CB74AC3D99}" type="datetimeFigureOut">
              <a:rPr lang="en-US" smtClean="0"/>
              <a:pPr/>
              <a:t>2/17/26</a:t>
            </a:fld>
            <a:endParaRPr lang="en-US" dirty="0"/>
          </a:p>
        </p:txBody>
      </p:sp>
      <p:sp>
        <p:nvSpPr>
          <p:cNvPr id="5" name="Footer Placeholder 4">
            <a:extLst>
              <a:ext uri="{FF2B5EF4-FFF2-40B4-BE49-F238E27FC236}">
                <a16:creationId xmlns:a16="http://schemas.microsoft.com/office/drawing/2014/main" id="{DF6CD911-3926-3CE8-C506-1B549BB1E9A1}"/>
              </a:ext>
            </a:extLst>
          </p:cNvPr>
          <p:cNvSpPr>
            <a:spLocks noGrp="1"/>
          </p:cNvSpPr>
          <p:nvPr>
            <p:ph type="ftr" sz="quarter" idx="11"/>
          </p:nvPr>
        </p:nvSpPr>
        <p:spPr/>
        <p:txBody>
          <a:bodyPr/>
          <a:lstStyle>
            <a:lvl1pPr>
              <a:defRPr>
                <a:latin typeface=""/>
              </a:defRPr>
            </a:lvl1pPr>
          </a:lstStyle>
          <a:p>
            <a:endParaRPr lang="en-US" dirty="0"/>
          </a:p>
        </p:txBody>
      </p:sp>
      <p:sp>
        <p:nvSpPr>
          <p:cNvPr id="6" name="Slide Number Placeholder 5">
            <a:extLst>
              <a:ext uri="{FF2B5EF4-FFF2-40B4-BE49-F238E27FC236}">
                <a16:creationId xmlns:a16="http://schemas.microsoft.com/office/drawing/2014/main" id="{756DECB1-18FD-D613-6D7F-D4F45EB3D73B}"/>
              </a:ext>
            </a:extLst>
          </p:cNvPr>
          <p:cNvSpPr>
            <a:spLocks noGrp="1"/>
          </p:cNvSpPr>
          <p:nvPr>
            <p:ph type="sldNum" sz="quarter" idx="12"/>
          </p:nvPr>
        </p:nvSpPr>
        <p:spPr/>
        <p:txBody>
          <a:bodyPr/>
          <a:lstStyle>
            <a:lvl1pPr>
              <a:defRPr>
                <a:latin typeface=""/>
              </a:defRPr>
            </a:lvl1pPr>
          </a:lstStyle>
          <a:p>
            <a:fld id="{4B71F97A-2E03-164F-B9B6-A00EA61B5B0D}" type="slidenum">
              <a:rPr lang="en-US" smtClean="0"/>
              <a:pPr/>
              <a:t>‹#›</a:t>
            </a:fld>
            <a:endParaRPr lang="en-US" dirty="0"/>
          </a:p>
        </p:txBody>
      </p:sp>
      <p:pic>
        <p:nvPicPr>
          <p:cNvPr id="7" name="Picture 6">
            <a:extLst>
              <a:ext uri="{FF2B5EF4-FFF2-40B4-BE49-F238E27FC236}">
                <a16:creationId xmlns:a16="http://schemas.microsoft.com/office/drawing/2014/main" id="{8E0F3A4D-F985-7BCB-AB0F-64E16508C9A5}"/>
              </a:ext>
            </a:extLst>
          </p:cNvPr>
          <p:cNvPicPr>
            <a:picLocks noChangeAspect="1"/>
          </p:cNvPicPr>
          <p:nvPr userDrawn="1"/>
        </p:nvPicPr>
        <p:blipFill>
          <a:blip r:embed="rId2"/>
          <a:stretch>
            <a:fillRect/>
          </a:stretch>
        </p:blipFill>
        <p:spPr>
          <a:xfrm>
            <a:off x="8906137" y="23813"/>
            <a:ext cx="3167695" cy="542717"/>
          </a:xfrm>
          <a:prstGeom prst="rect">
            <a:avLst/>
          </a:prstGeom>
        </p:spPr>
      </p:pic>
    </p:spTree>
    <p:extLst>
      <p:ext uri="{BB962C8B-B14F-4D97-AF65-F5344CB8AC3E}">
        <p14:creationId xmlns:p14="http://schemas.microsoft.com/office/powerpoint/2010/main" val="3095930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DB7FD-1F1D-229A-5278-1FDF294E26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98BD49-CAD6-A556-E6CD-EE8B78C29B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F33F4-845E-47E0-094D-6F8845BAD731}"/>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5" name="Footer Placeholder 4">
            <a:extLst>
              <a:ext uri="{FF2B5EF4-FFF2-40B4-BE49-F238E27FC236}">
                <a16:creationId xmlns:a16="http://schemas.microsoft.com/office/drawing/2014/main" id="{AEEBE11F-62CD-EC80-0A16-957295933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E3BBF8-2A72-3253-EF0F-B907EBAB022A}"/>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386323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3353-E236-4A5B-D93D-0BBA31C57F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3848F1-CDE4-C5BF-9223-E4D54B7DB7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A3B19-E1D0-91B0-CF2A-536EB6AD158D}"/>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5" name="Footer Placeholder 4">
            <a:extLst>
              <a:ext uri="{FF2B5EF4-FFF2-40B4-BE49-F238E27FC236}">
                <a16:creationId xmlns:a16="http://schemas.microsoft.com/office/drawing/2014/main" id="{848569CD-47FB-76D0-4F59-045FDA05A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B523B-6FF8-9048-813C-A16F8354F8F6}"/>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25220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D82A3-2386-0AE3-0358-2BD487387A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3DCA16-F758-9C96-F157-4FDAF88314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65DC6A-4DF6-82F7-4C91-F5BBDD0789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339355-B26D-9895-B5F3-F4E92F4C5374}"/>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6" name="Footer Placeholder 5">
            <a:extLst>
              <a:ext uri="{FF2B5EF4-FFF2-40B4-BE49-F238E27FC236}">
                <a16:creationId xmlns:a16="http://schemas.microsoft.com/office/drawing/2014/main" id="{10E5DCCB-BC65-85DA-7B91-485717505F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C8268-BE38-C7FD-AE4D-CB999EE3B430}"/>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1143433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3587-2580-047A-5B5B-DF3DE3EDD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2CB573-C4AA-96D8-3D8A-75494C376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9104B6-E708-1E63-48A4-9DB23FFA24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7D8DA3-8C6C-1BBF-0D5D-FD5D99A71D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3BAC7D-B5DC-F22D-914F-59A264611B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51A7B6-E499-E375-DD61-3BC712E803A0}"/>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8" name="Footer Placeholder 7">
            <a:extLst>
              <a:ext uri="{FF2B5EF4-FFF2-40B4-BE49-F238E27FC236}">
                <a16:creationId xmlns:a16="http://schemas.microsoft.com/office/drawing/2014/main" id="{FA15DE18-CC0C-2503-6E76-83CD6B0EF7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28EDDB-F37B-9CE1-1914-4036E469AA1E}"/>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444143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C311-1AEA-3ACC-8B98-651510157B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1411E0-6CC8-A5A4-02F9-3C82FBA2434E}"/>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4" name="Footer Placeholder 3">
            <a:extLst>
              <a:ext uri="{FF2B5EF4-FFF2-40B4-BE49-F238E27FC236}">
                <a16:creationId xmlns:a16="http://schemas.microsoft.com/office/drawing/2014/main" id="{63173077-8B1E-46A3-3115-4AA5C97FBB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61B0E8-18DD-EE30-DD04-E559BC90132A}"/>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114495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A7AFA-6632-3747-FEAF-65E324DACA32}"/>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3" name="Footer Placeholder 2">
            <a:extLst>
              <a:ext uri="{FF2B5EF4-FFF2-40B4-BE49-F238E27FC236}">
                <a16:creationId xmlns:a16="http://schemas.microsoft.com/office/drawing/2014/main" id="{F7D14213-25B8-1E69-5223-D70FB2208E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D464E3-49D6-201B-CE73-0983A824384D}"/>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85921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41C46-7459-BECE-4230-04F83E505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1C063E-85E7-C7B1-A123-ADACA2DC0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C39347-CCEC-4A2D-90F7-0CDA14CA6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DC2AC-4AB7-599A-D126-54B59E2D53F3}"/>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6" name="Footer Placeholder 5">
            <a:extLst>
              <a:ext uri="{FF2B5EF4-FFF2-40B4-BE49-F238E27FC236}">
                <a16:creationId xmlns:a16="http://schemas.microsoft.com/office/drawing/2014/main" id="{369EE9E8-999C-4B7E-D4F0-F29F42362A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92F5BB-8083-85E4-D6BD-BA43E1056BDB}"/>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209244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41AEE-3914-D2FC-FE69-C566FB78C4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93EE28-D247-9A23-5AA8-C4DD94FF7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2AD766-60BF-3145-90BD-310A7EC5C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082EC-8E41-B7DC-E461-651F93940544}"/>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6" name="Footer Placeholder 5">
            <a:extLst>
              <a:ext uri="{FF2B5EF4-FFF2-40B4-BE49-F238E27FC236}">
                <a16:creationId xmlns:a16="http://schemas.microsoft.com/office/drawing/2014/main" id="{4AEF1186-3332-E4B8-7429-5C76B7F226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DF68B-E796-6B79-50EA-199F34A85EBF}"/>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358169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333B-D1E5-1749-F15C-E4388B103B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346B2A-ABA6-C34E-B29B-E58CD9B42F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0786C-DA27-AC70-8FE2-15F58B6720E1}"/>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5" name="Footer Placeholder 4">
            <a:extLst>
              <a:ext uri="{FF2B5EF4-FFF2-40B4-BE49-F238E27FC236}">
                <a16:creationId xmlns:a16="http://schemas.microsoft.com/office/drawing/2014/main" id="{B9FF1281-46CE-15BC-3A4D-01FE547ED1EC}"/>
              </a:ext>
            </a:extLst>
          </p:cNvPr>
          <p:cNvSpPr>
            <a:spLocks noGrp="1"/>
          </p:cNvSpPr>
          <p:nvPr>
            <p:ph type="ftr" sz="quarter" idx="11"/>
          </p:nvPr>
        </p:nvSpPr>
        <p:spPr/>
        <p:txBody>
          <a:bodyPr/>
          <a:lstStyle>
            <a:lvl1pPr>
              <a:defRPr>
                <a:latin typeface=""/>
              </a:defRPr>
            </a:lvl1pPr>
          </a:lstStyle>
          <a:p>
            <a:endParaRPr lang="en-US" dirty="0"/>
          </a:p>
        </p:txBody>
      </p:sp>
      <p:sp>
        <p:nvSpPr>
          <p:cNvPr id="6" name="Slide Number Placeholder 5">
            <a:extLst>
              <a:ext uri="{FF2B5EF4-FFF2-40B4-BE49-F238E27FC236}">
                <a16:creationId xmlns:a16="http://schemas.microsoft.com/office/drawing/2014/main" id="{9056759F-108D-890C-7234-6E2AF5B2ACB6}"/>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167991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31DA53-121B-4023-4D79-9006AB128B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EEE257-C794-03C5-B676-B4A98A0E2A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418162-FF9C-9DD0-DCC9-EA75BDDD1E46}"/>
              </a:ext>
            </a:extLst>
          </p:cNvPr>
          <p:cNvSpPr>
            <a:spLocks noGrp="1"/>
          </p:cNvSpPr>
          <p:nvPr>
            <p:ph type="dt" sz="half" idx="10"/>
          </p:nvPr>
        </p:nvSpPr>
        <p:spPr/>
        <p:txBody>
          <a:bodyPr/>
          <a:lstStyle/>
          <a:p>
            <a:fld id="{7DB3996C-7414-5949-9F08-46CB74AC3D99}" type="datetimeFigureOut">
              <a:rPr lang="en-US" smtClean="0"/>
              <a:t>2/17/26</a:t>
            </a:fld>
            <a:endParaRPr lang="en-US"/>
          </a:p>
        </p:txBody>
      </p:sp>
      <p:sp>
        <p:nvSpPr>
          <p:cNvPr id="5" name="Footer Placeholder 4">
            <a:extLst>
              <a:ext uri="{FF2B5EF4-FFF2-40B4-BE49-F238E27FC236}">
                <a16:creationId xmlns:a16="http://schemas.microsoft.com/office/drawing/2014/main" id="{00122F60-6200-C475-7AF0-90404C185B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D026A-A2CC-FA4C-4B7D-05D7995AE07E}"/>
              </a:ext>
            </a:extLst>
          </p:cNvPr>
          <p:cNvSpPr>
            <a:spLocks noGrp="1"/>
          </p:cNvSpPr>
          <p:nvPr>
            <p:ph type="sldNum" sz="quarter" idx="12"/>
          </p:nvPr>
        </p:nvSpPr>
        <p:spPr/>
        <p:txBody>
          <a:bodyPr/>
          <a:lstStyle/>
          <a:p>
            <a:fld id="{4B71F97A-2E03-164F-B9B6-A00EA61B5B0D}" type="slidenum">
              <a:rPr lang="en-US" smtClean="0"/>
              <a:t>‹#›</a:t>
            </a:fld>
            <a:endParaRPr lang="en-US"/>
          </a:p>
        </p:txBody>
      </p:sp>
    </p:spTree>
    <p:extLst>
      <p:ext uri="{BB962C8B-B14F-4D97-AF65-F5344CB8AC3E}">
        <p14:creationId xmlns:p14="http://schemas.microsoft.com/office/powerpoint/2010/main" val="2359700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CB024A-B22D-D1E4-B626-DEC3CDB3B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B2B9F84-1988-0C6A-30F3-962E80B41E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7997656-7DA7-CB59-3848-0C89A5DF46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
              </a:defRPr>
            </a:lvl1pPr>
          </a:lstStyle>
          <a:p>
            <a:fld id="{7DB3996C-7414-5949-9F08-46CB74AC3D99}" type="datetimeFigureOut">
              <a:rPr lang="en-US" smtClean="0"/>
              <a:pPr/>
              <a:t>2/17/26</a:t>
            </a:fld>
            <a:endParaRPr lang="en-US" dirty="0"/>
          </a:p>
        </p:txBody>
      </p:sp>
      <p:sp>
        <p:nvSpPr>
          <p:cNvPr id="5" name="Footer Placeholder 4">
            <a:extLst>
              <a:ext uri="{FF2B5EF4-FFF2-40B4-BE49-F238E27FC236}">
                <a16:creationId xmlns:a16="http://schemas.microsoft.com/office/drawing/2014/main" id="{486653C9-13A9-7CE1-6D3F-33529EB75A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
              </a:defRPr>
            </a:lvl1pPr>
          </a:lstStyle>
          <a:p>
            <a:endParaRPr lang="en-US" dirty="0"/>
          </a:p>
        </p:txBody>
      </p:sp>
      <p:sp>
        <p:nvSpPr>
          <p:cNvPr id="6" name="Slide Number Placeholder 5">
            <a:extLst>
              <a:ext uri="{FF2B5EF4-FFF2-40B4-BE49-F238E27FC236}">
                <a16:creationId xmlns:a16="http://schemas.microsoft.com/office/drawing/2014/main" id="{768FECCD-9034-9BD1-A67C-684EF8F108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
              </a:defRPr>
            </a:lvl1pPr>
          </a:lstStyle>
          <a:p>
            <a:fld id="{4B71F97A-2E03-164F-B9B6-A00EA61B5B0D}" type="slidenum">
              <a:rPr lang="en-US" smtClean="0"/>
              <a:pPr/>
              <a:t>‹#›</a:t>
            </a:fld>
            <a:endParaRPr lang="en-US" dirty="0"/>
          </a:p>
        </p:txBody>
      </p:sp>
      <p:pic>
        <p:nvPicPr>
          <p:cNvPr id="7" name="Picture 6">
            <a:extLst>
              <a:ext uri="{FF2B5EF4-FFF2-40B4-BE49-F238E27FC236}">
                <a16:creationId xmlns:a16="http://schemas.microsoft.com/office/drawing/2014/main" id="{F9931F85-F9D7-9F92-1A14-B7FDDC77374E}"/>
              </a:ext>
            </a:extLst>
          </p:cNvPr>
          <p:cNvPicPr>
            <a:picLocks noChangeAspect="1"/>
          </p:cNvPicPr>
          <p:nvPr userDrawn="1"/>
        </p:nvPicPr>
        <p:blipFill>
          <a:blip r:embed="rId13"/>
          <a:stretch>
            <a:fillRect/>
          </a:stretch>
        </p:blipFill>
        <p:spPr>
          <a:xfrm>
            <a:off x="8906137" y="23813"/>
            <a:ext cx="3167695" cy="542717"/>
          </a:xfrm>
          <a:prstGeom prst="rect">
            <a:avLst/>
          </a:prstGeom>
        </p:spPr>
      </p:pic>
    </p:spTree>
    <p:extLst>
      <p:ext uri="{BB962C8B-B14F-4D97-AF65-F5344CB8AC3E}">
        <p14:creationId xmlns:p14="http://schemas.microsoft.com/office/powerpoint/2010/main" val="3959248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hyperlink" Target="http://www.ccs.neu.edu/home/cbw/pdf/imc254-zhang.pdf"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15.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13" Type="http://schemas.openxmlformats.org/officeDocument/2006/relationships/tags" Target="../tags/tag37.xml"/><Relationship Id="rId18" Type="http://schemas.openxmlformats.org/officeDocument/2006/relationships/tags" Target="../tags/tag42.xml"/><Relationship Id="rId26" Type="http://schemas.openxmlformats.org/officeDocument/2006/relationships/tags" Target="../tags/tag50.xml"/><Relationship Id="rId39" Type="http://schemas.openxmlformats.org/officeDocument/2006/relationships/notesSlide" Target="../notesSlides/notesSlide16.xml"/><Relationship Id="rId21" Type="http://schemas.openxmlformats.org/officeDocument/2006/relationships/tags" Target="../tags/tag45.xml"/><Relationship Id="rId34" Type="http://schemas.openxmlformats.org/officeDocument/2006/relationships/tags" Target="../tags/tag58.xml"/><Relationship Id="rId42" Type="http://schemas.openxmlformats.org/officeDocument/2006/relationships/image" Target="../media/image6.png"/><Relationship Id="rId7" Type="http://schemas.openxmlformats.org/officeDocument/2006/relationships/tags" Target="../tags/tag31.xml"/><Relationship Id="rId2" Type="http://schemas.openxmlformats.org/officeDocument/2006/relationships/tags" Target="../tags/tag26.xml"/><Relationship Id="rId16" Type="http://schemas.openxmlformats.org/officeDocument/2006/relationships/tags" Target="../tags/tag40.xml"/><Relationship Id="rId29" Type="http://schemas.openxmlformats.org/officeDocument/2006/relationships/tags" Target="../tags/tag53.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tags" Target="../tags/tag48.xml"/><Relationship Id="rId32" Type="http://schemas.openxmlformats.org/officeDocument/2006/relationships/tags" Target="../tags/tag56.xml"/><Relationship Id="rId37" Type="http://schemas.openxmlformats.org/officeDocument/2006/relationships/tags" Target="../tags/tag61.xml"/><Relationship Id="rId40" Type="http://schemas.openxmlformats.org/officeDocument/2006/relationships/image" Target="../media/image4.png"/><Relationship Id="rId45" Type="http://schemas.openxmlformats.org/officeDocument/2006/relationships/image" Target="../media/image9.png"/><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tags" Target="../tags/tag47.xml"/><Relationship Id="rId28" Type="http://schemas.openxmlformats.org/officeDocument/2006/relationships/tags" Target="../tags/tag52.xml"/><Relationship Id="rId36" Type="http://schemas.openxmlformats.org/officeDocument/2006/relationships/tags" Target="../tags/tag60.xml"/><Relationship Id="rId10" Type="http://schemas.openxmlformats.org/officeDocument/2006/relationships/tags" Target="../tags/tag34.xml"/><Relationship Id="rId19" Type="http://schemas.openxmlformats.org/officeDocument/2006/relationships/tags" Target="../tags/tag43.xml"/><Relationship Id="rId31" Type="http://schemas.openxmlformats.org/officeDocument/2006/relationships/tags" Target="../tags/tag55.xml"/><Relationship Id="rId44" Type="http://schemas.openxmlformats.org/officeDocument/2006/relationships/image" Target="../media/image8.png"/><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 Id="rId27" Type="http://schemas.openxmlformats.org/officeDocument/2006/relationships/tags" Target="../tags/tag51.xml"/><Relationship Id="rId30" Type="http://schemas.openxmlformats.org/officeDocument/2006/relationships/tags" Target="../tags/tag54.xml"/><Relationship Id="rId35" Type="http://schemas.openxmlformats.org/officeDocument/2006/relationships/tags" Target="../tags/tag59.xml"/><Relationship Id="rId43" Type="http://schemas.openxmlformats.org/officeDocument/2006/relationships/image" Target="../media/image7.jpg"/><Relationship Id="rId8" Type="http://schemas.openxmlformats.org/officeDocument/2006/relationships/tags" Target="../tags/tag32.xml"/><Relationship Id="rId3" Type="http://schemas.openxmlformats.org/officeDocument/2006/relationships/tags" Target="../tags/tag27.xml"/><Relationship Id="rId12" Type="http://schemas.openxmlformats.org/officeDocument/2006/relationships/tags" Target="../tags/tag36.xml"/><Relationship Id="rId17" Type="http://schemas.openxmlformats.org/officeDocument/2006/relationships/tags" Target="../tags/tag41.xml"/><Relationship Id="rId25" Type="http://schemas.openxmlformats.org/officeDocument/2006/relationships/tags" Target="../tags/tag49.xml"/><Relationship Id="rId33" Type="http://schemas.openxmlformats.org/officeDocument/2006/relationships/tags" Target="../tags/tag57.xml"/><Relationship Id="rId38" Type="http://schemas.openxmlformats.org/officeDocument/2006/relationships/slideLayout" Target="../slideLayouts/slideLayout2.xml"/><Relationship Id="rId20" Type="http://schemas.openxmlformats.org/officeDocument/2006/relationships/tags" Target="../tags/tag44.xml"/><Relationship Id="rId41" Type="http://schemas.openxmlformats.org/officeDocument/2006/relationships/image" Target="../media/image5.png"/></Relationships>
</file>

<file path=ppt/slides/_rels/slide20.xml.rels><?xml version="1.0" encoding="UTF-8" standalone="yes"?>
<Relationships xmlns="http://schemas.openxmlformats.org/package/2006/relationships"><Relationship Id="rId13" Type="http://schemas.openxmlformats.org/officeDocument/2006/relationships/tags" Target="../tags/tag74.xml"/><Relationship Id="rId18" Type="http://schemas.openxmlformats.org/officeDocument/2006/relationships/tags" Target="../tags/tag79.xml"/><Relationship Id="rId26" Type="http://schemas.openxmlformats.org/officeDocument/2006/relationships/tags" Target="../tags/tag87.xml"/><Relationship Id="rId39" Type="http://schemas.openxmlformats.org/officeDocument/2006/relationships/slideLayout" Target="../slideLayouts/slideLayout2.xml"/><Relationship Id="rId21" Type="http://schemas.openxmlformats.org/officeDocument/2006/relationships/tags" Target="../tags/tag82.xml"/><Relationship Id="rId34" Type="http://schemas.openxmlformats.org/officeDocument/2006/relationships/tags" Target="../tags/tag95.xml"/><Relationship Id="rId42" Type="http://schemas.openxmlformats.org/officeDocument/2006/relationships/image" Target="../media/image5.png"/><Relationship Id="rId7" Type="http://schemas.openxmlformats.org/officeDocument/2006/relationships/tags" Target="../tags/tag68.xml"/><Relationship Id="rId2" Type="http://schemas.openxmlformats.org/officeDocument/2006/relationships/tags" Target="../tags/tag63.xml"/><Relationship Id="rId16" Type="http://schemas.openxmlformats.org/officeDocument/2006/relationships/tags" Target="../tags/tag77.xml"/><Relationship Id="rId29" Type="http://schemas.openxmlformats.org/officeDocument/2006/relationships/tags" Target="../tags/tag90.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tags" Target="../tags/tag85.xml"/><Relationship Id="rId32" Type="http://schemas.openxmlformats.org/officeDocument/2006/relationships/tags" Target="../tags/tag93.xml"/><Relationship Id="rId37" Type="http://schemas.openxmlformats.org/officeDocument/2006/relationships/tags" Target="../tags/tag98.xml"/><Relationship Id="rId40" Type="http://schemas.openxmlformats.org/officeDocument/2006/relationships/notesSlide" Target="../notesSlides/notesSlide17.xml"/><Relationship Id="rId45" Type="http://schemas.openxmlformats.org/officeDocument/2006/relationships/image" Target="../media/image8.png"/><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36" Type="http://schemas.openxmlformats.org/officeDocument/2006/relationships/tags" Target="../tags/tag97.xml"/><Relationship Id="rId10" Type="http://schemas.openxmlformats.org/officeDocument/2006/relationships/tags" Target="../tags/tag71.xml"/><Relationship Id="rId19" Type="http://schemas.openxmlformats.org/officeDocument/2006/relationships/tags" Target="../tags/tag80.xml"/><Relationship Id="rId31" Type="http://schemas.openxmlformats.org/officeDocument/2006/relationships/tags" Target="../tags/tag92.xml"/><Relationship Id="rId44" Type="http://schemas.openxmlformats.org/officeDocument/2006/relationships/image" Target="../media/image7.jpg"/><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tags" Target="../tags/tag83.xml"/><Relationship Id="rId27" Type="http://schemas.openxmlformats.org/officeDocument/2006/relationships/tags" Target="../tags/tag88.xml"/><Relationship Id="rId30" Type="http://schemas.openxmlformats.org/officeDocument/2006/relationships/tags" Target="../tags/tag91.xml"/><Relationship Id="rId35" Type="http://schemas.openxmlformats.org/officeDocument/2006/relationships/tags" Target="../tags/tag96.xml"/><Relationship Id="rId43" Type="http://schemas.openxmlformats.org/officeDocument/2006/relationships/image" Target="../media/image6.png"/><Relationship Id="rId8" Type="http://schemas.openxmlformats.org/officeDocument/2006/relationships/tags" Target="../tags/tag69.xml"/><Relationship Id="rId3" Type="http://schemas.openxmlformats.org/officeDocument/2006/relationships/tags" Target="../tags/tag64.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33" Type="http://schemas.openxmlformats.org/officeDocument/2006/relationships/tags" Target="../tags/tag94.xml"/><Relationship Id="rId38" Type="http://schemas.openxmlformats.org/officeDocument/2006/relationships/tags" Target="../tags/tag99.xml"/><Relationship Id="rId46" Type="http://schemas.openxmlformats.org/officeDocument/2006/relationships/image" Target="../media/image9.png"/><Relationship Id="rId20" Type="http://schemas.openxmlformats.org/officeDocument/2006/relationships/tags" Target="../tags/tag81.xml"/><Relationship Id="rId4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5.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tags" Target="../tags/tag121.xml"/><Relationship Id="rId3" Type="http://schemas.openxmlformats.org/officeDocument/2006/relationships/tags" Target="../tags/tag106.xml"/><Relationship Id="rId21" Type="http://schemas.openxmlformats.org/officeDocument/2006/relationships/slideLayout" Target="../slideLayouts/slideLayout2.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tags" Target="../tags/tag123.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image" Target="../media/image11.png"/><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image" Target="../media/image10.png"/><Relationship Id="rId10" Type="http://schemas.openxmlformats.org/officeDocument/2006/relationships/tags" Target="../tags/tag113.xml"/><Relationship Id="rId19" Type="http://schemas.openxmlformats.org/officeDocument/2006/relationships/tags" Target="../tags/tag122.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tags" Target="../tags/tag136.xml"/><Relationship Id="rId18" Type="http://schemas.openxmlformats.org/officeDocument/2006/relationships/tags" Target="../tags/tag141.xml"/><Relationship Id="rId3" Type="http://schemas.openxmlformats.org/officeDocument/2006/relationships/tags" Target="../tags/tag126.xml"/><Relationship Id="rId21" Type="http://schemas.openxmlformats.org/officeDocument/2006/relationships/tags" Target="../tags/tag144.xml"/><Relationship Id="rId7" Type="http://schemas.openxmlformats.org/officeDocument/2006/relationships/tags" Target="../tags/tag130.xml"/><Relationship Id="rId12" Type="http://schemas.openxmlformats.org/officeDocument/2006/relationships/tags" Target="../tags/tag135.xml"/><Relationship Id="rId17" Type="http://schemas.openxmlformats.org/officeDocument/2006/relationships/tags" Target="../tags/tag140.xml"/><Relationship Id="rId25" Type="http://schemas.openxmlformats.org/officeDocument/2006/relationships/image" Target="../media/image11.png"/><Relationship Id="rId2" Type="http://schemas.openxmlformats.org/officeDocument/2006/relationships/tags" Target="../tags/tag125.xml"/><Relationship Id="rId16" Type="http://schemas.openxmlformats.org/officeDocument/2006/relationships/tags" Target="../tags/tag139.xml"/><Relationship Id="rId20" Type="http://schemas.openxmlformats.org/officeDocument/2006/relationships/tags" Target="../tags/tag143.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tags" Target="../tags/tag134.xml"/><Relationship Id="rId24" Type="http://schemas.openxmlformats.org/officeDocument/2006/relationships/image" Target="../media/image10.png"/><Relationship Id="rId5" Type="http://schemas.openxmlformats.org/officeDocument/2006/relationships/tags" Target="../tags/tag128.xml"/><Relationship Id="rId15" Type="http://schemas.openxmlformats.org/officeDocument/2006/relationships/tags" Target="../tags/tag138.xml"/><Relationship Id="rId23" Type="http://schemas.openxmlformats.org/officeDocument/2006/relationships/notesSlide" Target="../notesSlides/notesSlide23.xml"/><Relationship Id="rId10" Type="http://schemas.openxmlformats.org/officeDocument/2006/relationships/tags" Target="../tags/tag133.xml"/><Relationship Id="rId19" Type="http://schemas.openxmlformats.org/officeDocument/2006/relationships/tags" Target="../tags/tag142.xml"/><Relationship Id="rId4" Type="http://schemas.openxmlformats.org/officeDocument/2006/relationships/tags" Target="../tags/tag127.xml"/><Relationship Id="rId9" Type="http://schemas.openxmlformats.org/officeDocument/2006/relationships/tags" Target="../tags/tag132.xml"/><Relationship Id="rId14" Type="http://schemas.openxmlformats.org/officeDocument/2006/relationships/tags" Target="../tags/tag137.xml"/><Relationship Id="rId2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47.xml"/><Relationship Id="rId7" Type="http://schemas.openxmlformats.org/officeDocument/2006/relationships/notesSlide" Target="../notesSlides/notesSlide24.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Layout" Target="../slideLayouts/slideLayout2.xml"/><Relationship Id="rId5" Type="http://schemas.openxmlformats.org/officeDocument/2006/relationships/tags" Target="../tags/tag149.xml"/><Relationship Id="rId4" Type="http://schemas.openxmlformats.org/officeDocument/2006/relationships/tags" Target="../tags/tag148.xml"/><Relationship Id="rId9"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12.png"/><Relationship Id="rId5" Type="http://schemas.openxmlformats.org/officeDocument/2006/relationships/tags" Target="../tags/tag154.xml"/><Relationship Id="rId10" Type="http://schemas.openxmlformats.org/officeDocument/2006/relationships/image" Target="../media/image11.png"/><Relationship Id="rId4" Type="http://schemas.openxmlformats.org/officeDocument/2006/relationships/tags" Target="../tags/tag153.xml"/><Relationship Id="rId9"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8" Type="http://schemas.openxmlformats.org/officeDocument/2006/relationships/tags" Target="../tags/tag164.xml"/><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image" Target="../media/image12.png"/><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image" Target="../media/image11.png"/><Relationship Id="rId5" Type="http://schemas.openxmlformats.org/officeDocument/2006/relationships/tags" Target="../tags/tag161.xml"/><Relationship Id="rId10" Type="http://schemas.openxmlformats.org/officeDocument/2006/relationships/notesSlide" Target="../notesSlides/notesSlide26.xml"/><Relationship Id="rId4" Type="http://schemas.openxmlformats.org/officeDocument/2006/relationships/tags" Target="../tags/tag160.xml"/><Relationship Id="rId9"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image" Target="../media/image12.png"/><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image" Target="../media/image11.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notesSlide" Target="../notesSlides/notesSlide27.xml"/><Relationship Id="rId5" Type="http://schemas.openxmlformats.org/officeDocument/2006/relationships/tags" Target="../tags/tag169.xml"/><Relationship Id="rId10" Type="http://schemas.openxmlformats.org/officeDocument/2006/relationships/slideLayout" Target="../slideLayouts/slideLayout2.xml"/><Relationship Id="rId4" Type="http://schemas.openxmlformats.org/officeDocument/2006/relationships/tags" Target="../tags/tag168.xml"/><Relationship Id="rId9" Type="http://schemas.openxmlformats.org/officeDocument/2006/relationships/tags" Target="../tags/tag173.xml"/></Relationships>
</file>

<file path=ppt/slides/_rels/slide31.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image" Target="../media/image11.png"/><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notesSlide" Target="../notesSlides/notesSlide28.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slideLayout" Target="../slideLayouts/slideLayout2.xml"/><Relationship Id="rId5" Type="http://schemas.openxmlformats.org/officeDocument/2006/relationships/tags" Target="../tags/tag178.xml"/><Relationship Id="rId10" Type="http://schemas.openxmlformats.org/officeDocument/2006/relationships/tags" Target="../tags/tag183.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85.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86.xml"/><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96.xml"/><Relationship Id="rId5" Type="http://schemas.openxmlformats.org/officeDocument/2006/relationships/hyperlink" Target="https://scans.io/" TargetMode="External"/><Relationship Id="rId4" Type="http://schemas.openxmlformats.org/officeDocument/2006/relationships/hyperlink" Target="http://zmap.io/" TargetMode="Externa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46.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notesSlide" Target="../notesSlides/notesSlide43.xml"/><Relationship Id="rId7" Type="http://schemas.openxmlformats.org/officeDocument/2006/relationships/image" Target="../media/image6.png"/><Relationship Id="rId12"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99.xml"/><Relationship Id="rId6" Type="http://schemas.openxmlformats.org/officeDocument/2006/relationships/image" Target="../media/image5.png"/><Relationship Id="rId11"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20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20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204.xml"/><Relationship Id="rId5" Type="http://schemas.openxmlformats.org/officeDocument/2006/relationships/image" Target="../media/image20.png"/><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20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206.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20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208.xml"/></Relationships>
</file>

<file path=ppt/slides/_rels/slide5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53.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09.xml"/><Relationship Id="rId6" Type="http://schemas.openxmlformats.org/officeDocument/2006/relationships/image" Target="../media/image4.png"/><Relationship Id="rId5" Type="http://schemas.openxmlformats.org/officeDocument/2006/relationships/image" Target="../media/image7.jp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211.xml"/><Relationship Id="rId4" Type="http://schemas.openxmlformats.org/officeDocument/2006/relationships/image" Target="../media/image21.jp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212.xml"/><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213.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14.xml"/><Relationship Id="rId5" Type="http://schemas.openxmlformats.org/officeDocument/2006/relationships/image" Target="../media/image12.pn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17.xml"/><Relationship Id="rId7" Type="http://schemas.openxmlformats.org/officeDocument/2006/relationships/image" Target="../media/image11.png"/><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slideLayout" Target="../slideLayouts/slideLayout2.xml"/><Relationship Id="rId5" Type="http://schemas.openxmlformats.org/officeDocument/2006/relationships/tags" Target="../tags/tag219.xml"/><Relationship Id="rId4" Type="http://schemas.openxmlformats.org/officeDocument/2006/relationships/tags" Target="../tags/tag218.xml"/><Relationship Id="rId9" Type="http://schemas.openxmlformats.org/officeDocument/2006/relationships/image" Target="../media/image23.png"/></Relationships>
</file>

<file path=ppt/slides/_rels/slide6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22.xml"/><Relationship Id="rId7" Type="http://schemas.openxmlformats.org/officeDocument/2006/relationships/slideLayout" Target="../slideLayouts/slideLayout2.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tags" Target="../tags/tag225.xml"/><Relationship Id="rId5" Type="http://schemas.openxmlformats.org/officeDocument/2006/relationships/tags" Target="../tags/tag224.xml"/><Relationship Id="rId10" Type="http://schemas.openxmlformats.org/officeDocument/2006/relationships/image" Target="../media/image23.png"/><Relationship Id="rId4" Type="http://schemas.openxmlformats.org/officeDocument/2006/relationships/tags" Target="../tags/tag223.xml"/><Relationship Id="rId9" Type="http://schemas.openxmlformats.org/officeDocument/2006/relationships/image" Target="../media/image12.png"/></Relationships>
</file>

<file path=ppt/slides/_rels/slide64.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image" Target="../media/image23.png"/><Relationship Id="rId3" Type="http://schemas.openxmlformats.org/officeDocument/2006/relationships/tags" Target="../tags/tag228.xml"/><Relationship Id="rId7" Type="http://schemas.openxmlformats.org/officeDocument/2006/relationships/tags" Target="../tags/tag232.xml"/><Relationship Id="rId12" Type="http://schemas.openxmlformats.org/officeDocument/2006/relationships/image" Target="../media/image12.png"/><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image" Target="../media/image11.png"/><Relationship Id="rId5" Type="http://schemas.openxmlformats.org/officeDocument/2006/relationships/tags" Target="../tags/tag230.xml"/><Relationship Id="rId10" Type="http://schemas.openxmlformats.org/officeDocument/2006/relationships/slideLayout" Target="../slideLayouts/slideLayout2.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image" Target="../media/image24.png"/></Relationships>
</file>

<file path=ppt/slides/_rels/slide65.xml.rels><?xml version="1.0" encoding="UTF-8" standalone="yes"?>
<Relationships xmlns="http://schemas.openxmlformats.org/package/2006/relationships"><Relationship Id="rId8" Type="http://schemas.openxmlformats.org/officeDocument/2006/relationships/tags" Target="../tags/tag242.xml"/><Relationship Id="rId13" Type="http://schemas.openxmlformats.org/officeDocument/2006/relationships/slideLayout" Target="../slideLayouts/slideLayout2.xml"/><Relationship Id="rId3" Type="http://schemas.openxmlformats.org/officeDocument/2006/relationships/tags" Target="../tags/tag237.xml"/><Relationship Id="rId7" Type="http://schemas.openxmlformats.org/officeDocument/2006/relationships/tags" Target="../tags/tag241.xml"/><Relationship Id="rId12" Type="http://schemas.openxmlformats.org/officeDocument/2006/relationships/tags" Target="../tags/tag246.xml"/><Relationship Id="rId17" Type="http://schemas.openxmlformats.org/officeDocument/2006/relationships/image" Target="../media/image24.png"/><Relationship Id="rId2" Type="http://schemas.openxmlformats.org/officeDocument/2006/relationships/tags" Target="../tags/tag236.xml"/><Relationship Id="rId16" Type="http://schemas.openxmlformats.org/officeDocument/2006/relationships/image" Target="../media/image23.png"/><Relationship Id="rId1" Type="http://schemas.openxmlformats.org/officeDocument/2006/relationships/tags" Target="../tags/tag235.xml"/><Relationship Id="rId6" Type="http://schemas.openxmlformats.org/officeDocument/2006/relationships/tags" Target="../tags/tag240.xml"/><Relationship Id="rId11" Type="http://schemas.openxmlformats.org/officeDocument/2006/relationships/tags" Target="../tags/tag245.xml"/><Relationship Id="rId5" Type="http://schemas.openxmlformats.org/officeDocument/2006/relationships/tags" Target="../tags/tag239.xml"/><Relationship Id="rId15" Type="http://schemas.openxmlformats.org/officeDocument/2006/relationships/image" Target="../media/image12.png"/><Relationship Id="rId10" Type="http://schemas.openxmlformats.org/officeDocument/2006/relationships/tags" Target="../tags/tag244.xml"/><Relationship Id="rId4" Type="http://schemas.openxmlformats.org/officeDocument/2006/relationships/tags" Target="../tags/tag238.xml"/><Relationship Id="rId9" Type="http://schemas.openxmlformats.org/officeDocument/2006/relationships/tags" Target="../tags/tag243.xml"/><Relationship Id="rId14" Type="http://schemas.openxmlformats.org/officeDocument/2006/relationships/image" Target="../media/image11.png"/></Relationships>
</file>

<file path=ppt/slides/_rels/slide6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49.xml"/><Relationship Id="rId7" Type="http://schemas.openxmlformats.org/officeDocument/2006/relationships/tags" Target="../tags/tag253.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image" Target="../media/image23.png"/><Relationship Id="rId5" Type="http://schemas.openxmlformats.org/officeDocument/2006/relationships/tags" Target="../tags/tag251.xml"/><Relationship Id="rId10" Type="http://schemas.openxmlformats.org/officeDocument/2006/relationships/image" Target="../media/image12.png"/><Relationship Id="rId4" Type="http://schemas.openxmlformats.org/officeDocument/2006/relationships/tags" Target="../tags/tag250.xml"/><Relationship Id="rId9" Type="http://schemas.openxmlformats.org/officeDocument/2006/relationships/image" Target="../media/image11.png"/></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56.xml"/><Relationship Id="rId7" Type="http://schemas.openxmlformats.org/officeDocument/2006/relationships/tags" Target="../tags/tag260.xm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tags" Target="../tags/tag259.xml"/><Relationship Id="rId11" Type="http://schemas.openxmlformats.org/officeDocument/2006/relationships/image" Target="../media/image23.png"/><Relationship Id="rId5" Type="http://schemas.openxmlformats.org/officeDocument/2006/relationships/tags" Target="../tags/tag258.xml"/><Relationship Id="rId10" Type="http://schemas.openxmlformats.org/officeDocument/2006/relationships/image" Target="../media/image12.png"/><Relationship Id="rId4" Type="http://schemas.openxmlformats.org/officeDocument/2006/relationships/tags" Target="../tags/tag257.xml"/><Relationship Id="rId9" Type="http://schemas.openxmlformats.org/officeDocument/2006/relationships/image" Target="../media/image11.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63.xml"/><Relationship Id="rId7" Type="http://schemas.openxmlformats.org/officeDocument/2006/relationships/tags" Target="../tags/tag267.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image" Target="../media/image23.png"/><Relationship Id="rId5" Type="http://schemas.openxmlformats.org/officeDocument/2006/relationships/tags" Target="../tags/tag265.xml"/><Relationship Id="rId10" Type="http://schemas.openxmlformats.org/officeDocument/2006/relationships/image" Target="../media/image12.png"/><Relationship Id="rId4" Type="http://schemas.openxmlformats.org/officeDocument/2006/relationships/tags" Target="../tags/tag264.xml"/><Relationship Id="rId9" Type="http://schemas.openxmlformats.org/officeDocument/2006/relationships/image" Target="../media/image11.png"/></Relationships>
</file>

<file path=ppt/slides/_rels/slide69.xml.rels><?xml version="1.0" encoding="UTF-8" standalone="yes"?>
<Relationships xmlns="http://schemas.openxmlformats.org/package/2006/relationships"><Relationship Id="rId8" Type="http://schemas.openxmlformats.org/officeDocument/2006/relationships/tags" Target="../tags/tag275.xml"/><Relationship Id="rId3" Type="http://schemas.openxmlformats.org/officeDocument/2006/relationships/tags" Target="../tags/tag270.xml"/><Relationship Id="rId7" Type="http://schemas.openxmlformats.org/officeDocument/2006/relationships/tags" Target="../tags/tag274.xml"/><Relationship Id="rId12" Type="http://schemas.openxmlformats.org/officeDocument/2006/relationships/image" Target="../media/image23.png"/><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tags" Target="../tags/tag273.xml"/><Relationship Id="rId11" Type="http://schemas.openxmlformats.org/officeDocument/2006/relationships/image" Target="../media/image12.png"/><Relationship Id="rId5" Type="http://schemas.openxmlformats.org/officeDocument/2006/relationships/tags" Target="../tags/tag272.xml"/><Relationship Id="rId10" Type="http://schemas.openxmlformats.org/officeDocument/2006/relationships/image" Target="../media/image11.png"/><Relationship Id="rId4" Type="http://schemas.openxmlformats.org/officeDocument/2006/relationships/tags" Target="../tags/tag271.xml"/><Relationship Id="rId9"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tags" Target="../tags/tag283.xml"/><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image" Target="../media/image23.png"/><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image" Target="../media/image12.png"/><Relationship Id="rId5" Type="http://schemas.openxmlformats.org/officeDocument/2006/relationships/tags" Target="../tags/tag280.xml"/><Relationship Id="rId10" Type="http://schemas.openxmlformats.org/officeDocument/2006/relationships/image" Target="../media/image11.png"/><Relationship Id="rId4" Type="http://schemas.openxmlformats.org/officeDocument/2006/relationships/tags" Target="../tags/tag279.xml"/><Relationship Id="rId9"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image" Target="../media/image23.png"/><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image" Target="../media/image12.png"/><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image" Target="../media/image11.png"/><Relationship Id="rId5" Type="http://schemas.openxmlformats.org/officeDocument/2006/relationships/tags" Target="../tags/tag288.xml"/><Relationship Id="rId10" Type="http://schemas.openxmlformats.org/officeDocument/2006/relationships/slideLayout" Target="../slideLayouts/slideLayout2.xml"/><Relationship Id="rId4" Type="http://schemas.openxmlformats.org/officeDocument/2006/relationships/tags" Target="../tags/tag287.xml"/><Relationship Id="rId9" Type="http://schemas.openxmlformats.org/officeDocument/2006/relationships/tags" Target="../tags/tag292.xml"/></Relationships>
</file>

<file path=ppt/slides/_rels/slide72.xml.rels><?xml version="1.0" encoding="UTF-8" standalone="yes"?>
<Relationships xmlns="http://schemas.openxmlformats.org/package/2006/relationships"><Relationship Id="rId3" Type="http://schemas.openxmlformats.org/officeDocument/2006/relationships/tags" Target="../tags/tag295.xml"/><Relationship Id="rId7" Type="http://schemas.openxmlformats.org/officeDocument/2006/relationships/image" Target="../media/image24.png"/><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slideLayout" Target="../slideLayouts/slideLayout2.xml"/><Relationship Id="rId5" Type="http://schemas.openxmlformats.org/officeDocument/2006/relationships/tags" Target="../tags/tag297.xml"/><Relationship Id="rId4" Type="http://schemas.openxmlformats.org/officeDocument/2006/relationships/tags" Target="../tags/tag296.xml"/></Relationships>
</file>

<file path=ppt/slides/_rels/slide73.xml.rels><?xml version="1.0" encoding="UTF-8" standalone="yes"?>
<Relationships xmlns="http://schemas.openxmlformats.org/package/2006/relationships"><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slideLayout" Target="../slideLayouts/slideLayout2.xml"/><Relationship Id="rId5" Type="http://schemas.openxmlformats.org/officeDocument/2006/relationships/tags" Target="../tags/tag302.xml"/><Relationship Id="rId4" Type="http://schemas.openxmlformats.org/officeDocument/2006/relationships/tags" Target="../tags/tag301.xml"/></Relationships>
</file>

<file path=ppt/slides/_rels/slide7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05.xml"/><Relationship Id="rId7" Type="http://schemas.openxmlformats.org/officeDocument/2006/relationships/notesSlide" Target="../notesSlides/notesSlide58.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slideLayout" Target="../slideLayouts/slideLayout2.xml"/><Relationship Id="rId5" Type="http://schemas.openxmlformats.org/officeDocument/2006/relationships/tags" Target="../tags/tag307.xml"/><Relationship Id="rId4" Type="http://schemas.openxmlformats.org/officeDocument/2006/relationships/tags" Target="../tags/tag306.xml"/></Relationships>
</file>

<file path=ppt/slides/_rels/slide7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10.xml"/><Relationship Id="rId7" Type="http://schemas.openxmlformats.org/officeDocument/2006/relationships/notesSlide" Target="../notesSlides/notesSlide59.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slideLayout" Target="../slideLayouts/slideLayout2.xml"/><Relationship Id="rId5" Type="http://schemas.openxmlformats.org/officeDocument/2006/relationships/tags" Target="../tags/tag312.xml"/><Relationship Id="rId4" Type="http://schemas.openxmlformats.org/officeDocument/2006/relationships/tags" Target="../tags/tag311.xml"/></Relationships>
</file>

<file path=ppt/slides/_rels/slide76.xml.rels><?xml version="1.0" encoding="UTF-8" standalone="yes"?>
<Relationships xmlns="http://schemas.openxmlformats.org/package/2006/relationships"><Relationship Id="rId8" Type="http://schemas.openxmlformats.org/officeDocument/2006/relationships/notesSlide" Target="../notesSlides/notesSlide60.xml"/><Relationship Id="rId3" Type="http://schemas.openxmlformats.org/officeDocument/2006/relationships/tags" Target="../tags/tag315.xml"/><Relationship Id="rId7" Type="http://schemas.openxmlformats.org/officeDocument/2006/relationships/slideLayout" Target="../slideLayouts/slideLayout2.xml"/><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9" Type="http://schemas.openxmlformats.org/officeDocument/2006/relationships/image" Target="../media/image11.png"/></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21.xml"/><Relationship Id="rId7" Type="http://schemas.openxmlformats.org/officeDocument/2006/relationships/tags" Target="../tags/tag325.xml"/><Relationship Id="rId2" Type="http://schemas.openxmlformats.org/officeDocument/2006/relationships/tags" Target="../tags/tag320.xml"/><Relationship Id="rId1" Type="http://schemas.openxmlformats.org/officeDocument/2006/relationships/tags" Target="../tags/tag319.xml"/><Relationship Id="rId6" Type="http://schemas.openxmlformats.org/officeDocument/2006/relationships/tags" Target="../tags/tag324.xml"/><Relationship Id="rId5" Type="http://schemas.openxmlformats.org/officeDocument/2006/relationships/tags" Target="../tags/tag323.xml"/><Relationship Id="rId10" Type="http://schemas.openxmlformats.org/officeDocument/2006/relationships/image" Target="../media/image11.png"/><Relationship Id="rId4" Type="http://schemas.openxmlformats.org/officeDocument/2006/relationships/tags" Target="../tags/tag322.xml"/><Relationship Id="rId9" Type="http://schemas.openxmlformats.org/officeDocument/2006/relationships/notesSlide" Target="../notesSlides/notesSlide61.xml"/></Relationships>
</file>

<file path=ppt/slides/_rels/slide7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28.xml"/><Relationship Id="rId7" Type="http://schemas.openxmlformats.org/officeDocument/2006/relationships/tags" Target="../tags/tag332.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5" Type="http://schemas.openxmlformats.org/officeDocument/2006/relationships/tags" Target="../tags/tag330.xml"/><Relationship Id="rId10" Type="http://schemas.openxmlformats.org/officeDocument/2006/relationships/image" Target="../media/image11.png"/><Relationship Id="rId4" Type="http://schemas.openxmlformats.org/officeDocument/2006/relationships/tags" Target="../tags/tag329.xml"/><Relationship Id="rId9" Type="http://schemas.openxmlformats.org/officeDocument/2006/relationships/notesSlide" Target="../notesSlides/notesSlide62.xml"/></Relationships>
</file>

<file path=ppt/slides/_rels/slide79.xml.rels><?xml version="1.0" encoding="UTF-8" standalone="yes"?>
<Relationships xmlns="http://schemas.openxmlformats.org/package/2006/relationships"><Relationship Id="rId8" Type="http://schemas.openxmlformats.org/officeDocument/2006/relationships/tags" Target="../tags/tag340.xml"/><Relationship Id="rId3" Type="http://schemas.openxmlformats.org/officeDocument/2006/relationships/tags" Target="../tags/tag335.xml"/><Relationship Id="rId7" Type="http://schemas.openxmlformats.org/officeDocument/2006/relationships/tags" Target="../tags/tag339.xml"/><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tags" Target="../tags/tag338.xml"/><Relationship Id="rId11" Type="http://schemas.openxmlformats.org/officeDocument/2006/relationships/image" Target="../media/image11.png"/><Relationship Id="rId5" Type="http://schemas.openxmlformats.org/officeDocument/2006/relationships/tags" Target="../tags/tag337.xml"/><Relationship Id="rId10" Type="http://schemas.openxmlformats.org/officeDocument/2006/relationships/notesSlide" Target="../notesSlides/notesSlide63.xml"/><Relationship Id="rId4" Type="http://schemas.openxmlformats.org/officeDocument/2006/relationships/tags" Target="../tags/tag336.xml"/><Relationship Id="rId9"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image" Target="../media/image25.png"/><Relationship Id="rId3" Type="http://schemas.openxmlformats.org/officeDocument/2006/relationships/tags" Target="../tags/tag343.xml"/><Relationship Id="rId7" Type="http://schemas.openxmlformats.org/officeDocument/2006/relationships/tags" Target="../tags/tag347.xml"/><Relationship Id="rId12" Type="http://schemas.openxmlformats.org/officeDocument/2006/relationships/image" Target="../media/image11.png"/><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notesSlide" Target="../notesSlides/notesSlide64.xml"/><Relationship Id="rId5" Type="http://schemas.openxmlformats.org/officeDocument/2006/relationships/tags" Target="../tags/tag345.xml"/><Relationship Id="rId10" Type="http://schemas.openxmlformats.org/officeDocument/2006/relationships/slideLayout" Target="../slideLayouts/slideLayout2.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image" Target="../media/image26.svg"/></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52.xml"/><Relationship Id="rId7" Type="http://schemas.openxmlformats.org/officeDocument/2006/relationships/tags" Target="../tags/tag356.xml"/><Relationship Id="rId12" Type="http://schemas.openxmlformats.org/officeDocument/2006/relationships/image" Target="../media/image28.svg"/><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tags" Target="../tags/tag355.xml"/><Relationship Id="rId11" Type="http://schemas.openxmlformats.org/officeDocument/2006/relationships/image" Target="../media/image27.png"/><Relationship Id="rId5" Type="http://schemas.openxmlformats.org/officeDocument/2006/relationships/tags" Target="../tags/tag354.xml"/><Relationship Id="rId10" Type="http://schemas.openxmlformats.org/officeDocument/2006/relationships/image" Target="../media/image11.png"/><Relationship Id="rId4" Type="http://schemas.openxmlformats.org/officeDocument/2006/relationships/tags" Target="../tags/tag353.xml"/><Relationship Id="rId9" Type="http://schemas.openxmlformats.org/officeDocument/2006/relationships/notesSlide" Target="../notesSlides/notesSlide65.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7.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8.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9.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0.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2.xml"/><Relationship Id="rId1" Type="http://schemas.openxmlformats.org/officeDocument/2006/relationships/tags" Target="../tags/tag361.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4.xml"/><Relationship Id="rId1" Type="http://schemas.openxmlformats.org/officeDocument/2006/relationships/tags" Target="../tags/tag363.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6.xml"/><Relationship Id="rId1" Type="http://schemas.openxmlformats.org/officeDocument/2006/relationships/tags" Target="../tags/tag365.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8.xml"/><Relationship Id="rId1" Type="http://schemas.openxmlformats.org/officeDocument/2006/relationships/tags" Target="../tags/tag367.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0.xml"/><Relationship Id="rId1" Type="http://schemas.openxmlformats.org/officeDocument/2006/relationships/tags" Target="../tags/tag369.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1.xml"/></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372.xml"/><Relationship Id="rId6" Type="http://schemas.openxmlformats.org/officeDocument/2006/relationships/image" Target="../media/image10.png"/><Relationship Id="rId5" Type="http://schemas.openxmlformats.org/officeDocument/2006/relationships/image" Target="../media/image30.svg"/><Relationship Id="rId4" Type="http://schemas.openxmlformats.org/officeDocument/2006/relationships/image" Target="../media/image29.png"/></Relationships>
</file>

<file path=ppt/slides/_rels/slide93.xml.rels><?xml version="1.0" encoding="UTF-8" standalone="yes"?>
<Relationships xmlns="http://schemas.openxmlformats.org/package/2006/relationships"><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 Id="rId5" Type="http://schemas.openxmlformats.org/officeDocument/2006/relationships/notesSlide" Target="../notesSlides/notesSlide66.xml"/><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tags" Target="../tags/tag378.xml"/><Relationship Id="rId2" Type="http://schemas.openxmlformats.org/officeDocument/2006/relationships/tags" Target="../tags/tag377.xml"/><Relationship Id="rId1" Type="http://schemas.openxmlformats.org/officeDocument/2006/relationships/tags" Target="../tags/tag376.xml"/><Relationship Id="rId5" Type="http://schemas.openxmlformats.org/officeDocument/2006/relationships/notesSlide" Target="../notesSlides/notesSlide67.xml"/><Relationship Id="rId4"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381.xml"/><Relationship Id="rId7" Type="http://schemas.openxmlformats.org/officeDocument/2006/relationships/notesSlide" Target="../notesSlides/notesSlide68.xml"/><Relationship Id="rId2" Type="http://schemas.openxmlformats.org/officeDocument/2006/relationships/tags" Target="../tags/tag380.xml"/><Relationship Id="rId1" Type="http://schemas.openxmlformats.org/officeDocument/2006/relationships/tags" Target="../tags/tag379.xml"/><Relationship Id="rId6" Type="http://schemas.openxmlformats.org/officeDocument/2006/relationships/slideLayout" Target="../slideLayouts/slideLayout2.xml"/><Relationship Id="rId5" Type="http://schemas.openxmlformats.org/officeDocument/2006/relationships/tags" Target="../tags/tag383.xml"/><Relationship Id="rId4" Type="http://schemas.openxmlformats.org/officeDocument/2006/relationships/tags" Target="../tags/tag382.xml"/></Relationships>
</file>

<file path=ppt/slides/_rels/slide96.xml.rels><?xml version="1.0" encoding="UTF-8" standalone="yes"?>
<Relationships xmlns="http://schemas.openxmlformats.org/package/2006/relationships"><Relationship Id="rId8" Type="http://schemas.openxmlformats.org/officeDocument/2006/relationships/notesSlide" Target="../notesSlides/notesSlide69.xml"/><Relationship Id="rId3" Type="http://schemas.openxmlformats.org/officeDocument/2006/relationships/tags" Target="../tags/tag386.xml"/><Relationship Id="rId7" Type="http://schemas.openxmlformats.org/officeDocument/2006/relationships/slideLayout" Target="../slideLayouts/slideLayout2.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9" Type="http://schemas.openxmlformats.org/officeDocument/2006/relationships/image" Target="../media/image31.png"/></Relationships>
</file>

<file path=ppt/slides/_rels/slide97.xml.rels><?xml version="1.0" encoding="UTF-8" standalone="yes"?>
<Relationships xmlns="http://schemas.openxmlformats.org/package/2006/relationships"><Relationship Id="rId8" Type="http://schemas.openxmlformats.org/officeDocument/2006/relationships/tags" Target="../tags/tag397.xml"/><Relationship Id="rId13" Type="http://schemas.openxmlformats.org/officeDocument/2006/relationships/image" Target="../media/image32.png"/><Relationship Id="rId3" Type="http://schemas.openxmlformats.org/officeDocument/2006/relationships/tags" Target="../tags/tag392.xml"/><Relationship Id="rId7" Type="http://schemas.openxmlformats.org/officeDocument/2006/relationships/tags" Target="../tags/tag396.xml"/><Relationship Id="rId12" Type="http://schemas.openxmlformats.org/officeDocument/2006/relationships/notesSlide" Target="../notesSlides/notesSlide70.xml"/><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11" Type="http://schemas.openxmlformats.org/officeDocument/2006/relationships/slideLayout" Target="../slideLayouts/slideLayout2.xml"/><Relationship Id="rId5" Type="http://schemas.openxmlformats.org/officeDocument/2006/relationships/tags" Target="../tags/tag394.xml"/><Relationship Id="rId15" Type="http://schemas.openxmlformats.org/officeDocument/2006/relationships/image" Target="../media/image34.png"/><Relationship Id="rId10" Type="http://schemas.openxmlformats.org/officeDocument/2006/relationships/tags" Target="../tags/tag399.xml"/><Relationship Id="rId4" Type="http://schemas.openxmlformats.org/officeDocument/2006/relationships/tags" Target="../tags/tag393.xml"/><Relationship Id="rId9" Type="http://schemas.openxmlformats.org/officeDocument/2006/relationships/tags" Target="../tags/tag398.xml"/><Relationship Id="rId14" Type="http://schemas.openxmlformats.org/officeDocument/2006/relationships/image" Target="../media/image33.png"/></Relationships>
</file>

<file path=ppt/slides/_rels/slide98.xml.rels><?xml version="1.0" encoding="UTF-8" standalone="yes"?>
<Relationships xmlns="http://schemas.openxmlformats.org/package/2006/relationships"><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 Id="rId4"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 Id="rId5" Type="http://schemas.openxmlformats.org/officeDocument/2006/relationships/slideLayout" Target="../slideLayouts/slideLayout2.xml"/><Relationship Id="rId4" Type="http://schemas.openxmlformats.org/officeDocument/2006/relationships/tags" Target="../tags/tag406.xml"/></Relationships>
</file>

<file path=ppt/slides/_rels/slide100.xml.rels><?xml version="1.0" encoding="UTF-8" standalone="yes"?>
<Relationships xmlns="http://schemas.openxmlformats.org/package/2006/relationships"><Relationship Id="rId3" Type="http://schemas.openxmlformats.org/officeDocument/2006/relationships/tags" Target="../tags/tag409.xml"/><Relationship Id="rId2" Type="http://schemas.openxmlformats.org/officeDocument/2006/relationships/tags" Target="../tags/tag408.xml"/><Relationship Id="rId1" Type="http://schemas.openxmlformats.org/officeDocument/2006/relationships/tags" Target="../tags/tag407.xml"/><Relationship Id="rId6" Type="http://schemas.openxmlformats.org/officeDocument/2006/relationships/notesSlide" Target="../notesSlides/notesSlide71.xml"/><Relationship Id="rId5" Type="http://schemas.openxmlformats.org/officeDocument/2006/relationships/slideLayout" Target="../slideLayouts/slideLayout2.xml"/><Relationship Id="rId4" Type="http://schemas.openxmlformats.org/officeDocument/2006/relationships/tags" Target="../tags/tag410.xml"/></Relationships>
</file>

<file path=ppt/slides/_rels/slide101.xml.rels><?xml version="1.0" encoding="UTF-8" standalone="yes"?>
<Relationships xmlns="http://schemas.openxmlformats.org/package/2006/relationships"><Relationship Id="rId3" Type="http://schemas.openxmlformats.org/officeDocument/2006/relationships/tags" Target="../tags/tag413.xml"/><Relationship Id="rId7" Type="http://schemas.openxmlformats.org/officeDocument/2006/relationships/notesSlide" Target="../notesSlides/notesSlide72.xml"/><Relationship Id="rId2" Type="http://schemas.openxmlformats.org/officeDocument/2006/relationships/tags" Target="../tags/tag412.xml"/><Relationship Id="rId1" Type="http://schemas.openxmlformats.org/officeDocument/2006/relationships/tags" Target="../tags/tag411.xml"/><Relationship Id="rId6" Type="http://schemas.openxmlformats.org/officeDocument/2006/relationships/slideLayout" Target="../slideLayouts/slideLayout2.xml"/><Relationship Id="rId5" Type="http://schemas.openxmlformats.org/officeDocument/2006/relationships/tags" Target="../tags/tag415.xml"/><Relationship Id="rId4" Type="http://schemas.openxmlformats.org/officeDocument/2006/relationships/tags" Target="../tags/tag414.xml"/></Relationships>
</file>

<file path=ppt/slides/_rels/slide102.xml.rels><?xml version="1.0" encoding="UTF-8" standalone="yes"?>
<Relationships xmlns="http://schemas.openxmlformats.org/package/2006/relationships"><Relationship Id="rId8" Type="http://schemas.openxmlformats.org/officeDocument/2006/relationships/notesSlide" Target="../notesSlides/notesSlide73.xml"/><Relationship Id="rId3" Type="http://schemas.openxmlformats.org/officeDocument/2006/relationships/tags" Target="../tags/tag418.xml"/><Relationship Id="rId7" Type="http://schemas.openxmlformats.org/officeDocument/2006/relationships/slideLayout" Target="../slideLayouts/slideLayout2.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s>
</file>

<file path=ppt/slides/_rels/slide103.xml.rels><?xml version="1.0" encoding="UTF-8" standalone="yes"?>
<Relationships xmlns="http://schemas.openxmlformats.org/package/2006/relationships"><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notesSlide" Target="../notesSlides/notesSlide74.xml"/><Relationship Id="rId5" Type="http://schemas.openxmlformats.org/officeDocument/2006/relationships/slideLayout" Target="../slideLayouts/slideLayout2.xml"/><Relationship Id="rId4" Type="http://schemas.openxmlformats.org/officeDocument/2006/relationships/tags" Target="../tags/tag425.xml"/></Relationships>
</file>

<file path=ppt/slides/_rels/slide10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428.xml"/><Relationship Id="rId7" Type="http://schemas.openxmlformats.org/officeDocument/2006/relationships/notesSlide" Target="../notesSlides/notesSlide75.xml"/><Relationship Id="rId2" Type="http://schemas.openxmlformats.org/officeDocument/2006/relationships/tags" Target="../tags/tag427.xml"/><Relationship Id="rId1" Type="http://schemas.openxmlformats.org/officeDocument/2006/relationships/tags" Target="../tags/tag426.xml"/><Relationship Id="rId6" Type="http://schemas.openxmlformats.org/officeDocument/2006/relationships/slideLayout" Target="../slideLayouts/slideLayout2.xml"/><Relationship Id="rId5" Type="http://schemas.openxmlformats.org/officeDocument/2006/relationships/tags" Target="../tags/tag430.xml"/><Relationship Id="rId4" Type="http://schemas.openxmlformats.org/officeDocument/2006/relationships/tags" Target="../tags/tag429.xml"/></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76.xml"/><Relationship Id="rId3" Type="http://schemas.openxmlformats.org/officeDocument/2006/relationships/tags" Target="../tags/tag433.xml"/><Relationship Id="rId7" Type="http://schemas.openxmlformats.org/officeDocument/2006/relationships/slideLayout" Target="../slideLayouts/slideLayout2.xml"/><Relationship Id="rId2" Type="http://schemas.openxmlformats.org/officeDocument/2006/relationships/tags" Target="../tags/tag432.xml"/><Relationship Id="rId1" Type="http://schemas.openxmlformats.org/officeDocument/2006/relationships/tags" Target="../tags/tag431.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9" Type="http://schemas.openxmlformats.org/officeDocument/2006/relationships/image" Target="../media/image35.png"/></Relationships>
</file>

<file path=ppt/slides/_rels/slide10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439.xml"/><Relationship Id="rId7" Type="http://schemas.openxmlformats.org/officeDocument/2006/relationships/notesSlide" Target="../notesSlides/notesSlide77.xml"/><Relationship Id="rId2" Type="http://schemas.openxmlformats.org/officeDocument/2006/relationships/tags" Target="../tags/tag438.xml"/><Relationship Id="rId1" Type="http://schemas.openxmlformats.org/officeDocument/2006/relationships/tags" Target="../tags/tag437.xml"/><Relationship Id="rId6" Type="http://schemas.openxmlformats.org/officeDocument/2006/relationships/slideLayout" Target="../slideLayouts/slideLayout2.xml"/><Relationship Id="rId5" Type="http://schemas.openxmlformats.org/officeDocument/2006/relationships/tags" Target="../tags/tag441.xml"/><Relationship Id="rId4" Type="http://schemas.openxmlformats.org/officeDocument/2006/relationships/tags" Target="../tags/tag440.xml"/></Relationships>
</file>

<file path=ppt/slides/_rels/slide107.xml.rels><?xml version="1.0" encoding="UTF-8" standalone="yes"?>
<Relationships xmlns="http://schemas.openxmlformats.org/package/2006/relationships"><Relationship Id="rId8" Type="http://schemas.openxmlformats.org/officeDocument/2006/relationships/notesSlide" Target="../notesSlides/notesSlide78.xml"/><Relationship Id="rId3" Type="http://schemas.openxmlformats.org/officeDocument/2006/relationships/tags" Target="../tags/tag444.xml"/><Relationship Id="rId7" Type="http://schemas.openxmlformats.org/officeDocument/2006/relationships/slideLayout" Target="../slideLayouts/slideLayout2.xml"/><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tags" Target="../tags/tag447.xml"/><Relationship Id="rId5" Type="http://schemas.openxmlformats.org/officeDocument/2006/relationships/tags" Target="../tags/tag446.xml"/><Relationship Id="rId4" Type="http://schemas.openxmlformats.org/officeDocument/2006/relationships/tags" Target="../tags/tag445.xml"/><Relationship Id="rId9" Type="http://schemas.openxmlformats.org/officeDocument/2006/relationships/image" Target="../media/image35.png"/></Relationships>
</file>

<file path=ppt/slides/_rels/slide10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448.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9.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450.xml"/><Relationship Id="rId5" Type="http://schemas.openxmlformats.org/officeDocument/2006/relationships/image" Target="../media/image170.png"/><Relationship Id="rId4" Type="http://schemas.openxmlformats.org/officeDocument/2006/relationships/image" Target="../media/image160.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451.xml"/><Relationship Id="rId5" Type="http://schemas.openxmlformats.org/officeDocument/2006/relationships/image" Target="../media/image170.png"/><Relationship Id="rId4" Type="http://schemas.openxmlformats.org/officeDocument/2006/relationships/image" Target="../media/image160.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tags" Target="../tags/tag452.xml"/><Relationship Id="rId4" Type="http://schemas.openxmlformats.org/officeDocument/2006/relationships/image" Target="../media/image1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6FC92-4554-0F87-93E2-4FB966131C23}"/>
              </a:ext>
            </a:extLst>
          </p:cNvPr>
          <p:cNvSpPr>
            <a:spLocks noGrp="1"/>
          </p:cNvSpPr>
          <p:nvPr>
            <p:ph type="ctrTitle"/>
          </p:nvPr>
        </p:nvSpPr>
        <p:spPr>
          <a:xfrm>
            <a:off x="-30895" y="801298"/>
            <a:ext cx="12253785" cy="1432815"/>
          </a:xfrm>
          <a:solidFill>
            <a:srgbClr val="C00000"/>
          </a:solidFill>
        </p:spPr>
        <p:txBody>
          <a:bodyPr>
            <a:normAutofit/>
          </a:bodyPr>
          <a:lstStyle/>
          <a:p>
            <a:r>
              <a:rPr lang="en-US" sz="8000" b="1" dirty="0">
                <a:solidFill>
                  <a:schemeClr val="bg1"/>
                </a:solidFill>
                <a:latin typeface="Broadway" pitchFamily="82" charset="77"/>
                <a:ea typeface="Padyakke Expanded One" pitchFamily="2" charset="77"/>
                <a:cs typeface="Padyakke Expanded One" pitchFamily="2" charset="77"/>
              </a:rPr>
              <a:t>CSE 508</a:t>
            </a:r>
          </a:p>
        </p:txBody>
      </p:sp>
      <p:sp>
        <p:nvSpPr>
          <p:cNvPr id="3" name="Subtitle 2">
            <a:extLst>
              <a:ext uri="{FF2B5EF4-FFF2-40B4-BE49-F238E27FC236}">
                <a16:creationId xmlns:a16="http://schemas.microsoft.com/office/drawing/2014/main" id="{04923C17-A2AC-41EE-5C52-A35072A9C88D}"/>
              </a:ext>
            </a:extLst>
          </p:cNvPr>
          <p:cNvSpPr>
            <a:spLocks noGrp="1"/>
          </p:cNvSpPr>
          <p:nvPr>
            <p:ph type="subTitle" idx="1"/>
          </p:nvPr>
        </p:nvSpPr>
        <p:spPr>
          <a:xfrm>
            <a:off x="-1" y="2393004"/>
            <a:ext cx="12191999" cy="2230884"/>
          </a:xfrm>
        </p:spPr>
        <p:txBody>
          <a:bodyPr>
            <a:normAutofit/>
          </a:bodyPr>
          <a:lstStyle/>
          <a:p>
            <a:r>
              <a:rPr lang="en-US" sz="6000" i="1" dirty="0">
                <a:latin typeface="Avenir Next" panose="020B0503020202020204" pitchFamily="34" charset="0"/>
              </a:rPr>
              <a:t>Network Security (</a:t>
            </a:r>
            <a:r>
              <a:rPr lang="en-US" sz="6000" i="1">
                <a:latin typeface="Avenir Next" panose="020B0503020202020204" pitchFamily="34" charset="0"/>
              </a:rPr>
              <a:t>Lecture 8- </a:t>
            </a:r>
            <a:r>
              <a:rPr lang="en-US" sz="6000" i="1" dirty="0">
                <a:latin typeface="Avenir Next" panose="020B0503020202020204" pitchFamily="34" charset="0"/>
              </a:rPr>
              <a:t>Introduction to SSL/TLS)</a:t>
            </a:r>
          </a:p>
        </p:txBody>
      </p:sp>
      <p:sp>
        <p:nvSpPr>
          <p:cNvPr id="7" name="TextBox 6">
            <a:extLst>
              <a:ext uri="{FF2B5EF4-FFF2-40B4-BE49-F238E27FC236}">
                <a16:creationId xmlns:a16="http://schemas.microsoft.com/office/drawing/2014/main" id="{64E15D6F-2078-4E74-5A9E-502C766545B2}"/>
              </a:ext>
            </a:extLst>
          </p:cNvPr>
          <p:cNvSpPr txBox="1"/>
          <p:nvPr/>
        </p:nvSpPr>
        <p:spPr>
          <a:xfrm>
            <a:off x="24714" y="4589849"/>
            <a:ext cx="12167286" cy="2062103"/>
          </a:xfrm>
          <a:prstGeom prst="rect">
            <a:avLst/>
          </a:prstGeom>
          <a:noFill/>
        </p:spPr>
        <p:txBody>
          <a:bodyPr wrap="square">
            <a:spAutoFit/>
          </a:bodyPr>
          <a:lstStyle/>
          <a:p>
            <a:pPr algn="ctr"/>
            <a:r>
              <a:rPr lang="en-US" sz="3200" b="1" i="1" dirty="0">
                <a:solidFill>
                  <a:srgbClr val="C00000"/>
                </a:solidFill>
                <a:latin typeface="Roboto Black" panose="02000000000000000000" pitchFamily="2" charset="0"/>
                <a:ea typeface="Roboto Black" panose="02000000000000000000" pitchFamily="2" charset="0"/>
                <a:cs typeface="Roboto Black" panose="02000000000000000000" pitchFamily="2" charset="0"/>
              </a:rPr>
              <a:t>Omar Haider Chowdhury</a:t>
            </a:r>
          </a:p>
          <a:p>
            <a:pPr algn="ctr"/>
            <a:r>
              <a:rPr lang="en-US" sz="3200" i="1" dirty="0">
                <a:latin typeface="Avenir Next" panose="020B0503020202020204" pitchFamily="34" charset="0"/>
                <a:ea typeface="Roboto Black" panose="02000000000000000000" pitchFamily="2" charset="0"/>
                <a:cs typeface="Avenir Next LT Pro Light" panose="020F0302020204030204" pitchFamily="34" charset="0"/>
              </a:rPr>
              <a:t>Empire Innovation Scholar and Associate Professor</a:t>
            </a:r>
          </a:p>
          <a:p>
            <a:pPr algn="ctr"/>
            <a:r>
              <a:rPr lang="en-US" sz="3200" i="1" dirty="0">
                <a:latin typeface="Avenir Next" panose="020B0503020202020204" pitchFamily="34" charset="0"/>
                <a:ea typeface="Roboto Black" panose="02000000000000000000" pitchFamily="2" charset="0"/>
                <a:cs typeface="Avenir Next LT Pro Light" panose="020F0302020204030204" pitchFamily="34" charset="0"/>
              </a:rPr>
              <a:t>Department of Computer Science</a:t>
            </a:r>
          </a:p>
          <a:p>
            <a:pPr algn="ctr"/>
            <a:r>
              <a:rPr lang="en-US" sz="3200" i="1" dirty="0">
                <a:latin typeface="Avenir Next" panose="020B0503020202020204" pitchFamily="34" charset="0"/>
                <a:ea typeface="Roboto Black" panose="02000000000000000000" pitchFamily="2" charset="0"/>
                <a:cs typeface="Avenir Next LT Pro Light" panose="020F0302020204030204" pitchFamily="34" charset="0"/>
              </a:rPr>
              <a:t>Stony Brook University</a:t>
            </a:r>
          </a:p>
        </p:txBody>
      </p:sp>
    </p:spTree>
    <p:custDataLst>
      <p:tags r:id="rId1"/>
    </p:custDataLst>
    <p:extLst>
      <p:ext uri="{BB962C8B-B14F-4D97-AF65-F5344CB8AC3E}">
        <p14:creationId xmlns:p14="http://schemas.microsoft.com/office/powerpoint/2010/main" val="1650358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4122E2-AF9D-6FDC-EACA-6715BE16EAE6}"/>
              </a:ext>
            </a:extLst>
          </p:cNvPr>
          <p:cNvSpPr>
            <a:spLocks noGrp="1"/>
          </p:cNvSpPr>
          <p:nvPr>
            <p:ph idx="1"/>
            <p:custDataLst>
              <p:tags r:id="rId2"/>
            </p:custDataLst>
          </p:nvPr>
        </p:nvSpPr>
        <p:spPr>
          <a:xfrm>
            <a:off x="838200" y="1069383"/>
            <a:ext cx="10515600" cy="5579390"/>
          </a:xfrm>
        </p:spPr>
        <p:txBody>
          <a:bodyPr>
            <a:normAutofit fontScale="92500" lnSpcReduction="10000"/>
          </a:bodyPr>
          <a:lstStyle/>
          <a:p>
            <a:r>
              <a:rPr lang="en-US" sz="4000" dirty="0"/>
              <a:t>This class will have the following modules:</a:t>
            </a:r>
          </a:p>
          <a:p>
            <a:pPr lvl="1"/>
            <a:r>
              <a:rPr lang="en-US" sz="3600" dirty="0"/>
              <a:t>Background: </a:t>
            </a:r>
          </a:p>
          <a:p>
            <a:pPr lvl="2"/>
            <a:r>
              <a:rPr lang="en-US" sz="3200" dirty="0"/>
              <a:t>Cryptography</a:t>
            </a:r>
          </a:p>
          <a:p>
            <a:pPr lvl="2"/>
            <a:r>
              <a:rPr lang="en-US" sz="3200" dirty="0"/>
              <a:t>Introduction to Network and Protocols</a:t>
            </a:r>
          </a:p>
          <a:p>
            <a:pPr lvl="1"/>
            <a:r>
              <a:rPr lang="en-US" sz="3600" dirty="0"/>
              <a:t>Authentication</a:t>
            </a:r>
          </a:p>
          <a:p>
            <a:pPr lvl="1"/>
            <a:r>
              <a:rPr lang="en-US" sz="3600" dirty="0"/>
              <a:t>Access Control</a:t>
            </a:r>
          </a:p>
          <a:p>
            <a:pPr lvl="1"/>
            <a:r>
              <a:rPr lang="en-US" sz="3600" dirty="0"/>
              <a:t>Attacks and Defenses against protocols </a:t>
            </a:r>
          </a:p>
          <a:p>
            <a:pPr lvl="1"/>
            <a:r>
              <a:rPr lang="en-US" sz="3600" dirty="0"/>
              <a:t>Essential tools for attack and defense</a:t>
            </a:r>
          </a:p>
          <a:p>
            <a:pPr lvl="1"/>
            <a:r>
              <a:rPr lang="en-US" sz="3600" dirty="0"/>
              <a:t>Web Security</a:t>
            </a:r>
          </a:p>
          <a:p>
            <a:pPr lvl="1"/>
            <a:r>
              <a:rPr lang="en-US" sz="3600" dirty="0"/>
              <a:t>Privacy and Anonymity </a:t>
            </a:r>
          </a:p>
          <a:p>
            <a:pPr lvl="1"/>
            <a:r>
              <a:rPr lang="en-US" sz="3600" dirty="0"/>
              <a:t>Advanced Topics (Protocol Verification)</a:t>
            </a:r>
          </a:p>
        </p:txBody>
      </p:sp>
      <p:sp>
        <p:nvSpPr>
          <p:cNvPr id="5" name="TextBox 4">
            <a:extLst>
              <a:ext uri="{FF2B5EF4-FFF2-40B4-BE49-F238E27FC236}">
                <a16:creationId xmlns:a16="http://schemas.microsoft.com/office/drawing/2014/main" id="{F698BFF0-68A3-505A-AEDD-6BE77616F125}"/>
              </a:ext>
            </a:extLst>
          </p:cNvPr>
          <p:cNvSpPr txBox="1"/>
          <p:nvPr>
            <p:custDataLst>
              <p:tags r:id="rId3"/>
            </p:custDataLst>
          </p:nvPr>
        </p:nvSpPr>
        <p:spPr>
          <a:xfrm>
            <a:off x="-8092" y="-5493"/>
            <a:ext cx="6098058" cy="738664"/>
          </a:xfrm>
          <a:prstGeom prst="rect">
            <a:avLst/>
          </a:prstGeom>
          <a:solidFill>
            <a:srgbClr val="C00000"/>
          </a:solidFill>
        </p:spPr>
        <p:txBody>
          <a:bodyPr wrap="square">
            <a:spAutoFit/>
          </a:bodyPr>
          <a:lstStyle/>
          <a:p>
            <a:pPr algn="ctr"/>
            <a:r>
              <a:rPr lang="en-US" sz="4200" dirty="0">
                <a:solidFill>
                  <a:schemeClr val="bg1"/>
                </a:solidFill>
                <a:latin typeface="Playfair Display Medium" pitchFamily="2" charset="77"/>
              </a:rPr>
              <a:t>Modules</a:t>
            </a:r>
          </a:p>
        </p:txBody>
      </p:sp>
    </p:spTree>
    <p:custDataLst>
      <p:tags r:id="rId1"/>
    </p:custDataLst>
    <p:extLst>
      <p:ext uri="{BB962C8B-B14F-4D97-AF65-F5344CB8AC3E}">
        <p14:creationId xmlns:p14="http://schemas.microsoft.com/office/powerpoint/2010/main" val="3607936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4122E2-AF9D-6FDC-EACA-6715BE16EAE6}"/>
              </a:ext>
            </a:extLst>
          </p:cNvPr>
          <p:cNvSpPr>
            <a:spLocks noGrp="1"/>
          </p:cNvSpPr>
          <p:nvPr>
            <p:ph idx="1"/>
            <p:custDataLst>
              <p:tags r:id="rId2"/>
            </p:custDataLst>
          </p:nvPr>
        </p:nvSpPr>
        <p:spPr>
          <a:xfrm>
            <a:off x="838200" y="1069383"/>
            <a:ext cx="10515600" cy="5579390"/>
          </a:xfrm>
        </p:spPr>
        <p:txBody>
          <a:bodyPr>
            <a:normAutofit fontScale="92500" lnSpcReduction="10000"/>
          </a:bodyPr>
          <a:lstStyle/>
          <a:p>
            <a:r>
              <a:rPr lang="en-US" sz="4000" dirty="0"/>
              <a:t>This class will have the following modules:</a:t>
            </a:r>
          </a:p>
          <a:p>
            <a:pPr lvl="1"/>
            <a:r>
              <a:rPr lang="en-US" sz="3600" dirty="0"/>
              <a:t>Background: </a:t>
            </a:r>
          </a:p>
          <a:p>
            <a:pPr lvl="2"/>
            <a:r>
              <a:rPr lang="en-US" sz="3200" dirty="0"/>
              <a:t>Cryptography</a:t>
            </a:r>
          </a:p>
          <a:p>
            <a:pPr lvl="2"/>
            <a:r>
              <a:rPr lang="en-US" sz="3200" dirty="0"/>
              <a:t>Introduction to Network and Protocols</a:t>
            </a:r>
          </a:p>
          <a:p>
            <a:pPr lvl="1"/>
            <a:r>
              <a:rPr lang="en-US" sz="3600" dirty="0"/>
              <a:t>Authentication</a:t>
            </a:r>
          </a:p>
          <a:p>
            <a:pPr lvl="1"/>
            <a:r>
              <a:rPr lang="en-US" sz="3600" dirty="0"/>
              <a:t>Access Control</a:t>
            </a:r>
          </a:p>
          <a:p>
            <a:pPr lvl="1"/>
            <a:r>
              <a:rPr lang="en-US" sz="3600" dirty="0"/>
              <a:t>Attacks and Defenses against protocols </a:t>
            </a:r>
          </a:p>
          <a:p>
            <a:pPr lvl="1"/>
            <a:r>
              <a:rPr lang="en-US" sz="3600" dirty="0"/>
              <a:t>Essential tools for attack and defense</a:t>
            </a:r>
          </a:p>
          <a:p>
            <a:pPr lvl="1"/>
            <a:r>
              <a:rPr lang="en-US" sz="3600" dirty="0"/>
              <a:t>Web Security</a:t>
            </a:r>
          </a:p>
          <a:p>
            <a:pPr lvl="1"/>
            <a:r>
              <a:rPr lang="en-US" sz="3600" dirty="0"/>
              <a:t>Privacy and Anonymity </a:t>
            </a:r>
          </a:p>
          <a:p>
            <a:pPr lvl="1"/>
            <a:r>
              <a:rPr lang="en-US" sz="3600" dirty="0"/>
              <a:t>Advanced Topics (Protocol Verification)</a:t>
            </a:r>
          </a:p>
        </p:txBody>
      </p:sp>
      <p:sp>
        <p:nvSpPr>
          <p:cNvPr id="5" name="TextBox 4">
            <a:extLst>
              <a:ext uri="{FF2B5EF4-FFF2-40B4-BE49-F238E27FC236}">
                <a16:creationId xmlns:a16="http://schemas.microsoft.com/office/drawing/2014/main" id="{F698BFF0-68A3-505A-AEDD-6BE77616F125}"/>
              </a:ext>
            </a:extLst>
          </p:cNvPr>
          <p:cNvSpPr txBox="1"/>
          <p:nvPr>
            <p:custDataLst>
              <p:tags r:id="rId3"/>
            </p:custDataLst>
          </p:nvPr>
        </p:nvSpPr>
        <p:spPr>
          <a:xfrm>
            <a:off x="-8092" y="-5493"/>
            <a:ext cx="6098058" cy="738664"/>
          </a:xfrm>
          <a:prstGeom prst="rect">
            <a:avLst/>
          </a:prstGeom>
          <a:solidFill>
            <a:srgbClr val="C00000"/>
          </a:solidFill>
        </p:spPr>
        <p:txBody>
          <a:bodyPr wrap="square">
            <a:spAutoFit/>
          </a:bodyPr>
          <a:lstStyle/>
          <a:p>
            <a:pPr algn="ctr"/>
            <a:r>
              <a:rPr lang="en-US" sz="4200" dirty="0">
                <a:solidFill>
                  <a:schemeClr val="bg1"/>
                </a:solidFill>
                <a:latin typeface="Playfair Display Medium" pitchFamily="2" charset="77"/>
              </a:rPr>
              <a:t>Modules</a:t>
            </a:r>
          </a:p>
        </p:txBody>
      </p:sp>
      <p:sp>
        <p:nvSpPr>
          <p:cNvPr id="2" name="Rectangle 1">
            <a:extLst>
              <a:ext uri="{FF2B5EF4-FFF2-40B4-BE49-F238E27FC236}">
                <a16:creationId xmlns:a16="http://schemas.microsoft.com/office/drawing/2014/main" id="{4A9A4AF2-6993-CCCD-C180-90193F34055B}"/>
              </a:ext>
            </a:extLst>
          </p:cNvPr>
          <p:cNvSpPr/>
          <p:nvPr>
            <p:custDataLst>
              <p:tags r:id="rId4"/>
            </p:custDataLst>
          </p:nvPr>
        </p:nvSpPr>
        <p:spPr>
          <a:xfrm>
            <a:off x="1552248" y="3774687"/>
            <a:ext cx="7480239" cy="524108"/>
          </a:xfrm>
          <a:prstGeom prst="rect">
            <a:avLst/>
          </a:prstGeom>
          <a:noFill/>
          <a:ln w="76200">
            <a:solidFill>
              <a:srgbClr val="C0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23035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3654540"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rPr>
              <a:t>Slide Sources</a:t>
            </a: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1070516"/>
            <a:ext cx="12192000" cy="5787483"/>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3781" marR="1095433" indent="-302575">
              <a:lnSpc>
                <a:spcPct val="100000"/>
              </a:lnSpc>
              <a:buClr>
                <a:srgbClr val="727CA3"/>
              </a:buClr>
              <a:buSzPct val="75000"/>
              <a:buAutoNum type="arabicPeriod"/>
              <a:tabLst>
                <a:tab pos="313781" algn="l"/>
              </a:tabLst>
            </a:pPr>
            <a:r>
              <a:rPr lang="en-US" sz="4000" spc="-13" dirty="0">
                <a:latin typeface="Avenir Next" panose="020B0503020202020204" pitchFamily="34" charset="0"/>
                <a:cs typeface="Gill Sans MT"/>
              </a:rPr>
              <a:t>Many </a:t>
            </a:r>
            <a:r>
              <a:rPr lang="en-US" sz="4000" dirty="0">
                <a:latin typeface="Avenir Next" panose="020B0503020202020204" pitchFamily="34" charset="0"/>
                <a:cs typeface="Gill Sans MT"/>
              </a:rPr>
              <a:t>slides</a:t>
            </a:r>
            <a:r>
              <a:rPr lang="en-US" sz="4000" spc="-13" dirty="0">
                <a:latin typeface="Avenir Next" panose="020B0503020202020204" pitchFamily="34" charset="0"/>
                <a:cs typeface="Gill Sans MT"/>
              </a:rPr>
              <a:t> </a:t>
            </a:r>
            <a:r>
              <a:rPr lang="en-US" sz="4000" spc="4" dirty="0">
                <a:latin typeface="Avenir Next" panose="020B0503020202020204" pitchFamily="34" charset="0"/>
                <a:cs typeface="Gill Sans MT"/>
              </a:rPr>
              <a:t>courtesy</a:t>
            </a:r>
            <a:r>
              <a:rPr lang="en-US" sz="4000" spc="-13" dirty="0">
                <a:latin typeface="Avenir Next" panose="020B0503020202020204" pitchFamily="34" charset="0"/>
                <a:cs typeface="Gill Sans MT"/>
              </a:rPr>
              <a:t> </a:t>
            </a:r>
            <a:r>
              <a:rPr lang="en-US" sz="4000" dirty="0">
                <a:latin typeface="Avenir Next" panose="020B0503020202020204" pitchFamily="34" charset="0"/>
                <a:cs typeface="Gill Sans MT"/>
              </a:rPr>
              <a:t>of Cristina Nita-</a:t>
            </a:r>
            <a:r>
              <a:rPr lang="en-US" sz="4000" dirty="0" err="1">
                <a:latin typeface="Avenir Next" panose="020B0503020202020204" pitchFamily="34" charset="0"/>
                <a:cs typeface="Gill Sans MT"/>
              </a:rPr>
              <a:t>Rotaru</a:t>
            </a:r>
            <a:r>
              <a:rPr lang="en-US" sz="4000" dirty="0">
                <a:latin typeface="Avenir Next" panose="020B0503020202020204" pitchFamily="34" charset="0"/>
                <a:cs typeface="Gill Sans MT"/>
              </a:rPr>
              <a:t>,</a:t>
            </a:r>
            <a:r>
              <a:rPr lang="en-US" sz="4000" spc="-13" dirty="0">
                <a:latin typeface="Avenir Next" panose="020B0503020202020204" pitchFamily="34" charset="0"/>
                <a:cs typeface="Gill Sans MT"/>
              </a:rPr>
              <a:t> </a:t>
            </a:r>
            <a:r>
              <a:rPr lang="en-US" sz="4000" dirty="0">
                <a:latin typeface="Avenir Next" panose="020B0503020202020204" pitchFamily="34" charset="0"/>
                <a:cs typeface="Gill Sans MT"/>
              </a:rPr>
              <a:t>Christo</a:t>
            </a:r>
            <a:r>
              <a:rPr lang="en-US" sz="4000" spc="-296" dirty="0">
                <a:latin typeface="Avenir Next" panose="020B0503020202020204" pitchFamily="34" charset="0"/>
                <a:cs typeface="Gill Sans MT"/>
              </a:rPr>
              <a:t> </a:t>
            </a:r>
            <a:r>
              <a:rPr lang="en-US" sz="4000" dirty="0">
                <a:latin typeface="Avenir Next" panose="020B0503020202020204" pitchFamily="34" charset="0"/>
                <a:cs typeface="Gill Sans MT"/>
              </a:rPr>
              <a:t>Wilson,</a:t>
            </a:r>
            <a:r>
              <a:rPr lang="en-US" sz="4000" spc="-13" dirty="0">
                <a:latin typeface="Avenir Next" panose="020B0503020202020204" pitchFamily="34" charset="0"/>
                <a:cs typeface="Gill Sans MT"/>
              </a:rPr>
              <a:t> </a:t>
            </a:r>
            <a:r>
              <a:rPr lang="en-US" sz="4000" dirty="0">
                <a:latin typeface="Avenir Next" panose="020B0503020202020204" pitchFamily="34" charset="0"/>
                <a:cs typeface="Gill Sans MT"/>
              </a:rPr>
              <a:t>Wil  </a:t>
            </a:r>
            <a:r>
              <a:rPr lang="en-US" sz="4000" spc="4" dirty="0">
                <a:latin typeface="Avenir Next" panose="020B0503020202020204" pitchFamily="34" charset="0"/>
                <a:cs typeface="Gill Sans MT"/>
              </a:rPr>
              <a:t>Robertson, and </a:t>
            </a:r>
            <a:r>
              <a:rPr lang="en-US" sz="4000" spc="4" dirty="0" err="1">
                <a:latin typeface="Avenir Next" panose="020B0503020202020204" pitchFamily="34" charset="0"/>
                <a:cs typeface="Gill Sans MT"/>
              </a:rPr>
              <a:t>Joyanta</a:t>
            </a:r>
            <a:r>
              <a:rPr lang="en-US" sz="4000" spc="4" dirty="0">
                <a:latin typeface="Avenir Next" panose="020B0503020202020204" pitchFamily="34" charset="0"/>
                <a:cs typeface="Gill Sans MT"/>
              </a:rPr>
              <a:t> Debnath</a:t>
            </a:r>
            <a:endParaRPr lang="en-US" sz="4000" dirty="0">
              <a:latin typeface="Avenir Next" panose="020B0503020202020204" pitchFamily="34" charset="0"/>
              <a:cs typeface="Gill Sans MT"/>
            </a:endParaRPr>
          </a:p>
          <a:p>
            <a:pPr marL="313781" marR="56032" indent="-302575">
              <a:lnSpc>
                <a:spcPct val="100000"/>
              </a:lnSpc>
              <a:spcBef>
                <a:spcPts val="582"/>
              </a:spcBef>
              <a:buClr>
                <a:srgbClr val="727CA3"/>
              </a:buClr>
              <a:buSzPct val="75000"/>
              <a:buAutoNum type="arabicPeriod"/>
              <a:tabLst>
                <a:tab pos="313781" algn="l"/>
              </a:tabLst>
            </a:pPr>
            <a:r>
              <a:rPr lang="en-US" sz="4000" spc="-4" dirty="0">
                <a:latin typeface="Avenir Next" panose="020B0503020202020204" pitchFamily="34" charset="0"/>
                <a:cs typeface="Gill Sans MT"/>
              </a:rPr>
              <a:t>Analysis </a:t>
            </a:r>
            <a:r>
              <a:rPr lang="en-US" sz="4000" dirty="0">
                <a:latin typeface="Avenir Next" panose="020B0503020202020204" pitchFamily="34" charset="0"/>
                <a:cs typeface="Gill Sans MT"/>
              </a:rPr>
              <a:t>of the HTTPS Certificate Ecosystem, IMC</a:t>
            </a:r>
            <a:r>
              <a:rPr lang="en-US" sz="4000" spc="-274" dirty="0">
                <a:latin typeface="Avenir Next" panose="020B0503020202020204" pitchFamily="34" charset="0"/>
                <a:cs typeface="Gill Sans MT"/>
              </a:rPr>
              <a:t> </a:t>
            </a:r>
            <a:r>
              <a:rPr lang="en-US" sz="4000" dirty="0">
                <a:latin typeface="Avenir Next" panose="020B0503020202020204" pitchFamily="34" charset="0"/>
                <a:cs typeface="Gill Sans MT"/>
              </a:rPr>
              <a:t>2013:  </a:t>
            </a:r>
            <a:r>
              <a:rPr lang="en-US" sz="4000" u="heavy" spc="-4" dirty="0">
                <a:solidFill>
                  <a:srgbClr val="B292CA"/>
                </a:solidFill>
                <a:latin typeface="Avenir Next" panose="020B0503020202020204" pitchFamily="34" charset="0"/>
                <a:cs typeface="Gill Sans MT"/>
              </a:rPr>
              <a:t>https://</a:t>
            </a:r>
            <a:r>
              <a:rPr lang="en-US" sz="4000" u="heavy" spc="-4" dirty="0" err="1">
                <a:solidFill>
                  <a:srgbClr val="B292CA"/>
                </a:solidFill>
                <a:latin typeface="Avenir Next" panose="020B0503020202020204" pitchFamily="34" charset="0"/>
                <a:cs typeface="Gill Sans MT"/>
              </a:rPr>
              <a:t>jhalderm.com</a:t>
            </a:r>
            <a:r>
              <a:rPr lang="en-US" sz="4000" u="heavy" spc="-4" dirty="0">
                <a:solidFill>
                  <a:srgbClr val="B292CA"/>
                </a:solidFill>
                <a:latin typeface="Avenir Next" panose="020B0503020202020204" pitchFamily="34" charset="0"/>
                <a:cs typeface="Gill Sans MT"/>
              </a:rPr>
              <a:t>/pub/papers/https-imc13.pdf</a:t>
            </a:r>
            <a:endParaRPr lang="en-US" sz="4000" dirty="0">
              <a:latin typeface="Avenir Next" panose="020B0503020202020204" pitchFamily="34" charset="0"/>
              <a:cs typeface="Gill Sans MT"/>
            </a:endParaRPr>
          </a:p>
          <a:p>
            <a:pPr marL="313781" marR="4483" indent="-302575">
              <a:lnSpc>
                <a:spcPct val="100000"/>
              </a:lnSpc>
              <a:spcBef>
                <a:spcPts val="618"/>
              </a:spcBef>
              <a:buClr>
                <a:srgbClr val="727CA3"/>
              </a:buClr>
              <a:buSzPct val="75000"/>
              <a:buAutoNum type="arabicPeriod"/>
              <a:tabLst>
                <a:tab pos="313781" algn="l"/>
              </a:tabLst>
            </a:pPr>
            <a:r>
              <a:rPr lang="en-US" sz="4000" spc="-4" dirty="0">
                <a:latin typeface="Avenir Next" panose="020B0503020202020204" pitchFamily="34" charset="0"/>
                <a:cs typeface="Gill Sans MT"/>
              </a:rPr>
              <a:t>Analysis </a:t>
            </a:r>
            <a:r>
              <a:rPr lang="en-US" sz="4000" dirty="0">
                <a:latin typeface="Avenir Next" panose="020B0503020202020204" pitchFamily="34" charset="0"/>
                <a:cs typeface="Gill Sans MT"/>
              </a:rPr>
              <a:t>of SSL certificate </a:t>
            </a:r>
            <a:r>
              <a:rPr lang="en-US" sz="4000" spc="-9" dirty="0">
                <a:latin typeface="Avenir Next" panose="020B0503020202020204" pitchFamily="34" charset="0"/>
                <a:cs typeface="Gill Sans MT"/>
              </a:rPr>
              <a:t>reissues </a:t>
            </a:r>
            <a:r>
              <a:rPr lang="en-US" sz="4000" dirty="0">
                <a:latin typeface="Avenir Next" panose="020B0503020202020204" pitchFamily="34" charset="0"/>
                <a:cs typeface="Gill Sans MT"/>
              </a:rPr>
              <a:t>and </a:t>
            </a:r>
            <a:r>
              <a:rPr lang="en-US" sz="4000" spc="-13" dirty="0">
                <a:latin typeface="Avenir Next" panose="020B0503020202020204" pitchFamily="34" charset="0"/>
                <a:cs typeface="Gill Sans MT"/>
              </a:rPr>
              <a:t>revocations </a:t>
            </a:r>
            <a:r>
              <a:rPr lang="en-US" sz="4000" dirty="0">
                <a:latin typeface="Avenir Next" panose="020B0503020202020204" pitchFamily="34" charset="0"/>
                <a:cs typeface="Gill Sans MT"/>
              </a:rPr>
              <a:t>in the  </a:t>
            </a:r>
            <a:r>
              <a:rPr lang="en-US" sz="4000" spc="-18" dirty="0">
                <a:latin typeface="Avenir Next" panose="020B0503020202020204" pitchFamily="34" charset="0"/>
                <a:cs typeface="Gill Sans MT"/>
              </a:rPr>
              <a:t>wake </a:t>
            </a:r>
            <a:r>
              <a:rPr lang="en-US" sz="4000" dirty="0">
                <a:latin typeface="Avenir Next" panose="020B0503020202020204" pitchFamily="34" charset="0"/>
                <a:cs typeface="Gill Sans MT"/>
              </a:rPr>
              <a:t>of Heartbleed, IMC 2014:  </a:t>
            </a:r>
            <a:r>
              <a:rPr lang="en-US" sz="4000" u="heavy" spc="-4" dirty="0">
                <a:solidFill>
                  <a:srgbClr val="B292CA"/>
                </a:solidFill>
                <a:latin typeface="Avenir Next" panose="020B0503020202020204" pitchFamily="34" charset="0"/>
                <a:cs typeface="Gill Sans MT"/>
                <a:hlinkClick r:id="rId4"/>
              </a:rPr>
              <a:t>http://www.ccs.neu.edu/home/cbw/pdf/imc254-zhang.pdf</a:t>
            </a:r>
            <a:endParaRPr lang="en-US" sz="4000" dirty="0">
              <a:latin typeface="Avenir Next" panose="020B0503020202020204" pitchFamily="34" charset="0"/>
              <a:cs typeface="Gill Sans MT"/>
            </a:endParaRPr>
          </a:p>
        </p:txBody>
      </p:sp>
    </p:spTree>
    <p:custDataLst>
      <p:tags r:id="rId1"/>
    </p:custDataLst>
    <p:extLst>
      <p:ext uri="{BB962C8B-B14F-4D97-AF65-F5344CB8AC3E}">
        <p14:creationId xmlns:p14="http://schemas.microsoft.com/office/powerpoint/2010/main" val="3526602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8929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ndamentally about transmitting information between two devices…">
            <a:extLst>
              <a:ext uri="{FF2B5EF4-FFF2-40B4-BE49-F238E27FC236}">
                <a16:creationId xmlns:a16="http://schemas.microsoft.com/office/drawing/2014/main" id="{E99F4337-2B9E-15A0-7BAA-8FA5C5A56E27}"/>
              </a:ext>
            </a:extLst>
          </p:cNvPr>
          <p:cNvSpPr txBox="1">
            <a:spLocks/>
          </p:cNvSpPr>
          <p:nvPr>
            <p:custDataLst>
              <p:tags r:id="rId2"/>
            </p:custDataLst>
          </p:nvPr>
        </p:nvSpPr>
        <p:spPr>
          <a:xfrm>
            <a:off x="0" y="2206016"/>
            <a:ext cx="12192000" cy="2445968"/>
          </a:xfrm>
          <a:prstGeom prst="rect">
            <a:avLst/>
          </a:prstGeom>
          <a:solidFill>
            <a:srgbClr val="C00000"/>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defRPr sz="4700"/>
            </a:pPr>
            <a:r>
              <a:rPr lang="en-US" sz="4800" dirty="0">
                <a:solidFill>
                  <a:schemeClr val="bg1"/>
                </a:solidFill>
                <a:latin typeface="Avenir Next" panose="020B0503020202020204" pitchFamily="34" charset="0"/>
              </a:rPr>
              <a:t>We are going to focus on Transport Layer Security (TLS), which is arguably the most widely used security protocol</a:t>
            </a:r>
          </a:p>
        </p:txBody>
      </p:sp>
    </p:spTree>
    <p:custDataLst>
      <p:tags r:id="rId1"/>
    </p:custDataLst>
    <p:extLst>
      <p:ext uri="{BB962C8B-B14F-4D97-AF65-F5344CB8AC3E}">
        <p14:creationId xmlns:p14="http://schemas.microsoft.com/office/powerpoint/2010/main" val="326295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499268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rPr>
              <a:t>Applications of TLS</a:t>
            </a: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latin typeface="Avenir Next" panose="020B0503020202020204" pitchFamily="34" charset="0"/>
              </a:rPr>
              <a:t> HTTPS, ICCP, MQTT </a:t>
            </a:r>
          </a:p>
          <a:p>
            <a:r>
              <a:rPr lang="en-US" sz="4400" dirty="0">
                <a:latin typeface="Avenir Next" panose="020B0503020202020204" pitchFamily="34" charset="0"/>
              </a:rPr>
              <a:t> EAP-TLS </a:t>
            </a:r>
          </a:p>
          <a:p>
            <a:r>
              <a:rPr lang="en-US" sz="4400" dirty="0">
                <a:latin typeface="Avenir Next" panose="020B0503020202020204" pitchFamily="34" charset="0"/>
              </a:rPr>
              <a:t> VPN </a:t>
            </a:r>
          </a:p>
          <a:p>
            <a:r>
              <a:rPr lang="en-US" sz="4400" dirty="0">
                <a:latin typeface="Avenir Next" panose="020B0503020202020204" pitchFamily="34" charset="0"/>
              </a:rPr>
              <a:t> SIP </a:t>
            </a:r>
          </a:p>
          <a:p>
            <a:r>
              <a:rPr lang="en-US" sz="4400" dirty="0">
                <a:latin typeface="Avenir Next" panose="020B0503020202020204" pitchFamily="34" charset="0"/>
              </a:rPr>
              <a:t> DNS </a:t>
            </a:r>
          </a:p>
          <a:p>
            <a:r>
              <a:rPr lang="en-US" sz="4400" dirty="0">
                <a:latin typeface="Avenir Next" panose="020B0503020202020204" pitchFamily="34" charset="0"/>
              </a:rPr>
              <a:t> FTP </a:t>
            </a:r>
          </a:p>
          <a:p>
            <a:r>
              <a:rPr lang="en-US" sz="4400" dirty="0">
                <a:latin typeface="Avenir Next" panose="020B0503020202020204" pitchFamily="34" charset="0"/>
              </a:rPr>
              <a:t> SMTP, IMAP, XMPP </a:t>
            </a:r>
          </a:p>
          <a:p>
            <a:r>
              <a:rPr lang="en-US" sz="4400" dirty="0">
                <a:latin typeface="Avenir Next" panose="020B0503020202020204" pitchFamily="34" charset="0"/>
              </a:rPr>
              <a:t> NNTP</a:t>
            </a:r>
          </a:p>
        </p:txBody>
      </p:sp>
    </p:spTree>
    <p:custDataLst>
      <p:tags r:id="rId1"/>
    </p:custDataLst>
    <p:extLst>
      <p:ext uri="{BB962C8B-B14F-4D97-AF65-F5344CB8AC3E}">
        <p14:creationId xmlns:p14="http://schemas.microsoft.com/office/powerpoint/2010/main" val="1611603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978771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rPr>
              <a:t>What is Transport Layer Security (TLS)?</a:t>
            </a: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134478" indent="-235336">
              <a:lnSpc>
                <a:spcPct val="100000"/>
              </a:lnSpc>
            </a:pPr>
            <a:r>
              <a:rPr lang="en-US" sz="3600" spc="-9" dirty="0">
                <a:latin typeface="Avenir Next" panose="020B0503020202020204" pitchFamily="34" charset="0"/>
                <a:ea typeface="Roboto Medium" panose="02000000000000000000" pitchFamily="2" charset="0"/>
                <a:cs typeface="Gill Sans MT"/>
              </a:rPr>
              <a:t>Protocol </a:t>
            </a:r>
            <a:r>
              <a:rPr lang="en-US" sz="3600" dirty="0">
                <a:latin typeface="Avenir Next" panose="020B0503020202020204" pitchFamily="34" charset="0"/>
                <a:ea typeface="Roboto Medium" panose="02000000000000000000" pitchFamily="2" charset="0"/>
                <a:cs typeface="Gill Sans MT"/>
              </a:rPr>
              <a:t>that </a:t>
            </a:r>
            <a:r>
              <a:rPr lang="en-US" sz="3600" spc="-4" dirty="0">
                <a:latin typeface="Avenir Next" panose="020B0503020202020204" pitchFamily="34" charset="0"/>
                <a:ea typeface="Roboto Medium" panose="02000000000000000000" pitchFamily="2" charset="0"/>
                <a:cs typeface="Gill Sans MT"/>
              </a:rPr>
              <a:t>allows one </a:t>
            </a:r>
            <a:r>
              <a:rPr lang="en-US" sz="3600" dirty="0">
                <a:latin typeface="Avenir Next" panose="020B0503020202020204" pitchFamily="34" charset="0"/>
                <a:ea typeface="Roboto Medium" panose="02000000000000000000" pitchFamily="2" charset="0"/>
                <a:cs typeface="Gill Sans MT"/>
              </a:rPr>
              <a:t>to establish an </a:t>
            </a:r>
            <a:r>
              <a:rPr lang="en-US" sz="3600" b="1" spc="-4" dirty="0">
                <a:latin typeface="Avenir Next" panose="020B0503020202020204" pitchFamily="34" charset="0"/>
                <a:ea typeface="Roboto Medium" panose="02000000000000000000" pitchFamily="2" charset="0"/>
                <a:cs typeface="Gill Sans MT"/>
              </a:rPr>
              <a:t>end-to-end </a:t>
            </a:r>
            <a:r>
              <a:rPr lang="en-US" sz="3600" b="1" spc="-9" dirty="0">
                <a:latin typeface="Avenir Next" panose="020B0503020202020204" pitchFamily="34" charset="0"/>
                <a:ea typeface="Roboto Medium" panose="02000000000000000000" pitchFamily="2" charset="0"/>
                <a:cs typeface="Gill Sans MT"/>
              </a:rPr>
              <a:t>secure  </a:t>
            </a:r>
            <a:r>
              <a:rPr lang="en-US" sz="3600" b="1" spc="-4" dirty="0">
                <a:latin typeface="Avenir Next" panose="020B0503020202020204" pitchFamily="34" charset="0"/>
                <a:ea typeface="Roboto Medium" panose="02000000000000000000" pitchFamily="2" charset="0"/>
                <a:cs typeface="Gill Sans MT"/>
              </a:rPr>
              <a:t>channel</a:t>
            </a:r>
          </a:p>
          <a:p>
            <a:pPr marL="703743" marR="134478" lvl="1" indent="-235336">
              <a:lnSpc>
                <a:spcPct val="100000"/>
              </a:lnSpc>
            </a:pPr>
            <a:r>
              <a:rPr lang="en-US" sz="3200" spc="-9" dirty="0">
                <a:latin typeface="Avenir Next" panose="020B0503020202020204" pitchFamily="34" charset="0"/>
                <a:ea typeface="Roboto Medium" panose="02000000000000000000" pitchFamily="2" charset="0"/>
                <a:cs typeface="Gill Sans MT"/>
              </a:rPr>
              <a:t>Provides:</a:t>
            </a:r>
            <a:r>
              <a:rPr lang="en-US" sz="3200" spc="-212" dirty="0">
                <a:latin typeface="Avenir Next" panose="020B0503020202020204" pitchFamily="34" charset="0"/>
                <a:ea typeface="Roboto Medium" panose="02000000000000000000" pitchFamily="2" charset="0"/>
                <a:cs typeface="Gill Sans MT"/>
              </a:rPr>
              <a:t> </a:t>
            </a:r>
            <a:r>
              <a:rPr lang="en-US" sz="3200" b="1" i="1" spc="-13" dirty="0">
                <a:latin typeface="Avenir Next" panose="020B0503020202020204" pitchFamily="34" charset="0"/>
                <a:ea typeface="Roboto Medium" panose="02000000000000000000" pitchFamily="2" charset="0"/>
                <a:cs typeface="Gill Sans MT"/>
              </a:rPr>
              <a:t>confidentiality</a:t>
            </a:r>
            <a:r>
              <a:rPr lang="en-US" sz="3200" spc="-13" dirty="0">
                <a:latin typeface="Avenir Next" panose="020B0503020202020204" pitchFamily="34" charset="0"/>
                <a:ea typeface="Roboto Medium" panose="02000000000000000000" pitchFamily="2" charset="0"/>
                <a:cs typeface="Gill Sans MT"/>
              </a:rPr>
              <a:t>,</a:t>
            </a:r>
            <a:r>
              <a:rPr lang="en-US" sz="3200" spc="-212" dirty="0">
                <a:latin typeface="Avenir Next" panose="020B0503020202020204" pitchFamily="34" charset="0"/>
                <a:ea typeface="Roboto Medium" panose="02000000000000000000" pitchFamily="2" charset="0"/>
                <a:cs typeface="Gill Sans MT"/>
              </a:rPr>
              <a:t> </a:t>
            </a:r>
            <a:r>
              <a:rPr lang="en-US" sz="3200" b="1" i="1" dirty="0">
                <a:latin typeface="Avenir Next" panose="020B0503020202020204" pitchFamily="34" charset="0"/>
                <a:ea typeface="Roboto Medium" panose="02000000000000000000" pitchFamily="2" charset="0"/>
                <a:cs typeface="Gill Sans MT"/>
              </a:rPr>
              <a:t>integrity</a:t>
            </a:r>
            <a:r>
              <a:rPr lang="en-US" sz="3200" i="1" dirty="0">
                <a:latin typeface="Avenir Next" panose="020B0503020202020204" pitchFamily="34" charset="0"/>
                <a:ea typeface="Roboto Medium" panose="02000000000000000000" pitchFamily="2" charset="0"/>
                <a:cs typeface="Gill Sans MT"/>
              </a:rPr>
              <a:t>,</a:t>
            </a:r>
            <a:r>
              <a:rPr lang="en-US" sz="3200" spc="13"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and</a:t>
            </a:r>
            <a:r>
              <a:rPr lang="en-US" sz="3200" spc="13" dirty="0">
                <a:latin typeface="Avenir Next" panose="020B0503020202020204" pitchFamily="34" charset="0"/>
                <a:ea typeface="Roboto Medium" panose="02000000000000000000" pitchFamily="2" charset="0"/>
                <a:cs typeface="Gill Sans MT"/>
              </a:rPr>
              <a:t> </a:t>
            </a:r>
            <a:r>
              <a:rPr lang="en-US" sz="3200" b="1" i="1" spc="-4" dirty="0">
                <a:latin typeface="Avenir Next" panose="020B0503020202020204" pitchFamily="34" charset="0"/>
                <a:ea typeface="Roboto Medium" panose="02000000000000000000" pitchFamily="2" charset="0"/>
                <a:cs typeface="Gill Sans MT"/>
              </a:rPr>
              <a:t>authentication</a:t>
            </a:r>
            <a:endParaRPr lang="en-US" sz="3200" b="1" i="1" dirty="0">
              <a:latin typeface="Avenir Next" panose="020B0503020202020204" pitchFamily="34" charset="0"/>
              <a:ea typeface="Roboto Medium" panose="02000000000000000000" pitchFamily="2" charset="0"/>
              <a:cs typeface="Gill Sans MT"/>
            </a:endParaRPr>
          </a:p>
          <a:p>
            <a:pPr marL="246543" marR="4483" indent="-235336">
              <a:lnSpc>
                <a:spcPct val="100000"/>
              </a:lnSpc>
              <a:spcBef>
                <a:spcPts val="459"/>
              </a:spcBef>
            </a:pPr>
            <a:r>
              <a:rPr lang="en-US" sz="3600" spc="-4" dirty="0">
                <a:latin typeface="Avenir Next" panose="020B0503020202020204" pitchFamily="34" charset="0"/>
                <a:ea typeface="Roboto Medium" panose="02000000000000000000" pitchFamily="2" charset="0"/>
                <a:cs typeface="Gill Sans MT"/>
              </a:rPr>
              <a:t>Defines </a:t>
            </a:r>
            <a:r>
              <a:rPr lang="en-US" sz="3600" spc="-9" dirty="0">
                <a:latin typeface="Avenir Next" panose="020B0503020202020204" pitchFamily="34" charset="0"/>
                <a:ea typeface="Roboto Medium" panose="02000000000000000000" pitchFamily="2" charset="0"/>
                <a:cs typeface="Gill Sans MT"/>
              </a:rPr>
              <a:t>how </a:t>
            </a:r>
            <a:r>
              <a:rPr lang="en-US" sz="3600" dirty="0">
                <a:latin typeface="Avenir Next" panose="020B0503020202020204" pitchFamily="34" charset="0"/>
                <a:ea typeface="Roboto Medium" panose="02000000000000000000" pitchFamily="2" charset="0"/>
                <a:cs typeface="Gill Sans MT"/>
              </a:rPr>
              <a:t>the </a:t>
            </a:r>
            <a:r>
              <a:rPr lang="en-US" sz="3600" spc="-4" dirty="0">
                <a:latin typeface="Avenir Next" panose="020B0503020202020204" pitchFamily="34" charset="0"/>
                <a:ea typeface="Roboto Medium" panose="02000000000000000000" pitchFamily="2" charset="0"/>
                <a:cs typeface="Gill Sans MT"/>
              </a:rPr>
              <a:t>characteristics </a:t>
            </a:r>
            <a:r>
              <a:rPr lang="en-US" sz="3600" dirty="0">
                <a:latin typeface="Avenir Next" panose="020B0503020202020204" pitchFamily="34" charset="0"/>
                <a:ea typeface="Roboto Medium" panose="02000000000000000000" pitchFamily="2" charset="0"/>
                <a:cs typeface="Gill Sans MT"/>
              </a:rPr>
              <a:t>of the channel </a:t>
            </a:r>
            <a:r>
              <a:rPr lang="en-US" sz="3600" spc="-18" dirty="0">
                <a:latin typeface="Avenir Next" panose="020B0503020202020204" pitchFamily="34" charset="0"/>
                <a:ea typeface="Roboto Medium" panose="02000000000000000000" pitchFamily="2" charset="0"/>
                <a:cs typeface="Gill Sans MT"/>
              </a:rPr>
              <a:t>are </a:t>
            </a:r>
            <a:r>
              <a:rPr lang="en-US" sz="3600" spc="-4" dirty="0">
                <a:latin typeface="Avenir Next" panose="020B0503020202020204" pitchFamily="34" charset="0"/>
                <a:ea typeface="Roboto Medium" panose="02000000000000000000" pitchFamily="2" charset="0"/>
                <a:cs typeface="Gill Sans MT"/>
              </a:rPr>
              <a:t>negotiated:  </a:t>
            </a:r>
            <a:r>
              <a:rPr lang="en-US" sz="3600" b="1" i="1" spc="-35" dirty="0">
                <a:latin typeface="Avenir Next" panose="020B0503020202020204" pitchFamily="34" charset="0"/>
                <a:ea typeface="Roboto Medium" panose="02000000000000000000" pitchFamily="2" charset="0"/>
                <a:cs typeface="Gill Sans MT"/>
              </a:rPr>
              <a:t>key </a:t>
            </a:r>
            <a:r>
              <a:rPr lang="en-US" sz="3600" b="1" i="1" dirty="0">
                <a:latin typeface="Avenir Next" panose="020B0503020202020204" pitchFamily="34" charset="0"/>
                <a:ea typeface="Roboto Medium" panose="02000000000000000000" pitchFamily="2" charset="0"/>
                <a:cs typeface="Gill Sans MT"/>
              </a:rPr>
              <a:t>establishment</a:t>
            </a:r>
            <a:r>
              <a:rPr lang="en-US" sz="3600" dirty="0">
                <a:latin typeface="Avenir Next" panose="020B0503020202020204" pitchFamily="34" charset="0"/>
                <a:ea typeface="Roboto Medium" panose="02000000000000000000" pitchFamily="2" charset="0"/>
                <a:cs typeface="Gill Sans MT"/>
              </a:rPr>
              <a:t>, </a:t>
            </a:r>
            <a:r>
              <a:rPr lang="en-US" sz="3600" b="1" i="1" spc="4" dirty="0">
                <a:latin typeface="Avenir Next" panose="020B0503020202020204" pitchFamily="34" charset="0"/>
                <a:ea typeface="Roboto Medium" panose="02000000000000000000" pitchFamily="2" charset="0"/>
                <a:cs typeface="Gill Sans MT"/>
              </a:rPr>
              <a:t>encryption </a:t>
            </a:r>
            <a:r>
              <a:rPr lang="en-US" sz="3600" b="1" i="1" spc="-31" dirty="0">
                <a:latin typeface="Avenir Next" panose="020B0503020202020204" pitchFamily="34" charset="0"/>
                <a:ea typeface="Roboto Medium" panose="02000000000000000000" pitchFamily="2" charset="0"/>
                <a:cs typeface="Gill Sans MT"/>
              </a:rPr>
              <a:t>cipher</a:t>
            </a:r>
            <a:r>
              <a:rPr lang="en-US" sz="3600" spc="-31" dirty="0">
                <a:latin typeface="Avenir Next" panose="020B0503020202020204" pitchFamily="34" charset="0"/>
                <a:ea typeface="Roboto Medium" panose="02000000000000000000" pitchFamily="2" charset="0"/>
                <a:cs typeface="Gill Sans MT"/>
              </a:rPr>
              <a:t>, </a:t>
            </a:r>
            <a:r>
              <a:rPr lang="en-US" sz="3600" b="1" i="1" spc="-4" dirty="0">
                <a:latin typeface="Avenir Next" panose="020B0503020202020204" pitchFamily="34" charset="0"/>
                <a:ea typeface="Roboto Medium" panose="02000000000000000000" pitchFamily="2" charset="0"/>
                <a:cs typeface="Gill Sans MT"/>
              </a:rPr>
              <a:t>authentication  </a:t>
            </a:r>
            <a:r>
              <a:rPr lang="en-US" sz="3600" b="1" i="1" dirty="0">
                <a:latin typeface="Avenir Next" panose="020B0503020202020204" pitchFamily="34" charset="0"/>
                <a:ea typeface="Roboto Medium" panose="02000000000000000000" pitchFamily="2" charset="0"/>
                <a:cs typeface="Gill Sans MT"/>
              </a:rPr>
              <a:t>mechanism</a:t>
            </a:r>
          </a:p>
          <a:p>
            <a:pPr marL="246543" marR="328350" indent="-235336">
              <a:lnSpc>
                <a:spcPct val="100000"/>
              </a:lnSpc>
              <a:spcBef>
                <a:spcPts val="688"/>
              </a:spcBef>
              <a:tabLst>
                <a:tab pos="4553753" algn="l"/>
              </a:tabLst>
            </a:pPr>
            <a:r>
              <a:rPr lang="en-US" sz="3600" spc="-9" dirty="0">
                <a:latin typeface="Avenir Next" panose="020B0503020202020204" pitchFamily="34" charset="0"/>
                <a:ea typeface="Roboto Medium" panose="02000000000000000000" pitchFamily="2" charset="0"/>
                <a:cs typeface="Gill Sans MT"/>
              </a:rPr>
              <a:t>Requires reliable</a:t>
            </a:r>
            <a:r>
              <a:rPr lang="en-US" sz="3600" spc="44" dirty="0">
                <a:latin typeface="Avenir Next" panose="020B0503020202020204" pitchFamily="34" charset="0"/>
                <a:ea typeface="Roboto Medium" panose="02000000000000000000" pitchFamily="2" charset="0"/>
                <a:cs typeface="Gill Sans MT"/>
              </a:rPr>
              <a:t> </a:t>
            </a:r>
            <a:r>
              <a:rPr lang="en-US" sz="3600" spc="-4" dirty="0">
                <a:latin typeface="Avenir Next" panose="020B0503020202020204" pitchFamily="34" charset="0"/>
                <a:ea typeface="Roboto Medium" panose="02000000000000000000" pitchFamily="2" charset="0"/>
                <a:cs typeface="Gill Sans MT"/>
              </a:rPr>
              <a:t>end-to-end</a:t>
            </a:r>
            <a:r>
              <a:rPr lang="en-US" sz="3600" spc="18" dirty="0">
                <a:latin typeface="Avenir Next" panose="020B0503020202020204" pitchFamily="34" charset="0"/>
                <a:ea typeface="Roboto Medium" panose="02000000000000000000" pitchFamily="2" charset="0"/>
                <a:cs typeface="Gill Sans MT"/>
              </a:rPr>
              <a:t> </a:t>
            </a:r>
            <a:r>
              <a:rPr lang="en-US" sz="3600" spc="-9" dirty="0">
                <a:latin typeface="Avenir Next" panose="020B0503020202020204" pitchFamily="34" charset="0"/>
                <a:ea typeface="Roboto Medium" panose="02000000000000000000" pitchFamily="2" charset="0"/>
                <a:cs typeface="Gill Sans MT"/>
              </a:rPr>
              <a:t>protocol, </a:t>
            </a:r>
            <a:r>
              <a:rPr lang="en-US" sz="3600" dirty="0">
                <a:latin typeface="Avenir Next" panose="020B0503020202020204" pitchFamily="34" charset="0"/>
                <a:ea typeface="Roboto Medium" panose="02000000000000000000" pitchFamily="2" charset="0"/>
                <a:cs typeface="Gill Sans MT"/>
              </a:rPr>
              <a:t>so it runs on</a:t>
            </a:r>
            <a:r>
              <a:rPr lang="en-US" sz="3600" spc="-71" dirty="0">
                <a:latin typeface="Avenir Next" panose="020B0503020202020204" pitchFamily="34" charset="0"/>
                <a:ea typeface="Roboto Medium" panose="02000000000000000000" pitchFamily="2" charset="0"/>
                <a:cs typeface="Gill Sans MT"/>
              </a:rPr>
              <a:t> </a:t>
            </a:r>
            <a:r>
              <a:rPr lang="en-US" sz="3600" dirty="0">
                <a:latin typeface="Avenir Next" panose="020B0503020202020204" pitchFamily="34" charset="0"/>
                <a:ea typeface="Roboto Medium" panose="02000000000000000000" pitchFamily="2" charset="0"/>
                <a:cs typeface="Gill Sans MT"/>
              </a:rPr>
              <a:t>top</a:t>
            </a:r>
            <a:r>
              <a:rPr lang="en-US" sz="3600" spc="-18" dirty="0">
                <a:latin typeface="Avenir Next" panose="020B0503020202020204" pitchFamily="34" charset="0"/>
                <a:ea typeface="Roboto Medium" panose="02000000000000000000" pitchFamily="2" charset="0"/>
                <a:cs typeface="Gill Sans MT"/>
              </a:rPr>
              <a:t> </a:t>
            </a:r>
            <a:r>
              <a:rPr lang="en-US" sz="3600" dirty="0">
                <a:latin typeface="Avenir Next" panose="020B0503020202020204" pitchFamily="34" charset="0"/>
                <a:ea typeface="Roboto Medium" panose="02000000000000000000" pitchFamily="2" charset="0"/>
                <a:cs typeface="Gill Sans MT"/>
              </a:rPr>
              <a:t>of  </a:t>
            </a:r>
            <a:r>
              <a:rPr lang="en-US" sz="3600" b="1" dirty="0">
                <a:latin typeface="Avenir Next" panose="020B0503020202020204" pitchFamily="34" charset="0"/>
                <a:ea typeface="Roboto Medium" panose="02000000000000000000" pitchFamily="2" charset="0"/>
                <a:cs typeface="Gill Sans MT"/>
              </a:rPr>
              <a:t>TCP</a:t>
            </a:r>
          </a:p>
          <a:p>
            <a:pPr marL="11206">
              <a:lnSpc>
                <a:spcPct val="100000"/>
              </a:lnSpc>
              <a:spcBef>
                <a:spcPts val="476"/>
              </a:spcBef>
            </a:pPr>
            <a:r>
              <a:rPr lang="en-US" sz="3600" dirty="0">
                <a:latin typeface="Avenir Next" panose="020B0503020202020204" pitchFamily="34" charset="0"/>
                <a:ea typeface="Roboto Medium" panose="02000000000000000000" pitchFamily="2" charset="0"/>
                <a:cs typeface="Gill Sans MT"/>
              </a:rPr>
              <a:t>It can be used </a:t>
            </a:r>
            <a:r>
              <a:rPr lang="en-US" sz="3600" spc="-13" dirty="0">
                <a:latin typeface="Avenir Next" panose="020B0503020202020204" pitchFamily="34" charset="0"/>
                <a:ea typeface="Roboto Medium" panose="02000000000000000000" pitchFamily="2" charset="0"/>
                <a:cs typeface="Gill Sans MT"/>
              </a:rPr>
              <a:t>by </a:t>
            </a:r>
            <a:r>
              <a:rPr lang="en-US" sz="3600" dirty="0">
                <a:latin typeface="Avenir Next" panose="020B0503020202020204" pitchFamily="34" charset="0"/>
                <a:ea typeface="Roboto Medium" panose="02000000000000000000" pitchFamily="2" charset="0"/>
                <a:cs typeface="Gill Sans MT"/>
              </a:rPr>
              <a:t>other session </a:t>
            </a:r>
            <a:r>
              <a:rPr lang="en-US" sz="3600" spc="-9" dirty="0">
                <a:latin typeface="Avenir Next" panose="020B0503020202020204" pitchFamily="34" charset="0"/>
                <a:ea typeface="Roboto Medium" panose="02000000000000000000" pitchFamily="2" charset="0"/>
                <a:cs typeface="Gill Sans MT"/>
              </a:rPr>
              <a:t>protocols </a:t>
            </a:r>
            <a:r>
              <a:rPr lang="en-US" sz="3600" spc="-4" dirty="0">
                <a:latin typeface="Avenir Next" panose="020B0503020202020204" pitchFamily="34" charset="0"/>
                <a:ea typeface="Roboto Medium" panose="02000000000000000000" pitchFamily="2" charset="0"/>
                <a:cs typeface="Gill Sans MT"/>
              </a:rPr>
              <a:t>(such </a:t>
            </a:r>
            <a:r>
              <a:rPr lang="en-US" sz="3600" dirty="0">
                <a:latin typeface="Avenir Next" panose="020B0503020202020204" pitchFamily="34" charset="0"/>
                <a:ea typeface="Roboto Medium" panose="02000000000000000000" pitchFamily="2" charset="0"/>
                <a:cs typeface="Gill Sans MT"/>
              </a:rPr>
              <a:t>as</a:t>
            </a:r>
            <a:r>
              <a:rPr lang="en-US" sz="3600" spc="-4" dirty="0">
                <a:latin typeface="Avenir Next" panose="020B0503020202020204" pitchFamily="34" charset="0"/>
                <a:ea typeface="Roboto Medium" panose="02000000000000000000" pitchFamily="2" charset="0"/>
                <a:cs typeface="Gill Sans MT"/>
              </a:rPr>
              <a:t> </a:t>
            </a:r>
            <a:r>
              <a:rPr lang="en-US" sz="3600" dirty="0">
                <a:latin typeface="Avenir Next" panose="020B0503020202020204" pitchFamily="34" charset="0"/>
                <a:ea typeface="Roboto Medium" panose="02000000000000000000" pitchFamily="2" charset="0"/>
                <a:cs typeface="Gill Sans MT"/>
              </a:rPr>
              <a:t>HTTPS)</a:t>
            </a:r>
          </a:p>
          <a:p>
            <a:pPr marL="246543" marR="460025" indent="-235336">
              <a:lnSpc>
                <a:spcPct val="100000"/>
              </a:lnSpc>
              <a:spcBef>
                <a:spcPts val="529"/>
              </a:spcBef>
            </a:pPr>
            <a:r>
              <a:rPr lang="en-US" sz="3600" spc="-13" dirty="0">
                <a:latin typeface="Avenir Next" panose="020B0503020202020204" pitchFamily="34" charset="0"/>
                <a:ea typeface="Roboto Medium" panose="02000000000000000000" pitchFamily="2" charset="0"/>
                <a:cs typeface="Gill Sans MT"/>
              </a:rPr>
              <a:t>Several open-source </a:t>
            </a:r>
            <a:r>
              <a:rPr lang="en-US" sz="3600" spc="-4" dirty="0">
                <a:latin typeface="Avenir Next" panose="020B0503020202020204" pitchFamily="34" charset="0"/>
                <a:ea typeface="Roboto Medium" panose="02000000000000000000" pitchFamily="2" charset="0"/>
                <a:cs typeface="Gill Sans MT"/>
              </a:rPr>
              <a:t>implementations: OpenSSL, GNUTLS, </a:t>
            </a:r>
            <a:r>
              <a:rPr lang="en-US" sz="3600" spc="-4" dirty="0" err="1">
                <a:latin typeface="Avenir Next" panose="020B0503020202020204" pitchFamily="34" charset="0"/>
                <a:ea typeface="Roboto Medium" panose="02000000000000000000" pitchFamily="2" charset="0"/>
                <a:cs typeface="Gill Sans MT"/>
              </a:rPr>
              <a:t>BoringSSL</a:t>
            </a:r>
            <a:r>
              <a:rPr lang="en-US" sz="3600" spc="-4" dirty="0">
                <a:latin typeface="Avenir Next" panose="020B0503020202020204" pitchFamily="34" charset="0"/>
                <a:ea typeface="Roboto Medium" panose="02000000000000000000" pitchFamily="2" charset="0"/>
                <a:cs typeface="Gill Sans MT"/>
              </a:rPr>
              <a:t>, s2n, </a:t>
            </a:r>
            <a:r>
              <a:rPr lang="en-US" sz="3600" spc="-4" dirty="0" err="1">
                <a:latin typeface="Avenir Next" panose="020B0503020202020204" pitchFamily="34" charset="0"/>
                <a:ea typeface="Roboto Medium" panose="02000000000000000000" pitchFamily="2" charset="0"/>
                <a:cs typeface="Gill Sans MT"/>
              </a:rPr>
              <a:t>mbedTLS</a:t>
            </a:r>
            <a:r>
              <a:rPr lang="en-US" sz="3600" spc="-4" dirty="0">
                <a:latin typeface="Avenir Next" panose="020B0503020202020204" pitchFamily="34" charset="0"/>
                <a:ea typeface="Roboto Medium" panose="02000000000000000000" pitchFamily="2" charset="0"/>
                <a:cs typeface="Gill Sans MT"/>
              </a:rPr>
              <a:t>, </a:t>
            </a:r>
            <a:r>
              <a:rPr lang="en-US" sz="3600" spc="-4" dirty="0" err="1">
                <a:latin typeface="Avenir Next" panose="020B0503020202020204" pitchFamily="34" charset="0"/>
                <a:ea typeface="Roboto Medium" panose="02000000000000000000" pitchFamily="2" charset="0"/>
                <a:cs typeface="Gill Sans MT"/>
              </a:rPr>
              <a:t>wolfSSL</a:t>
            </a:r>
            <a:r>
              <a:rPr lang="en-US" sz="3600" spc="-4" dirty="0">
                <a:latin typeface="Avenir Next" panose="020B0503020202020204" pitchFamily="34" charset="0"/>
                <a:ea typeface="Roboto Medium" panose="02000000000000000000" pitchFamily="2" charset="0"/>
                <a:cs typeface="Gill Sans MT"/>
              </a:rPr>
              <a:t>, …</a:t>
            </a:r>
            <a:endParaRPr lang="en-US" sz="36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199841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2673232"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Goals</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206"/>
            <a:r>
              <a:rPr lang="en-US" sz="2800" b="1" dirty="0">
                <a:solidFill>
                  <a:srgbClr val="C00000"/>
                </a:solidFill>
                <a:latin typeface="Avenir Next" panose="020B0503020202020204" pitchFamily="34" charset="0"/>
                <a:ea typeface="Roboto Black" panose="02000000000000000000" pitchFamily="2" charset="0"/>
                <a:cs typeface="Gill Sans MT"/>
              </a:rPr>
              <a:t>Confidentiality</a:t>
            </a:r>
            <a:r>
              <a:rPr lang="en-US" sz="2800" dirty="0">
                <a:solidFill>
                  <a:srgbClr val="C00000"/>
                </a:solidFill>
                <a:latin typeface="Avenir Next" panose="020B0503020202020204" pitchFamily="34" charset="0"/>
                <a:ea typeface="Roboto Medium" panose="02000000000000000000" pitchFamily="2" charset="0"/>
                <a:cs typeface="Gill Sans MT"/>
              </a:rPr>
              <a:t>:</a:t>
            </a:r>
            <a:r>
              <a:rPr lang="en-US" sz="2800" dirty="0">
                <a:latin typeface="Avenir Next" panose="020B0503020202020204" pitchFamily="34" charset="0"/>
                <a:ea typeface="Roboto Medium" panose="02000000000000000000" pitchFamily="2" charset="0"/>
                <a:cs typeface="Gill Sans MT"/>
              </a:rPr>
              <a:t> Achieved </a:t>
            </a:r>
            <a:r>
              <a:rPr lang="en-US" sz="2800" spc="-13" dirty="0">
                <a:latin typeface="Avenir Next" panose="020B0503020202020204" pitchFamily="34" charset="0"/>
                <a:ea typeface="Roboto Medium" panose="02000000000000000000" pitchFamily="2" charset="0"/>
                <a:cs typeface="Gill Sans MT"/>
              </a:rPr>
              <a:t>by</a:t>
            </a:r>
            <a:r>
              <a:rPr lang="en-US" sz="2800" spc="9" dirty="0">
                <a:latin typeface="Avenir Next" panose="020B0503020202020204" pitchFamily="34" charset="0"/>
                <a:ea typeface="Roboto Medium" panose="02000000000000000000" pitchFamily="2" charset="0"/>
                <a:cs typeface="Gill Sans MT"/>
              </a:rPr>
              <a:t> </a:t>
            </a:r>
            <a:r>
              <a:rPr lang="en-US" sz="2800" spc="4" dirty="0">
                <a:latin typeface="Avenir Next" panose="020B0503020202020204" pitchFamily="34" charset="0"/>
                <a:ea typeface="Roboto Medium" panose="02000000000000000000" pitchFamily="2" charset="0"/>
                <a:cs typeface="Gill Sans MT"/>
              </a:rPr>
              <a:t>encryption</a:t>
            </a:r>
            <a:endParaRPr lang="en-US" sz="2800" dirty="0">
              <a:latin typeface="Avenir Next" panose="020B0503020202020204" pitchFamily="34" charset="0"/>
              <a:ea typeface="Roboto Medium" panose="02000000000000000000" pitchFamily="2" charset="0"/>
              <a:cs typeface="Gill Sans MT"/>
            </a:endParaRPr>
          </a:p>
          <a:p>
            <a:pPr marL="246543" marR="160813" indent="-235336">
              <a:lnSpc>
                <a:spcPts val="2471"/>
              </a:lnSpc>
              <a:spcBef>
                <a:spcPts val="565"/>
              </a:spcBef>
            </a:pPr>
            <a:r>
              <a:rPr lang="en-US" sz="2800" b="1" spc="4" dirty="0">
                <a:solidFill>
                  <a:srgbClr val="C00000"/>
                </a:solidFill>
                <a:latin typeface="Avenir Next" panose="020B0503020202020204" pitchFamily="34" charset="0"/>
                <a:ea typeface="Roboto Black" panose="02000000000000000000" pitchFamily="2" charset="0"/>
                <a:cs typeface="Gill Sans MT"/>
              </a:rPr>
              <a:t>Integrity</a:t>
            </a:r>
            <a:r>
              <a:rPr lang="en-US" sz="2800" spc="4" dirty="0">
                <a:solidFill>
                  <a:srgbClr val="C00000"/>
                </a:solidFill>
                <a:latin typeface="Avenir Next" panose="020B0503020202020204" pitchFamily="34" charset="0"/>
                <a:ea typeface="Roboto Medium" panose="02000000000000000000" pitchFamily="2" charset="0"/>
                <a:cs typeface="Gill Sans MT"/>
              </a:rPr>
              <a:t>:</a:t>
            </a:r>
            <a:r>
              <a:rPr lang="en-US" sz="2800" spc="4" dirty="0">
                <a:latin typeface="Avenir Next" panose="020B0503020202020204" pitchFamily="34" charset="0"/>
                <a:ea typeface="Roboto Medium" panose="02000000000000000000" pitchFamily="2" charset="0"/>
                <a:cs typeface="Gill Sans MT"/>
              </a:rPr>
              <a:t> Achieved </a:t>
            </a:r>
            <a:r>
              <a:rPr lang="en-US" sz="2800" spc="-13" dirty="0">
                <a:latin typeface="Avenir Next" panose="020B0503020202020204" pitchFamily="34" charset="0"/>
                <a:ea typeface="Roboto Medium" panose="02000000000000000000" pitchFamily="2" charset="0"/>
                <a:cs typeface="Gill Sans MT"/>
              </a:rPr>
              <a:t>by </a:t>
            </a:r>
            <a:r>
              <a:rPr lang="en-US" sz="2800" spc="-4" dirty="0">
                <a:latin typeface="Avenir Next" panose="020B0503020202020204" pitchFamily="34" charset="0"/>
                <a:ea typeface="Roboto Medium" panose="02000000000000000000" pitchFamily="2" charset="0"/>
                <a:cs typeface="Gill Sans MT"/>
              </a:rPr>
              <a:t>computing </a:t>
            </a:r>
            <a:r>
              <a:rPr lang="en-US" sz="2800" dirty="0">
                <a:latin typeface="Avenir Next" panose="020B0503020202020204" pitchFamily="34" charset="0"/>
                <a:ea typeface="Roboto Medium" panose="02000000000000000000" pitchFamily="2" charset="0"/>
                <a:cs typeface="Gill Sans MT"/>
              </a:rPr>
              <a:t>a </a:t>
            </a:r>
            <a:r>
              <a:rPr lang="en-US" sz="2800" spc="-31" dirty="0">
                <a:latin typeface="Avenir Next" panose="020B0503020202020204" pitchFamily="34" charset="0"/>
                <a:ea typeface="Roboto Medium" panose="02000000000000000000" pitchFamily="2" charset="0"/>
                <a:cs typeface="Gill Sans MT"/>
              </a:rPr>
              <a:t>MAC </a:t>
            </a:r>
            <a:r>
              <a:rPr lang="en-US" sz="2800" dirty="0">
                <a:latin typeface="Avenir Next" panose="020B0503020202020204" pitchFamily="34" charset="0"/>
                <a:ea typeface="Roboto Medium" panose="02000000000000000000" pitchFamily="2" charset="0"/>
                <a:cs typeface="Gill Sans MT"/>
              </a:rPr>
              <a:t>and send it  with the</a:t>
            </a:r>
            <a:r>
              <a:rPr lang="en-US" sz="2800" spc="-88" dirty="0">
                <a:latin typeface="Avenir Next" panose="020B0503020202020204" pitchFamily="34" charset="0"/>
                <a:ea typeface="Roboto Medium" panose="02000000000000000000" pitchFamily="2" charset="0"/>
                <a:cs typeface="Gill Sans MT"/>
              </a:rPr>
              <a:t> </a:t>
            </a:r>
            <a:r>
              <a:rPr lang="en-US" sz="2800" dirty="0">
                <a:latin typeface="Avenir Next" panose="020B0503020202020204" pitchFamily="34" charset="0"/>
                <a:ea typeface="Roboto Medium" panose="02000000000000000000" pitchFamily="2" charset="0"/>
                <a:cs typeface="Gill Sans MT"/>
              </a:rPr>
              <a:t>message;</a:t>
            </a:r>
          </a:p>
          <a:p>
            <a:pPr marL="11206">
              <a:spcBef>
                <a:spcPts val="212"/>
              </a:spcBef>
            </a:pPr>
            <a:r>
              <a:rPr lang="en-US" sz="2800" b="1" spc="-62" dirty="0">
                <a:solidFill>
                  <a:srgbClr val="C00000"/>
                </a:solidFill>
                <a:latin typeface="Avenir Next" panose="020B0503020202020204" pitchFamily="34" charset="0"/>
                <a:ea typeface="Roboto Black" panose="02000000000000000000" pitchFamily="2" charset="0"/>
                <a:cs typeface="Gill Sans MT"/>
              </a:rPr>
              <a:t>Key </a:t>
            </a:r>
            <a:r>
              <a:rPr lang="en-US" sz="2800" b="1" spc="-9" dirty="0">
                <a:solidFill>
                  <a:srgbClr val="C00000"/>
                </a:solidFill>
                <a:latin typeface="Avenir Next" panose="020B0503020202020204" pitchFamily="34" charset="0"/>
                <a:ea typeface="Roboto Black" panose="02000000000000000000" pitchFamily="2" charset="0"/>
                <a:cs typeface="Gill Sans MT"/>
              </a:rPr>
              <a:t>exchange</a:t>
            </a:r>
            <a:r>
              <a:rPr lang="en-US" sz="2800" spc="-9" dirty="0">
                <a:solidFill>
                  <a:srgbClr val="C00000"/>
                </a:solidFill>
                <a:latin typeface="Avenir Next" panose="020B0503020202020204" pitchFamily="34" charset="0"/>
                <a:ea typeface="Roboto Medium" panose="02000000000000000000" pitchFamily="2" charset="0"/>
                <a:cs typeface="Gill Sans MT"/>
              </a:rPr>
              <a:t>:</a:t>
            </a:r>
            <a:r>
              <a:rPr lang="en-US" sz="2800" spc="-9" dirty="0">
                <a:latin typeface="Avenir Next" panose="020B0503020202020204" pitchFamily="34" charset="0"/>
                <a:ea typeface="Roboto Medium" panose="02000000000000000000" pitchFamily="2" charset="0"/>
                <a:cs typeface="Gill Sans MT"/>
              </a:rPr>
              <a:t> Relies mainly </a:t>
            </a:r>
            <a:r>
              <a:rPr lang="en-US" sz="2800" dirty="0">
                <a:latin typeface="Avenir Next" panose="020B0503020202020204" pitchFamily="34" charset="0"/>
                <a:ea typeface="Roboto Medium" panose="02000000000000000000" pitchFamily="2" charset="0"/>
                <a:cs typeface="Gill Sans MT"/>
              </a:rPr>
              <a:t>on public </a:t>
            </a:r>
            <a:r>
              <a:rPr lang="en-US" sz="2800" spc="-35" dirty="0">
                <a:latin typeface="Avenir Next" panose="020B0503020202020204" pitchFamily="34" charset="0"/>
                <a:ea typeface="Roboto Medium" panose="02000000000000000000" pitchFamily="2" charset="0"/>
                <a:cs typeface="Gill Sans MT"/>
              </a:rPr>
              <a:t>key</a:t>
            </a:r>
            <a:r>
              <a:rPr lang="en-US" sz="2800" spc="-194" dirty="0">
                <a:latin typeface="Avenir Next" panose="020B0503020202020204" pitchFamily="34" charset="0"/>
                <a:ea typeface="Roboto Medium" panose="02000000000000000000" pitchFamily="2" charset="0"/>
                <a:cs typeface="Gill Sans MT"/>
              </a:rPr>
              <a:t> </a:t>
            </a:r>
            <a:r>
              <a:rPr lang="en-US" sz="2800" spc="4" dirty="0">
                <a:latin typeface="Avenir Next" panose="020B0503020202020204" pitchFamily="34" charset="0"/>
                <a:ea typeface="Roboto Medium" panose="02000000000000000000" pitchFamily="2" charset="0"/>
                <a:cs typeface="Gill Sans MT"/>
              </a:rPr>
              <a:t>encryption</a:t>
            </a:r>
            <a:endParaRPr lang="en-US" sz="2800" dirty="0">
              <a:latin typeface="Avenir Next" panose="020B0503020202020204" pitchFamily="34" charset="0"/>
              <a:ea typeface="Roboto Medium" panose="02000000000000000000" pitchFamily="2" charset="0"/>
              <a:cs typeface="Gill Sans MT"/>
            </a:endParaRPr>
          </a:p>
          <a:p>
            <a:pPr>
              <a:lnSpc>
                <a:spcPct val="100000"/>
              </a:lnSpc>
            </a:pPr>
            <a:endParaRPr lang="en-US" sz="3600" dirty="0">
              <a:latin typeface="Avenir Next" panose="020B0503020202020204" pitchFamily="34" charset="0"/>
              <a:ea typeface="Roboto Medium" panose="02000000000000000000" pitchFamily="2" charset="0"/>
              <a:cs typeface="Times New Roman"/>
            </a:endParaRPr>
          </a:p>
          <a:p>
            <a:pPr marL="11206"/>
            <a:r>
              <a:rPr lang="en-US" sz="2800" spc="-13" dirty="0">
                <a:latin typeface="Avenir Next" panose="020B0503020202020204" pitchFamily="34" charset="0"/>
                <a:ea typeface="Roboto Medium" panose="02000000000000000000" pitchFamily="2" charset="0"/>
                <a:cs typeface="Gill Sans MT"/>
              </a:rPr>
              <a:t>Several </a:t>
            </a:r>
            <a:r>
              <a:rPr lang="en-US" sz="2800" spc="-9" dirty="0">
                <a:latin typeface="Avenir Next" panose="020B0503020202020204" pitchFamily="34" charset="0"/>
                <a:ea typeface="Roboto Medium" panose="02000000000000000000" pitchFamily="2" charset="0"/>
                <a:cs typeface="Gill Sans MT"/>
              </a:rPr>
              <a:t>version </a:t>
            </a:r>
            <a:r>
              <a:rPr lang="en-US" sz="2800" spc="-4" dirty="0">
                <a:latin typeface="Avenir Next" panose="020B0503020202020204" pitchFamily="34" charset="0"/>
                <a:ea typeface="Roboto Medium" panose="02000000000000000000" pitchFamily="2" charset="0"/>
                <a:cs typeface="Gill Sans MT"/>
              </a:rPr>
              <a:t>algorithms </a:t>
            </a:r>
            <a:r>
              <a:rPr lang="en-US" sz="2800" dirty="0">
                <a:latin typeface="Avenir Next" panose="020B0503020202020204" pitchFamily="34" charset="0"/>
                <a:ea typeface="Roboto Medium" panose="02000000000000000000" pitchFamily="2" charset="0"/>
                <a:cs typeface="Gill Sans MT"/>
              </a:rPr>
              <a:t>changed with</a:t>
            </a:r>
            <a:r>
              <a:rPr lang="en-US" sz="2800" spc="4" dirty="0">
                <a:latin typeface="Avenir Next" panose="020B0503020202020204" pitchFamily="34" charset="0"/>
                <a:ea typeface="Roboto Medium" panose="02000000000000000000" pitchFamily="2" charset="0"/>
                <a:cs typeface="Gill Sans MT"/>
              </a:rPr>
              <a:t> </a:t>
            </a:r>
            <a:r>
              <a:rPr lang="en-US" sz="2800" spc="-9" dirty="0">
                <a:latin typeface="Avenir Next" panose="020B0503020202020204" pitchFamily="34" charset="0"/>
                <a:ea typeface="Roboto Medium" panose="02000000000000000000" pitchFamily="2" charset="0"/>
                <a:cs typeface="Gill Sans MT"/>
              </a:rPr>
              <a:t>versions;</a:t>
            </a:r>
            <a:endParaRPr lang="en-US" sz="2800" dirty="0">
              <a:latin typeface="Avenir Next" panose="020B0503020202020204" pitchFamily="34" charset="0"/>
              <a:ea typeface="Roboto Medium" panose="02000000000000000000" pitchFamily="2" charset="0"/>
              <a:cs typeface="Gill Sans MT"/>
            </a:endParaRPr>
          </a:p>
          <a:p>
            <a:pPr marL="11206">
              <a:spcBef>
                <a:spcPts val="247"/>
              </a:spcBef>
            </a:pPr>
            <a:r>
              <a:rPr lang="en-US" sz="2800" b="1" dirty="0">
                <a:latin typeface="Avenir Next" panose="020B0503020202020204" pitchFamily="34" charset="0"/>
                <a:ea typeface="Roboto Medium" panose="02000000000000000000" pitchFamily="2" charset="0"/>
                <a:cs typeface="Gill Sans MT"/>
              </a:rPr>
              <a:t>TLS</a:t>
            </a:r>
            <a:r>
              <a:rPr lang="en-US" sz="2800" b="1" spc="-49" dirty="0">
                <a:latin typeface="Avenir Next" panose="020B0503020202020204" pitchFamily="34" charset="0"/>
                <a:ea typeface="Roboto Medium" panose="02000000000000000000" pitchFamily="2" charset="0"/>
                <a:cs typeface="Gill Sans MT"/>
              </a:rPr>
              <a:t> </a:t>
            </a:r>
            <a:r>
              <a:rPr lang="en-US" sz="2800" b="1" dirty="0">
                <a:latin typeface="Avenir Next" panose="020B0503020202020204" pitchFamily="34" charset="0"/>
                <a:ea typeface="Roboto Medium" panose="02000000000000000000" pitchFamily="2" charset="0"/>
                <a:cs typeface="Gill Sans MT"/>
              </a:rPr>
              <a:t>1.2</a:t>
            </a:r>
            <a:r>
              <a:rPr lang="en-US" sz="2800" dirty="0">
                <a:latin typeface="Avenir Next" panose="020B0503020202020204" pitchFamily="34" charset="0"/>
                <a:ea typeface="Roboto Medium" panose="02000000000000000000" pitchFamily="2" charset="0"/>
                <a:cs typeface="Gill Sans MT"/>
              </a:rPr>
              <a:t>:</a:t>
            </a:r>
          </a:p>
          <a:p>
            <a:pPr marL="703743" lvl="1">
              <a:spcBef>
                <a:spcPts val="159"/>
              </a:spcBef>
            </a:pPr>
            <a:r>
              <a:rPr lang="en-US" dirty="0">
                <a:solidFill>
                  <a:srgbClr val="464653"/>
                </a:solidFill>
                <a:latin typeface="Avenir Next" panose="020B0503020202020204" pitchFamily="34" charset="0"/>
                <a:ea typeface="Roboto Medium" panose="02000000000000000000" pitchFamily="2" charset="0"/>
                <a:cs typeface="Gill Sans MT"/>
              </a:rPr>
              <a:t>Replaced the use of </a:t>
            </a:r>
            <a:r>
              <a:rPr lang="en-US" spc="-4" dirty="0">
                <a:solidFill>
                  <a:srgbClr val="464653"/>
                </a:solidFill>
                <a:latin typeface="Avenir Next" panose="020B0503020202020204" pitchFamily="34" charset="0"/>
                <a:ea typeface="Roboto Medium" panose="02000000000000000000" pitchFamily="2" charset="0"/>
                <a:cs typeface="Gill Sans MT"/>
              </a:rPr>
              <a:t>MD5-SHA1 </a:t>
            </a:r>
            <a:r>
              <a:rPr lang="en-US" dirty="0">
                <a:solidFill>
                  <a:srgbClr val="464653"/>
                </a:solidFill>
                <a:latin typeface="Avenir Next" panose="020B0503020202020204" pitchFamily="34" charset="0"/>
                <a:ea typeface="Roboto Medium" panose="02000000000000000000" pitchFamily="2" charset="0"/>
                <a:cs typeface="Gill Sans MT"/>
              </a:rPr>
              <a:t>with</a:t>
            </a:r>
            <a:r>
              <a:rPr lang="en-US" spc="-44" dirty="0">
                <a:solidFill>
                  <a:srgbClr val="464653"/>
                </a:solidFill>
                <a:latin typeface="Avenir Next" panose="020B0503020202020204" pitchFamily="34" charset="0"/>
                <a:ea typeface="Roboto Medium" panose="02000000000000000000" pitchFamily="2" charset="0"/>
                <a:cs typeface="Gill Sans MT"/>
              </a:rPr>
              <a:t> </a:t>
            </a:r>
            <a:r>
              <a:rPr lang="en-US" dirty="0">
                <a:solidFill>
                  <a:srgbClr val="464653"/>
                </a:solidFill>
                <a:latin typeface="Avenir Next" panose="020B0503020202020204" pitchFamily="34" charset="0"/>
                <a:ea typeface="Roboto Medium" panose="02000000000000000000" pitchFamily="2" charset="0"/>
                <a:cs typeface="Gill Sans MT"/>
              </a:rPr>
              <a:t>SHA-256</a:t>
            </a:r>
            <a:endParaRPr lang="en-US" dirty="0">
              <a:latin typeface="Avenir Next" panose="020B0503020202020204" pitchFamily="34" charset="0"/>
              <a:ea typeface="Roboto Medium" panose="02000000000000000000" pitchFamily="2" charset="0"/>
              <a:cs typeface="Gill Sans MT"/>
            </a:endParaRPr>
          </a:p>
          <a:p>
            <a:pPr marL="703743" lvl="1">
              <a:spcBef>
                <a:spcPts val="159"/>
              </a:spcBef>
            </a:pPr>
            <a:r>
              <a:rPr lang="en-US">
                <a:solidFill>
                  <a:srgbClr val="464653"/>
                </a:solidFill>
                <a:latin typeface="Avenir Next" panose="020B0503020202020204" pitchFamily="34" charset="0"/>
                <a:ea typeface="Roboto Medium" panose="02000000000000000000" pitchFamily="2" charset="0"/>
                <a:cs typeface="Gill Sans MT"/>
              </a:rPr>
              <a:t>AES </a:t>
            </a:r>
            <a:r>
              <a:rPr lang="en-US" dirty="0">
                <a:solidFill>
                  <a:srgbClr val="464653"/>
                </a:solidFill>
                <a:latin typeface="Avenir Next" panose="020B0503020202020204" pitchFamily="34" charset="0"/>
                <a:ea typeface="Roboto Medium" panose="02000000000000000000" pitchFamily="2" charset="0"/>
                <a:cs typeface="Gill Sans MT"/>
              </a:rPr>
              <a:t>CCM and GCM</a:t>
            </a:r>
            <a:r>
              <a:rPr lang="en-US" spc="-304" dirty="0">
                <a:solidFill>
                  <a:srgbClr val="464653"/>
                </a:solidFill>
                <a:latin typeface="Avenir Next" panose="020B0503020202020204" pitchFamily="34" charset="0"/>
                <a:ea typeface="Roboto Medium" panose="02000000000000000000" pitchFamily="2" charset="0"/>
                <a:cs typeface="Gill Sans MT"/>
              </a:rPr>
              <a:t> </a:t>
            </a:r>
            <a:r>
              <a:rPr lang="en-US" dirty="0">
                <a:solidFill>
                  <a:srgbClr val="464653"/>
                </a:solidFill>
                <a:latin typeface="Avenir Next" panose="020B0503020202020204" pitchFamily="34" charset="0"/>
                <a:ea typeface="Roboto Medium" panose="02000000000000000000" pitchFamily="2" charset="0"/>
                <a:cs typeface="Gill Sans MT"/>
              </a:rPr>
              <a:t>modes</a:t>
            </a:r>
            <a:endParaRPr lang="en-US" dirty="0">
              <a:latin typeface="Avenir Next" panose="020B0503020202020204" pitchFamily="34" charset="0"/>
              <a:ea typeface="Roboto Medium" panose="02000000000000000000" pitchFamily="2" charset="0"/>
              <a:cs typeface="Gill Sans MT"/>
            </a:endParaRPr>
          </a:p>
          <a:p>
            <a:pPr marL="11206">
              <a:spcBef>
                <a:spcPts val="247"/>
              </a:spcBef>
            </a:pPr>
            <a:r>
              <a:rPr lang="en-US" sz="2800" b="1" dirty="0">
                <a:latin typeface="Avenir Next" panose="020B0503020202020204" pitchFamily="34" charset="0"/>
                <a:ea typeface="Roboto Medium" panose="02000000000000000000" pitchFamily="2" charset="0"/>
                <a:cs typeface="Gill Sans MT"/>
              </a:rPr>
              <a:t>TLS 1.3:</a:t>
            </a:r>
          </a:p>
          <a:p>
            <a:pPr marL="703743" lvl="1">
              <a:spcBef>
                <a:spcPts val="159"/>
              </a:spcBef>
            </a:pPr>
            <a:r>
              <a:rPr lang="en-US" b="0" i="0" dirty="0">
                <a:solidFill>
                  <a:srgbClr val="54595F"/>
                </a:solidFill>
                <a:effectLst/>
                <a:latin typeface="Avenir Next" panose="020B0503020202020204" pitchFamily="34" charset="0"/>
              </a:rPr>
              <a:t>Enhanced handshake process, reducing latency and speeding up connections via fewer round trips</a:t>
            </a:r>
          </a:p>
          <a:p>
            <a:pPr marL="703743" lvl="1">
              <a:spcBef>
                <a:spcPts val="159"/>
              </a:spcBef>
            </a:pPr>
            <a:r>
              <a:rPr lang="en-US" dirty="0">
                <a:solidFill>
                  <a:srgbClr val="54595F"/>
                </a:solidFill>
                <a:latin typeface="Avenir Next" panose="020B0503020202020204" pitchFamily="34" charset="0"/>
              </a:rPr>
              <a:t>Zero Round-Trip resumption (0-RTT)</a:t>
            </a:r>
          </a:p>
          <a:p>
            <a:pPr marL="703743" lvl="1">
              <a:spcBef>
                <a:spcPts val="159"/>
              </a:spcBef>
            </a:pPr>
            <a:r>
              <a:rPr lang="en-US" dirty="0">
                <a:solidFill>
                  <a:srgbClr val="54595F"/>
                </a:solidFill>
                <a:latin typeface="Avenir Next" panose="020B0503020202020204" pitchFamily="34" charset="0"/>
              </a:rPr>
              <a:t>Supports only cipher suite with </a:t>
            </a:r>
            <a:r>
              <a:rPr lang="en-US" b="1" dirty="0">
                <a:solidFill>
                  <a:srgbClr val="54595F"/>
                </a:solidFill>
                <a:latin typeface="Avenir Next" panose="020B0503020202020204" pitchFamily="34" charset="0"/>
              </a:rPr>
              <a:t>Perfect-Forward Secrecy</a:t>
            </a:r>
            <a:endParaRPr lang="en-US" b="1" dirty="0">
              <a:latin typeface="Avenir Next" panose="020B0503020202020204" pitchFamily="34" charset="0"/>
            </a:endParaRPr>
          </a:p>
        </p:txBody>
      </p:sp>
    </p:spTree>
    <p:custDataLst>
      <p:tags r:id="rId1"/>
    </p:custDataLst>
    <p:extLst>
      <p:ext uri="{BB962C8B-B14F-4D97-AF65-F5344CB8AC3E}">
        <p14:creationId xmlns:p14="http://schemas.microsoft.com/office/powerpoint/2010/main" val="180851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6977602"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Protocol Architecture</a:t>
            </a:r>
            <a:endParaRPr lang="en-US" sz="4000" dirty="0">
              <a:solidFill>
                <a:schemeClr val="bg1"/>
              </a:solidFill>
              <a:latin typeface="Playfair Display Medium" pitchFamily="2" charset="77"/>
            </a:endParaRPr>
          </a:p>
        </p:txBody>
      </p:sp>
      <p:sp>
        <p:nvSpPr>
          <p:cNvPr id="2" name="object 2">
            <a:extLst>
              <a:ext uri="{FF2B5EF4-FFF2-40B4-BE49-F238E27FC236}">
                <a16:creationId xmlns:a16="http://schemas.microsoft.com/office/drawing/2014/main" id="{9601047C-C77A-01F8-3E22-F156836A2BCC}"/>
              </a:ext>
            </a:extLst>
          </p:cNvPr>
          <p:cNvSpPr/>
          <p:nvPr/>
        </p:nvSpPr>
        <p:spPr>
          <a:xfrm>
            <a:off x="2607199" y="847493"/>
            <a:ext cx="6977601" cy="5163014"/>
          </a:xfrm>
          <a:prstGeom prst="rect">
            <a:avLst/>
          </a:prstGeom>
          <a:blipFill>
            <a:blip r:embed="rId4" cstate="print"/>
            <a:stretch>
              <a:fillRect/>
            </a:stretch>
          </a:blipFill>
        </p:spPr>
        <p:txBody>
          <a:bodyPr wrap="square" lIns="0" tIns="0" rIns="0" bIns="0" rtlCol="0"/>
          <a:lstStyle/>
          <a:p>
            <a:endParaRPr sz="1588"/>
          </a:p>
        </p:txBody>
      </p:sp>
    </p:spTree>
    <p:custDataLst>
      <p:tags r:id="rId1"/>
    </p:custDataLst>
    <p:extLst>
      <p:ext uri="{BB962C8B-B14F-4D97-AF65-F5344CB8AC3E}">
        <p14:creationId xmlns:p14="http://schemas.microsoft.com/office/powerpoint/2010/main" val="4112401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9865768"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Abstraction (Session and Connection)</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704494"/>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4800" b="1" spc="-4" dirty="0">
                <a:solidFill>
                  <a:srgbClr val="C00000"/>
                </a:solidFill>
                <a:latin typeface="Avenir Next" panose="020B0503020202020204" pitchFamily="34" charset="0"/>
                <a:ea typeface="Roboto Black" panose="02000000000000000000" pitchFamily="2" charset="0"/>
                <a:cs typeface="Gill Sans MT"/>
              </a:rPr>
              <a:t>Session</a:t>
            </a:r>
            <a:r>
              <a:rPr lang="en-US" sz="4800" spc="-4" dirty="0">
                <a:solidFill>
                  <a:srgbClr val="C00000"/>
                </a:solidFill>
                <a:latin typeface="Avenir Next" panose="020B0503020202020204" pitchFamily="34" charset="0"/>
                <a:ea typeface="Roboto Medium" panose="02000000000000000000" pitchFamily="2" charset="0"/>
              </a:rPr>
              <a:t>:</a:t>
            </a:r>
            <a:endParaRPr lang="en-US" sz="3200" dirty="0">
              <a:solidFill>
                <a:srgbClr val="C00000"/>
              </a:solidFill>
              <a:latin typeface="Avenir Next" panose="020B0503020202020204" pitchFamily="34" charset="0"/>
              <a:ea typeface="Roboto Medium" panose="02000000000000000000" pitchFamily="2" charset="0"/>
              <a:cs typeface="Gill Sans MT"/>
            </a:endParaRPr>
          </a:p>
          <a:p>
            <a:pPr marL="313781">
              <a:lnSpc>
                <a:spcPct val="100000"/>
              </a:lnSpc>
              <a:spcBef>
                <a:spcPts val="424"/>
              </a:spcBef>
            </a:pPr>
            <a:r>
              <a:rPr lang="en-US" sz="3600" dirty="0">
                <a:solidFill>
                  <a:srgbClr val="464653"/>
                </a:solidFill>
                <a:latin typeface="Avenir Next" panose="020B0503020202020204" pitchFamily="34" charset="0"/>
                <a:ea typeface="Roboto Medium" panose="02000000000000000000" pitchFamily="2" charset="0"/>
              </a:rPr>
              <a:t>Association </a:t>
            </a:r>
            <a:r>
              <a:rPr lang="en-US" sz="3600" spc="-9" dirty="0">
                <a:solidFill>
                  <a:srgbClr val="464653"/>
                </a:solidFill>
                <a:latin typeface="Avenir Next" panose="020B0503020202020204" pitchFamily="34" charset="0"/>
                <a:ea typeface="Roboto Medium" panose="02000000000000000000" pitchFamily="2" charset="0"/>
              </a:rPr>
              <a:t>between </a:t>
            </a:r>
            <a:r>
              <a:rPr lang="en-US" sz="3600" dirty="0">
                <a:solidFill>
                  <a:srgbClr val="464653"/>
                </a:solidFill>
                <a:latin typeface="Avenir Next" panose="020B0503020202020204" pitchFamily="34" charset="0"/>
                <a:ea typeface="Roboto Medium" panose="02000000000000000000" pitchFamily="2" charset="0"/>
              </a:rPr>
              <a:t>a client and a</a:t>
            </a:r>
            <a:r>
              <a:rPr lang="en-US" sz="3600" spc="-40" dirty="0">
                <a:solidFill>
                  <a:srgbClr val="464653"/>
                </a:solidFill>
                <a:latin typeface="Avenir Next" panose="020B0503020202020204" pitchFamily="34" charset="0"/>
                <a:ea typeface="Roboto Medium" panose="02000000000000000000" pitchFamily="2" charset="0"/>
              </a:rPr>
              <a:t> </a:t>
            </a:r>
            <a:r>
              <a:rPr lang="en-US" sz="3600" spc="13" dirty="0">
                <a:solidFill>
                  <a:srgbClr val="464653"/>
                </a:solidFill>
                <a:latin typeface="Avenir Next" panose="020B0503020202020204" pitchFamily="34" charset="0"/>
                <a:ea typeface="Roboto Medium" panose="02000000000000000000" pitchFamily="2" charset="0"/>
              </a:rPr>
              <a:t>server;</a:t>
            </a:r>
            <a:endParaRPr lang="en-US" sz="3600" dirty="0">
              <a:latin typeface="Avenir Next" panose="020B0503020202020204" pitchFamily="34" charset="0"/>
              <a:ea typeface="Roboto Medium" panose="02000000000000000000" pitchFamily="2" charset="0"/>
              <a:cs typeface="Times New Roman"/>
            </a:endParaRPr>
          </a:p>
          <a:p>
            <a:pPr marL="313781">
              <a:lnSpc>
                <a:spcPct val="100000"/>
              </a:lnSpc>
              <a:spcBef>
                <a:spcPts val="405"/>
              </a:spcBef>
            </a:pPr>
            <a:r>
              <a:rPr lang="en-US" sz="3600" spc="-9" dirty="0">
                <a:solidFill>
                  <a:srgbClr val="464653"/>
                </a:solidFill>
                <a:latin typeface="Avenir Next" panose="020B0503020202020204" pitchFamily="34" charset="0"/>
                <a:ea typeface="Roboto Medium" panose="02000000000000000000" pitchFamily="2" charset="0"/>
              </a:rPr>
              <a:t>Created </a:t>
            </a:r>
            <a:r>
              <a:rPr lang="en-US" sz="3600" spc="-13" dirty="0">
                <a:solidFill>
                  <a:srgbClr val="464653"/>
                </a:solidFill>
                <a:latin typeface="Avenir Next" panose="020B0503020202020204" pitchFamily="34" charset="0"/>
                <a:ea typeface="Roboto Medium" panose="02000000000000000000" pitchFamily="2" charset="0"/>
              </a:rPr>
              <a:t>by </a:t>
            </a:r>
            <a:r>
              <a:rPr lang="en-US" sz="3600" dirty="0">
                <a:solidFill>
                  <a:srgbClr val="464653"/>
                </a:solidFill>
                <a:latin typeface="Avenir Next" panose="020B0503020202020204" pitchFamily="34" charset="0"/>
                <a:ea typeface="Roboto Medium" panose="02000000000000000000" pitchFamily="2" charset="0"/>
              </a:rPr>
              <a:t>the </a:t>
            </a:r>
            <a:r>
              <a:rPr lang="en-US" sz="3600" spc="-9" dirty="0">
                <a:solidFill>
                  <a:srgbClr val="464653"/>
                </a:solidFill>
                <a:latin typeface="Avenir Next" panose="020B0503020202020204" pitchFamily="34" charset="0"/>
                <a:ea typeface="Roboto Medium" panose="02000000000000000000" pitchFamily="2" charset="0"/>
              </a:rPr>
              <a:t>Handshake</a:t>
            </a:r>
            <a:r>
              <a:rPr lang="en-US" sz="3600" spc="13" dirty="0">
                <a:solidFill>
                  <a:srgbClr val="464653"/>
                </a:solidFill>
                <a:latin typeface="Avenir Next" panose="020B0503020202020204" pitchFamily="34" charset="0"/>
                <a:ea typeface="Roboto Medium" panose="02000000000000000000" pitchFamily="2" charset="0"/>
              </a:rPr>
              <a:t> </a:t>
            </a:r>
            <a:r>
              <a:rPr lang="en-US" sz="3600" spc="-9" dirty="0">
                <a:solidFill>
                  <a:srgbClr val="464653"/>
                </a:solidFill>
                <a:latin typeface="Avenir Next" panose="020B0503020202020204" pitchFamily="34" charset="0"/>
                <a:ea typeface="Roboto Medium" panose="02000000000000000000" pitchFamily="2" charset="0"/>
              </a:rPr>
              <a:t>Protocol;</a:t>
            </a:r>
            <a:endParaRPr lang="en-US" sz="3600" spc="-9" dirty="0">
              <a:latin typeface="Avenir Next" panose="020B0503020202020204" pitchFamily="34" charset="0"/>
              <a:ea typeface="Roboto Medium" panose="02000000000000000000" pitchFamily="2" charset="0"/>
              <a:cs typeface="Times New Roman"/>
            </a:endParaRPr>
          </a:p>
          <a:p>
            <a:pPr marL="770981" lvl="1">
              <a:lnSpc>
                <a:spcPct val="100000"/>
              </a:lnSpc>
              <a:spcBef>
                <a:spcPts val="405"/>
              </a:spcBef>
            </a:pPr>
            <a:r>
              <a:rPr lang="en-US" sz="3200" spc="-9" dirty="0">
                <a:solidFill>
                  <a:srgbClr val="464653"/>
                </a:solidFill>
                <a:latin typeface="Avenir Next" panose="020B0503020202020204" pitchFamily="34" charset="0"/>
                <a:ea typeface="Roboto Medium" panose="02000000000000000000" pitchFamily="2" charset="0"/>
                <a:cs typeface="Times New Roman"/>
              </a:rPr>
              <a:t> </a:t>
            </a:r>
            <a:r>
              <a:rPr lang="en-US" sz="3200" dirty="0">
                <a:solidFill>
                  <a:srgbClr val="464653"/>
                </a:solidFill>
                <a:latin typeface="Avenir Next" panose="020B0503020202020204" pitchFamily="34" charset="0"/>
                <a:ea typeface="Roboto Medium" panose="02000000000000000000" pitchFamily="2" charset="0"/>
              </a:rPr>
              <a:t>Defines </a:t>
            </a:r>
            <a:r>
              <a:rPr lang="en-US" sz="3200" spc="-9" dirty="0">
                <a:solidFill>
                  <a:srgbClr val="464653"/>
                </a:solidFill>
                <a:latin typeface="Avenir Next" panose="020B0503020202020204" pitchFamily="34" charset="0"/>
                <a:ea typeface="Roboto Medium" panose="02000000000000000000" pitchFamily="2" charset="0"/>
              </a:rPr>
              <a:t>secure </a:t>
            </a:r>
            <a:r>
              <a:rPr lang="en-US" sz="3200" dirty="0">
                <a:solidFill>
                  <a:srgbClr val="464653"/>
                </a:solidFill>
                <a:latin typeface="Avenir Next" panose="020B0503020202020204" pitchFamily="34" charset="0"/>
                <a:ea typeface="Roboto Medium" panose="02000000000000000000" pitchFamily="2" charset="0"/>
              </a:rPr>
              <a:t>cryptographic parameters that can be </a:t>
            </a:r>
            <a:r>
              <a:rPr lang="en-US" sz="3200" spc="-9" dirty="0">
                <a:solidFill>
                  <a:srgbClr val="464653"/>
                </a:solidFill>
                <a:latin typeface="Avenir Next" panose="020B0503020202020204" pitchFamily="34" charset="0"/>
                <a:ea typeface="Roboto Medium" panose="02000000000000000000" pitchFamily="2" charset="0"/>
              </a:rPr>
              <a:t>shared </a:t>
            </a:r>
            <a:r>
              <a:rPr lang="en-US" sz="3200" spc="-13" dirty="0">
                <a:solidFill>
                  <a:srgbClr val="464653"/>
                </a:solidFill>
                <a:latin typeface="Avenir Next" panose="020B0503020202020204" pitchFamily="34" charset="0"/>
                <a:ea typeface="Roboto Medium" panose="02000000000000000000" pitchFamily="2" charset="0"/>
              </a:rPr>
              <a:t>by  </a:t>
            </a:r>
            <a:r>
              <a:rPr lang="en-US" sz="3200" spc="-4" dirty="0">
                <a:solidFill>
                  <a:srgbClr val="464653"/>
                </a:solidFill>
                <a:latin typeface="Avenir Next" panose="020B0503020202020204" pitchFamily="34" charset="0"/>
                <a:ea typeface="Roboto Medium" panose="02000000000000000000" pitchFamily="2" charset="0"/>
              </a:rPr>
              <a:t>multiple</a:t>
            </a:r>
            <a:r>
              <a:rPr lang="en-US" sz="3200" spc="-75" dirty="0">
                <a:solidFill>
                  <a:srgbClr val="464653"/>
                </a:solidFill>
                <a:latin typeface="Avenir Next" panose="020B0503020202020204" pitchFamily="34" charset="0"/>
                <a:ea typeface="Roboto Medium" panose="02000000000000000000" pitchFamily="2" charset="0"/>
              </a:rPr>
              <a:t> </a:t>
            </a:r>
            <a:r>
              <a:rPr lang="en-US" sz="3200" dirty="0">
                <a:solidFill>
                  <a:srgbClr val="464653"/>
                </a:solidFill>
                <a:latin typeface="Avenir Next" panose="020B0503020202020204" pitchFamily="34" charset="0"/>
                <a:ea typeface="Roboto Medium" panose="02000000000000000000" pitchFamily="2" charset="0"/>
              </a:rPr>
              <a:t>connections.</a:t>
            </a:r>
            <a:endParaRPr lang="en-US" sz="3200" dirty="0">
              <a:latin typeface="Avenir Next" panose="020B0503020202020204" pitchFamily="34" charset="0"/>
              <a:ea typeface="Roboto Medium" panose="02000000000000000000" pitchFamily="2" charset="0"/>
              <a:cs typeface="Times New Roman"/>
            </a:endParaRPr>
          </a:p>
          <a:p>
            <a:pPr marL="78445">
              <a:lnSpc>
                <a:spcPct val="100000"/>
              </a:lnSpc>
              <a:spcBef>
                <a:spcPts val="424"/>
              </a:spcBef>
            </a:pPr>
            <a:r>
              <a:rPr lang="en-US" sz="4800" b="1" dirty="0">
                <a:solidFill>
                  <a:srgbClr val="C00000"/>
                </a:solidFill>
                <a:latin typeface="Avenir Next" panose="020B0503020202020204" pitchFamily="34" charset="0"/>
                <a:ea typeface="Roboto Black" panose="02000000000000000000" pitchFamily="2" charset="0"/>
                <a:cs typeface="Gill Sans MT"/>
              </a:rPr>
              <a:t>Connection</a:t>
            </a:r>
            <a:r>
              <a:rPr lang="en-US" sz="4800" dirty="0">
                <a:solidFill>
                  <a:srgbClr val="C00000"/>
                </a:solidFill>
                <a:latin typeface="Avenir Next" panose="020B0503020202020204" pitchFamily="34" charset="0"/>
                <a:ea typeface="Roboto Medium" panose="02000000000000000000" pitchFamily="2" charset="0"/>
              </a:rPr>
              <a:t>:</a:t>
            </a:r>
            <a:endParaRPr lang="en-US" sz="3200" dirty="0">
              <a:solidFill>
                <a:srgbClr val="C00000"/>
              </a:solidFill>
              <a:latin typeface="Avenir Next" panose="020B0503020202020204" pitchFamily="34" charset="0"/>
              <a:ea typeface="Roboto Medium" panose="02000000000000000000" pitchFamily="2" charset="0"/>
              <a:cs typeface="Gill Sans MT"/>
            </a:endParaRPr>
          </a:p>
          <a:p>
            <a:pPr marL="770981" lvl="1">
              <a:lnSpc>
                <a:spcPct val="100000"/>
              </a:lnSpc>
              <a:spcBef>
                <a:spcPts val="512"/>
              </a:spcBef>
            </a:pPr>
            <a:r>
              <a:rPr lang="en-US" sz="3600" dirty="0">
                <a:solidFill>
                  <a:srgbClr val="464653"/>
                </a:solidFill>
                <a:latin typeface="Avenir Next" panose="020B0503020202020204" pitchFamily="34" charset="0"/>
                <a:ea typeface="Roboto Medium" panose="02000000000000000000" pitchFamily="2" charset="0"/>
              </a:rPr>
              <a:t>End-to-end </a:t>
            </a:r>
            <a:r>
              <a:rPr lang="en-US" sz="3600" spc="-9" dirty="0">
                <a:solidFill>
                  <a:srgbClr val="464653"/>
                </a:solidFill>
                <a:latin typeface="Avenir Next" panose="020B0503020202020204" pitchFamily="34" charset="0"/>
                <a:ea typeface="Roboto Medium" panose="02000000000000000000" pitchFamily="2" charset="0"/>
              </a:rPr>
              <a:t>reliable secure</a:t>
            </a:r>
            <a:r>
              <a:rPr lang="en-US" sz="3600" spc="9" dirty="0">
                <a:solidFill>
                  <a:srgbClr val="464653"/>
                </a:solidFill>
                <a:latin typeface="Avenir Next" panose="020B0503020202020204" pitchFamily="34" charset="0"/>
                <a:ea typeface="Roboto Medium" panose="02000000000000000000" pitchFamily="2" charset="0"/>
              </a:rPr>
              <a:t> </a:t>
            </a:r>
            <a:r>
              <a:rPr lang="en-US" sz="3600" spc="-4" dirty="0">
                <a:solidFill>
                  <a:srgbClr val="464653"/>
                </a:solidFill>
                <a:latin typeface="Avenir Next" panose="020B0503020202020204" pitchFamily="34" charset="0"/>
                <a:ea typeface="Roboto Medium" panose="02000000000000000000" pitchFamily="2" charset="0"/>
              </a:rPr>
              <a:t>communication;</a:t>
            </a:r>
            <a:endParaRPr lang="en-US" sz="3600" dirty="0">
              <a:latin typeface="Avenir Next" panose="020B0503020202020204" pitchFamily="34" charset="0"/>
              <a:ea typeface="Roboto Medium" panose="02000000000000000000" pitchFamily="2" charset="0"/>
              <a:cs typeface="Times New Roman"/>
            </a:endParaRPr>
          </a:p>
          <a:p>
            <a:pPr marL="770981" lvl="1">
              <a:lnSpc>
                <a:spcPct val="100000"/>
              </a:lnSpc>
              <a:spcBef>
                <a:spcPts val="405"/>
              </a:spcBef>
            </a:pPr>
            <a:r>
              <a:rPr lang="en-US" sz="3600" spc="-4" dirty="0">
                <a:solidFill>
                  <a:srgbClr val="464653"/>
                </a:solidFill>
                <a:latin typeface="Avenir Next" panose="020B0503020202020204" pitchFamily="34" charset="0"/>
                <a:ea typeface="Roboto Medium" panose="02000000000000000000" pitchFamily="2" charset="0"/>
              </a:rPr>
              <a:t>Every </a:t>
            </a:r>
            <a:r>
              <a:rPr lang="en-US" sz="3600" dirty="0">
                <a:solidFill>
                  <a:srgbClr val="464653"/>
                </a:solidFill>
                <a:latin typeface="Avenir Next" panose="020B0503020202020204" pitchFamily="34" charset="0"/>
                <a:ea typeface="Roboto Medium" panose="02000000000000000000" pitchFamily="2" charset="0"/>
              </a:rPr>
              <a:t>connection is associated with a</a:t>
            </a:r>
            <a:r>
              <a:rPr lang="en-US" sz="3600" spc="-57" dirty="0">
                <a:solidFill>
                  <a:srgbClr val="464653"/>
                </a:solidFill>
                <a:latin typeface="Avenir Next" panose="020B0503020202020204" pitchFamily="34" charset="0"/>
                <a:ea typeface="Roboto Medium" panose="02000000000000000000" pitchFamily="2" charset="0"/>
              </a:rPr>
              <a:t> </a:t>
            </a:r>
            <a:r>
              <a:rPr lang="en-US" sz="3600" dirty="0">
                <a:solidFill>
                  <a:srgbClr val="464653"/>
                </a:solidFill>
                <a:latin typeface="Avenir Next" panose="020B0503020202020204" pitchFamily="34" charset="0"/>
                <a:ea typeface="Roboto Medium" panose="02000000000000000000" pitchFamily="2" charset="0"/>
              </a:rPr>
              <a:t>session.</a:t>
            </a:r>
            <a:endParaRPr lang="en-US" sz="3600" dirty="0">
              <a:latin typeface="Avenir Next" panose="020B0503020202020204" pitchFamily="34" charset="0"/>
              <a:ea typeface="Roboto Medium" panose="02000000000000000000" pitchFamily="2" charset="0"/>
              <a:cs typeface="Times New Roman"/>
            </a:endParaRPr>
          </a:p>
        </p:txBody>
      </p:sp>
    </p:spTree>
    <p:custDataLst>
      <p:tags r:id="rId1"/>
    </p:custDataLst>
    <p:extLst>
      <p:ext uri="{BB962C8B-B14F-4D97-AF65-F5344CB8AC3E}">
        <p14:creationId xmlns:p14="http://schemas.microsoft.com/office/powerpoint/2010/main" val="630735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3254873"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Session</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704494"/>
            <a:ext cx="12192000" cy="593034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3781" marR="4483" indent="-235336">
              <a:lnSpc>
                <a:spcPct val="100000"/>
              </a:lnSpc>
            </a:pPr>
            <a:r>
              <a:rPr lang="en-US" sz="3200" b="1" dirty="0">
                <a:solidFill>
                  <a:srgbClr val="C00000"/>
                </a:solidFill>
                <a:latin typeface="Avenir Next" panose="020B0503020202020204" pitchFamily="34" charset="0"/>
                <a:ea typeface="Roboto Medium" panose="02000000000000000000" pitchFamily="2" charset="0"/>
              </a:rPr>
              <a:t>Session </a:t>
            </a:r>
            <a:r>
              <a:rPr lang="en-US" sz="3200" b="1" spc="4" dirty="0">
                <a:solidFill>
                  <a:srgbClr val="C00000"/>
                </a:solidFill>
                <a:latin typeface="Avenir Next" panose="020B0503020202020204" pitchFamily="34" charset="0"/>
                <a:ea typeface="Roboto Medium" panose="02000000000000000000" pitchFamily="2" charset="0"/>
              </a:rPr>
              <a:t>identifier:</a:t>
            </a:r>
            <a:r>
              <a:rPr lang="en-US" sz="3200" spc="4" dirty="0">
                <a:latin typeface="Avenir Next" panose="020B0503020202020204" pitchFamily="34" charset="0"/>
                <a:ea typeface="Roboto Medium" panose="02000000000000000000" pitchFamily="2" charset="0"/>
              </a:rPr>
              <a:t> </a:t>
            </a:r>
          </a:p>
          <a:p>
            <a:pPr marL="770981" marR="4483" lvl="1" indent="-235336">
              <a:lnSpc>
                <a:spcPct val="100000"/>
              </a:lnSpc>
            </a:pPr>
            <a:r>
              <a:rPr lang="en-US" sz="3200" dirty="0">
                <a:latin typeface="Avenir Next" panose="020B0503020202020204" pitchFamily="34" charset="0"/>
                <a:ea typeface="Roboto Medium" panose="02000000000000000000" pitchFamily="2" charset="0"/>
              </a:rPr>
              <a:t>Generated </a:t>
            </a:r>
            <a:r>
              <a:rPr lang="en-US" sz="3200" spc="-13" dirty="0">
                <a:latin typeface="Avenir Next" panose="020B0503020202020204" pitchFamily="34" charset="0"/>
                <a:ea typeface="Roboto Medium" panose="02000000000000000000" pitchFamily="2" charset="0"/>
              </a:rPr>
              <a:t>by </a:t>
            </a:r>
            <a:r>
              <a:rPr lang="en-US" sz="3200" dirty="0">
                <a:latin typeface="Avenir Next" panose="020B0503020202020204" pitchFamily="34" charset="0"/>
                <a:ea typeface="Roboto Medium" panose="02000000000000000000" pitchFamily="2" charset="0"/>
              </a:rPr>
              <a:t>the server to identify an  </a:t>
            </a:r>
            <a:r>
              <a:rPr lang="en-US" sz="3200" spc="-9" dirty="0">
                <a:latin typeface="Avenir Next" panose="020B0503020202020204" pitchFamily="34" charset="0"/>
                <a:ea typeface="Roboto Medium" panose="02000000000000000000" pitchFamily="2" charset="0"/>
              </a:rPr>
              <a:t>active </a:t>
            </a:r>
            <a:r>
              <a:rPr lang="en-US" sz="3200" dirty="0">
                <a:latin typeface="Avenir Next" panose="020B0503020202020204" pitchFamily="34" charset="0"/>
                <a:ea typeface="Roboto Medium" panose="02000000000000000000" pitchFamily="2" charset="0"/>
              </a:rPr>
              <a:t>or </a:t>
            </a:r>
            <a:r>
              <a:rPr lang="en-US" sz="3200" spc="-9" dirty="0">
                <a:latin typeface="Avenir Next" panose="020B0503020202020204" pitchFamily="34" charset="0"/>
                <a:ea typeface="Roboto Medium" panose="02000000000000000000" pitchFamily="2" charset="0"/>
              </a:rPr>
              <a:t>resumable</a:t>
            </a:r>
            <a:r>
              <a:rPr lang="en-US" sz="3200" spc="-57"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session.</a:t>
            </a:r>
            <a:endParaRPr lang="en-US" dirty="0">
              <a:latin typeface="Avenir Next" panose="020B0503020202020204" pitchFamily="34" charset="0"/>
              <a:ea typeface="Roboto Medium" panose="02000000000000000000" pitchFamily="2" charset="0"/>
              <a:cs typeface="Times New Roman"/>
            </a:endParaRPr>
          </a:p>
          <a:p>
            <a:pPr marL="78445">
              <a:lnSpc>
                <a:spcPct val="100000"/>
              </a:lnSpc>
              <a:spcBef>
                <a:spcPts val="212"/>
              </a:spcBef>
            </a:pPr>
            <a:r>
              <a:rPr lang="en-US" sz="3200" b="1" spc="-18" dirty="0">
                <a:solidFill>
                  <a:srgbClr val="C00000"/>
                </a:solidFill>
                <a:latin typeface="Avenir Next" panose="020B0503020202020204" pitchFamily="34" charset="0"/>
                <a:ea typeface="Roboto Medium" panose="02000000000000000000" pitchFamily="2" charset="0"/>
              </a:rPr>
              <a:t>Peer </a:t>
            </a:r>
            <a:r>
              <a:rPr lang="en-US" sz="3200" b="1" dirty="0">
                <a:solidFill>
                  <a:srgbClr val="C00000"/>
                </a:solidFill>
                <a:latin typeface="Avenir Next" panose="020B0503020202020204" pitchFamily="34" charset="0"/>
                <a:ea typeface="Roboto Medium" panose="02000000000000000000" pitchFamily="2" charset="0"/>
              </a:rPr>
              <a:t>certificate:</a:t>
            </a:r>
            <a:r>
              <a:rPr lang="en-US" sz="3200" dirty="0">
                <a:latin typeface="Avenir Next" panose="020B0503020202020204" pitchFamily="34" charset="0"/>
                <a:ea typeface="Roboto Medium" panose="02000000000000000000" pitchFamily="2" charset="0"/>
              </a:rPr>
              <a:t> </a:t>
            </a:r>
          </a:p>
          <a:p>
            <a:pPr marL="535645" lvl="1">
              <a:lnSpc>
                <a:spcPct val="100000"/>
              </a:lnSpc>
              <a:spcBef>
                <a:spcPts val="212"/>
              </a:spcBef>
            </a:pPr>
            <a:r>
              <a:rPr lang="en-US" sz="3200" dirty="0">
                <a:latin typeface="Avenir Next" panose="020B0503020202020204" pitchFamily="34" charset="0"/>
                <a:ea typeface="Roboto Medium" panose="02000000000000000000" pitchFamily="2" charset="0"/>
              </a:rPr>
              <a:t>X 509v3</a:t>
            </a:r>
            <a:r>
              <a:rPr lang="en-US" sz="3200" spc="-221" dirty="0">
                <a:latin typeface="Avenir Next" panose="020B0503020202020204" pitchFamily="34" charset="0"/>
                <a:ea typeface="Roboto Medium" panose="02000000000000000000" pitchFamily="2" charset="0"/>
              </a:rPr>
              <a:t> </a:t>
            </a:r>
            <a:r>
              <a:rPr lang="en-US" sz="3200" spc="4" dirty="0">
                <a:latin typeface="Avenir Next" panose="020B0503020202020204" pitchFamily="34" charset="0"/>
                <a:ea typeface="Roboto Medium" panose="02000000000000000000" pitchFamily="2" charset="0"/>
              </a:rPr>
              <a:t>certificate.</a:t>
            </a:r>
            <a:endParaRPr lang="en-US" dirty="0">
              <a:latin typeface="Avenir Next" panose="020B0503020202020204" pitchFamily="34" charset="0"/>
              <a:ea typeface="Roboto Medium" panose="02000000000000000000" pitchFamily="2" charset="0"/>
              <a:cs typeface="Times New Roman"/>
            </a:endParaRPr>
          </a:p>
          <a:p>
            <a:pPr marL="313781" marR="129435" indent="-235336">
              <a:lnSpc>
                <a:spcPct val="100000"/>
              </a:lnSpc>
              <a:spcBef>
                <a:spcPts val="565"/>
              </a:spcBef>
            </a:pPr>
            <a:r>
              <a:rPr lang="en-US" sz="3200" b="1" spc="-4" dirty="0">
                <a:solidFill>
                  <a:srgbClr val="C00000"/>
                </a:solidFill>
                <a:latin typeface="Avenir Next" panose="020B0503020202020204" pitchFamily="34" charset="0"/>
                <a:ea typeface="Roboto Medium" panose="02000000000000000000" pitchFamily="2" charset="0"/>
              </a:rPr>
              <a:t>Compression method:</a:t>
            </a:r>
            <a:r>
              <a:rPr lang="en-US" sz="3200" spc="-4" dirty="0">
                <a:latin typeface="Avenir Next" panose="020B0503020202020204" pitchFamily="34" charset="0"/>
                <a:ea typeface="Roboto Medium" panose="02000000000000000000" pitchFamily="2" charset="0"/>
              </a:rPr>
              <a:t> </a:t>
            </a:r>
          </a:p>
          <a:p>
            <a:pPr marL="770981" marR="129435" lvl="1" indent="-235336">
              <a:lnSpc>
                <a:spcPct val="100000"/>
              </a:lnSpc>
              <a:spcBef>
                <a:spcPts val="565"/>
              </a:spcBef>
            </a:pPr>
            <a:r>
              <a:rPr lang="en-US" sz="3200" spc="-4" dirty="0">
                <a:latin typeface="Avenir Next" panose="020B0503020202020204" pitchFamily="34" charset="0"/>
                <a:ea typeface="Roboto Medium" panose="02000000000000000000" pitchFamily="2" charset="0"/>
              </a:rPr>
              <a:t>Algorithm </a:t>
            </a:r>
            <a:r>
              <a:rPr lang="en-US" sz="3200" dirty="0">
                <a:latin typeface="Avenir Next" panose="020B0503020202020204" pitchFamily="34" charset="0"/>
                <a:ea typeface="Roboto Medium" panose="02000000000000000000" pitchFamily="2" charset="0"/>
              </a:rPr>
              <a:t>used to </a:t>
            </a:r>
            <a:r>
              <a:rPr lang="en-US" sz="3200" spc="-9" dirty="0">
                <a:latin typeface="Avenir Next" panose="020B0503020202020204" pitchFamily="34" charset="0"/>
                <a:ea typeface="Roboto Medium" panose="02000000000000000000" pitchFamily="2" charset="0"/>
              </a:rPr>
              <a:t>compress </a:t>
            </a:r>
            <a:r>
              <a:rPr lang="en-US" sz="3200" dirty="0">
                <a:latin typeface="Avenir Next" panose="020B0503020202020204" pitchFamily="34" charset="0"/>
                <a:ea typeface="Roboto Medium" panose="02000000000000000000" pitchFamily="2" charset="0"/>
              </a:rPr>
              <a:t>the  data </a:t>
            </a:r>
            <a:r>
              <a:rPr lang="en-US" sz="3200" spc="-13" dirty="0">
                <a:latin typeface="Avenir Next" panose="020B0503020202020204" pitchFamily="34" charset="0"/>
                <a:ea typeface="Roboto Medium" panose="02000000000000000000" pitchFamily="2" charset="0"/>
              </a:rPr>
              <a:t>before</a:t>
            </a:r>
            <a:r>
              <a:rPr lang="en-US" sz="3200" spc="-71" dirty="0">
                <a:latin typeface="Avenir Next" panose="020B0503020202020204" pitchFamily="34" charset="0"/>
                <a:ea typeface="Roboto Medium" panose="02000000000000000000" pitchFamily="2" charset="0"/>
              </a:rPr>
              <a:t> </a:t>
            </a:r>
            <a:r>
              <a:rPr lang="en-US" sz="3200" spc="4" dirty="0">
                <a:latin typeface="Avenir Next" panose="020B0503020202020204" pitchFamily="34" charset="0"/>
                <a:ea typeface="Roboto Medium" panose="02000000000000000000" pitchFamily="2" charset="0"/>
              </a:rPr>
              <a:t>encryption.</a:t>
            </a:r>
            <a:endParaRPr lang="en-US" dirty="0">
              <a:latin typeface="Avenir Next" panose="020B0503020202020204" pitchFamily="34" charset="0"/>
              <a:ea typeface="Roboto Medium" panose="02000000000000000000" pitchFamily="2" charset="0"/>
              <a:cs typeface="Times New Roman"/>
            </a:endParaRPr>
          </a:p>
          <a:p>
            <a:pPr marL="313781" marR="315462" indent="-235336">
              <a:lnSpc>
                <a:spcPct val="100000"/>
              </a:lnSpc>
              <a:spcBef>
                <a:spcPts val="529"/>
              </a:spcBef>
            </a:pPr>
            <a:r>
              <a:rPr lang="en-US" sz="3200" b="1" dirty="0">
                <a:solidFill>
                  <a:srgbClr val="C00000"/>
                </a:solidFill>
                <a:latin typeface="Avenir Next" panose="020B0503020202020204" pitchFamily="34" charset="0"/>
                <a:ea typeface="Roboto Medium" panose="02000000000000000000" pitchFamily="2" charset="0"/>
              </a:rPr>
              <a:t>Cipher</a:t>
            </a:r>
            <a:r>
              <a:rPr lang="en-US" sz="3200" b="1" spc="-9" dirty="0">
                <a:solidFill>
                  <a:srgbClr val="C00000"/>
                </a:solidFill>
                <a:latin typeface="Avenir Next" panose="020B0503020202020204" pitchFamily="34" charset="0"/>
                <a:ea typeface="Roboto Medium" panose="02000000000000000000" pitchFamily="2" charset="0"/>
              </a:rPr>
              <a:t> </a:t>
            </a:r>
            <a:r>
              <a:rPr lang="en-US" sz="3200" b="1" dirty="0">
                <a:solidFill>
                  <a:srgbClr val="C00000"/>
                </a:solidFill>
                <a:latin typeface="Avenir Next" panose="020B0503020202020204" pitchFamily="34" charset="0"/>
                <a:ea typeface="Roboto Medium" panose="02000000000000000000" pitchFamily="2" charset="0"/>
              </a:rPr>
              <a:t>spec:</a:t>
            </a:r>
            <a:r>
              <a:rPr lang="en-US" sz="3200" spc="-243" dirty="0">
                <a:latin typeface="Avenir Next" panose="020B0503020202020204" pitchFamily="34" charset="0"/>
                <a:ea typeface="Roboto Medium" panose="02000000000000000000" pitchFamily="2" charset="0"/>
              </a:rPr>
              <a:t> </a:t>
            </a:r>
          </a:p>
          <a:p>
            <a:pPr marL="770981" marR="315462" lvl="1" indent="-235336">
              <a:lnSpc>
                <a:spcPct val="100000"/>
              </a:lnSpc>
              <a:spcBef>
                <a:spcPts val="529"/>
              </a:spcBef>
            </a:pPr>
            <a:r>
              <a:rPr lang="en-US" sz="3200" spc="4" dirty="0">
                <a:latin typeface="Avenir Next" panose="020B0503020202020204" pitchFamily="34" charset="0"/>
                <a:ea typeface="Roboto Medium" panose="02000000000000000000" pitchFamily="2" charset="0"/>
              </a:rPr>
              <a:t>Encryption</a:t>
            </a:r>
            <a:r>
              <a:rPr lang="en-US" sz="3200" spc="-9"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and</a:t>
            </a:r>
            <a:r>
              <a:rPr lang="en-US" sz="3200" spc="-9"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hash</a:t>
            </a:r>
            <a:r>
              <a:rPr lang="en-US" sz="3200" spc="-9" dirty="0">
                <a:latin typeface="Avenir Next" panose="020B0503020202020204" pitchFamily="34" charset="0"/>
                <a:ea typeface="Roboto Medium" panose="02000000000000000000" pitchFamily="2" charset="0"/>
              </a:rPr>
              <a:t> </a:t>
            </a:r>
            <a:r>
              <a:rPr lang="en-US" sz="3200" spc="-4" dirty="0">
                <a:latin typeface="Avenir Next" panose="020B0503020202020204" pitchFamily="34" charset="0"/>
                <a:ea typeface="Roboto Medium" panose="02000000000000000000" pitchFamily="2" charset="0"/>
              </a:rPr>
              <a:t>algorithm,</a:t>
            </a:r>
            <a:r>
              <a:rPr lang="en-US" sz="3200" spc="-243"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including  hash</a:t>
            </a:r>
            <a:r>
              <a:rPr lang="en-US" sz="3200" spc="-88" dirty="0">
                <a:latin typeface="Avenir Next" panose="020B0503020202020204" pitchFamily="34" charset="0"/>
                <a:ea typeface="Roboto Medium" panose="02000000000000000000" pitchFamily="2" charset="0"/>
              </a:rPr>
              <a:t> </a:t>
            </a:r>
            <a:r>
              <a:rPr lang="en-US" sz="3200" spc="9" dirty="0">
                <a:latin typeface="Avenir Next" panose="020B0503020202020204" pitchFamily="34" charset="0"/>
                <a:ea typeface="Roboto Medium" panose="02000000000000000000" pitchFamily="2" charset="0"/>
              </a:rPr>
              <a:t>size.</a:t>
            </a:r>
            <a:endParaRPr lang="en-US" dirty="0">
              <a:latin typeface="Avenir Next" panose="020B0503020202020204" pitchFamily="34" charset="0"/>
              <a:ea typeface="Roboto Medium" panose="02000000000000000000" pitchFamily="2" charset="0"/>
              <a:cs typeface="Times New Roman"/>
            </a:endParaRPr>
          </a:p>
          <a:p>
            <a:pPr marL="313781" marR="24094" indent="-235336">
              <a:lnSpc>
                <a:spcPct val="100000"/>
              </a:lnSpc>
              <a:spcBef>
                <a:spcPts val="529"/>
              </a:spcBef>
            </a:pPr>
            <a:r>
              <a:rPr lang="en-US" sz="3200" b="1" dirty="0">
                <a:solidFill>
                  <a:srgbClr val="C00000"/>
                </a:solidFill>
                <a:latin typeface="Avenir Next" panose="020B0503020202020204" pitchFamily="34" charset="0"/>
                <a:ea typeface="Roboto Medium" panose="02000000000000000000" pitchFamily="2" charset="0"/>
              </a:rPr>
              <a:t>Master </a:t>
            </a:r>
            <a:r>
              <a:rPr lang="en-US" sz="3200" b="1" spc="-9" dirty="0">
                <a:solidFill>
                  <a:srgbClr val="C00000"/>
                </a:solidFill>
                <a:latin typeface="Avenir Next" panose="020B0503020202020204" pitchFamily="34" charset="0"/>
                <a:ea typeface="Roboto Medium" panose="02000000000000000000" pitchFamily="2" charset="0"/>
              </a:rPr>
              <a:t>secret:</a:t>
            </a:r>
            <a:r>
              <a:rPr lang="en-US" sz="3200" spc="-9" dirty="0">
                <a:latin typeface="Avenir Next" panose="020B0503020202020204" pitchFamily="34" charset="0"/>
                <a:ea typeface="Roboto Medium" panose="02000000000000000000" pitchFamily="2" charset="0"/>
              </a:rPr>
              <a:t> </a:t>
            </a:r>
          </a:p>
          <a:p>
            <a:pPr marL="770981" marR="24094" lvl="1" indent="-235336">
              <a:lnSpc>
                <a:spcPct val="100000"/>
              </a:lnSpc>
              <a:spcBef>
                <a:spcPts val="529"/>
              </a:spcBef>
            </a:pPr>
            <a:r>
              <a:rPr lang="en-US" sz="3200" dirty="0">
                <a:latin typeface="Avenir Next" panose="020B0503020202020204" pitchFamily="34" charset="0"/>
                <a:ea typeface="Roboto Medium" panose="02000000000000000000" pitchFamily="2" charset="0"/>
              </a:rPr>
              <a:t>48-</a:t>
            </a:r>
            <a:r>
              <a:rPr lang="en-US" sz="3200" spc="-9" dirty="0">
                <a:latin typeface="Avenir Next" panose="020B0503020202020204" pitchFamily="34" charset="0"/>
                <a:ea typeface="Roboto Medium" panose="02000000000000000000" pitchFamily="2" charset="0"/>
              </a:rPr>
              <a:t>byte secret shared between </a:t>
            </a:r>
            <a:r>
              <a:rPr lang="en-US" sz="3200" dirty="0">
                <a:latin typeface="Avenir Next" panose="020B0503020202020204" pitchFamily="34" charset="0"/>
                <a:ea typeface="Roboto Medium" panose="02000000000000000000" pitchFamily="2" charset="0"/>
              </a:rPr>
              <a:t>the client  and</a:t>
            </a:r>
            <a:r>
              <a:rPr lang="en-US" sz="3200" spc="-88" dirty="0">
                <a:latin typeface="Avenir Next" panose="020B0503020202020204" pitchFamily="34" charset="0"/>
                <a:ea typeface="Roboto Medium" panose="02000000000000000000" pitchFamily="2" charset="0"/>
              </a:rPr>
              <a:t> </a:t>
            </a:r>
            <a:r>
              <a:rPr lang="en-US" sz="3200" spc="-31" dirty="0">
                <a:latin typeface="Avenir Next" panose="020B0503020202020204" pitchFamily="34" charset="0"/>
                <a:ea typeface="Roboto Medium" panose="02000000000000000000" pitchFamily="2" charset="0"/>
              </a:rPr>
              <a:t>server.</a:t>
            </a:r>
            <a:endParaRPr lang="en-US" dirty="0">
              <a:latin typeface="Avenir Next" panose="020B0503020202020204" pitchFamily="34" charset="0"/>
              <a:ea typeface="Roboto Medium" panose="02000000000000000000" pitchFamily="2" charset="0"/>
              <a:cs typeface="Times New Roman"/>
            </a:endParaRPr>
          </a:p>
          <a:p>
            <a:pPr marL="313781" marR="554160" indent="-235336">
              <a:lnSpc>
                <a:spcPct val="100000"/>
              </a:lnSpc>
              <a:spcBef>
                <a:spcPts val="529"/>
              </a:spcBef>
            </a:pPr>
            <a:r>
              <a:rPr lang="en-US" sz="3200" b="1" dirty="0">
                <a:solidFill>
                  <a:srgbClr val="C00000"/>
                </a:solidFill>
                <a:latin typeface="Avenir Next" panose="020B0503020202020204" pitchFamily="34" charset="0"/>
                <a:ea typeface="Roboto Medium" panose="02000000000000000000" pitchFamily="2" charset="0"/>
              </a:rPr>
              <a:t>Is </a:t>
            </a:r>
            <a:r>
              <a:rPr lang="en-US" sz="3200" b="1" spc="-9" dirty="0">
                <a:solidFill>
                  <a:srgbClr val="C00000"/>
                </a:solidFill>
                <a:latin typeface="Avenir Next" panose="020B0503020202020204" pitchFamily="34" charset="0"/>
                <a:ea typeface="Roboto Medium" panose="02000000000000000000" pitchFamily="2" charset="0"/>
              </a:rPr>
              <a:t>resumable:</a:t>
            </a:r>
            <a:r>
              <a:rPr lang="en-US" sz="3200" spc="-9" dirty="0">
                <a:latin typeface="Avenir Next" panose="020B0503020202020204" pitchFamily="34" charset="0"/>
                <a:ea typeface="Roboto Medium" panose="02000000000000000000" pitchFamily="2" charset="0"/>
              </a:rPr>
              <a:t> </a:t>
            </a:r>
          </a:p>
          <a:p>
            <a:pPr marL="770981" marR="554160" lvl="1" indent="-235336">
              <a:lnSpc>
                <a:spcPct val="100000"/>
              </a:lnSpc>
              <a:spcBef>
                <a:spcPts val="529"/>
              </a:spcBef>
            </a:pPr>
            <a:r>
              <a:rPr lang="en-US" sz="3200" dirty="0">
                <a:latin typeface="Avenir Next" panose="020B0503020202020204" pitchFamily="34" charset="0"/>
                <a:ea typeface="Roboto Medium" panose="02000000000000000000" pitchFamily="2" charset="0"/>
              </a:rPr>
              <a:t>Indicates if the session can be used</a:t>
            </a:r>
            <a:r>
              <a:rPr lang="en-US" sz="3200" spc="-274"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to  initiate </a:t>
            </a:r>
            <a:r>
              <a:rPr lang="en-US" sz="3200" spc="-13" dirty="0">
                <a:latin typeface="Avenir Next" panose="020B0503020202020204" pitchFamily="34" charset="0"/>
                <a:ea typeface="Roboto Medium" panose="02000000000000000000" pitchFamily="2" charset="0"/>
              </a:rPr>
              <a:t>new</a:t>
            </a:r>
            <a:r>
              <a:rPr lang="en-US" sz="3200" spc="-88"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connections.</a:t>
            </a:r>
            <a:endParaRPr lang="en-US" dirty="0">
              <a:latin typeface="Avenir Next" panose="020B0503020202020204" pitchFamily="34" charset="0"/>
              <a:ea typeface="Roboto Medium" panose="02000000000000000000" pitchFamily="2" charset="0"/>
              <a:cs typeface="Times New Roman"/>
            </a:endParaRPr>
          </a:p>
        </p:txBody>
      </p:sp>
    </p:spTree>
    <p:custDataLst>
      <p:tags r:id="rId1"/>
    </p:custDataLst>
    <p:extLst>
      <p:ext uri="{BB962C8B-B14F-4D97-AF65-F5344CB8AC3E}">
        <p14:creationId xmlns:p14="http://schemas.microsoft.com/office/powerpoint/2010/main" val="3526609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4169273"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Connection</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809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401">
              <a:lnSpc>
                <a:spcPct val="100000"/>
              </a:lnSpc>
            </a:pPr>
            <a:r>
              <a:rPr lang="en-US" sz="3200" dirty="0">
                <a:solidFill>
                  <a:srgbClr val="C00000"/>
                </a:solidFill>
                <a:latin typeface="Avenir Next" panose="020B0503020202020204" pitchFamily="34" charset="0"/>
                <a:ea typeface="Roboto Medium" panose="02000000000000000000" pitchFamily="2" charset="0"/>
              </a:rPr>
              <a:t>Server and client </a:t>
            </a:r>
            <a:r>
              <a:rPr lang="en-US" sz="3200" spc="-4" dirty="0">
                <a:solidFill>
                  <a:srgbClr val="C00000"/>
                </a:solidFill>
                <a:latin typeface="Avenir Next" panose="020B0503020202020204" pitchFamily="34" charset="0"/>
                <a:ea typeface="Roboto Medium" panose="02000000000000000000" pitchFamily="2" charset="0"/>
              </a:rPr>
              <a:t>random: </a:t>
            </a:r>
            <a:r>
              <a:rPr lang="en-US" sz="3200" dirty="0">
                <a:latin typeface="Avenir Next" panose="020B0503020202020204" pitchFamily="34" charset="0"/>
                <a:ea typeface="Roboto Medium" panose="02000000000000000000" pitchFamily="2" charset="0"/>
              </a:rPr>
              <a:t>chosen </a:t>
            </a:r>
            <a:r>
              <a:rPr lang="en-US" sz="3200" spc="-9" dirty="0">
                <a:latin typeface="Avenir Next" panose="020B0503020202020204" pitchFamily="34" charset="0"/>
                <a:ea typeface="Roboto Medium" panose="02000000000000000000" pitchFamily="2" charset="0"/>
              </a:rPr>
              <a:t>for </a:t>
            </a:r>
            <a:r>
              <a:rPr lang="en-US" sz="3200" dirty="0">
                <a:latin typeface="Avenir Next" panose="020B0503020202020204" pitchFamily="34" charset="0"/>
                <a:ea typeface="Roboto Medium" panose="02000000000000000000" pitchFamily="2" charset="0"/>
              </a:rPr>
              <a:t>each</a:t>
            </a:r>
            <a:r>
              <a:rPr lang="en-US" sz="3200" spc="-265"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connection.</a:t>
            </a:r>
            <a:endParaRPr lang="en-US" sz="2000" dirty="0">
              <a:latin typeface="Avenir Next" panose="020B0503020202020204" pitchFamily="34" charset="0"/>
              <a:ea typeface="Roboto Medium" panose="02000000000000000000" pitchFamily="2" charset="0"/>
              <a:cs typeface="Times New Roman"/>
            </a:endParaRPr>
          </a:p>
          <a:p>
            <a:pPr marL="582737" marR="6164" indent="-235336">
              <a:lnSpc>
                <a:spcPct val="100000"/>
              </a:lnSpc>
              <a:spcBef>
                <a:spcPts val="565"/>
              </a:spcBef>
            </a:pPr>
            <a:r>
              <a:rPr lang="en-US" sz="3200" dirty="0">
                <a:solidFill>
                  <a:srgbClr val="C00000"/>
                </a:solidFill>
                <a:latin typeface="Avenir Next" panose="020B0503020202020204" pitchFamily="34" charset="0"/>
                <a:ea typeface="Roboto Medium" panose="02000000000000000000" pitchFamily="2" charset="0"/>
              </a:rPr>
              <a:t>Server write </a:t>
            </a:r>
            <a:r>
              <a:rPr lang="en-US" sz="3200" spc="-31" dirty="0">
                <a:solidFill>
                  <a:srgbClr val="C00000"/>
                </a:solidFill>
                <a:latin typeface="Avenir Next" panose="020B0503020202020204" pitchFamily="34" charset="0"/>
                <a:ea typeface="Roboto Medium" panose="02000000000000000000" pitchFamily="2" charset="0"/>
              </a:rPr>
              <a:t>MAC </a:t>
            </a:r>
            <a:r>
              <a:rPr lang="en-US" sz="3200" spc="-9" dirty="0">
                <a:solidFill>
                  <a:srgbClr val="C00000"/>
                </a:solidFill>
                <a:latin typeface="Avenir Next" panose="020B0503020202020204" pitchFamily="34" charset="0"/>
                <a:ea typeface="Roboto Medium" panose="02000000000000000000" pitchFamily="2" charset="0"/>
              </a:rPr>
              <a:t>secret: </a:t>
            </a:r>
            <a:r>
              <a:rPr lang="en-US" sz="3200" spc="-9" dirty="0">
                <a:latin typeface="Avenir Next" panose="020B0503020202020204" pitchFamily="34" charset="0"/>
                <a:ea typeface="Roboto Medium" panose="02000000000000000000" pitchFamily="2" charset="0"/>
              </a:rPr>
              <a:t>shared </a:t>
            </a:r>
            <a:r>
              <a:rPr lang="en-US" sz="3200" spc="-35" dirty="0">
                <a:latin typeface="Avenir Next" panose="020B0503020202020204" pitchFamily="34" charset="0"/>
                <a:ea typeface="Roboto Medium" panose="02000000000000000000" pitchFamily="2" charset="0"/>
              </a:rPr>
              <a:t>key </a:t>
            </a:r>
            <a:r>
              <a:rPr lang="en-US" sz="3200" dirty="0">
                <a:latin typeface="Avenir Next" panose="020B0503020202020204" pitchFamily="34" charset="0"/>
                <a:ea typeface="Roboto Medium" panose="02000000000000000000" pitchFamily="2" charset="0"/>
              </a:rPr>
              <a:t>used to compute  </a:t>
            </a:r>
            <a:r>
              <a:rPr lang="en-US" sz="3200" spc="-31" dirty="0">
                <a:latin typeface="Avenir Next" panose="020B0503020202020204" pitchFamily="34" charset="0"/>
                <a:ea typeface="Roboto Medium" panose="02000000000000000000" pitchFamily="2" charset="0"/>
              </a:rPr>
              <a:t>MAC </a:t>
            </a:r>
            <a:r>
              <a:rPr lang="en-US" sz="3200" dirty="0">
                <a:latin typeface="Avenir Next" panose="020B0503020202020204" pitchFamily="34" charset="0"/>
                <a:ea typeface="Roboto Medium" panose="02000000000000000000" pitchFamily="2" charset="0"/>
              </a:rPr>
              <a:t>on data sent </a:t>
            </a:r>
            <a:r>
              <a:rPr lang="en-US" sz="3200" spc="-13" dirty="0">
                <a:latin typeface="Avenir Next" panose="020B0503020202020204" pitchFamily="34" charset="0"/>
                <a:ea typeface="Roboto Medium" panose="02000000000000000000" pitchFamily="2" charset="0"/>
              </a:rPr>
              <a:t>by </a:t>
            </a:r>
            <a:r>
              <a:rPr lang="en-US" sz="3200" dirty="0">
                <a:latin typeface="Avenir Next" panose="020B0503020202020204" pitchFamily="34" charset="0"/>
                <a:ea typeface="Roboto Medium" panose="02000000000000000000" pitchFamily="2" charset="0"/>
              </a:rPr>
              <a:t>the</a:t>
            </a:r>
            <a:r>
              <a:rPr lang="en-US" sz="3200" spc="-49" dirty="0">
                <a:latin typeface="Avenir Next" panose="020B0503020202020204" pitchFamily="34" charset="0"/>
                <a:ea typeface="Roboto Medium" panose="02000000000000000000" pitchFamily="2" charset="0"/>
              </a:rPr>
              <a:t> </a:t>
            </a:r>
            <a:r>
              <a:rPr lang="en-US" sz="3200" spc="-31" dirty="0">
                <a:latin typeface="Avenir Next" panose="020B0503020202020204" pitchFamily="34" charset="0"/>
                <a:ea typeface="Roboto Medium" panose="02000000000000000000" pitchFamily="2" charset="0"/>
              </a:rPr>
              <a:t>server.</a:t>
            </a:r>
            <a:endParaRPr lang="en-US" sz="2000" dirty="0">
              <a:latin typeface="Avenir Next" panose="020B0503020202020204" pitchFamily="34" charset="0"/>
              <a:ea typeface="Roboto Medium" panose="02000000000000000000" pitchFamily="2" charset="0"/>
              <a:cs typeface="Times New Roman"/>
            </a:endParaRPr>
          </a:p>
          <a:p>
            <a:pPr marL="347401">
              <a:lnSpc>
                <a:spcPct val="100000"/>
              </a:lnSpc>
              <a:spcBef>
                <a:spcPts val="212"/>
              </a:spcBef>
            </a:pPr>
            <a:r>
              <a:rPr lang="en-US" sz="3200" dirty="0">
                <a:solidFill>
                  <a:srgbClr val="C00000"/>
                </a:solidFill>
                <a:latin typeface="Avenir Next" panose="020B0503020202020204" pitchFamily="34" charset="0"/>
                <a:ea typeface="Roboto Medium" panose="02000000000000000000" pitchFamily="2" charset="0"/>
              </a:rPr>
              <a:t>Client write </a:t>
            </a:r>
            <a:r>
              <a:rPr lang="en-US" sz="3200" spc="-31" dirty="0">
                <a:solidFill>
                  <a:srgbClr val="C00000"/>
                </a:solidFill>
                <a:latin typeface="Avenir Next" panose="020B0503020202020204" pitchFamily="34" charset="0"/>
                <a:ea typeface="Roboto Medium" panose="02000000000000000000" pitchFamily="2" charset="0"/>
              </a:rPr>
              <a:t>MAC </a:t>
            </a:r>
            <a:r>
              <a:rPr lang="en-US" sz="3200" spc="-9" dirty="0">
                <a:solidFill>
                  <a:srgbClr val="C00000"/>
                </a:solidFill>
                <a:latin typeface="Avenir Next" panose="020B0503020202020204" pitchFamily="34" charset="0"/>
                <a:ea typeface="Roboto Medium" panose="02000000000000000000" pitchFamily="2" charset="0"/>
              </a:rPr>
              <a:t>secret: </a:t>
            </a:r>
            <a:r>
              <a:rPr lang="en-US" sz="3200" dirty="0">
                <a:latin typeface="Avenir Next" panose="020B0503020202020204" pitchFamily="34" charset="0"/>
                <a:ea typeface="Roboto Medium" panose="02000000000000000000" pitchFamily="2" charset="0"/>
              </a:rPr>
              <a:t>same as </a:t>
            </a:r>
            <a:r>
              <a:rPr lang="en-US" sz="3200" spc="-18" dirty="0">
                <a:latin typeface="Avenir Next" panose="020B0503020202020204" pitchFamily="34" charset="0"/>
                <a:ea typeface="Roboto Medium" panose="02000000000000000000" pitchFamily="2" charset="0"/>
              </a:rPr>
              <a:t>above </a:t>
            </a:r>
            <a:r>
              <a:rPr lang="en-US" sz="3200" spc="-9" dirty="0">
                <a:latin typeface="Avenir Next" panose="020B0503020202020204" pitchFamily="34" charset="0"/>
                <a:ea typeface="Roboto Medium" panose="02000000000000000000" pitchFamily="2" charset="0"/>
              </a:rPr>
              <a:t>for </a:t>
            </a:r>
            <a:r>
              <a:rPr lang="en-US" sz="3200" dirty="0">
                <a:latin typeface="Avenir Next" panose="020B0503020202020204" pitchFamily="34" charset="0"/>
                <a:ea typeface="Roboto Medium" panose="02000000000000000000" pitchFamily="2" charset="0"/>
              </a:rPr>
              <a:t>the</a:t>
            </a:r>
            <a:r>
              <a:rPr lang="en-US" sz="3200" spc="-234"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client</a:t>
            </a:r>
            <a:endParaRPr lang="en-US" sz="2000" dirty="0">
              <a:latin typeface="Avenir Next" panose="020B0503020202020204" pitchFamily="34" charset="0"/>
              <a:ea typeface="Roboto Medium" panose="02000000000000000000" pitchFamily="2" charset="0"/>
              <a:cs typeface="Times New Roman"/>
            </a:endParaRPr>
          </a:p>
          <a:p>
            <a:pPr marL="582737" marR="64998" indent="-235336">
              <a:lnSpc>
                <a:spcPct val="100000"/>
              </a:lnSpc>
              <a:spcBef>
                <a:spcPts val="565"/>
              </a:spcBef>
            </a:pPr>
            <a:r>
              <a:rPr lang="en-US" sz="3200" dirty="0">
                <a:solidFill>
                  <a:srgbClr val="C00000"/>
                </a:solidFill>
                <a:latin typeface="Avenir Next" panose="020B0503020202020204" pitchFamily="34" charset="0"/>
                <a:ea typeface="Roboto Medium" panose="02000000000000000000" pitchFamily="2" charset="0"/>
              </a:rPr>
              <a:t>Server write </a:t>
            </a:r>
            <a:r>
              <a:rPr lang="en-US" sz="3200" spc="-26" dirty="0">
                <a:solidFill>
                  <a:srgbClr val="C00000"/>
                </a:solidFill>
                <a:latin typeface="Avenir Next" panose="020B0503020202020204" pitchFamily="34" charset="0"/>
                <a:ea typeface="Roboto Medium" panose="02000000000000000000" pitchFamily="2" charset="0"/>
              </a:rPr>
              <a:t>key: </a:t>
            </a:r>
            <a:r>
              <a:rPr lang="en-US" sz="3200" spc="-9" dirty="0">
                <a:latin typeface="Avenir Next" panose="020B0503020202020204" pitchFamily="34" charset="0"/>
                <a:ea typeface="Roboto Medium" panose="02000000000000000000" pitchFamily="2" charset="0"/>
              </a:rPr>
              <a:t>shared </a:t>
            </a:r>
            <a:r>
              <a:rPr lang="en-US" sz="3200" spc="-35" dirty="0">
                <a:latin typeface="Avenir Next" panose="020B0503020202020204" pitchFamily="34" charset="0"/>
                <a:ea typeface="Roboto Medium" panose="02000000000000000000" pitchFamily="2" charset="0"/>
              </a:rPr>
              <a:t>key </a:t>
            </a:r>
            <a:r>
              <a:rPr lang="en-US" sz="3200" dirty="0">
                <a:latin typeface="Avenir Next" panose="020B0503020202020204" pitchFamily="34" charset="0"/>
                <a:ea typeface="Roboto Medium" panose="02000000000000000000" pitchFamily="2" charset="0"/>
              </a:rPr>
              <a:t>used </a:t>
            </a:r>
            <a:r>
              <a:rPr lang="en-US" sz="3200" spc="-13" dirty="0">
                <a:latin typeface="Avenir Next" panose="020B0503020202020204" pitchFamily="34" charset="0"/>
                <a:ea typeface="Roboto Medium" panose="02000000000000000000" pitchFamily="2" charset="0"/>
              </a:rPr>
              <a:t>by </a:t>
            </a:r>
            <a:r>
              <a:rPr lang="en-US" sz="3200" spc="4" dirty="0">
                <a:latin typeface="Avenir Next" panose="020B0503020202020204" pitchFamily="34" charset="0"/>
                <a:ea typeface="Roboto Medium" panose="02000000000000000000" pitchFamily="2" charset="0"/>
              </a:rPr>
              <a:t>encryption </a:t>
            </a:r>
            <a:r>
              <a:rPr lang="en-US" sz="3200" dirty="0">
                <a:latin typeface="Avenir Next" panose="020B0503020202020204" pitchFamily="34" charset="0"/>
                <a:ea typeface="Roboto Medium" panose="02000000000000000000" pitchFamily="2" charset="0"/>
              </a:rPr>
              <a:t>when  server sends</a:t>
            </a:r>
            <a:r>
              <a:rPr lang="en-US" sz="3200" spc="-71"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data.</a:t>
            </a:r>
            <a:endParaRPr lang="en-US" sz="2000" dirty="0">
              <a:latin typeface="Avenir Next" panose="020B0503020202020204" pitchFamily="34" charset="0"/>
              <a:ea typeface="Roboto Medium" panose="02000000000000000000" pitchFamily="2" charset="0"/>
              <a:cs typeface="Times New Roman"/>
            </a:endParaRPr>
          </a:p>
          <a:p>
            <a:pPr marL="347401">
              <a:lnSpc>
                <a:spcPct val="100000"/>
              </a:lnSpc>
              <a:spcBef>
                <a:spcPts val="212"/>
              </a:spcBef>
            </a:pPr>
            <a:r>
              <a:rPr lang="en-US" sz="3200" dirty="0">
                <a:solidFill>
                  <a:srgbClr val="CC0099"/>
                </a:solidFill>
                <a:latin typeface="Avenir Next" panose="020B0503020202020204" pitchFamily="34" charset="0"/>
                <a:ea typeface="Roboto Medium" panose="02000000000000000000" pitchFamily="2" charset="0"/>
              </a:rPr>
              <a:t>C</a:t>
            </a:r>
            <a:r>
              <a:rPr lang="en-US" sz="3200" dirty="0">
                <a:solidFill>
                  <a:srgbClr val="C00000"/>
                </a:solidFill>
                <a:latin typeface="Avenir Next" panose="020B0503020202020204" pitchFamily="34" charset="0"/>
                <a:ea typeface="Roboto Medium" panose="02000000000000000000" pitchFamily="2" charset="0"/>
              </a:rPr>
              <a:t>lient write </a:t>
            </a:r>
            <a:r>
              <a:rPr lang="en-US" sz="3200" spc="-26" dirty="0">
                <a:solidFill>
                  <a:srgbClr val="C00000"/>
                </a:solidFill>
                <a:latin typeface="Avenir Next" panose="020B0503020202020204" pitchFamily="34" charset="0"/>
                <a:ea typeface="Roboto Medium" panose="02000000000000000000" pitchFamily="2" charset="0"/>
              </a:rPr>
              <a:t>key: </a:t>
            </a:r>
            <a:r>
              <a:rPr lang="en-US" sz="3200" dirty="0">
                <a:latin typeface="Avenir Next" panose="020B0503020202020204" pitchFamily="34" charset="0"/>
                <a:ea typeface="Roboto Medium" panose="02000000000000000000" pitchFamily="2" charset="0"/>
              </a:rPr>
              <a:t>same as </a:t>
            </a:r>
            <a:r>
              <a:rPr lang="en-US" sz="3200" spc="-18" dirty="0">
                <a:latin typeface="Avenir Next" panose="020B0503020202020204" pitchFamily="34" charset="0"/>
                <a:ea typeface="Roboto Medium" panose="02000000000000000000" pitchFamily="2" charset="0"/>
              </a:rPr>
              <a:t>above </a:t>
            </a:r>
            <a:r>
              <a:rPr lang="en-US" sz="3200" spc="-9" dirty="0">
                <a:latin typeface="Avenir Next" panose="020B0503020202020204" pitchFamily="34" charset="0"/>
                <a:ea typeface="Roboto Medium" panose="02000000000000000000" pitchFamily="2" charset="0"/>
              </a:rPr>
              <a:t>for </a:t>
            </a:r>
            <a:r>
              <a:rPr lang="en-US" sz="3200" dirty="0">
                <a:latin typeface="Avenir Next" panose="020B0503020202020204" pitchFamily="34" charset="0"/>
                <a:ea typeface="Roboto Medium" panose="02000000000000000000" pitchFamily="2" charset="0"/>
              </a:rPr>
              <a:t>the</a:t>
            </a:r>
            <a:r>
              <a:rPr lang="en-US" sz="3200" spc="-251"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client.</a:t>
            </a:r>
            <a:endParaRPr lang="en-US" sz="2000" dirty="0">
              <a:latin typeface="Avenir Next" panose="020B0503020202020204" pitchFamily="34" charset="0"/>
              <a:ea typeface="Roboto Medium" panose="02000000000000000000" pitchFamily="2" charset="0"/>
              <a:cs typeface="Times New Roman"/>
            </a:endParaRPr>
          </a:p>
          <a:p>
            <a:pPr marL="582737" marR="279602" indent="-235336">
              <a:lnSpc>
                <a:spcPct val="100000"/>
              </a:lnSpc>
              <a:spcBef>
                <a:spcPts val="565"/>
              </a:spcBef>
            </a:pPr>
            <a:r>
              <a:rPr lang="en-US" sz="3200" dirty="0">
                <a:solidFill>
                  <a:srgbClr val="C00000"/>
                </a:solidFill>
                <a:latin typeface="Avenir Next" panose="020B0503020202020204" pitchFamily="34" charset="0"/>
                <a:ea typeface="Roboto Medium" panose="02000000000000000000" pitchFamily="2" charset="0"/>
              </a:rPr>
              <a:t>Initialization </a:t>
            </a:r>
            <a:r>
              <a:rPr lang="en-US" sz="3200" spc="4" dirty="0">
                <a:solidFill>
                  <a:srgbClr val="C00000"/>
                </a:solidFill>
                <a:latin typeface="Avenir Next" panose="020B0503020202020204" pitchFamily="34" charset="0"/>
                <a:ea typeface="Roboto Medium" panose="02000000000000000000" pitchFamily="2" charset="0"/>
              </a:rPr>
              <a:t>vector: </a:t>
            </a:r>
            <a:r>
              <a:rPr lang="en-US" sz="3200" dirty="0">
                <a:latin typeface="Avenir Next" panose="020B0503020202020204" pitchFamily="34" charset="0"/>
                <a:ea typeface="Roboto Medium" panose="02000000000000000000" pitchFamily="2" charset="0"/>
              </a:rPr>
              <a:t>initialization </a:t>
            </a:r>
            <a:r>
              <a:rPr lang="en-US" sz="3200" spc="-9" dirty="0">
                <a:latin typeface="Avenir Next" panose="020B0503020202020204" pitchFamily="34" charset="0"/>
                <a:ea typeface="Roboto Medium" panose="02000000000000000000" pitchFamily="2" charset="0"/>
              </a:rPr>
              <a:t>vectors </a:t>
            </a:r>
            <a:r>
              <a:rPr lang="en-US" sz="3200" spc="-13" dirty="0">
                <a:latin typeface="Avenir Next" panose="020B0503020202020204" pitchFamily="34" charset="0"/>
                <a:ea typeface="Roboto Medium" panose="02000000000000000000" pitchFamily="2" charset="0"/>
              </a:rPr>
              <a:t>required</a:t>
            </a:r>
            <a:r>
              <a:rPr lang="en-US" sz="3200" spc="-274" dirty="0">
                <a:latin typeface="Avenir Next" panose="020B0503020202020204" pitchFamily="34" charset="0"/>
                <a:ea typeface="Roboto Medium" panose="02000000000000000000" pitchFamily="2" charset="0"/>
              </a:rPr>
              <a:t> </a:t>
            </a:r>
            <a:r>
              <a:rPr lang="en-US" sz="3200" spc="-13" dirty="0">
                <a:latin typeface="Avenir Next" panose="020B0503020202020204" pitchFamily="34" charset="0"/>
                <a:ea typeface="Roboto Medium" panose="02000000000000000000" pitchFamily="2" charset="0"/>
              </a:rPr>
              <a:t>by  </a:t>
            </a:r>
            <a:r>
              <a:rPr lang="en-US" sz="3200" spc="4" dirty="0">
                <a:latin typeface="Avenir Next" panose="020B0503020202020204" pitchFamily="34" charset="0"/>
                <a:ea typeface="Roboto Medium" panose="02000000000000000000" pitchFamily="2" charset="0"/>
              </a:rPr>
              <a:t>encryption.</a:t>
            </a:r>
            <a:endParaRPr lang="en-US" sz="2000" dirty="0">
              <a:latin typeface="Avenir Next" panose="020B0503020202020204" pitchFamily="34" charset="0"/>
              <a:ea typeface="Roboto Medium" panose="02000000000000000000" pitchFamily="2" charset="0"/>
              <a:cs typeface="Times New Roman"/>
            </a:endParaRPr>
          </a:p>
          <a:p>
            <a:pPr marL="582737" marR="325548" indent="-235336">
              <a:lnSpc>
                <a:spcPct val="100000"/>
              </a:lnSpc>
              <a:spcBef>
                <a:spcPts val="529"/>
              </a:spcBef>
            </a:pPr>
            <a:r>
              <a:rPr lang="en-US" sz="3200" dirty="0">
                <a:solidFill>
                  <a:srgbClr val="C00000"/>
                </a:solidFill>
                <a:latin typeface="Avenir Next" panose="020B0503020202020204" pitchFamily="34" charset="0"/>
                <a:ea typeface="Roboto Medium" panose="02000000000000000000" pitchFamily="2" charset="0"/>
              </a:rPr>
              <a:t>Sequence </a:t>
            </a:r>
            <a:r>
              <a:rPr lang="en-US" sz="3200" spc="-4" dirty="0">
                <a:solidFill>
                  <a:srgbClr val="C00000"/>
                </a:solidFill>
                <a:latin typeface="Avenir Next" panose="020B0503020202020204" pitchFamily="34" charset="0"/>
                <a:ea typeface="Roboto Medium" panose="02000000000000000000" pitchFamily="2" charset="0"/>
              </a:rPr>
              <a:t>numbers: </a:t>
            </a:r>
            <a:r>
              <a:rPr lang="en-US" sz="3200" dirty="0">
                <a:latin typeface="Avenir Next" panose="020B0503020202020204" pitchFamily="34" charset="0"/>
                <a:ea typeface="Roboto Medium" panose="02000000000000000000" pitchFamily="2" charset="0"/>
              </a:rPr>
              <a:t>both server and client</a:t>
            </a:r>
            <a:r>
              <a:rPr lang="en-US" sz="3200" spc="-278" dirty="0">
                <a:latin typeface="Avenir Next" panose="020B0503020202020204" pitchFamily="34" charset="0"/>
                <a:ea typeface="Roboto Medium" panose="02000000000000000000" pitchFamily="2" charset="0"/>
              </a:rPr>
              <a:t> </a:t>
            </a:r>
            <a:r>
              <a:rPr lang="en-US" sz="3200" dirty="0">
                <a:latin typeface="Avenir Next" panose="020B0503020202020204" pitchFamily="34" charset="0"/>
                <a:ea typeface="Roboto Medium" panose="02000000000000000000" pitchFamily="2" charset="0"/>
              </a:rPr>
              <a:t>maintains  such a counter to </a:t>
            </a:r>
            <a:r>
              <a:rPr lang="en-US" sz="3200" spc="-22" dirty="0">
                <a:latin typeface="Avenir Next" panose="020B0503020202020204" pitchFamily="34" charset="0"/>
                <a:ea typeface="Roboto Medium" panose="02000000000000000000" pitchFamily="2" charset="0"/>
              </a:rPr>
              <a:t>prevent </a:t>
            </a:r>
            <a:r>
              <a:rPr lang="en-US" sz="3200" spc="-49" dirty="0">
                <a:latin typeface="Avenir Next" panose="020B0503020202020204" pitchFamily="34" charset="0"/>
                <a:ea typeface="Roboto Medium" panose="02000000000000000000" pitchFamily="2" charset="0"/>
              </a:rPr>
              <a:t>replay, </a:t>
            </a:r>
            <a:r>
              <a:rPr lang="en-US" sz="3200" b="1" dirty="0">
                <a:solidFill>
                  <a:srgbClr val="1315D6"/>
                </a:solidFill>
                <a:latin typeface="Avenir Next" panose="020B0503020202020204" pitchFamily="34" charset="0"/>
                <a:ea typeface="Roboto Black" panose="02000000000000000000" pitchFamily="2" charset="0"/>
                <a:cs typeface="Gill Sans MT"/>
              </a:rPr>
              <a:t>cycle is </a:t>
            </a:r>
            <a:r>
              <a:rPr lang="en-US" sz="3200" b="1" spc="9" dirty="0">
                <a:solidFill>
                  <a:srgbClr val="1315D6"/>
                </a:solidFill>
                <a:latin typeface="Avenir Next" panose="020B0503020202020204" pitchFamily="34" charset="0"/>
                <a:ea typeface="Roboto Black" panose="02000000000000000000" pitchFamily="2" charset="0"/>
                <a:cs typeface="Gill Sans MT"/>
              </a:rPr>
              <a:t>2</a:t>
            </a:r>
            <a:r>
              <a:rPr lang="en-US" sz="2800" b="1" spc="13" baseline="26143" dirty="0">
                <a:solidFill>
                  <a:srgbClr val="1A34DE"/>
                </a:solidFill>
                <a:latin typeface="Avenir Next" panose="020B0503020202020204" pitchFamily="34" charset="0"/>
                <a:ea typeface="Roboto Black" panose="02000000000000000000" pitchFamily="2" charset="0"/>
                <a:cs typeface="Gill Sans MT"/>
              </a:rPr>
              <a:t>64 </a:t>
            </a:r>
            <a:r>
              <a:rPr lang="en-US" sz="2800" b="1" dirty="0">
                <a:solidFill>
                  <a:srgbClr val="1315D6"/>
                </a:solidFill>
                <a:latin typeface="Avenir Next" panose="020B0503020202020204" pitchFamily="34" charset="0"/>
                <a:ea typeface="Roboto Black" panose="02000000000000000000" pitchFamily="2" charset="0"/>
                <a:cs typeface="Gill Sans MT"/>
              </a:rPr>
              <a:t>-</a:t>
            </a:r>
            <a:r>
              <a:rPr lang="en-US" sz="2800" b="1" spc="-229" dirty="0">
                <a:solidFill>
                  <a:srgbClr val="1315D6"/>
                </a:solidFill>
                <a:latin typeface="Avenir Next" panose="020B0503020202020204" pitchFamily="34" charset="0"/>
                <a:ea typeface="Roboto Black" panose="02000000000000000000" pitchFamily="2" charset="0"/>
                <a:cs typeface="Gill Sans MT"/>
              </a:rPr>
              <a:t> </a:t>
            </a:r>
            <a:r>
              <a:rPr lang="en-US" sz="2800" b="1" dirty="0">
                <a:solidFill>
                  <a:srgbClr val="1315D6"/>
                </a:solidFill>
                <a:latin typeface="Avenir Next" panose="020B0503020202020204" pitchFamily="34" charset="0"/>
                <a:ea typeface="Roboto Black" panose="02000000000000000000" pitchFamily="2" charset="0"/>
                <a:cs typeface="Gill Sans MT"/>
              </a:rPr>
              <a:t>1</a:t>
            </a:r>
            <a:r>
              <a:rPr lang="en-US" sz="2800" dirty="0">
                <a:latin typeface="Avenir Next" panose="020B0503020202020204" pitchFamily="34" charset="0"/>
                <a:ea typeface="Roboto Medium" panose="02000000000000000000" pitchFamily="2" charset="0"/>
              </a:rPr>
              <a:t>.</a:t>
            </a:r>
            <a:endParaRPr lang="en-US" sz="28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335004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577278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Record Protocol</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3429000"/>
            <a:ext cx="8953653" cy="821634"/>
          </a:xfrm>
          <a:prstGeom prst="rect">
            <a:avLst/>
          </a:prstGeom>
          <a:solidFill>
            <a:srgbClr val="C00000"/>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8801" indent="0" algn="ctr">
              <a:lnSpc>
                <a:spcPct val="100000"/>
              </a:lnSpc>
              <a:buNone/>
            </a:pPr>
            <a:r>
              <a:rPr lang="en-US" sz="3600" dirty="0">
                <a:solidFill>
                  <a:schemeClr val="bg1"/>
                </a:solidFill>
                <a:latin typeface="Avenir Next" panose="020B0503020202020204" pitchFamily="34" charset="0"/>
                <a:ea typeface="Roboto Medium" panose="02000000000000000000" pitchFamily="2" charset="0"/>
              </a:rPr>
              <a:t>Provides confidentiality and message integrity using shared keys established by the handshake protocol</a:t>
            </a:r>
            <a:endParaRPr lang="en-US" sz="3200" dirty="0">
              <a:solidFill>
                <a:schemeClr val="bg1"/>
              </a:solidFill>
              <a:latin typeface="Avenir Next" panose="020B0503020202020204" pitchFamily="34" charset="0"/>
              <a:ea typeface="Roboto Medium" panose="02000000000000000000" pitchFamily="2" charset="0"/>
              <a:cs typeface="Gill Sans MT"/>
            </a:endParaRPr>
          </a:p>
        </p:txBody>
      </p:sp>
      <p:pic>
        <p:nvPicPr>
          <p:cNvPr id="1026" name="Picture 2" descr="SSL/TLS record protocol as it is define in RFC 4346 [8]  ">
            <a:extLst>
              <a:ext uri="{FF2B5EF4-FFF2-40B4-BE49-F238E27FC236}">
                <a16:creationId xmlns:a16="http://schemas.microsoft.com/office/drawing/2014/main" id="{EC94EABA-7004-EF14-C516-B94B3E9816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563" y="0"/>
            <a:ext cx="3246437" cy="6858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09244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61CE2-255D-938A-A83B-0C1EA9D08F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40BF759-0D9D-283B-85F1-85116EE9D5B7}"/>
              </a:ext>
            </a:extLst>
          </p:cNvPr>
          <p:cNvSpPr txBox="1"/>
          <p:nvPr/>
        </p:nvSpPr>
        <p:spPr>
          <a:xfrm>
            <a:off x="-8090" y="-5493"/>
            <a:ext cx="577278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Record Protocol</a:t>
            </a:r>
            <a:endParaRPr lang="en-US" sz="4000" dirty="0">
              <a:solidFill>
                <a:schemeClr val="bg1"/>
              </a:solidFill>
              <a:latin typeface="Playfair Display Medium" pitchFamily="2" charset="77"/>
            </a:endParaRPr>
          </a:p>
        </p:txBody>
      </p:sp>
      <p:sp>
        <p:nvSpPr>
          <p:cNvPr id="2" name="Rectangle 46">
            <a:extLst>
              <a:ext uri="{FF2B5EF4-FFF2-40B4-BE49-F238E27FC236}">
                <a16:creationId xmlns:a16="http://schemas.microsoft.com/office/drawing/2014/main" id="{51E304B1-E7DA-844A-2349-9EDF99042B18}"/>
              </a:ext>
            </a:extLst>
          </p:cNvPr>
          <p:cNvSpPr txBox="1">
            <a:spLocks noChangeArrowheads="1"/>
          </p:cNvSpPr>
          <p:nvPr/>
        </p:nvSpPr>
        <p:spPr>
          <a:xfrm>
            <a:off x="1782840" y="938212"/>
            <a:ext cx="8229600" cy="4981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he-IL" sz="2400"/>
              <a:t>Assumes underlying reliable communication (TCP)</a:t>
            </a:r>
          </a:p>
          <a:p>
            <a:r>
              <a:rPr lang="en-US" altLang="he-IL" sz="2400"/>
              <a:t>Fragmentation, compression, authentication, encryption</a:t>
            </a:r>
          </a:p>
          <a:p>
            <a:endParaRPr lang="en-US" altLang="he-IL" sz="2400" dirty="0"/>
          </a:p>
        </p:txBody>
      </p:sp>
      <p:sp>
        <p:nvSpPr>
          <p:cNvPr id="3" name="Rectangle 4">
            <a:extLst>
              <a:ext uri="{FF2B5EF4-FFF2-40B4-BE49-F238E27FC236}">
                <a16:creationId xmlns:a16="http://schemas.microsoft.com/office/drawing/2014/main" id="{62C2F1A0-3DBB-4D50-3D9F-4E407CB479B0}"/>
              </a:ext>
            </a:extLst>
          </p:cNvPr>
          <p:cNvSpPr>
            <a:spLocks noChangeArrowheads="1"/>
          </p:cNvSpPr>
          <p:nvPr/>
        </p:nvSpPr>
        <p:spPr bwMode="auto">
          <a:xfrm>
            <a:off x="3876716" y="2017558"/>
            <a:ext cx="5287999" cy="369332"/>
          </a:xfrm>
          <a:prstGeom prst="rect">
            <a:avLst/>
          </a:prstGeom>
          <a:solidFill>
            <a:srgbClr val="99FF33"/>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hangingPunct="0"/>
            <a:r>
              <a:rPr lang="en-US" altLang="he-IL" dirty="0">
                <a:latin typeface="Times New Roman" panose="02020603050405020304" pitchFamily="18" charset="0"/>
                <a:cs typeface="Times New Roman" panose="02020603050405020304" pitchFamily="18" charset="0"/>
              </a:rPr>
              <a:t>Message sent by the application, e.g., HTTP request</a:t>
            </a:r>
          </a:p>
        </p:txBody>
      </p:sp>
      <p:sp>
        <p:nvSpPr>
          <p:cNvPr id="4" name="Rectangle 5">
            <a:extLst>
              <a:ext uri="{FF2B5EF4-FFF2-40B4-BE49-F238E27FC236}">
                <a16:creationId xmlns:a16="http://schemas.microsoft.com/office/drawing/2014/main" id="{CD20E97F-F5D1-9EAE-39AD-0B5F7CA591CD}"/>
              </a:ext>
            </a:extLst>
          </p:cNvPr>
          <p:cNvSpPr>
            <a:spLocks noChangeArrowheads="1"/>
          </p:cNvSpPr>
          <p:nvPr/>
        </p:nvSpPr>
        <p:spPr bwMode="auto">
          <a:xfrm>
            <a:off x="3687840" y="2775829"/>
            <a:ext cx="1946275" cy="382588"/>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a:latin typeface="Times New Roman" panose="02020603050405020304" pitchFamily="18" charset="0"/>
                <a:cs typeface="Times New Roman" panose="02020603050405020304" pitchFamily="18" charset="0"/>
              </a:rPr>
              <a:t>Message sent by th</a:t>
            </a:r>
          </a:p>
        </p:txBody>
      </p:sp>
      <p:sp>
        <p:nvSpPr>
          <p:cNvPr id="7" name="Rectangle 6">
            <a:extLst>
              <a:ext uri="{FF2B5EF4-FFF2-40B4-BE49-F238E27FC236}">
                <a16:creationId xmlns:a16="http://schemas.microsoft.com/office/drawing/2014/main" id="{4E431BBC-8F95-6156-BCB5-82503C9C42B2}"/>
              </a:ext>
            </a:extLst>
          </p:cNvPr>
          <p:cNvSpPr>
            <a:spLocks noChangeArrowheads="1"/>
          </p:cNvSpPr>
          <p:nvPr/>
        </p:nvSpPr>
        <p:spPr bwMode="auto">
          <a:xfrm>
            <a:off x="5843665" y="2780592"/>
            <a:ext cx="1933575" cy="382587"/>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a:latin typeface="Times New Roman" panose="02020603050405020304" pitchFamily="18" charset="0"/>
                <a:cs typeface="Times New Roman" panose="02020603050405020304" pitchFamily="18" charset="0"/>
              </a:rPr>
              <a:t>he application, e.g.</a:t>
            </a:r>
          </a:p>
        </p:txBody>
      </p:sp>
      <p:sp>
        <p:nvSpPr>
          <p:cNvPr id="8" name="Rectangle 7">
            <a:extLst>
              <a:ext uri="{FF2B5EF4-FFF2-40B4-BE49-F238E27FC236}">
                <a16:creationId xmlns:a16="http://schemas.microsoft.com/office/drawing/2014/main" id="{D74186EB-9E14-23E3-5DC9-E281156C39B7}"/>
              </a:ext>
            </a:extLst>
          </p:cNvPr>
          <p:cNvSpPr>
            <a:spLocks noChangeArrowheads="1"/>
          </p:cNvSpPr>
          <p:nvPr/>
        </p:nvSpPr>
        <p:spPr bwMode="auto">
          <a:xfrm>
            <a:off x="7975677" y="2774242"/>
            <a:ext cx="1489075" cy="382587"/>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a:latin typeface="Times New Roman" panose="02020603050405020304" pitchFamily="18" charset="0"/>
                <a:cs typeface="Times New Roman" panose="02020603050405020304" pitchFamily="18" charset="0"/>
              </a:rPr>
              <a:t>HTTP request</a:t>
            </a:r>
          </a:p>
        </p:txBody>
      </p:sp>
      <p:sp>
        <p:nvSpPr>
          <p:cNvPr id="9" name="Line 8">
            <a:extLst>
              <a:ext uri="{FF2B5EF4-FFF2-40B4-BE49-F238E27FC236}">
                <a16:creationId xmlns:a16="http://schemas.microsoft.com/office/drawing/2014/main" id="{E3C750D6-B776-59AA-FB71-3ED8A4D039A0}"/>
              </a:ext>
            </a:extLst>
          </p:cNvPr>
          <p:cNvSpPr>
            <a:spLocks noChangeShapeType="1"/>
          </p:cNvSpPr>
          <p:nvPr/>
        </p:nvSpPr>
        <p:spPr bwMode="auto">
          <a:xfrm flipV="1">
            <a:off x="3671965" y="2378954"/>
            <a:ext cx="204751" cy="39370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10" name="Line 9">
            <a:extLst>
              <a:ext uri="{FF2B5EF4-FFF2-40B4-BE49-F238E27FC236}">
                <a16:creationId xmlns:a16="http://schemas.microsoft.com/office/drawing/2014/main" id="{491DC613-64C0-7009-B689-182F960111DA}"/>
              </a:ext>
            </a:extLst>
          </p:cNvPr>
          <p:cNvSpPr>
            <a:spLocks noChangeShapeType="1"/>
          </p:cNvSpPr>
          <p:nvPr/>
        </p:nvSpPr>
        <p:spPr bwMode="auto">
          <a:xfrm flipV="1">
            <a:off x="5619827" y="2380542"/>
            <a:ext cx="404813"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11" name="Line 10">
            <a:extLst>
              <a:ext uri="{FF2B5EF4-FFF2-40B4-BE49-F238E27FC236}">
                <a16:creationId xmlns:a16="http://schemas.microsoft.com/office/drawing/2014/main" id="{0C40E87A-3A41-CCDF-DFE4-8A9A3D8F5582}"/>
              </a:ext>
            </a:extLst>
          </p:cNvPr>
          <p:cNvSpPr>
            <a:spLocks noChangeShapeType="1"/>
          </p:cNvSpPr>
          <p:nvPr/>
        </p:nvSpPr>
        <p:spPr bwMode="auto">
          <a:xfrm flipH="1">
            <a:off x="5845252" y="2380542"/>
            <a:ext cx="179388"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12" name="Line 11">
            <a:extLst>
              <a:ext uri="{FF2B5EF4-FFF2-40B4-BE49-F238E27FC236}">
                <a16:creationId xmlns:a16="http://schemas.microsoft.com/office/drawing/2014/main" id="{6396F9F4-5BE9-348E-9021-5E218B753A51}"/>
              </a:ext>
            </a:extLst>
          </p:cNvPr>
          <p:cNvSpPr>
            <a:spLocks noChangeShapeType="1"/>
          </p:cNvSpPr>
          <p:nvPr/>
        </p:nvSpPr>
        <p:spPr bwMode="auto">
          <a:xfrm flipH="1" flipV="1">
            <a:off x="7732790" y="2380542"/>
            <a:ext cx="46037"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13" name="Line 12">
            <a:extLst>
              <a:ext uri="{FF2B5EF4-FFF2-40B4-BE49-F238E27FC236}">
                <a16:creationId xmlns:a16="http://schemas.microsoft.com/office/drawing/2014/main" id="{7A186CBD-2619-4EEC-9C4D-C05928B9824E}"/>
              </a:ext>
            </a:extLst>
          </p:cNvPr>
          <p:cNvSpPr>
            <a:spLocks noChangeShapeType="1"/>
          </p:cNvSpPr>
          <p:nvPr/>
        </p:nvSpPr>
        <p:spPr bwMode="auto">
          <a:xfrm>
            <a:off x="7732790" y="2380542"/>
            <a:ext cx="241300" cy="377825"/>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14" name="Line 13">
            <a:extLst>
              <a:ext uri="{FF2B5EF4-FFF2-40B4-BE49-F238E27FC236}">
                <a16:creationId xmlns:a16="http://schemas.microsoft.com/office/drawing/2014/main" id="{BB47DF89-5631-E059-CBF9-D78D576D2EC6}"/>
              </a:ext>
            </a:extLst>
          </p:cNvPr>
          <p:cNvSpPr>
            <a:spLocks noChangeShapeType="1"/>
          </p:cNvSpPr>
          <p:nvPr/>
        </p:nvSpPr>
        <p:spPr bwMode="auto">
          <a:xfrm flipH="1" flipV="1">
            <a:off x="9172652" y="2380542"/>
            <a:ext cx="284163"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15" name="Text Box 14">
            <a:extLst>
              <a:ext uri="{FF2B5EF4-FFF2-40B4-BE49-F238E27FC236}">
                <a16:creationId xmlns:a16="http://schemas.microsoft.com/office/drawing/2014/main" id="{1281159A-E2AD-AEE1-B571-84789C841371}"/>
              </a:ext>
            </a:extLst>
          </p:cNvPr>
          <p:cNvSpPr txBox="1">
            <a:spLocks noChangeArrowheads="1"/>
          </p:cNvSpPr>
          <p:nvPr/>
        </p:nvSpPr>
        <p:spPr bwMode="auto">
          <a:xfrm>
            <a:off x="4383165" y="2380542"/>
            <a:ext cx="858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16" name="Text Box 15">
            <a:extLst>
              <a:ext uri="{FF2B5EF4-FFF2-40B4-BE49-F238E27FC236}">
                <a16:creationId xmlns:a16="http://schemas.microsoft.com/office/drawing/2014/main" id="{C97A9DE5-55F6-5CD4-138A-062E83B2A8C0}"/>
              </a:ext>
            </a:extLst>
          </p:cNvPr>
          <p:cNvSpPr txBox="1">
            <a:spLocks noChangeArrowheads="1"/>
          </p:cNvSpPr>
          <p:nvPr/>
        </p:nvSpPr>
        <p:spPr bwMode="auto">
          <a:xfrm>
            <a:off x="6458027" y="2380542"/>
            <a:ext cx="858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17" name="Text Box 16">
            <a:extLst>
              <a:ext uri="{FF2B5EF4-FFF2-40B4-BE49-F238E27FC236}">
                <a16:creationId xmlns:a16="http://schemas.microsoft.com/office/drawing/2014/main" id="{616DD22C-5CDD-88C1-B37D-A97C1CCF6E9C}"/>
              </a:ext>
            </a:extLst>
          </p:cNvPr>
          <p:cNvSpPr txBox="1">
            <a:spLocks noChangeArrowheads="1"/>
          </p:cNvSpPr>
          <p:nvPr/>
        </p:nvSpPr>
        <p:spPr bwMode="auto">
          <a:xfrm>
            <a:off x="8091565" y="2380542"/>
            <a:ext cx="858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18" name="Rectangle 19">
            <a:extLst>
              <a:ext uri="{FF2B5EF4-FFF2-40B4-BE49-F238E27FC236}">
                <a16:creationId xmlns:a16="http://schemas.microsoft.com/office/drawing/2014/main" id="{7FA41247-ABFF-FB10-FBD7-EDE534234868}"/>
              </a:ext>
            </a:extLst>
          </p:cNvPr>
          <p:cNvSpPr>
            <a:spLocks noChangeArrowheads="1"/>
          </p:cNvSpPr>
          <p:nvPr/>
        </p:nvSpPr>
        <p:spPr bwMode="auto">
          <a:xfrm>
            <a:off x="3833890" y="3515604"/>
            <a:ext cx="1263650" cy="382588"/>
          </a:xfrm>
          <a:prstGeom prst="rect">
            <a:avLst/>
          </a:prstGeom>
          <a:solidFill>
            <a:schemeClr val="folHlink"/>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19" name="Rectangle 20">
            <a:extLst>
              <a:ext uri="{FF2B5EF4-FFF2-40B4-BE49-F238E27FC236}">
                <a16:creationId xmlns:a16="http://schemas.microsoft.com/office/drawing/2014/main" id="{DAC1A018-745E-DC90-C65F-23156B732854}"/>
              </a:ext>
            </a:extLst>
          </p:cNvPr>
          <p:cNvSpPr>
            <a:spLocks noChangeArrowheads="1"/>
          </p:cNvSpPr>
          <p:nvPr/>
        </p:nvSpPr>
        <p:spPr bwMode="auto">
          <a:xfrm>
            <a:off x="6313565" y="3534654"/>
            <a:ext cx="993775"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20" name="Rectangle 21">
            <a:extLst>
              <a:ext uri="{FF2B5EF4-FFF2-40B4-BE49-F238E27FC236}">
                <a16:creationId xmlns:a16="http://schemas.microsoft.com/office/drawing/2014/main" id="{59FA3F7A-DF7D-630B-3AF8-E4E41A85E222}"/>
              </a:ext>
            </a:extLst>
          </p:cNvPr>
          <p:cNvSpPr>
            <a:spLocks noChangeArrowheads="1"/>
          </p:cNvSpPr>
          <p:nvPr/>
        </p:nvSpPr>
        <p:spPr bwMode="auto">
          <a:xfrm>
            <a:off x="8397952" y="3534654"/>
            <a:ext cx="889000"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21" name="Line 22">
            <a:extLst>
              <a:ext uri="{FF2B5EF4-FFF2-40B4-BE49-F238E27FC236}">
                <a16:creationId xmlns:a16="http://schemas.microsoft.com/office/drawing/2014/main" id="{21E94DCB-2731-C19F-72DA-C83316A066FB}"/>
              </a:ext>
            </a:extLst>
          </p:cNvPr>
          <p:cNvSpPr>
            <a:spLocks noChangeShapeType="1"/>
          </p:cNvSpPr>
          <p:nvPr/>
        </p:nvSpPr>
        <p:spPr bwMode="auto">
          <a:xfrm>
            <a:off x="3700540" y="3133017"/>
            <a:ext cx="104775" cy="401637"/>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2" name="Line 23">
            <a:extLst>
              <a:ext uri="{FF2B5EF4-FFF2-40B4-BE49-F238E27FC236}">
                <a16:creationId xmlns:a16="http://schemas.microsoft.com/office/drawing/2014/main" id="{7D1EDBDB-767B-98A4-9000-2E3DFB05057A}"/>
              </a:ext>
            </a:extLst>
          </p:cNvPr>
          <p:cNvSpPr>
            <a:spLocks noChangeShapeType="1"/>
          </p:cNvSpPr>
          <p:nvPr/>
        </p:nvSpPr>
        <p:spPr bwMode="auto">
          <a:xfrm flipH="1">
            <a:off x="5080077" y="3147304"/>
            <a:ext cx="539750" cy="3873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3" name="Line 24">
            <a:extLst>
              <a:ext uri="{FF2B5EF4-FFF2-40B4-BE49-F238E27FC236}">
                <a16:creationId xmlns:a16="http://schemas.microsoft.com/office/drawing/2014/main" id="{02F7F088-CAB0-3E9C-8EAE-5F60D53BE824}"/>
              </a:ext>
            </a:extLst>
          </p:cNvPr>
          <p:cNvSpPr>
            <a:spLocks noChangeShapeType="1"/>
          </p:cNvSpPr>
          <p:nvPr/>
        </p:nvSpPr>
        <p:spPr bwMode="auto">
          <a:xfrm>
            <a:off x="5829377" y="3147304"/>
            <a:ext cx="450850" cy="3873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4" name="Line 25">
            <a:extLst>
              <a:ext uri="{FF2B5EF4-FFF2-40B4-BE49-F238E27FC236}">
                <a16:creationId xmlns:a16="http://schemas.microsoft.com/office/drawing/2014/main" id="{EE1CA8A5-E96A-C49F-38BD-27C6E9A98C1F}"/>
              </a:ext>
            </a:extLst>
          </p:cNvPr>
          <p:cNvSpPr>
            <a:spLocks noChangeShapeType="1"/>
          </p:cNvSpPr>
          <p:nvPr/>
        </p:nvSpPr>
        <p:spPr bwMode="auto">
          <a:xfrm flipH="1">
            <a:off x="7299402" y="3147304"/>
            <a:ext cx="463550" cy="38735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5" name="Line 26">
            <a:extLst>
              <a:ext uri="{FF2B5EF4-FFF2-40B4-BE49-F238E27FC236}">
                <a16:creationId xmlns:a16="http://schemas.microsoft.com/office/drawing/2014/main" id="{862D5CC0-5DE0-4E3A-AD8F-C38A99F1777C}"/>
              </a:ext>
            </a:extLst>
          </p:cNvPr>
          <p:cNvSpPr>
            <a:spLocks noChangeShapeType="1"/>
          </p:cNvSpPr>
          <p:nvPr/>
        </p:nvSpPr>
        <p:spPr bwMode="auto">
          <a:xfrm>
            <a:off x="7974090" y="3163179"/>
            <a:ext cx="433387" cy="371475"/>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6" name="Line 27">
            <a:extLst>
              <a:ext uri="{FF2B5EF4-FFF2-40B4-BE49-F238E27FC236}">
                <a16:creationId xmlns:a16="http://schemas.microsoft.com/office/drawing/2014/main" id="{F4A12108-7CDA-D829-8BAC-A2E94856A623}"/>
              </a:ext>
            </a:extLst>
          </p:cNvPr>
          <p:cNvSpPr>
            <a:spLocks noChangeShapeType="1"/>
          </p:cNvSpPr>
          <p:nvPr/>
        </p:nvSpPr>
        <p:spPr bwMode="auto">
          <a:xfrm flipH="1">
            <a:off x="9263140" y="3133017"/>
            <a:ext cx="179387" cy="401637"/>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7" name="Rectangle 29">
            <a:extLst>
              <a:ext uri="{FF2B5EF4-FFF2-40B4-BE49-F238E27FC236}">
                <a16:creationId xmlns:a16="http://schemas.microsoft.com/office/drawing/2014/main" id="{8E166A38-AB31-1E94-AB6C-FDA5830A1026}"/>
              </a:ext>
            </a:extLst>
          </p:cNvPr>
          <p:cNvSpPr>
            <a:spLocks noChangeArrowheads="1"/>
          </p:cNvSpPr>
          <p:nvPr/>
        </p:nvSpPr>
        <p:spPr bwMode="auto">
          <a:xfrm>
            <a:off x="5100688" y="3891649"/>
            <a:ext cx="341340" cy="387543"/>
          </a:xfrm>
          <a:prstGeom prst="rect">
            <a:avLst/>
          </a:prstGeom>
          <a:solidFill>
            <a:srgbClr val="3333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28" name="Rectangle 30">
            <a:extLst>
              <a:ext uri="{FF2B5EF4-FFF2-40B4-BE49-F238E27FC236}">
                <a16:creationId xmlns:a16="http://schemas.microsoft.com/office/drawing/2014/main" id="{BD9AB6C1-1466-57BA-547C-1309E4F6439A}"/>
              </a:ext>
            </a:extLst>
          </p:cNvPr>
          <p:cNvSpPr>
            <a:spLocks noChangeArrowheads="1"/>
          </p:cNvSpPr>
          <p:nvPr/>
        </p:nvSpPr>
        <p:spPr bwMode="auto">
          <a:xfrm>
            <a:off x="7329565" y="3907717"/>
            <a:ext cx="314325" cy="361950"/>
          </a:xfrm>
          <a:prstGeom prst="rect">
            <a:avLst/>
          </a:prstGeom>
          <a:solidFill>
            <a:srgbClr val="3333FF"/>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29" name="Rectangle 31">
            <a:extLst>
              <a:ext uri="{FF2B5EF4-FFF2-40B4-BE49-F238E27FC236}">
                <a16:creationId xmlns:a16="http://schemas.microsoft.com/office/drawing/2014/main" id="{ABE2243E-93DD-CF0C-F32A-D66EFC094477}"/>
              </a:ext>
            </a:extLst>
          </p:cNvPr>
          <p:cNvSpPr>
            <a:spLocks noChangeArrowheads="1"/>
          </p:cNvSpPr>
          <p:nvPr/>
        </p:nvSpPr>
        <p:spPr bwMode="auto">
          <a:xfrm>
            <a:off x="9283777" y="3907717"/>
            <a:ext cx="314325" cy="361950"/>
          </a:xfrm>
          <a:prstGeom prst="rect">
            <a:avLst/>
          </a:prstGeom>
          <a:solidFill>
            <a:srgbClr val="3333FF"/>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30" name="Rectangle 33">
            <a:extLst>
              <a:ext uri="{FF2B5EF4-FFF2-40B4-BE49-F238E27FC236}">
                <a16:creationId xmlns:a16="http://schemas.microsoft.com/office/drawing/2014/main" id="{1561B249-D121-F95B-C35A-F8890D3B9B3C}"/>
              </a:ext>
            </a:extLst>
          </p:cNvPr>
          <p:cNvSpPr>
            <a:spLocks noChangeArrowheads="1"/>
          </p:cNvSpPr>
          <p:nvPr/>
        </p:nvSpPr>
        <p:spPr bwMode="auto">
          <a:xfrm>
            <a:off x="5440440" y="4269667"/>
            <a:ext cx="209550" cy="374650"/>
          </a:xfrm>
          <a:prstGeom prst="rect">
            <a:avLst/>
          </a:prstGeom>
          <a:solidFill>
            <a:srgbClr val="CC9900"/>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1" name="Rectangle 34">
            <a:extLst>
              <a:ext uri="{FF2B5EF4-FFF2-40B4-BE49-F238E27FC236}">
                <a16:creationId xmlns:a16="http://schemas.microsoft.com/office/drawing/2014/main" id="{AFECCCE8-1B93-2B99-1672-BBECED687290}"/>
              </a:ext>
            </a:extLst>
          </p:cNvPr>
          <p:cNvSpPr>
            <a:spLocks noChangeArrowheads="1"/>
          </p:cNvSpPr>
          <p:nvPr/>
        </p:nvSpPr>
        <p:spPr bwMode="auto">
          <a:xfrm>
            <a:off x="7643890" y="4269667"/>
            <a:ext cx="163512" cy="374650"/>
          </a:xfrm>
          <a:prstGeom prst="rect">
            <a:avLst/>
          </a:prstGeom>
          <a:solidFill>
            <a:srgbClr val="CC9900"/>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2" name="Rectangle 35">
            <a:extLst>
              <a:ext uri="{FF2B5EF4-FFF2-40B4-BE49-F238E27FC236}">
                <a16:creationId xmlns:a16="http://schemas.microsoft.com/office/drawing/2014/main" id="{E0DD0585-E03C-0B75-094E-D5311DFE41C6}"/>
              </a:ext>
            </a:extLst>
          </p:cNvPr>
          <p:cNvSpPr>
            <a:spLocks noChangeArrowheads="1"/>
          </p:cNvSpPr>
          <p:nvPr/>
        </p:nvSpPr>
        <p:spPr bwMode="auto">
          <a:xfrm>
            <a:off x="9598102" y="4285542"/>
            <a:ext cx="58738" cy="374650"/>
          </a:xfrm>
          <a:prstGeom prst="rect">
            <a:avLst/>
          </a:prstGeom>
          <a:solidFill>
            <a:srgbClr val="CC9900"/>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3" name="Line 36">
            <a:extLst>
              <a:ext uri="{FF2B5EF4-FFF2-40B4-BE49-F238E27FC236}">
                <a16:creationId xmlns:a16="http://schemas.microsoft.com/office/drawing/2014/main" id="{D6E69DDA-5AEF-2DA2-1A8E-F49C02B1AF4C}"/>
              </a:ext>
            </a:extLst>
          </p:cNvPr>
          <p:cNvSpPr>
            <a:spLocks noChangeShapeType="1"/>
          </p:cNvSpPr>
          <p:nvPr/>
        </p:nvSpPr>
        <p:spPr bwMode="auto">
          <a:xfrm>
            <a:off x="8409065" y="3912479"/>
            <a:ext cx="0" cy="1244600"/>
          </a:xfrm>
          <a:prstGeom prst="line">
            <a:avLst/>
          </a:prstGeom>
          <a:noFill/>
          <a:ln w="158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4" name="Line 37">
            <a:extLst>
              <a:ext uri="{FF2B5EF4-FFF2-40B4-BE49-F238E27FC236}">
                <a16:creationId xmlns:a16="http://schemas.microsoft.com/office/drawing/2014/main" id="{3A06BD83-3E28-1D7B-B348-9B1F5E8C2012}"/>
              </a:ext>
            </a:extLst>
          </p:cNvPr>
          <p:cNvSpPr>
            <a:spLocks noChangeShapeType="1"/>
          </p:cNvSpPr>
          <p:nvPr/>
        </p:nvSpPr>
        <p:spPr bwMode="auto">
          <a:xfrm>
            <a:off x="6316740" y="3918829"/>
            <a:ext cx="0" cy="1244600"/>
          </a:xfrm>
          <a:prstGeom prst="line">
            <a:avLst/>
          </a:prstGeom>
          <a:noFill/>
          <a:ln w="158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5" name="Line 38">
            <a:extLst>
              <a:ext uri="{FF2B5EF4-FFF2-40B4-BE49-F238E27FC236}">
                <a16:creationId xmlns:a16="http://schemas.microsoft.com/office/drawing/2014/main" id="{D070E808-8370-92D8-726B-5B1DC3C7C7CD}"/>
              </a:ext>
            </a:extLst>
          </p:cNvPr>
          <p:cNvSpPr>
            <a:spLocks noChangeShapeType="1"/>
          </p:cNvSpPr>
          <p:nvPr/>
        </p:nvSpPr>
        <p:spPr bwMode="auto">
          <a:xfrm>
            <a:off x="3829127" y="3918829"/>
            <a:ext cx="0" cy="1244600"/>
          </a:xfrm>
          <a:prstGeom prst="line">
            <a:avLst/>
          </a:prstGeom>
          <a:noFill/>
          <a:ln w="158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6" name="Line 39">
            <a:extLst>
              <a:ext uri="{FF2B5EF4-FFF2-40B4-BE49-F238E27FC236}">
                <a16:creationId xmlns:a16="http://schemas.microsoft.com/office/drawing/2014/main" id="{8E7392DC-3E52-C33E-3F3E-90B01BC17183}"/>
              </a:ext>
            </a:extLst>
          </p:cNvPr>
          <p:cNvSpPr>
            <a:spLocks noChangeShapeType="1"/>
          </p:cNvSpPr>
          <p:nvPr/>
        </p:nvSpPr>
        <p:spPr bwMode="auto">
          <a:xfrm>
            <a:off x="9658427" y="4307767"/>
            <a:ext cx="0" cy="831850"/>
          </a:xfrm>
          <a:prstGeom prst="line">
            <a:avLst/>
          </a:prstGeom>
          <a:noFill/>
          <a:ln w="158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7" name="Rectangle 40">
            <a:extLst>
              <a:ext uri="{FF2B5EF4-FFF2-40B4-BE49-F238E27FC236}">
                <a16:creationId xmlns:a16="http://schemas.microsoft.com/office/drawing/2014/main" id="{3D690154-2DB2-61A6-9730-648A19C36055}"/>
              </a:ext>
            </a:extLst>
          </p:cNvPr>
          <p:cNvSpPr>
            <a:spLocks noChangeArrowheads="1"/>
          </p:cNvSpPr>
          <p:nvPr/>
        </p:nvSpPr>
        <p:spPr bwMode="auto">
          <a:xfrm>
            <a:off x="8409065" y="4630029"/>
            <a:ext cx="1258887"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38" name="Rectangle 41">
            <a:extLst>
              <a:ext uri="{FF2B5EF4-FFF2-40B4-BE49-F238E27FC236}">
                <a16:creationId xmlns:a16="http://schemas.microsoft.com/office/drawing/2014/main" id="{F9408541-4714-2D41-A0C9-209755190A00}"/>
              </a:ext>
            </a:extLst>
          </p:cNvPr>
          <p:cNvSpPr>
            <a:spLocks noChangeArrowheads="1"/>
          </p:cNvSpPr>
          <p:nvPr/>
        </p:nvSpPr>
        <p:spPr bwMode="auto">
          <a:xfrm>
            <a:off x="6311977" y="4630029"/>
            <a:ext cx="1498600"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39" name="Rectangle 42">
            <a:extLst>
              <a:ext uri="{FF2B5EF4-FFF2-40B4-BE49-F238E27FC236}">
                <a16:creationId xmlns:a16="http://schemas.microsoft.com/office/drawing/2014/main" id="{3DFD399E-34E8-4E47-C885-79FBB6F61725}"/>
              </a:ext>
            </a:extLst>
          </p:cNvPr>
          <p:cNvSpPr>
            <a:spLocks noChangeArrowheads="1"/>
          </p:cNvSpPr>
          <p:nvPr/>
        </p:nvSpPr>
        <p:spPr bwMode="auto">
          <a:xfrm>
            <a:off x="3841827" y="4630029"/>
            <a:ext cx="1812925"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40" name="Text Box 44">
            <a:extLst>
              <a:ext uri="{FF2B5EF4-FFF2-40B4-BE49-F238E27FC236}">
                <a16:creationId xmlns:a16="http://schemas.microsoft.com/office/drawing/2014/main" id="{01322435-A53F-CBC7-CA3B-E2CC58F9DDFA}"/>
              </a:ext>
            </a:extLst>
          </p:cNvPr>
          <p:cNvSpPr txBox="1">
            <a:spLocks noChangeArrowheads="1"/>
          </p:cNvSpPr>
          <p:nvPr/>
        </p:nvSpPr>
        <p:spPr bwMode="auto">
          <a:xfrm>
            <a:off x="2305594" y="5781406"/>
            <a:ext cx="56092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000" b="0" dirty="0">
                <a:latin typeface="Tahoma" panose="020B0604030504040204" pitchFamily="34" charset="0"/>
                <a:cs typeface="Tahoma" panose="020B0604030504040204" pitchFamily="34" charset="0"/>
              </a:rPr>
              <a:t>Finally, send each (processed) fragment via TCP</a:t>
            </a:r>
          </a:p>
        </p:txBody>
      </p:sp>
      <p:sp>
        <p:nvSpPr>
          <p:cNvPr id="41" name="Text Box 17">
            <a:extLst>
              <a:ext uri="{FF2B5EF4-FFF2-40B4-BE49-F238E27FC236}">
                <a16:creationId xmlns:a16="http://schemas.microsoft.com/office/drawing/2014/main" id="{9E143CDE-EB3D-C735-1A86-C902463ECCFB}"/>
              </a:ext>
            </a:extLst>
          </p:cNvPr>
          <p:cNvSpPr txBox="1">
            <a:spLocks noChangeArrowheads="1"/>
          </p:cNvSpPr>
          <p:nvPr/>
        </p:nvSpPr>
        <p:spPr bwMode="auto">
          <a:xfrm>
            <a:off x="1889614" y="2693279"/>
            <a:ext cx="1468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a:latin typeface="Tahoma" panose="020B0604030504040204" pitchFamily="34" charset="0"/>
                <a:cs typeface="Tahoma" panose="020B0604030504040204" pitchFamily="34" charset="0"/>
              </a:rPr>
              <a:t>Fragment</a:t>
            </a:r>
          </a:p>
        </p:txBody>
      </p:sp>
      <p:sp>
        <p:nvSpPr>
          <p:cNvPr id="42" name="Text Box 18">
            <a:extLst>
              <a:ext uri="{FF2B5EF4-FFF2-40B4-BE49-F238E27FC236}">
                <a16:creationId xmlns:a16="http://schemas.microsoft.com/office/drawing/2014/main" id="{B7CBD7FB-4364-21D9-06A7-6AFF51BE0277}"/>
              </a:ext>
            </a:extLst>
          </p:cNvPr>
          <p:cNvSpPr txBox="1">
            <a:spLocks noChangeArrowheads="1"/>
          </p:cNvSpPr>
          <p:nvPr/>
        </p:nvSpPr>
        <p:spPr bwMode="auto">
          <a:xfrm>
            <a:off x="1805071" y="3399458"/>
            <a:ext cx="149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dirty="0">
                <a:solidFill>
                  <a:schemeClr val="folHlink"/>
                </a:solidFill>
                <a:latin typeface="Tahoma" panose="020B0604030504040204" pitchFamily="34" charset="0"/>
                <a:cs typeface="Tahoma" panose="020B0604030504040204" pitchFamily="34" charset="0"/>
              </a:rPr>
              <a:t>Compress</a:t>
            </a:r>
          </a:p>
        </p:txBody>
      </p:sp>
      <p:sp>
        <p:nvSpPr>
          <p:cNvPr id="43" name="Text Box 28">
            <a:extLst>
              <a:ext uri="{FF2B5EF4-FFF2-40B4-BE49-F238E27FC236}">
                <a16:creationId xmlns:a16="http://schemas.microsoft.com/office/drawing/2014/main" id="{27DB11F4-093D-746B-00DB-A5B53E56304A}"/>
              </a:ext>
            </a:extLst>
          </p:cNvPr>
          <p:cNvSpPr txBox="1">
            <a:spLocks noChangeArrowheads="1"/>
          </p:cNvSpPr>
          <p:nvPr/>
        </p:nvSpPr>
        <p:spPr bwMode="auto">
          <a:xfrm>
            <a:off x="1861321" y="3829929"/>
            <a:ext cx="784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dirty="0">
                <a:solidFill>
                  <a:srgbClr val="3333FF"/>
                </a:solidFill>
                <a:latin typeface="Tahoma" panose="020B0604030504040204" pitchFamily="34" charset="0"/>
                <a:cs typeface="Tahoma" panose="020B0604030504040204" pitchFamily="34" charset="0"/>
              </a:rPr>
              <a:t>MAC</a:t>
            </a:r>
          </a:p>
        </p:txBody>
      </p:sp>
      <p:sp>
        <p:nvSpPr>
          <p:cNvPr id="44" name="Text Box 43">
            <a:extLst>
              <a:ext uri="{FF2B5EF4-FFF2-40B4-BE49-F238E27FC236}">
                <a16:creationId xmlns:a16="http://schemas.microsoft.com/office/drawing/2014/main" id="{971723ED-40A9-550B-907F-386ABA6AEEE6}"/>
              </a:ext>
            </a:extLst>
          </p:cNvPr>
          <p:cNvSpPr txBox="1">
            <a:spLocks noChangeArrowheads="1"/>
          </p:cNvSpPr>
          <p:nvPr/>
        </p:nvSpPr>
        <p:spPr bwMode="auto">
          <a:xfrm>
            <a:off x="1838310" y="4619300"/>
            <a:ext cx="119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dirty="0">
                <a:latin typeface="Tahoma" panose="020B0604030504040204" pitchFamily="34" charset="0"/>
                <a:cs typeface="Tahoma" panose="020B0604030504040204" pitchFamily="34" charset="0"/>
              </a:rPr>
              <a:t>Encrypt</a:t>
            </a:r>
          </a:p>
        </p:txBody>
      </p:sp>
      <p:sp>
        <p:nvSpPr>
          <p:cNvPr id="45" name="Text Box 32">
            <a:extLst>
              <a:ext uri="{FF2B5EF4-FFF2-40B4-BE49-F238E27FC236}">
                <a16:creationId xmlns:a16="http://schemas.microsoft.com/office/drawing/2014/main" id="{3707455C-DE8B-05A9-EF0A-87DD999F4D0C}"/>
              </a:ext>
            </a:extLst>
          </p:cNvPr>
          <p:cNvSpPr txBox="1">
            <a:spLocks noChangeArrowheads="1"/>
          </p:cNvSpPr>
          <p:nvPr/>
        </p:nvSpPr>
        <p:spPr bwMode="auto">
          <a:xfrm>
            <a:off x="1820949" y="4229255"/>
            <a:ext cx="19012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dirty="0">
                <a:solidFill>
                  <a:srgbClr val="CC9900"/>
                </a:solidFill>
                <a:latin typeface="Tahoma" panose="020B0604030504040204" pitchFamily="34" charset="0"/>
                <a:cs typeface="Tahoma" panose="020B0604030504040204" pitchFamily="34" charset="0"/>
              </a:rPr>
              <a:t>Pad </a:t>
            </a:r>
            <a:r>
              <a:rPr lang="en-US" altLang="he-IL" b="0" dirty="0">
                <a:solidFill>
                  <a:srgbClr val="CC9900"/>
                </a:solidFill>
                <a:latin typeface="Tahoma" panose="020B0604030504040204" pitchFamily="34" charset="0"/>
                <a:cs typeface="Tahoma" panose="020B0604030504040204" pitchFamily="34" charset="0"/>
              </a:rPr>
              <a:t>(if needed)</a:t>
            </a:r>
          </a:p>
        </p:txBody>
      </p:sp>
      <p:sp>
        <p:nvSpPr>
          <p:cNvPr id="46" name="Rectangle 21">
            <a:extLst>
              <a:ext uri="{FF2B5EF4-FFF2-40B4-BE49-F238E27FC236}">
                <a16:creationId xmlns:a16="http://schemas.microsoft.com/office/drawing/2014/main" id="{1D575DF1-95E4-C53E-3E57-2509D5CF14D2}"/>
              </a:ext>
            </a:extLst>
          </p:cNvPr>
          <p:cNvSpPr>
            <a:spLocks noChangeArrowheads="1"/>
          </p:cNvSpPr>
          <p:nvPr/>
        </p:nvSpPr>
        <p:spPr bwMode="auto">
          <a:xfrm>
            <a:off x="8397952" y="3899809"/>
            <a:ext cx="889000"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47" name="Rectangle 20">
            <a:extLst>
              <a:ext uri="{FF2B5EF4-FFF2-40B4-BE49-F238E27FC236}">
                <a16:creationId xmlns:a16="http://schemas.microsoft.com/office/drawing/2014/main" id="{241547BA-E1B2-A318-8D49-FF9FE3D93D2F}"/>
              </a:ext>
            </a:extLst>
          </p:cNvPr>
          <p:cNvSpPr>
            <a:spLocks noChangeArrowheads="1"/>
          </p:cNvSpPr>
          <p:nvPr/>
        </p:nvSpPr>
        <p:spPr bwMode="auto">
          <a:xfrm>
            <a:off x="6326265" y="3912479"/>
            <a:ext cx="993775"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48" name="Rectangle 19">
            <a:extLst>
              <a:ext uri="{FF2B5EF4-FFF2-40B4-BE49-F238E27FC236}">
                <a16:creationId xmlns:a16="http://schemas.microsoft.com/office/drawing/2014/main" id="{358EE770-13D7-5BA4-234D-8BE2C3B22135}"/>
              </a:ext>
            </a:extLst>
          </p:cNvPr>
          <p:cNvSpPr>
            <a:spLocks noChangeArrowheads="1"/>
          </p:cNvSpPr>
          <p:nvPr/>
        </p:nvSpPr>
        <p:spPr bwMode="auto">
          <a:xfrm>
            <a:off x="3834334" y="3902064"/>
            <a:ext cx="1263650" cy="382588"/>
          </a:xfrm>
          <a:prstGeom prst="rect">
            <a:avLst/>
          </a:prstGeom>
          <a:solidFill>
            <a:schemeClr val="folHlink"/>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49" name="Rectangle 19">
            <a:extLst>
              <a:ext uri="{FF2B5EF4-FFF2-40B4-BE49-F238E27FC236}">
                <a16:creationId xmlns:a16="http://schemas.microsoft.com/office/drawing/2014/main" id="{031E1330-8970-0BE6-69B8-33B21C9FA359}"/>
              </a:ext>
            </a:extLst>
          </p:cNvPr>
          <p:cNvSpPr>
            <a:spLocks noChangeArrowheads="1"/>
          </p:cNvSpPr>
          <p:nvPr/>
        </p:nvSpPr>
        <p:spPr bwMode="auto">
          <a:xfrm>
            <a:off x="3837065" y="4295067"/>
            <a:ext cx="1263650" cy="382588"/>
          </a:xfrm>
          <a:prstGeom prst="rect">
            <a:avLst/>
          </a:prstGeom>
          <a:solidFill>
            <a:schemeClr val="folHlink"/>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50" name="Rectangle 29">
            <a:extLst>
              <a:ext uri="{FF2B5EF4-FFF2-40B4-BE49-F238E27FC236}">
                <a16:creationId xmlns:a16="http://schemas.microsoft.com/office/drawing/2014/main" id="{D3CC3D2E-5162-4E70-8E2A-03D3AF7C15FA}"/>
              </a:ext>
            </a:extLst>
          </p:cNvPr>
          <p:cNvSpPr>
            <a:spLocks noChangeArrowheads="1"/>
          </p:cNvSpPr>
          <p:nvPr/>
        </p:nvSpPr>
        <p:spPr bwMode="auto">
          <a:xfrm>
            <a:off x="5115796" y="4283064"/>
            <a:ext cx="314325" cy="361950"/>
          </a:xfrm>
          <a:prstGeom prst="rect">
            <a:avLst/>
          </a:prstGeom>
          <a:solidFill>
            <a:srgbClr val="3333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51" name="Rectangle 29">
            <a:extLst>
              <a:ext uri="{FF2B5EF4-FFF2-40B4-BE49-F238E27FC236}">
                <a16:creationId xmlns:a16="http://schemas.microsoft.com/office/drawing/2014/main" id="{963C485F-64B8-9049-BEB6-9BA6CF6E7C69}"/>
              </a:ext>
            </a:extLst>
          </p:cNvPr>
          <p:cNvSpPr>
            <a:spLocks noChangeArrowheads="1"/>
          </p:cNvSpPr>
          <p:nvPr/>
        </p:nvSpPr>
        <p:spPr bwMode="auto">
          <a:xfrm>
            <a:off x="7324802" y="4276017"/>
            <a:ext cx="314325" cy="361950"/>
          </a:xfrm>
          <a:prstGeom prst="rect">
            <a:avLst/>
          </a:prstGeom>
          <a:solidFill>
            <a:srgbClr val="3333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52" name="Rectangle 29">
            <a:extLst>
              <a:ext uri="{FF2B5EF4-FFF2-40B4-BE49-F238E27FC236}">
                <a16:creationId xmlns:a16="http://schemas.microsoft.com/office/drawing/2014/main" id="{E9E8DAD0-DAF0-6B7A-C0E1-36D43F8AC311}"/>
              </a:ext>
            </a:extLst>
          </p:cNvPr>
          <p:cNvSpPr>
            <a:spLocks noChangeArrowheads="1"/>
          </p:cNvSpPr>
          <p:nvPr/>
        </p:nvSpPr>
        <p:spPr bwMode="auto">
          <a:xfrm>
            <a:off x="9282190" y="4261729"/>
            <a:ext cx="314325" cy="361950"/>
          </a:xfrm>
          <a:prstGeom prst="rect">
            <a:avLst/>
          </a:prstGeom>
          <a:solidFill>
            <a:srgbClr val="3333FF"/>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53" name="Rectangle 20">
            <a:extLst>
              <a:ext uri="{FF2B5EF4-FFF2-40B4-BE49-F238E27FC236}">
                <a16:creationId xmlns:a16="http://schemas.microsoft.com/office/drawing/2014/main" id="{AAF93089-25EA-8E1E-FBE2-7F40333D97B4}"/>
              </a:ext>
            </a:extLst>
          </p:cNvPr>
          <p:cNvSpPr>
            <a:spLocks noChangeArrowheads="1"/>
          </p:cNvSpPr>
          <p:nvPr/>
        </p:nvSpPr>
        <p:spPr bwMode="auto">
          <a:xfrm>
            <a:off x="6330382" y="4266930"/>
            <a:ext cx="993775"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54" name="Rectangle 21">
            <a:extLst>
              <a:ext uri="{FF2B5EF4-FFF2-40B4-BE49-F238E27FC236}">
                <a16:creationId xmlns:a16="http://schemas.microsoft.com/office/drawing/2014/main" id="{BBAE1D7F-F3A9-04AD-B06F-A11EDBB6085F}"/>
              </a:ext>
            </a:extLst>
          </p:cNvPr>
          <p:cNvSpPr>
            <a:spLocks noChangeArrowheads="1"/>
          </p:cNvSpPr>
          <p:nvPr/>
        </p:nvSpPr>
        <p:spPr bwMode="auto">
          <a:xfrm>
            <a:off x="8391603" y="4263079"/>
            <a:ext cx="889000" cy="382588"/>
          </a:xfrm>
          <a:prstGeom prst="rect">
            <a:avLst/>
          </a:prstGeom>
          <a:solidFill>
            <a:schemeClr val="folHlink"/>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endParaRPr lang="he-IL" altLang="he-IL">
              <a:latin typeface="Times New Roman" panose="02020603050405020304" pitchFamily="18" charset="0"/>
              <a:cs typeface="Times New Roman" panose="02020603050405020304" pitchFamily="18" charset="0"/>
            </a:endParaRPr>
          </a:p>
        </p:txBody>
      </p:sp>
      <p:sp>
        <p:nvSpPr>
          <p:cNvPr id="55" name="Rectangle 40">
            <a:extLst>
              <a:ext uri="{FF2B5EF4-FFF2-40B4-BE49-F238E27FC236}">
                <a16:creationId xmlns:a16="http://schemas.microsoft.com/office/drawing/2014/main" id="{382587FC-94CA-40CB-26B8-DBF7F3F82C73}"/>
              </a:ext>
            </a:extLst>
          </p:cNvPr>
          <p:cNvSpPr>
            <a:spLocks noChangeArrowheads="1"/>
          </p:cNvSpPr>
          <p:nvPr/>
        </p:nvSpPr>
        <p:spPr bwMode="auto">
          <a:xfrm>
            <a:off x="8388428" y="5196272"/>
            <a:ext cx="1258887"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56" name="Rectangle 41">
            <a:extLst>
              <a:ext uri="{FF2B5EF4-FFF2-40B4-BE49-F238E27FC236}">
                <a16:creationId xmlns:a16="http://schemas.microsoft.com/office/drawing/2014/main" id="{D86F5DF2-AE5D-5A8F-3747-CD22E995654F}"/>
              </a:ext>
            </a:extLst>
          </p:cNvPr>
          <p:cNvSpPr>
            <a:spLocks noChangeArrowheads="1"/>
          </p:cNvSpPr>
          <p:nvPr/>
        </p:nvSpPr>
        <p:spPr bwMode="auto">
          <a:xfrm>
            <a:off x="6291340" y="5196272"/>
            <a:ext cx="1498600"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57" name="Rectangle 42">
            <a:extLst>
              <a:ext uri="{FF2B5EF4-FFF2-40B4-BE49-F238E27FC236}">
                <a16:creationId xmlns:a16="http://schemas.microsoft.com/office/drawing/2014/main" id="{9D8A6A4F-2059-0B6A-3DF7-0836FBB9633B}"/>
              </a:ext>
            </a:extLst>
          </p:cNvPr>
          <p:cNvSpPr>
            <a:spLocks noChangeArrowheads="1"/>
          </p:cNvSpPr>
          <p:nvPr/>
        </p:nvSpPr>
        <p:spPr bwMode="auto">
          <a:xfrm>
            <a:off x="3821190" y="5196272"/>
            <a:ext cx="1812925" cy="509588"/>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he-IL"/>
          </a:p>
        </p:txBody>
      </p:sp>
      <p:sp>
        <p:nvSpPr>
          <p:cNvPr id="58" name="Rectangle 45">
            <a:extLst>
              <a:ext uri="{FF2B5EF4-FFF2-40B4-BE49-F238E27FC236}">
                <a16:creationId xmlns:a16="http://schemas.microsoft.com/office/drawing/2014/main" id="{8EEE1997-3EA5-66BB-350B-CDAF2633D0AA}"/>
              </a:ext>
            </a:extLst>
          </p:cNvPr>
          <p:cNvSpPr>
            <a:spLocks noChangeArrowheads="1"/>
          </p:cNvSpPr>
          <p:nvPr/>
        </p:nvSpPr>
        <p:spPr bwMode="auto">
          <a:xfrm>
            <a:off x="3563221" y="5193812"/>
            <a:ext cx="249237" cy="509588"/>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59" name="Rectangle 45">
            <a:extLst>
              <a:ext uri="{FF2B5EF4-FFF2-40B4-BE49-F238E27FC236}">
                <a16:creationId xmlns:a16="http://schemas.microsoft.com/office/drawing/2014/main" id="{F1C26414-AEBF-DF1F-B252-C0995BD4FBC3}"/>
              </a:ext>
            </a:extLst>
          </p:cNvPr>
          <p:cNvSpPr>
            <a:spLocks noChangeArrowheads="1"/>
          </p:cNvSpPr>
          <p:nvPr/>
        </p:nvSpPr>
        <p:spPr bwMode="auto">
          <a:xfrm>
            <a:off x="6042103" y="5193812"/>
            <a:ext cx="249237" cy="509588"/>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60" name="Rectangle 45">
            <a:extLst>
              <a:ext uri="{FF2B5EF4-FFF2-40B4-BE49-F238E27FC236}">
                <a16:creationId xmlns:a16="http://schemas.microsoft.com/office/drawing/2014/main" id="{91462052-CFCF-DDF8-185E-51C5CFE47A12}"/>
              </a:ext>
            </a:extLst>
          </p:cNvPr>
          <p:cNvSpPr>
            <a:spLocks noChangeArrowheads="1"/>
          </p:cNvSpPr>
          <p:nvPr/>
        </p:nvSpPr>
        <p:spPr bwMode="auto">
          <a:xfrm>
            <a:off x="8091566" y="5206999"/>
            <a:ext cx="298450" cy="498861"/>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61" name="Text Box 43">
            <a:extLst>
              <a:ext uri="{FF2B5EF4-FFF2-40B4-BE49-F238E27FC236}">
                <a16:creationId xmlns:a16="http://schemas.microsoft.com/office/drawing/2014/main" id="{77B30F09-E724-B759-9008-B895C9B71BDE}"/>
              </a:ext>
            </a:extLst>
          </p:cNvPr>
          <p:cNvSpPr txBox="1">
            <a:spLocks noChangeArrowheads="1"/>
          </p:cNvSpPr>
          <p:nvPr/>
        </p:nvSpPr>
        <p:spPr bwMode="auto">
          <a:xfrm>
            <a:off x="1894577" y="5177838"/>
            <a:ext cx="11592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b="0" dirty="0">
                <a:solidFill>
                  <a:srgbClr val="6600FF"/>
                </a:solidFill>
                <a:latin typeface="Tahoma" panose="020B0604030504040204" pitchFamily="34" charset="0"/>
                <a:cs typeface="Tahoma" panose="020B0604030504040204" pitchFamily="34" charset="0"/>
              </a:rPr>
              <a:t>Header</a:t>
            </a:r>
          </a:p>
        </p:txBody>
      </p:sp>
    </p:spTree>
    <p:custDataLst>
      <p:tags r:id="rId1"/>
    </p:custDataLst>
    <p:extLst>
      <p:ext uri="{BB962C8B-B14F-4D97-AF65-F5344CB8AC3E}">
        <p14:creationId xmlns:p14="http://schemas.microsoft.com/office/powerpoint/2010/main" val="393158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6104090"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Alert Protocol</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809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3600" dirty="0">
                <a:latin typeface="Avenir Next" panose="020B0503020202020204" pitchFamily="34" charset="0"/>
                <a:ea typeface="Roboto Medium" panose="02000000000000000000" pitchFamily="2" charset="0"/>
              </a:rPr>
              <a:t> Used to send TLS </a:t>
            </a:r>
            <a:r>
              <a:rPr lang="en-US" sz="3600" spc="-9" dirty="0">
                <a:latin typeface="Avenir Next" panose="020B0503020202020204" pitchFamily="34" charset="0"/>
                <a:ea typeface="Roboto Medium" panose="02000000000000000000" pitchFamily="2" charset="0"/>
              </a:rPr>
              <a:t>related </a:t>
            </a:r>
            <a:r>
              <a:rPr lang="en-US" sz="3600" spc="4" dirty="0">
                <a:latin typeface="Avenir Next" panose="020B0503020202020204" pitchFamily="34" charset="0"/>
                <a:ea typeface="Roboto Medium" panose="02000000000000000000" pitchFamily="2" charset="0"/>
              </a:rPr>
              <a:t>alerts </a:t>
            </a:r>
            <a:r>
              <a:rPr lang="en-US" sz="3600" dirty="0">
                <a:latin typeface="Avenir Next" panose="020B0503020202020204" pitchFamily="34" charset="0"/>
                <a:ea typeface="Roboto Medium" panose="02000000000000000000" pitchFamily="2" charset="0"/>
              </a:rPr>
              <a:t>to</a:t>
            </a:r>
            <a:r>
              <a:rPr lang="en-US" sz="3600" spc="-335" dirty="0">
                <a:latin typeface="Avenir Next" panose="020B0503020202020204" pitchFamily="34" charset="0"/>
                <a:ea typeface="Roboto Medium" panose="02000000000000000000" pitchFamily="2" charset="0"/>
              </a:rPr>
              <a:t> </a:t>
            </a:r>
            <a:r>
              <a:rPr lang="en-US" sz="3600" dirty="0">
                <a:latin typeface="Avenir Next" panose="020B0503020202020204" pitchFamily="34" charset="0"/>
                <a:ea typeface="Roboto Medium" panose="02000000000000000000" pitchFamily="2" charset="0"/>
              </a:rPr>
              <a:t>peers</a:t>
            </a:r>
            <a:endParaRPr lang="en-US" sz="2400" dirty="0">
              <a:latin typeface="Avenir Next" panose="020B0503020202020204" pitchFamily="34" charset="0"/>
              <a:ea typeface="Roboto Medium" panose="02000000000000000000" pitchFamily="2" charset="0"/>
              <a:cs typeface="Times New Roman"/>
            </a:endParaRPr>
          </a:p>
          <a:p>
            <a:pPr marL="78445">
              <a:lnSpc>
                <a:spcPct val="100000"/>
              </a:lnSpc>
              <a:spcBef>
                <a:spcPts val="247"/>
              </a:spcBef>
            </a:pPr>
            <a:r>
              <a:rPr lang="en-US" sz="3600" b="1" spc="9" dirty="0">
                <a:solidFill>
                  <a:srgbClr val="CC3300"/>
                </a:solidFill>
                <a:latin typeface="Avenir Next" panose="020B0503020202020204" pitchFamily="34" charset="0"/>
                <a:ea typeface="Roboto Black" panose="02000000000000000000" pitchFamily="2" charset="0"/>
                <a:cs typeface="Gill Sans MT"/>
              </a:rPr>
              <a:t> Alert </a:t>
            </a:r>
            <a:r>
              <a:rPr lang="en-US" sz="3600" b="1" spc="-9" dirty="0">
                <a:solidFill>
                  <a:srgbClr val="CC3300"/>
                </a:solidFill>
                <a:latin typeface="Avenir Next" panose="020B0503020202020204" pitchFamily="34" charset="0"/>
                <a:ea typeface="Roboto Black" panose="02000000000000000000" pitchFamily="2" charset="0"/>
                <a:cs typeface="Gill Sans MT"/>
              </a:rPr>
              <a:t>messages </a:t>
            </a:r>
            <a:r>
              <a:rPr lang="en-US" sz="3600" b="1" spc="-18" dirty="0">
                <a:solidFill>
                  <a:srgbClr val="CC3300"/>
                </a:solidFill>
                <a:latin typeface="Avenir Next" panose="020B0503020202020204" pitchFamily="34" charset="0"/>
                <a:ea typeface="Roboto Black" panose="02000000000000000000" pitchFamily="2" charset="0"/>
                <a:cs typeface="Gill Sans MT"/>
              </a:rPr>
              <a:t>are </a:t>
            </a:r>
            <a:r>
              <a:rPr lang="en-US" sz="3600" b="1" spc="-9" dirty="0">
                <a:solidFill>
                  <a:srgbClr val="CC3300"/>
                </a:solidFill>
                <a:latin typeface="Avenir Next" panose="020B0503020202020204" pitchFamily="34" charset="0"/>
                <a:ea typeface="Roboto Black" panose="02000000000000000000" pitchFamily="2" charset="0"/>
                <a:cs typeface="Gill Sans MT"/>
              </a:rPr>
              <a:t>compressed </a:t>
            </a:r>
            <a:r>
              <a:rPr lang="en-US" sz="3600" b="1" dirty="0">
                <a:solidFill>
                  <a:srgbClr val="CC3300"/>
                </a:solidFill>
                <a:latin typeface="Avenir Next" panose="020B0503020202020204" pitchFamily="34" charset="0"/>
                <a:ea typeface="Roboto Black" panose="02000000000000000000" pitchFamily="2" charset="0"/>
                <a:cs typeface="Gill Sans MT"/>
              </a:rPr>
              <a:t>and</a:t>
            </a:r>
            <a:r>
              <a:rPr lang="en-US" sz="3600" b="1" spc="4" dirty="0">
                <a:solidFill>
                  <a:srgbClr val="CC3300"/>
                </a:solidFill>
                <a:latin typeface="Avenir Next" panose="020B0503020202020204" pitchFamily="34" charset="0"/>
                <a:ea typeface="Roboto Black" panose="02000000000000000000" pitchFamily="2" charset="0"/>
                <a:cs typeface="Gill Sans MT"/>
              </a:rPr>
              <a:t> encrypted</a:t>
            </a:r>
            <a:endParaRPr lang="en-US" sz="2400" dirty="0">
              <a:latin typeface="Avenir Next" panose="020B0503020202020204" pitchFamily="34" charset="0"/>
              <a:ea typeface="Roboto Medium" panose="02000000000000000000" pitchFamily="2" charset="0"/>
              <a:cs typeface="Gill Sans MT"/>
            </a:endParaRPr>
          </a:p>
          <a:p>
            <a:pPr marL="313781" marR="676871" indent="-235336">
              <a:lnSpc>
                <a:spcPct val="100000"/>
              </a:lnSpc>
              <a:spcBef>
                <a:spcPts val="565"/>
              </a:spcBef>
            </a:pPr>
            <a:r>
              <a:rPr lang="en-US" sz="3600" b="1" dirty="0">
                <a:solidFill>
                  <a:srgbClr val="1315D6"/>
                </a:solidFill>
                <a:latin typeface="Avenir Next" panose="020B0503020202020204" pitchFamily="34" charset="0"/>
                <a:ea typeface="Roboto Medium" panose="02000000000000000000" pitchFamily="2" charset="0"/>
              </a:rPr>
              <a:t>Message:</a:t>
            </a:r>
            <a:r>
              <a:rPr lang="en-US" sz="3600" spc="-238" dirty="0">
                <a:solidFill>
                  <a:srgbClr val="1315D6"/>
                </a:solidFill>
                <a:latin typeface="Avenir Next" panose="020B0503020202020204" pitchFamily="34" charset="0"/>
                <a:ea typeface="Roboto Medium" panose="02000000000000000000" pitchFamily="2" charset="0"/>
              </a:rPr>
              <a:t> </a:t>
            </a:r>
            <a:r>
              <a:rPr lang="en-US" sz="3600" spc="-18" dirty="0">
                <a:solidFill>
                  <a:srgbClr val="1315D6"/>
                </a:solidFill>
                <a:latin typeface="Avenir Next" panose="020B0503020202020204" pitchFamily="34" charset="0"/>
                <a:ea typeface="Roboto Medium" panose="02000000000000000000" pitchFamily="2" charset="0"/>
              </a:rPr>
              <a:t>two</a:t>
            </a:r>
            <a:r>
              <a:rPr lang="en-US" sz="3600" spc="-4" dirty="0">
                <a:solidFill>
                  <a:srgbClr val="1315D6"/>
                </a:solidFill>
                <a:latin typeface="Avenir Next" panose="020B0503020202020204" pitchFamily="34" charset="0"/>
                <a:ea typeface="Roboto Medium" panose="02000000000000000000" pitchFamily="2" charset="0"/>
              </a:rPr>
              <a:t> bytes,</a:t>
            </a:r>
            <a:r>
              <a:rPr lang="en-US" sz="3600" spc="-238" dirty="0">
                <a:solidFill>
                  <a:srgbClr val="1315D6"/>
                </a:solidFill>
                <a:latin typeface="Avenir Next" panose="020B0503020202020204" pitchFamily="34" charset="0"/>
                <a:ea typeface="Roboto Medium" panose="02000000000000000000" pitchFamily="2" charset="0"/>
              </a:rPr>
              <a:t> </a:t>
            </a:r>
            <a:r>
              <a:rPr lang="en-US" sz="3600" dirty="0">
                <a:solidFill>
                  <a:srgbClr val="1315D6"/>
                </a:solidFill>
                <a:latin typeface="Avenir Next" panose="020B0503020202020204" pitchFamily="34" charset="0"/>
                <a:ea typeface="Roboto Medium" panose="02000000000000000000" pitchFamily="2" charset="0"/>
              </a:rPr>
              <a:t>one</a:t>
            </a:r>
            <a:r>
              <a:rPr lang="en-US" sz="3600" spc="-4" dirty="0">
                <a:solidFill>
                  <a:srgbClr val="1315D6"/>
                </a:solidFill>
                <a:latin typeface="Avenir Next" panose="020B0503020202020204" pitchFamily="34" charset="0"/>
                <a:ea typeface="Roboto Medium" panose="02000000000000000000" pitchFamily="2" charset="0"/>
              </a:rPr>
              <a:t> </a:t>
            </a:r>
            <a:r>
              <a:rPr lang="en-US" sz="3600" dirty="0">
                <a:solidFill>
                  <a:srgbClr val="1315D6"/>
                </a:solidFill>
                <a:latin typeface="Avenir Next" panose="020B0503020202020204" pitchFamily="34" charset="0"/>
                <a:ea typeface="Roboto Medium" panose="02000000000000000000" pitchFamily="2" charset="0"/>
              </a:rPr>
              <a:t>defines</a:t>
            </a:r>
            <a:r>
              <a:rPr lang="en-US" sz="3600" spc="-4" dirty="0">
                <a:solidFill>
                  <a:srgbClr val="1315D6"/>
                </a:solidFill>
                <a:latin typeface="Avenir Next" panose="020B0503020202020204" pitchFamily="34" charset="0"/>
                <a:ea typeface="Roboto Medium" panose="02000000000000000000" pitchFamily="2" charset="0"/>
              </a:rPr>
              <a:t> fatal/warnings,</a:t>
            </a:r>
            <a:r>
              <a:rPr lang="en-US" sz="3600" spc="-238" dirty="0">
                <a:solidFill>
                  <a:srgbClr val="1315D6"/>
                </a:solidFill>
                <a:latin typeface="Avenir Next" panose="020B0503020202020204" pitchFamily="34" charset="0"/>
                <a:ea typeface="Roboto Medium" panose="02000000000000000000" pitchFamily="2" charset="0"/>
              </a:rPr>
              <a:t> </a:t>
            </a:r>
            <a:r>
              <a:rPr lang="en-US" sz="3600" dirty="0">
                <a:solidFill>
                  <a:srgbClr val="1315D6"/>
                </a:solidFill>
                <a:latin typeface="Avenir Next" panose="020B0503020202020204" pitchFamily="34" charset="0"/>
                <a:ea typeface="Roboto Medium" panose="02000000000000000000" pitchFamily="2" charset="0"/>
              </a:rPr>
              <a:t>other  defines the code of</a:t>
            </a:r>
            <a:r>
              <a:rPr lang="en-US" sz="3600" spc="-88" dirty="0">
                <a:solidFill>
                  <a:srgbClr val="1315D6"/>
                </a:solidFill>
                <a:latin typeface="Avenir Next" panose="020B0503020202020204" pitchFamily="34" charset="0"/>
                <a:ea typeface="Roboto Medium" panose="02000000000000000000" pitchFamily="2" charset="0"/>
              </a:rPr>
              <a:t> </a:t>
            </a:r>
            <a:r>
              <a:rPr lang="en-US" sz="3600" spc="9" dirty="0">
                <a:solidFill>
                  <a:srgbClr val="1315D6"/>
                </a:solidFill>
                <a:latin typeface="Avenir Next" panose="020B0503020202020204" pitchFamily="34" charset="0"/>
                <a:ea typeface="Roboto Medium" panose="02000000000000000000" pitchFamily="2" charset="0"/>
              </a:rPr>
              <a:t>alert</a:t>
            </a:r>
            <a:endParaRPr lang="en-US" sz="2400" dirty="0">
              <a:latin typeface="Avenir Next" panose="020B0503020202020204" pitchFamily="34" charset="0"/>
              <a:ea typeface="Roboto Medium" panose="02000000000000000000" pitchFamily="2" charset="0"/>
              <a:cs typeface="Times New Roman"/>
            </a:endParaRPr>
          </a:p>
          <a:p>
            <a:pPr marL="313781" marR="4483" indent="-235336">
              <a:lnSpc>
                <a:spcPct val="100000"/>
              </a:lnSpc>
              <a:spcBef>
                <a:spcPts val="529"/>
              </a:spcBef>
            </a:pPr>
            <a:r>
              <a:rPr lang="en-US" sz="3600" b="1" dirty="0">
                <a:latin typeface="Avenir Next" panose="020B0503020202020204" pitchFamily="34" charset="0"/>
                <a:ea typeface="Roboto Medium" panose="02000000000000000000" pitchFamily="2" charset="0"/>
              </a:rPr>
              <a:t>Fatal </a:t>
            </a:r>
            <a:r>
              <a:rPr lang="en-US" sz="3600" b="1" spc="-13" dirty="0">
                <a:latin typeface="Avenir Next" panose="020B0503020202020204" pitchFamily="34" charset="0"/>
                <a:ea typeface="Roboto Medium" panose="02000000000000000000" pitchFamily="2" charset="0"/>
              </a:rPr>
              <a:t>errors: </a:t>
            </a:r>
            <a:r>
              <a:rPr lang="en-US" sz="3600" dirty="0" err="1">
                <a:latin typeface="Avenir Next" panose="020B0503020202020204" pitchFamily="34" charset="0"/>
                <a:ea typeface="Roboto Medium" panose="02000000000000000000" pitchFamily="2" charset="0"/>
              </a:rPr>
              <a:t>decryption_failed</a:t>
            </a:r>
            <a:r>
              <a:rPr lang="en-US" sz="3600" dirty="0">
                <a:latin typeface="Avenir Next" panose="020B0503020202020204" pitchFamily="34" charset="0"/>
                <a:ea typeface="Roboto Medium" panose="02000000000000000000" pitchFamily="2" charset="0"/>
              </a:rPr>
              <a:t>, </a:t>
            </a:r>
            <a:r>
              <a:rPr lang="en-US" sz="3600" spc="-22" dirty="0" err="1">
                <a:latin typeface="Avenir Next" panose="020B0503020202020204" pitchFamily="34" charset="0"/>
                <a:ea typeface="Roboto Medium" panose="02000000000000000000" pitchFamily="2" charset="0"/>
              </a:rPr>
              <a:t>record_overflow</a:t>
            </a:r>
            <a:r>
              <a:rPr lang="en-US" sz="3600" spc="-22" dirty="0">
                <a:latin typeface="Avenir Next" panose="020B0503020202020204" pitchFamily="34" charset="0"/>
                <a:ea typeface="Roboto Medium" panose="02000000000000000000" pitchFamily="2" charset="0"/>
              </a:rPr>
              <a:t>,  </a:t>
            </a:r>
            <a:r>
              <a:rPr lang="en-US" sz="3600" spc="-4" dirty="0" err="1">
                <a:latin typeface="Avenir Next" panose="020B0503020202020204" pitchFamily="34" charset="0"/>
                <a:ea typeface="Roboto Medium" panose="02000000000000000000" pitchFamily="2" charset="0"/>
              </a:rPr>
              <a:t>unknown_ca</a:t>
            </a:r>
            <a:r>
              <a:rPr lang="en-US" sz="3600" spc="-4" dirty="0">
                <a:latin typeface="Avenir Next" panose="020B0503020202020204" pitchFamily="34" charset="0"/>
                <a:ea typeface="Roboto Medium" panose="02000000000000000000" pitchFamily="2" charset="0"/>
              </a:rPr>
              <a:t>, </a:t>
            </a:r>
            <a:r>
              <a:rPr lang="en-US" sz="3600" spc="-4" dirty="0" err="1">
                <a:latin typeface="Avenir Next" panose="020B0503020202020204" pitchFamily="34" charset="0"/>
                <a:ea typeface="Roboto Medium" panose="02000000000000000000" pitchFamily="2" charset="0"/>
              </a:rPr>
              <a:t>access_denied</a:t>
            </a:r>
            <a:r>
              <a:rPr lang="en-US" sz="3600" spc="-4" dirty="0">
                <a:latin typeface="Avenir Next" panose="020B0503020202020204" pitchFamily="34" charset="0"/>
                <a:ea typeface="Roboto Medium" panose="02000000000000000000" pitchFamily="2" charset="0"/>
              </a:rPr>
              <a:t>, </a:t>
            </a:r>
            <a:r>
              <a:rPr lang="en-US" sz="3600" spc="-26" dirty="0" err="1">
                <a:latin typeface="Avenir Next" panose="020B0503020202020204" pitchFamily="34" charset="0"/>
                <a:ea typeface="Roboto Medium" panose="02000000000000000000" pitchFamily="2" charset="0"/>
              </a:rPr>
              <a:t>decode_error</a:t>
            </a:r>
            <a:r>
              <a:rPr lang="en-US" sz="3600" spc="-26" dirty="0">
                <a:latin typeface="Avenir Next" panose="020B0503020202020204" pitchFamily="34" charset="0"/>
                <a:ea typeface="Roboto Medium" panose="02000000000000000000" pitchFamily="2" charset="0"/>
              </a:rPr>
              <a:t>,  </a:t>
            </a:r>
            <a:r>
              <a:rPr lang="en-US" sz="3600" spc="-4" dirty="0" err="1">
                <a:latin typeface="Avenir Next" panose="020B0503020202020204" pitchFamily="34" charset="0"/>
                <a:ea typeface="Roboto Medium" panose="02000000000000000000" pitchFamily="2" charset="0"/>
              </a:rPr>
              <a:t>export_restriction</a:t>
            </a:r>
            <a:r>
              <a:rPr lang="en-US" sz="3600" spc="-4" dirty="0">
                <a:latin typeface="Avenir Next" panose="020B0503020202020204" pitchFamily="34" charset="0"/>
                <a:ea typeface="Roboto Medium" panose="02000000000000000000" pitchFamily="2" charset="0"/>
              </a:rPr>
              <a:t>, </a:t>
            </a:r>
            <a:r>
              <a:rPr lang="en-US" sz="3600" spc="-9" dirty="0" err="1">
                <a:latin typeface="Avenir Next" panose="020B0503020202020204" pitchFamily="34" charset="0"/>
                <a:ea typeface="Roboto Medium" panose="02000000000000000000" pitchFamily="2" charset="0"/>
              </a:rPr>
              <a:t>protocol_version</a:t>
            </a:r>
            <a:r>
              <a:rPr lang="en-US" sz="3600" spc="-9" dirty="0">
                <a:latin typeface="Avenir Next" panose="020B0503020202020204" pitchFamily="34" charset="0"/>
                <a:ea typeface="Roboto Medium" panose="02000000000000000000" pitchFamily="2" charset="0"/>
              </a:rPr>
              <a:t>,</a:t>
            </a:r>
            <a:r>
              <a:rPr lang="en-US" sz="3600" spc="-437" dirty="0">
                <a:latin typeface="Avenir Next" panose="020B0503020202020204" pitchFamily="34" charset="0"/>
                <a:ea typeface="Roboto Medium" panose="02000000000000000000" pitchFamily="2" charset="0"/>
              </a:rPr>
              <a:t> </a:t>
            </a:r>
            <a:r>
              <a:rPr lang="en-US" sz="3600" spc="-9" dirty="0" err="1">
                <a:latin typeface="Avenir Next" panose="020B0503020202020204" pitchFamily="34" charset="0"/>
                <a:ea typeface="Roboto Medium" panose="02000000000000000000" pitchFamily="2" charset="0"/>
              </a:rPr>
              <a:t>insufficient_security</a:t>
            </a:r>
            <a:r>
              <a:rPr lang="en-US" sz="3600" spc="-9" dirty="0">
                <a:latin typeface="Avenir Next" panose="020B0503020202020204" pitchFamily="34" charset="0"/>
                <a:ea typeface="Roboto Medium" panose="02000000000000000000" pitchFamily="2" charset="0"/>
              </a:rPr>
              <a:t>,  </a:t>
            </a:r>
            <a:r>
              <a:rPr lang="en-US" sz="3600" spc="-9" dirty="0" err="1">
                <a:latin typeface="Avenir Next" panose="020B0503020202020204" pitchFamily="34" charset="0"/>
                <a:ea typeface="Roboto Medium" panose="02000000000000000000" pitchFamily="2" charset="0"/>
              </a:rPr>
              <a:t>internal_error</a:t>
            </a:r>
            <a:endParaRPr lang="en-US" sz="2400" dirty="0">
              <a:latin typeface="Avenir Next" panose="020B0503020202020204" pitchFamily="34" charset="0"/>
              <a:ea typeface="Roboto Medium" panose="02000000000000000000" pitchFamily="2" charset="0"/>
              <a:cs typeface="Times New Roman"/>
            </a:endParaRPr>
          </a:p>
          <a:p>
            <a:pPr marL="313781" marR="1564985" indent="-235336">
              <a:lnSpc>
                <a:spcPct val="100000"/>
              </a:lnSpc>
              <a:spcBef>
                <a:spcPts val="529"/>
              </a:spcBef>
            </a:pPr>
            <a:r>
              <a:rPr lang="en-US" sz="3600" b="1" spc="-4" dirty="0">
                <a:latin typeface="Avenir Next" panose="020B0503020202020204" pitchFamily="34" charset="0"/>
                <a:ea typeface="Roboto Medium" panose="02000000000000000000" pitchFamily="2" charset="0"/>
              </a:rPr>
              <a:t>Other </a:t>
            </a:r>
            <a:r>
              <a:rPr lang="en-US" sz="3600" b="1" spc="-13" dirty="0">
                <a:latin typeface="Avenir Next" panose="020B0503020202020204" pitchFamily="34" charset="0"/>
                <a:ea typeface="Roboto Medium" panose="02000000000000000000" pitchFamily="2" charset="0"/>
              </a:rPr>
              <a:t>errors: </a:t>
            </a:r>
            <a:r>
              <a:rPr lang="en-US" sz="3600" spc="-22" dirty="0" err="1">
                <a:latin typeface="Avenir Next" panose="020B0503020202020204" pitchFamily="34" charset="0"/>
                <a:ea typeface="Roboto Medium" panose="02000000000000000000" pitchFamily="2" charset="0"/>
              </a:rPr>
              <a:t>decrypt_error</a:t>
            </a:r>
            <a:r>
              <a:rPr lang="en-US" sz="3600" spc="-22" dirty="0">
                <a:latin typeface="Avenir Next" panose="020B0503020202020204" pitchFamily="34" charset="0"/>
                <a:ea typeface="Roboto Medium" panose="02000000000000000000" pitchFamily="2" charset="0"/>
              </a:rPr>
              <a:t>,</a:t>
            </a:r>
            <a:r>
              <a:rPr lang="en-US" sz="3600" spc="-419" dirty="0">
                <a:latin typeface="Avenir Next" panose="020B0503020202020204" pitchFamily="34" charset="0"/>
                <a:ea typeface="Roboto Medium" panose="02000000000000000000" pitchFamily="2" charset="0"/>
              </a:rPr>
              <a:t> </a:t>
            </a:r>
            <a:r>
              <a:rPr lang="en-US" sz="3600" spc="-4" dirty="0" err="1">
                <a:latin typeface="Avenir Next" panose="020B0503020202020204" pitchFamily="34" charset="0"/>
                <a:ea typeface="Roboto Medium" panose="02000000000000000000" pitchFamily="2" charset="0"/>
              </a:rPr>
              <a:t>user_cancelled</a:t>
            </a:r>
            <a:r>
              <a:rPr lang="en-US" sz="3600" spc="-4" dirty="0">
                <a:latin typeface="Avenir Next" panose="020B0503020202020204" pitchFamily="34" charset="0"/>
                <a:ea typeface="Roboto Medium" panose="02000000000000000000" pitchFamily="2" charset="0"/>
              </a:rPr>
              <a:t>,  </a:t>
            </a:r>
            <a:r>
              <a:rPr lang="en-US" sz="3600" spc="-9" dirty="0" err="1">
                <a:latin typeface="Avenir Next" panose="020B0503020202020204" pitchFamily="34" charset="0"/>
                <a:ea typeface="Roboto Medium" panose="02000000000000000000" pitchFamily="2" charset="0"/>
              </a:rPr>
              <a:t>no_renegotiation</a:t>
            </a:r>
            <a:endParaRPr lang="en-US" sz="2400" dirty="0">
              <a:latin typeface="Avenir Next" panose="020B0503020202020204" pitchFamily="34" charset="0"/>
              <a:ea typeface="Roboto Medium" panose="02000000000000000000" pitchFamily="2" charset="0"/>
              <a:cs typeface="Times New Roman"/>
            </a:endParaRPr>
          </a:p>
        </p:txBody>
      </p:sp>
    </p:spTree>
    <p:custDataLst>
      <p:tags r:id="rId1"/>
    </p:custDataLst>
    <p:extLst>
      <p:ext uri="{BB962C8B-B14F-4D97-AF65-F5344CB8AC3E}">
        <p14:creationId xmlns:p14="http://schemas.microsoft.com/office/powerpoint/2010/main" val="2782833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607673"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Handshake Protocol</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8090" y="927652"/>
            <a:ext cx="12192000" cy="59303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206">
              <a:lnSpc>
                <a:spcPct val="100000"/>
              </a:lnSpc>
            </a:pPr>
            <a:r>
              <a:rPr lang="en-US" sz="4800" spc="-4" dirty="0">
                <a:latin typeface="Avenir Next" panose="020B0503020202020204" pitchFamily="34" charset="0"/>
                <a:ea typeface="Roboto Medium" panose="02000000000000000000" pitchFamily="2" charset="0"/>
                <a:cs typeface="Gill Sans MT"/>
              </a:rPr>
              <a:t> </a:t>
            </a:r>
            <a:r>
              <a:rPr lang="en-US" sz="4800" b="1" spc="-4" dirty="0">
                <a:latin typeface="Avenir Next" panose="020B0503020202020204" pitchFamily="34" charset="0"/>
                <a:ea typeface="Roboto Medium" panose="02000000000000000000" pitchFamily="2" charset="0"/>
                <a:cs typeface="Gill Sans MT"/>
              </a:rPr>
              <a:t>Negotiate </a:t>
            </a:r>
            <a:r>
              <a:rPr lang="en-US" sz="4800" b="1" spc="-18" dirty="0">
                <a:latin typeface="Avenir Next" panose="020B0503020202020204" pitchFamily="34" charset="0"/>
                <a:ea typeface="Roboto Medium" panose="02000000000000000000" pitchFamily="2" charset="0"/>
                <a:cs typeface="Gill Sans MT"/>
              </a:rPr>
              <a:t>Cipher-Suite</a:t>
            </a:r>
            <a:r>
              <a:rPr lang="en-US" sz="4800" b="1" spc="-216" dirty="0">
                <a:latin typeface="Avenir Next" panose="020B0503020202020204" pitchFamily="34" charset="0"/>
                <a:ea typeface="Roboto Medium" panose="02000000000000000000" pitchFamily="2" charset="0"/>
                <a:cs typeface="Gill Sans MT"/>
              </a:rPr>
              <a:t> </a:t>
            </a:r>
            <a:r>
              <a:rPr lang="en-US" sz="4800" b="1" spc="-4" dirty="0">
                <a:latin typeface="Avenir Next" panose="020B0503020202020204" pitchFamily="34" charset="0"/>
                <a:ea typeface="Roboto Medium" panose="02000000000000000000" pitchFamily="2" charset="0"/>
                <a:cs typeface="Gill Sans MT"/>
              </a:rPr>
              <a:t>Algorithms</a:t>
            </a:r>
            <a:endParaRPr lang="en-US" sz="4800" b="1" dirty="0">
              <a:latin typeface="Avenir Next" panose="020B0503020202020204" pitchFamily="34" charset="0"/>
              <a:ea typeface="Roboto Medium" panose="02000000000000000000" pitchFamily="2" charset="0"/>
              <a:cs typeface="Gill Sans MT"/>
            </a:endParaRPr>
          </a:p>
          <a:p>
            <a:pPr marL="703743" lvl="1">
              <a:lnSpc>
                <a:spcPct val="100000"/>
              </a:lnSpc>
              <a:spcBef>
                <a:spcPts val="371"/>
              </a:spcBef>
            </a:pPr>
            <a:r>
              <a:rPr lang="en-US" sz="4400" dirty="0">
                <a:solidFill>
                  <a:srgbClr val="464653"/>
                </a:solidFill>
                <a:latin typeface="Avenir Next" panose="020B0503020202020204" pitchFamily="34" charset="0"/>
                <a:ea typeface="Roboto Medium" panose="02000000000000000000" pitchFamily="2" charset="0"/>
                <a:cs typeface="Gill Sans MT"/>
              </a:rPr>
              <a:t> Symmetric cipher to</a:t>
            </a:r>
            <a:r>
              <a:rPr lang="en-US" sz="4400" spc="-57" dirty="0">
                <a:solidFill>
                  <a:srgbClr val="464653"/>
                </a:solidFill>
                <a:latin typeface="Avenir Next" panose="020B0503020202020204" pitchFamily="34" charset="0"/>
                <a:ea typeface="Roboto Medium" panose="02000000000000000000" pitchFamily="2" charset="0"/>
                <a:cs typeface="Gill Sans MT"/>
              </a:rPr>
              <a:t> </a:t>
            </a:r>
            <a:r>
              <a:rPr lang="en-US" sz="4400" dirty="0">
                <a:solidFill>
                  <a:srgbClr val="464653"/>
                </a:solidFill>
                <a:latin typeface="Avenir Next" panose="020B0503020202020204" pitchFamily="34" charset="0"/>
                <a:ea typeface="Roboto Medium" panose="02000000000000000000" pitchFamily="2" charset="0"/>
                <a:cs typeface="Gill Sans MT"/>
              </a:rPr>
              <a:t>use</a:t>
            </a:r>
            <a:endParaRPr lang="en-US" sz="4400" dirty="0">
              <a:latin typeface="Avenir Next" panose="020B0503020202020204" pitchFamily="34" charset="0"/>
              <a:ea typeface="Roboto Medium" panose="02000000000000000000" pitchFamily="2" charset="0"/>
              <a:cs typeface="Gill Sans MT"/>
            </a:endParaRPr>
          </a:p>
          <a:p>
            <a:pPr marL="703743" lvl="1">
              <a:lnSpc>
                <a:spcPct val="100000"/>
              </a:lnSpc>
              <a:spcBef>
                <a:spcPts val="459"/>
              </a:spcBef>
            </a:pPr>
            <a:r>
              <a:rPr lang="en-US" sz="4400" spc="-57" dirty="0">
                <a:solidFill>
                  <a:srgbClr val="464653"/>
                </a:solidFill>
                <a:latin typeface="Avenir Next" panose="020B0503020202020204" pitchFamily="34" charset="0"/>
                <a:ea typeface="Roboto Medium" panose="02000000000000000000" pitchFamily="2" charset="0"/>
                <a:cs typeface="Gill Sans MT"/>
              </a:rPr>
              <a:t> Key </a:t>
            </a:r>
            <a:r>
              <a:rPr lang="en-US" sz="4400" dirty="0">
                <a:solidFill>
                  <a:srgbClr val="464653"/>
                </a:solidFill>
                <a:latin typeface="Avenir Next" panose="020B0503020202020204" pitchFamily="34" charset="0"/>
                <a:ea typeface="Roboto Medium" panose="02000000000000000000" pitchFamily="2" charset="0"/>
                <a:cs typeface="Gill Sans MT"/>
              </a:rPr>
              <a:t>exchange</a:t>
            </a:r>
            <a:r>
              <a:rPr lang="en-US" sz="4400" spc="13" dirty="0">
                <a:solidFill>
                  <a:srgbClr val="464653"/>
                </a:solidFill>
                <a:latin typeface="Avenir Next" panose="020B0503020202020204" pitchFamily="34" charset="0"/>
                <a:ea typeface="Roboto Medium" panose="02000000000000000000" pitchFamily="2" charset="0"/>
                <a:cs typeface="Gill Sans MT"/>
              </a:rPr>
              <a:t> </a:t>
            </a:r>
            <a:r>
              <a:rPr lang="en-US" sz="4400" dirty="0">
                <a:solidFill>
                  <a:srgbClr val="464653"/>
                </a:solidFill>
                <a:latin typeface="Avenir Next" panose="020B0503020202020204" pitchFamily="34" charset="0"/>
                <a:ea typeface="Roboto Medium" panose="02000000000000000000" pitchFamily="2" charset="0"/>
                <a:cs typeface="Gill Sans MT"/>
              </a:rPr>
              <a:t>method</a:t>
            </a:r>
            <a:endParaRPr lang="en-US" sz="4400" dirty="0">
              <a:latin typeface="Avenir Next" panose="020B0503020202020204" pitchFamily="34" charset="0"/>
              <a:ea typeface="Roboto Medium" panose="02000000000000000000" pitchFamily="2" charset="0"/>
              <a:cs typeface="Gill Sans MT"/>
            </a:endParaRPr>
          </a:p>
          <a:p>
            <a:pPr marL="703743" lvl="1">
              <a:lnSpc>
                <a:spcPct val="100000"/>
              </a:lnSpc>
              <a:spcBef>
                <a:spcPts val="459"/>
              </a:spcBef>
            </a:pPr>
            <a:r>
              <a:rPr lang="en-US" sz="4400" dirty="0">
                <a:solidFill>
                  <a:srgbClr val="464653"/>
                </a:solidFill>
                <a:latin typeface="Avenir Next" panose="020B0503020202020204" pitchFamily="34" charset="0"/>
                <a:ea typeface="Roboto Medium" panose="02000000000000000000" pitchFamily="2" charset="0"/>
                <a:cs typeface="Gill Sans MT"/>
              </a:rPr>
              <a:t> Message digest</a:t>
            </a:r>
            <a:r>
              <a:rPr lang="en-US" sz="4400" spc="-49" dirty="0">
                <a:solidFill>
                  <a:srgbClr val="464653"/>
                </a:solidFill>
                <a:latin typeface="Avenir Next" panose="020B0503020202020204" pitchFamily="34" charset="0"/>
                <a:ea typeface="Roboto Medium" panose="02000000000000000000" pitchFamily="2" charset="0"/>
                <a:cs typeface="Gill Sans MT"/>
              </a:rPr>
              <a:t> </a:t>
            </a:r>
            <a:r>
              <a:rPr lang="en-US" sz="4400" dirty="0">
                <a:solidFill>
                  <a:srgbClr val="464653"/>
                </a:solidFill>
                <a:latin typeface="Avenir Next" panose="020B0503020202020204" pitchFamily="34" charset="0"/>
                <a:ea typeface="Roboto Medium" panose="02000000000000000000" pitchFamily="2" charset="0"/>
                <a:cs typeface="Gill Sans MT"/>
              </a:rPr>
              <a:t>function</a:t>
            </a:r>
            <a:endParaRPr lang="en-US" sz="4400" dirty="0">
              <a:latin typeface="Avenir Next" panose="020B0503020202020204" pitchFamily="34" charset="0"/>
              <a:ea typeface="Roboto Medium" panose="02000000000000000000" pitchFamily="2" charset="0"/>
              <a:cs typeface="Gill Sans MT"/>
            </a:endParaRPr>
          </a:p>
          <a:p>
            <a:pPr marL="11206">
              <a:lnSpc>
                <a:spcPct val="100000"/>
              </a:lnSpc>
              <a:spcBef>
                <a:spcPts val="547"/>
              </a:spcBef>
            </a:pPr>
            <a:r>
              <a:rPr lang="en-US" sz="4800" b="1" dirty="0">
                <a:latin typeface="Avenir Next" panose="020B0503020202020204" pitchFamily="34" charset="0"/>
                <a:ea typeface="Roboto Medium" panose="02000000000000000000" pitchFamily="2" charset="0"/>
                <a:cs typeface="Gill Sans MT"/>
              </a:rPr>
              <a:t> Negotiate protocol version</a:t>
            </a:r>
            <a:r>
              <a:rPr lang="en-US" sz="4800" dirty="0">
                <a:latin typeface="Avenir Next" panose="020B0503020202020204" pitchFamily="34" charset="0"/>
                <a:ea typeface="Roboto Medium" panose="02000000000000000000" pitchFamily="2" charset="0"/>
                <a:cs typeface="Gill Sans MT"/>
              </a:rPr>
              <a:t>  </a:t>
            </a:r>
          </a:p>
          <a:p>
            <a:pPr marL="11206">
              <a:lnSpc>
                <a:spcPct val="100000"/>
              </a:lnSpc>
              <a:spcBef>
                <a:spcPts val="547"/>
              </a:spcBef>
            </a:pPr>
            <a:r>
              <a:rPr lang="en-US" sz="4800" dirty="0">
                <a:latin typeface="Avenir Next" panose="020B0503020202020204" pitchFamily="34" charset="0"/>
                <a:ea typeface="Roboto Medium" panose="02000000000000000000" pitchFamily="2" charset="0"/>
                <a:cs typeface="Gill Sans MT"/>
              </a:rPr>
              <a:t> </a:t>
            </a:r>
            <a:r>
              <a:rPr lang="en-US" sz="4800" b="1" dirty="0">
                <a:latin typeface="Avenir Next" panose="020B0503020202020204" pitchFamily="34" charset="0"/>
                <a:ea typeface="Roboto Medium" panose="02000000000000000000" pitchFamily="2" charset="0"/>
                <a:cs typeface="Gill Sans MT"/>
              </a:rPr>
              <a:t>Establish the </a:t>
            </a:r>
            <a:r>
              <a:rPr lang="en-US" sz="4800" b="1" spc="-9" dirty="0">
                <a:latin typeface="Avenir Next" panose="020B0503020202020204" pitchFamily="34" charset="0"/>
                <a:ea typeface="Roboto Medium" panose="02000000000000000000" pitchFamily="2" charset="0"/>
                <a:cs typeface="Gill Sans MT"/>
              </a:rPr>
              <a:t>shared </a:t>
            </a:r>
            <a:r>
              <a:rPr lang="en-US" sz="4800" b="1" dirty="0">
                <a:latin typeface="Avenir Next" panose="020B0503020202020204" pitchFamily="34" charset="0"/>
                <a:ea typeface="Roboto Medium" panose="02000000000000000000" pitchFamily="2" charset="0"/>
                <a:cs typeface="Gill Sans MT"/>
              </a:rPr>
              <a:t>master</a:t>
            </a:r>
            <a:r>
              <a:rPr lang="en-US" sz="4800" b="1" spc="-40" dirty="0">
                <a:latin typeface="Avenir Next" panose="020B0503020202020204" pitchFamily="34" charset="0"/>
                <a:ea typeface="Roboto Medium" panose="02000000000000000000" pitchFamily="2" charset="0"/>
                <a:cs typeface="Gill Sans MT"/>
              </a:rPr>
              <a:t> </a:t>
            </a:r>
            <a:r>
              <a:rPr lang="en-US" sz="4800" b="1" spc="-9" dirty="0">
                <a:latin typeface="Avenir Next" panose="020B0503020202020204" pitchFamily="34" charset="0"/>
                <a:ea typeface="Roboto Medium" panose="02000000000000000000" pitchFamily="2" charset="0"/>
                <a:cs typeface="Gill Sans MT"/>
              </a:rPr>
              <a:t>secret</a:t>
            </a:r>
            <a:endParaRPr lang="en-US" sz="4800" b="1" dirty="0">
              <a:latin typeface="Avenir Next" panose="020B0503020202020204" pitchFamily="34" charset="0"/>
              <a:ea typeface="Roboto Medium" panose="02000000000000000000" pitchFamily="2" charset="0"/>
              <a:cs typeface="Gill Sans MT"/>
            </a:endParaRPr>
          </a:p>
          <a:p>
            <a:pPr marL="246543" marR="4483" indent="-235336">
              <a:lnSpc>
                <a:spcPct val="100000"/>
              </a:lnSpc>
              <a:spcBef>
                <a:spcPts val="688"/>
              </a:spcBef>
            </a:pPr>
            <a:r>
              <a:rPr lang="en-US" sz="4800" spc="-4" dirty="0">
                <a:latin typeface="Avenir Next" panose="020B0503020202020204" pitchFamily="34" charset="0"/>
                <a:ea typeface="Roboto Medium" panose="02000000000000000000" pitchFamily="2" charset="0"/>
                <a:cs typeface="Gill Sans MT"/>
              </a:rPr>
              <a:t> </a:t>
            </a:r>
            <a:r>
              <a:rPr lang="en-US" sz="4800" b="1" spc="-4" dirty="0">
                <a:latin typeface="Avenir Next" panose="020B0503020202020204" pitchFamily="34" charset="0"/>
                <a:ea typeface="Roboto Medium" panose="02000000000000000000" pitchFamily="2" charset="0"/>
                <a:cs typeface="Gill Sans MT"/>
              </a:rPr>
              <a:t>Optionally, authenticate </a:t>
            </a:r>
            <a:r>
              <a:rPr lang="en-US" sz="4800" b="1" dirty="0">
                <a:latin typeface="Avenir Next" panose="020B0503020202020204" pitchFamily="34" charset="0"/>
                <a:ea typeface="Roboto Medium" panose="02000000000000000000" pitchFamily="2" charset="0"/>
                <a:cs typeface="Gill Sans MT"/>
              </a:rPr>
              <a:t>server and/or  client</a:t>
            </a:r>
          </a:p>
        </p:txBody>
      </p:sp>
    </p:spTree>
    <p:custDataLst>
      <p:tags r:id="rId1"/>
    </p:custDataLst>
    <p:extLst>
      <p:ext uri="{BB962C8B-B14F-4D97-AF65-F5344CB8AC3E}">
        <p14:creationId xmlns:p14="http://schemas.microsoft.com/office/powerpoint/2010/main" val="2835009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6859464"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1.2 Handshake Protocol</a:t>
            </a:r>
            <a:endParaRPr lang="en-US" sz="4000" dirty="0">
              <a:solidFill>
                <a:schemeClr val="bg1"/>
              </a:solidFill>
              <a:latin typeface="Playfair Display Medium" pitchFamily="2" charset="77"/>
            </a:endParaRPr>
          </a:p>
        </p:txBody>
      </p:sp>
      <p:sp>
        <p:nvSpPr>
          <p:cNvPr id="2" name="object 3">
            <a:extLst>
              <a:ext uri="{FF2B5EF4-FFF2-40B4-BE49-F238E27FC236}">
                <a16:creationId xmlns:a16="http://schemas.microsoft.com/office/drawing/2014/main" id="{66C2A2B8-4417-F88C-5D34-0639C3E83943}"/>
              </a:ext>
            </a:extLst>
          </p:cNvPr>
          <p:cNvSpPr/>
          <p:nvPr/>
        </p:nvSpPr>
        <p:spPr>
          <a:xfrm>
            <a:off x="2269629" y="1308735"/>
            <a:ext cx="665873" cy="887831"/>
          </a:xfrm>
          <a:prstGeom prst="rect">
            <a:avLst/>
          </a:prstGeom>
          <a:blipFill>
            <a:blip r:embed="rId4" cstate="print"/>
            <a:stretch>
              <a:fillRect/>
            </a:stretch>
          </a:blipFill>
        </p:spPr>
        <p:txBody>
          <a:bodyPr wrap="square" lIns="0" tIns="0" rIns="0" bIns="0" rtlCol="0"/>
          <a:lstStyle/>
          <a:p>
            <a:endParaRPr sz="1588"/>
          </a:p>
        </p:txBody>
      </p:sp>
      <p:sp>
        <p:nvSpPr>
          <p:cNvPr id="3" name="object 4">
            <a:extLst>
              <a:ext uri="{FF2B5EF4-FFF2-40B4-BE49-F238E27FC236}">
                <a16:creationId xmlns:a16="http://schemas.microsoft.com/office/drawing/2014/main" id="{C10C158C-1132-0718-9C6F-D351E01D1A4A}"/>
              </a:ext>
            </a:extLst>
          </p:cNvPr>
          <p:cNvSpPr/>
          <p:nvPr/>
        </p:nvSpPr>
        <p:spPr>
          <a:xfrm>
            <a:off x="3077415" y="1584568"/>
            <a:ext cx="424833" cy="443909"/>
          </a:xfrm>
          <a:prstGeom prst="rect">
            <a:avLst/>
          </a:prstGeom>
          <a:blipFill>
            <a:blip r:embed="rId5" cstate="print"/>
            <a:stretch>
              <a:fillRect/>
            </a:stretch>
          </a:blipFill>
        </p:spPr>
        <p:txBody>
          <a:bodyPr wrap="square" lIns="0" tIns="0" rIns="0" bIns="0" rtlCol="0"/>
          <a:lstStyle/>
          <a:p>
            <a:endParaRPr sz="1588"/>
          </a:p>
        </p:txBody>
      </p:sp>
      <p:sp>
        <p:nvSpPr>
          <p:cNvPr id="4" name="object 5">
            <a:extLst>
              <a:ext uri="{FF2B5EF4-FFF2-40B4-BE49-F238E27FC236}">
                <a16:creationId xmlns:a16="http://schemas.microsoft.com/office/drawing/2014/main" id="{1F3592BF-8B3D-CA39-584A-F469D6DE7037}"/>
              </a:ext>
            </a:extLst>
          </p:cNvPr>
          <p:cNvSpPr/>
          <p:nvPr/>
        </p:nvSpPr>
        <p:spPr>
          <a:xfrm>
            <a:off x="8021584" y="1570560"/>
            <a:ext cx="649121" cy="608804"/>
          </a:xfrm>
          <a:prstGeom prst="rect">
            <a:avLst/>
          </a:prstGeom>
          <a:blipFill>
            <a:blip r:embed="rId6" cstate="print"/>
            <a:stretch>
              <a:fillRect/>
            </a:stretch>
          </a:blipFill>
        </p:spPr>
        <p:txBody>
          <a:bodyPr wrap="square" lIns="0" tIns="0" rIns="0" bIns="0" rtlCol="0"/>
          <a:lstStyle/>
          <a:p>
            <a:endParaRPr sz="1588"/>
          </a:p>
        </p:txBody>
      </p:sp>
      <p:sp>
        <p:nvSpPr>
          <p:cNvPr id="7" name="object 6">
            <a:extLst>
              <a:ext uri="{FF2B5EF4-FFF2-40B4-BE49-F238E27FC236}">
                <a16:creationId xmlns:a16="http://schemas.microsoft.com/office/drawing/2014/main" id="{0289C2FB-9927-FBAC-96FF-A2B3AEA24567}"/>
              </a:ext>
            </a:extLst>
          </p:cNvPr>
          <p:cNvSpPr/>
          <p:nvPr/>
        </p:nvSpPr>
        <p:spPr>
          <a:xfrm>
            <a:off x="7293158" y="1428387"/>
            <a:ext cx="1312623" cy="216984"/>
          </a:xfrm>
          <a:prstGeom prst="rect">
            <a:avLst/>
          </a:prstGeom>
          <a:blipFill>
            <a:blip r:embed="rId7"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50441020-4DAD-820E-3C57-5D412115B39E}"/>
              </a:ext>
            </a:extLst>
          </p:cNvPr>
          <p:cNvSpPr/>
          <p:nvPr/>
        </p:nvSpPr>
        <p:spPr>
          <a:xfrm>
            <a:off x="8712372" y="1786912"/>
            <a:ext cx="412947" cy="550601"/>
          </a:xfrm>
          <a:prstGeom prst="rect">
            <a:avLst/>
          </a:prstGeom>
          <a:blipFill>
            <a:blip r:embed="rId8"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6CCAF482-454A-DA4E-55C0-0A8AEED5FC7F}"/>
              </a:ext>
            </a:extLst>
          </p:cNvPr>
          <p:cNvSpPr/>
          <p:nvPr/>
        </p:nvSpPr>
        <p:spPr>
          <a:xfrm>
            <a:off x="3496897" y="2288072"/>
            <a:ext cx="4560234" cy="324971"/>
          </a:xfrm>
          <a:custGeom>
            <a:avLst/>
            <a:gdLst/>
            <a:ahLst/>
            <a:cxnLst/>
            <a:rect l="l" t="t" r="r" b="b"/>
            <a:pathLst>
              <a:path w="5168265" h="368300">
                <a:moveTo>
                  <a:pt x="4984013" y="0"/>
                </a:moveTo>
                <a:lnTo>
                  <a:pt x="0" y="0"/>
                </a:lnTo>
                <a:lnTo>
                  <a:pt x="184061" y="184061"/>
                </a:lnTo>
                <a:lnTo>
                  <a:pt x="0" y="368122"/>
                </a:lnTo>
                <a:lnTo>
                  <a:pt x="4984013" y="368122"/>
                </a:lnTo>
                <a:lnTo>
                  <a:pt x="5168061" y="184061"/>
                </a:lnTo>
                <a:lnTo>
                  <a:pt x="4984013" y="0"/>
                </a:lnTo>
                <a:close/>
              </a:path>
            </a:pathLst>
          </a:custGeom>
          <a:solidFill>
            <a:srgbClr val="8590B2"/>
          </a:solidFill>
        </p:spPr>
        <p:txBody>
          <a:bodyPr wrap="square" lIns="0" tIns="0" rIns="0" bIns="0" rtlCol="0"/>
          <a:lstStyle/>
          <a:p>
            <a:endParaRPr sz="1588"/>
          </a:p>
        </p:txBody>
      </p:sp>
      <p:sp>
        <p:nvSpPr>
          <p:cNvPr id="10" name="object 9">
            <a:extLst>
              <a:ext uri="{FF2B5EF4-FFF2-40B4-BE49-F238E27FC236}">
                <a16:creationId xmlns:a16="http://schemas.microsoft.com/office/drawing/2014/main" id="{48EF5B77-AA9B-3A2F-0947-2E8C7ABF8BAA}"/>
              </a:ext>
            </a:extLst>
          </p:cNvPr>
          <p:cNvSpPr/>
          <p:nvPr/>
        </p:nvSpPr>
        <p:spPr>
          <a:xfrm>
            <a:off x="3496897" y="2288072"/>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1" name="object 10">
            <a:extLst>
              <a:ext uri="{FF2B5EF4-FFF2-40B4-BE49-F238E27FC236}">
                <a16:creationId xmlns:a16="http://schemas.microsoft.com/office/drawing/2014/main" id="{17F23512-67ED-9739-D52D-3678BD93B56B}"/>
              </a:ext>
            </a:extLst>
          </p:cNvPr>
          <p:cNvSpPr/>
          <p:nvPr/>
        </p:nvSpPr>
        <p:spPr>
          <a:xfrm>
            <a:off x="3499037" y="2691406"/>
            <a:ext cx="4560234" cy="324971"/>
          </a:xfrm>
          <a:custGeom>
            <a:avLst/>
            <a:gdLst/>
            <a:ahLst/>
            <a:cxnLst/>
            <a:rect l="l" t="t" r="r" b="b"/>
            <a:pathLst>
              <a:path w="5168265" h="368300">
                <a:moveTo>
                  <a:pt x="5168061" y="0"/>
                </a:moveTo>
                <a:lnTo>
                  <a:pt x="184061" y="0"/>
                </a:lnTo>
                <a:lnTo>
                  <a:pt x="0" y="184061"/>
                </a:lnTo>
                <a:lnTo>
                  <a:pt x="184061" y="368109"/>
                </a:lnTo>
                <a:lnTo>
                  <a:pt x="5168061" y="368109"/>
                </a:lnTo>
                <a:lnTo>
                  <a:pt x="4984000" y="184061"/>
                </a:lnTo>
                <a:lnTo>
                  <a:pt x="5168061" y="0"/>
                </a:lnTo>
                <a:close/>
              </a:path>
            </a:pathLst>
          </a:custGeom>
          <a:solidFill>
            <a:srgbClr val="C69785"/>
          </a:solidFill>
        </p:spPr>
        <p:txBody>
          <a:bodyPr wrap="square" lIns="0" tIns="0" rIns="0" bIns="0" rtlCol="0"/>
          <a:lstStyle/>
          <a:p>
            <a:endParaRPr sz="1588"/>
          </a:p>
        </p:txBody>
      </p:sp>
      <p:sp>
        <p:nvSpPr>
          <p:cNvPr id="12" name="object 11">
            <a:extLst>
              <a:ext uri="{FF2B5EF4-FFF2-40B4-BE49-F238E27FC236}">
                <a16:creationId xmlns:a16="http://schemas.microsoft.com/office/drawing/2014/main" id="{B21CBD6B-4DB3-1177-1264-8DE36971FD2F}"/>
              </a:ext>
            </a:extLst>
          </p:cNvPr>
          <p:cNvSpPr/>
          <p:nvPr/>
        </p:nvSpPr>
        <p:spPr>
          <a:xfrm>
            <a:off x="3499033" y="2691399"/>
            <a:ext cx="4560234" cy="324971"/>
          </a:xfrm>
          <a:custGeom>
            <a:avLst/>
            <a:gdLst/>
            <a:ahLst/>
            <a:cxnLst/>
            <a:rect l="l" t="t" r="r" b="b"/>
            <a:pathLst>
              <a:path w="5168265" h="368300">
                <a:moveTo>
                  <a:pt x="5168065" y="368117"/>
                </a:moveTo>
                <a:lnTo>
                  <a:pt x="184059" y="368117"/>
                </a:lnTo>
                <a:lnTo>
                  <a:pt x="0" y="184058"/>
                </a:lnTo>
                <a:lnTo>
                  <a:pt x="184059" y="0"/>
                </a:lnTo>
                <a:lnTo>
                  <a:pt x="5168065" y="0"/>
                </a:lnTo>
                <a:lnTo>
                  <a:pt x="4984006" y="184058"/>
                </a:lnTo>
                <a:lnTo>
                  <a:pt x="5168065" y="368117"/>
                </a:lnTo>
                <a:close/>
              </a:path>
            </a:pathLst>
          </a:custGeom>
          <a:ln w="19049">
            <a:solidFill>
              <a:srgbClr val="775141"/>
            </a:solidFill>
          </a:ln>
        </p:spPr>
        <p:txBody>
          <a:bodyPr wrap="square" lIns="0" tIns="0" rIns="0" bIns="0" rtlCol="0"/>
          <a:lstStyle/>
          <a:p>
            <a:endParaRPr sz="1588"/>
          </a:p>
        </p:txBody>
      </p:sp>
      <p:sp>
        <p:nvSpPr>
          <p:cNvPr id="13" name="object 12">
            <a:extLst>
              <a:ext uri="{FF2B5EF4-FFF2-40B4-BE49-F238E27FC236}">
                <a16:creationId xmlns:a16="http://schemas.microsoft.com/office/drawing/2014/main" id="{3671097C-8667-79A4-3205-F908C0799EC9}"/>
              </a:ext>
            </a:extLst>
          </p:cNvPr>
          <p:cNvSpPr/>
          <p:nvPr/>
        </p:nvSpPr>
        <p:spPr>
          <a:xfrm>
            <a:off x="3496897" y="3100858"/>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4" name="object 13">
            <a:extLst>
              <a:ext uri="{FF2B5EF4-FFF2-40B4-BE49-F238E27FC236}">
                <a16:creationId xmlns:a16="http://schemas.microsoft.com/office/drawing/2014/main" id="{500440D8-570E-A8C1-031F-993DF1253208}"/>
              </a:ext>
            </a:extLst>
          </p:cNvPr>
          <p:cNvSpPr/>
          <p:nvPr/>
        </p:nvSpPr>
        <p:spPr>
          <a:xfrm>
            <a:off x="3496892" y="3100850"/>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6" y="184058"/>
                </a:lnTo>
                <a:lnTo>
                  <a:pt x="5168066" y="368117"/>
                </a:lnTo>
                <a:close/>
              </a:path>
            </a:pathLst>
          </a:custGeom>
          <a:ln w="19049">
            <a:solidFill>
              <a:srgbClr val="775141"/>
            </a:solidFill>
          </a:ln>
        </p:spPr>
        <p:txBody>
          <a:bodyPr wrap="square" lIns="0" tIns="0" rIns="0" bIns="0" rtlCol="0"/>
          <a:lstStyle/>
          <a:p>
            <a:endParaRPr sz="1588"/>
          </a:p>
        </p:txBody>
      </p:sp>
      <p:sp>
        <p:nvSpPr>
          <p:cNvPr id="15" name="object 14">
            <a:extLst>
              <a:ext uri="{FF2B5EF4-FFF2-40B4-BE49-F238E27FC236}">
                <a16:creationId xmlns:a16="http://schemas.microsoft.com/office/drawing/2014/main" id="{298225CB-B071-FC66-70E9-5BFCB77BE67C}"/>
              </a:ext>
            </a:extLst>
          </p:cNvPr>
          <p:cNvSpPr/>
          <p:nvPr/>
        </p:nvSpPr>
        <p:spPr>
          <a:xfrm>
            <a:off x="3496897" y="3510310"/>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6" name="object 15">
            <a:extLst>
              <a:ext uri="{FF2B5EF4-FFF2-40B4-BE49-F238E27FC236}">
                <a16:creationId xmlns:a16="http://schemas.microsoft.com/office/drawing/2014/main" id="{F950E074-2A8F-06D4-FE82-28E07C71FCF0}"/>
              </a:ext>
            </a:extLst>
          </p:cNvPr>
          <p:cNvSpPr/>
          <p:nvPr/>
        </p:nvSpPr>
        <p:spPr>
          <a:xfrm>
            <a:off x="3496892" y="351030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17" name="object 16">
            <a:extLst>
              <a:ext uri="{FF2B5EF4-FFF2-40B4-BE49-F238E27FC236}">
                <a16:creationId xmlns:a16="http://schemas.microsoft.com/office/drawing/2014/main" id="{AACC50F6-3C71-D3C2-EEF7-8FF3983BC588}"/>
              </a:ext>
            </a:extLst>
          </p:cNvPr>
          <p:cNvSpPr/>
          <p:nvPr/>
        </p:nvSpPr>
        <p:spPr>
          <a:xfrm>
            <a:off x="3496897" y="3897652"/>
            <a:ext cx="4560234" cy="324971"/>
          </a:xfrm>
          <a:custGeom>
            <a:avLst/>
            <a:gdLst/>
            <a:ahLst/>
            <a:cxnLst/>
            <a:rect l="l" t="t" r="r" b="b"/>
            <a:pathLst>
              <a:path w="5168265" h="368300">
                <a:moveTo>
                  <a:pt x="4984000" y="0"/>
                </a:moveTo>
                <a:lnTo>
                  <a:pt x="0" y="0"/>
                </a:lnTo>
                <a:lnTo>
                  <a:pt x="184061" y="184061"/>
                </a:lnTo>
                <a:lnTo>
                  <a:pt x="0" y="368109"/>
                </a:lnTo>
                <a:lnTo>
                  <a:pt x="4984000" y="368109"/>
                </a:lnTo>
                <a:lnTo>
                  <a:pt x="5168061" y="184061"/>
                </a:lnTo>
                <a:lnTo>
                  <a:pt x="4984000" y="0"/>
                </a:lnTo>
                <a:close/>
              </a:path>
            </a:pathLst>
          </a:custGeom>
          <a:solidFill>
            <a:srgbClr val="8590B2"/>
          </a:solidFill>
        </p:spPr>
        <p:txBody>
          <a:bodyPr wrap="square" lIns="0" tIns="0" rIns="0" bIns="0" rtlCol="0"/>
          <a:lstStyle/>
          <a:p>
            <a:endParaRPr sz="1588"/>
          </a:p>
        </p:txBody>
      </p:sp>
      <p:sp>
        <p:nvSpPr>
          <p:cNvPr id="18" name="object 17">
            <a:extLst>
              <a:ext uri="{FF2B5EF4-FFF2-40B4-BE49-F238E27FC236}">
                <a16:creationId xmlns:a16="http://schemas.microsoft.com/office/drawing/2014/main" id="{94F4BEE0-87CC-E1D9-B537-BE4B70A7FE67}"/>
              </a:ext>
            </a:extLst>
          </p:cNvPr>
          <p:cNvSpPr/>
          <p:nvPr/>
        </p:nvSpPr>
        <p:spPr>
          <a:xfrm>
            <a:off x="3496897" y="3897652"/>
            <a:ext cx="4560234" cy="324971"/>
          </a:xfrm>
          <a:custGeom>
            <a:avLst/>
            <a:gdLst/>
            <a:ahLst/>
            <a:cxnLst/>
            <a:rect l="l" t="t" r="r" b="b"/>
            <a:pathLst>
              <a:path w="5168265" h="368300">
                <a:moveTo>
                  <a:pt x="0" y="0"/>
                </a:moveTo>
                <a:lnTo>
                  <a:pt x="4984006" y="0"/>
                </a:lnTo>
                <a:lnTo>
                  <a:pt x="516806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9" name="object 18">
            <a:extLst>
              <a:ext uri="{FF2B5EF4-FFF2-40B4-BE49-F238E27FC236}">
                <a16:creationId xmlns:a16="http://schemas.microsoft.com/office/drawing/2014/main" id="{825DCA2D-EA05-F1CF-22BA-41BCFCD6C90B}"/>
              </a:ext>
            </a:extLst>
          </p:cNvPr>
          <p:cNvSpPr/>
          <p:nvPr/>
        </p:nvSpPr>
        <p:spPr>
          <a:xfrm>
            <a:off x="3496897" y="4278865"/>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0" name="object 19">
            <a:extLst>
              <a:ext uri="{FF2B5EF4-FFF2-40B4-BE49-F238E27FC236}">
                <a16:creationId xmlns:a16="http://schemas.microsoft.com/office/drawing/2014/main" id="{088DC0D2-2813-40F6-72F3-3DE0D74F5030}"/>
              </a:ext>
            </a:extLst>
          </p:cNvPr>
          <p:cNvSpPr/>
          <p:nvPr/>
        </p:nvSpPr>
        <p:spPr>
          <a:xfrm>
            <a:off x="3496897" y="4278865"/>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1" name="object 20">
            <a:extLst>
              <a:ext uri="{FF2B5EF4-FFF2-40B4-BE49-F238E27FC236}">
                <a16:creationId xmlns:a16="http://schemas.microsoft.com/office/drawing/2014/main" id="{A76FC1AB-91C7-65FC-A725-106EDF4C0B6C}"/>
              </a:ext>
            </a:extLst>
          </p:cNvPr>
          <p:cNvSpPr/>
          <p:nvPr/>
        </p:nvSpPr>
        <p:spPr>
          <a:xfrm>
            <a:off x="3496897" y="4660089"/>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2" name="object 21">
            <a:extLst>
              <a:ext uri="{FF2B5EF4-FFF2-40B4-BE49-F238E27FC236}">
                <a16:creationId xmlns:a16="http://schemas.microsoft.com/office/drawing/2014/main" id="{96CE261C-C010-E8FA-AC96-52E60A883EFD}"/>
              </a:ext>
            </a:extLst>
          </p:cNvPr>
          <p:cNvSpPr/>
          <p:nvPr/>
        </p:nvSpPr>
        <p:spPr>
          <a:xfrm>
            <a:off x="3496897" y="4660089"/>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3" name="object 22">
            <a:extLst>
              <a:ext uri="{FF2B5EF4-FFF2-40B4-BE49-F238E27FC236}">
                <a16:creationId xmlns:a16="http://schemas.microsoft.com/office/drawing/2014/main" id="{BCFBA040-E004-E3B3-5BDD-C60AF14873F4}"/>
              </a:ext>
            </a:extLst>
          </p:cNvPr>
          <p:cNvSpPr/>
          <p:nvPr/>
        </p:nvSpPr>
        <p:spPr>
          <a:xfrm>
            <a:off x="3496897" y="5063422"/>
            <a:ext cx="4560234" cy="324971"/>
          </a:xfrm>
          <a:custGeom>
            <a:avLst/>
            <a:gdLst/>
            <a:ahLst/>
            <a:cxnLst/>
            <a:rect l="l" t="t" r="r" b="b"/>
            <a:pathLst>
              <a:path w="5168265" h="368300">
                <a:moveTo>
                  <a:pt x="5168061" y="0"/>
                </a:moveTo>
                <a:lnTo>
                  <a:pt x="184061" y="0"/>
                </a:lnTo>
                <a:lnTo>
                  <a:pt x="0" y="184061"/>
                </a:lnTo>
                <a:lnTo>
                  <a:pt x="184061" y="368122"/>
                </a:lnTo>
                <a:lnTo>
                  <a:pt x="5168061" y="368122"/>
                </a:lnTo>
                <a:lnTo>
                  <a:pt x="4984000" y="184061"/>
                </a:lnTo>
                <a:lnTo>
                  <a:pt x="5168061" y="0"/>
                </a:lnTo>
                <a:close/>
              </a:path>
            </a:pathLst>
          </a:custGeom>
          <a:solidFill>
            <a:srgbClr val="C69785"/>
          </a:solidFill>
        </p:spPr>
        <p:txBody>
          <a:bodyPr wrap="square" lIns="0" tIns="0" rIns="0" bIns="0" rtlCol="0"/>
          <a:lstStyle/>
          <a:p>
            <a:endParaRPr sz="1588"/>
          </a:p>
        </p:txBody>
      </p:sp>
      <p:sp>
        <p:nvSpPr>
          <p:cNvPr id="24" name="object 23">
            <a:extLst>
              <a:ext uri="{FF2B5EF4-FFF2-40B4-BE49-F238E27FC236}">
                <a16:creationId xmlns:a16="http://schemas.microsoft.com/office/drawing/2014/main" id="{EF2F468A-2B03-C9C8-04D0-A05BC139E229}"/>
              </a:ext>
            </a:extLst>
          </p:cNvPr>
          <p:cNvSpPr/>
          <p:nvPr/>
        </p:nvSpPr>
        <p:spPr>
          <a:xfrm>
            <a:off x="3496892" y="5063426"/>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5" name="object 24">
            <a:extLst>
              <a:ext uri="{FF2B5EF4-FFF2-40B4-BE49-F238E27FC236}">
                <a16:creationId xmlns:a16="http://schemas.microsoft.com/office/drawing/2014/main" id="{EF5CAB71-CC72-EE96-5CE8-5A00B448A7DE}"/>
              </a:ext>
            </a:extLst>
          </p:cNvPr>
          <p:cNvSpPr/>
          <p:nvPr/>
        </p:nvSpPr>
        <p:spPr>
          <a:xfrm>
            <a:off x="3496897" y="5472874"/>
            <a:ext cx="4560234" cy="324971"/>
          </a:xfrm>
          <a:custGeom>
            <a:avLst/>
            <a:gdLst/>
            <a:ahLst/>
            <a:cxnLst/>
            <a:rect l="l" t="t" r="r" b="b"/>
            <a:pathLst>
              <a:path w="5168265" h="368300">
                <a:moveTo>
                  <a:pt x="5168061" y="0"/>
                </a:moveTo>
                <a:lnTo>
                  <a:pt x="184061" y="0"/>
                </a:lnTo>
                <a:lnTo>
                  <a:pt x="0" y="184061"/>
                </a:lnTo>
                <a:lnTo>
                  <a:pt x="184061" y="368115"/>
                </a:lnTo>
                <a:lnTo>
                  <a:pt x="5168061" y="368115"/>
                </a:lnTo>
                <a:lnTo>
                  <a:pt x="4984000" y="184061"/>
                </a:lnTo>
                <a:lnTo>
                  <a:pt x="5168061" y="0"/>
                </a:lnTo>
                <a:close/>
              </a:path>
            </a:pathLst>
          </a:custGeom>
          <a:solidFill>
            <a:srgbClr val="C69785"/>
          </a:solidFill>
        </p:spPr>
        <p:txBody>
          <a:bodyPr wrap="square" lIns="0" tIns="0" rIns="0" bIns="0" rtlCol="0"/>
          <a:lstStyle/>
          <a:p>
            <a:endParaRPr sz="1588"/>
          </a:p>
        </p:txBody>
      </p:sp>
      <p:sp>
        <p:nvSpPr>
          <p:cNvPr id="26" name="object 25">
            <a:extLst>
              <a:ext uri="{FF2B5EF4-FFF2-40B4-BE49-F238E27FC236}">
                <a16:creationId xmlns:a16="http://schemas.microsoft.com/office/drawing/2014/main" id="{02942A36-17B2-679F-3EC8-DEF3649411B3}"/>
              </a:ext>
            </a:extLst>
          </p:cNvPr>
          <p:cNvSpPr/>
          <p:nvPr/>
        </p:nvSpPr>
        <p:spPr>
          <a:xfrm>
            <a:off x="3496892" y="547287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7" name="object 26">
            <a:extLst>
              <a:ext uri="{FF2B5EF4-FFF2-40B4-BE49-F238E27FC236}">
                <a16:creationId xmlns:a16="http://schemas.microsoft.com/office/drawing/2014/main" id="{00526F85-36E7-D9DC-13A6-D52308A36924}"/>
              </a:ext>
            </a:extLst>
          </p:cNvPr>
          <p:cNvSpPr txBox="1"/>
          <p:nvPr/>
        </p:nvSpPr>
        <p:spPr>
          <a:xfrm>
            <a:off x="4114665" y="2168011"/>
            <a:ext cx="3329827" cy="3622787"/>
          </a:xfrm>
          <a:prstGeom prst="rect">
            <a:avLst/>
          </a:prstGeom>
        </p:spPr>
        <p:txBody>
          <a:bodyPr vert="horz" wrap="square" lIns="0" tIns="0" rIns="0" bIns="0" rtlCol="0">
            <a:spAutoFit/>
          </a:bodyPr>
          <a:lstStyle/>
          <a:p>
            <a:pPr marL="59394" marR="56593" indent="3922" algn="ctr">
              <a:lnSpc>
                <a:spcPct val="166700"/>
              </a:lnSpc>
            </a:pPr>
            <a:r>
              <a:rPr sz="1588" spc="-9" dirty="0">
                <a:latin typeface="Gill Sans MT"/>
                <a:cs typeface="Gill Sans MT"/>
              </a:rPr>
              <a:t>ClientHello(Version, Prefs, </a:t>
            </a:r>
            <a:r>
              <a:rPr sz="1588" spc="-4" dirty="0">
                <a:latin typeface="Gill Sans MT"/>
                <a:cs typeface="Gill Sans MT"/>
              </a:rPr>
              <a:t>Nonce</a:t>
            </a:r>
            <a:r>
              <a:rPr sz="1588" spc="-6" baseline="-20833" dirty="0">
                <a:latin typeface="Gill Sans MT"/>
                <a:cs typeface="Gill Sans MT"/>
              </a:rPr>
              <a:t>c</a:t>
            </a:r>
            <a:r>
              <a:rPr sz="1588" spc="-4" dirty="0">
                <a:latin typeface="Gill Sans MT"/>
                <a:cs typeface="Gill Sans MT"/>
              </a:rPr>
              <a:t>)  </a:t>
            </a:r>
            <a:r>
              <a:rPr sz="1588" spc="-9" dirty="0">
                <a:latin typeface="Arial"/>
                <a:cs typeface="Arial"/>
              </a:rPr>
              <a:t>ServerHello(Version, </a:t>
            </a:r>
            <a:r>
              <a:rPr sz="1588" dirty="0">
                <a:latin typeface="Arial"/>
                <a:cs typeface="Arial"/>
              </a:rPr>
              <a:t>Prefs, </a:t>
            </a:r>
            <a:r>
              <a:rPr sz="1588" spc="-4" dirty="0">
                <a:latin typeface="Arial"/>
                <a:cs typeface="Arial"/>
              </a:rPr>
              <a:t>Nonce</a:t>
            </a:r>
            <a:r>
              <a:rPr sz="1588" spc="-6" baseline="-20833" dirty="0">
                <a:latin typeface="Arial"/>
                <a:cs typeface="Arial"/>
              </a:rPr>
              <a:t>s</a:t>
            </a:r>
            <a:r>
              <a:rPr sz="1588" spc="-4" dirty="0">
                <a:latin typeface="Arial"/>
                <a:cs typeface="Arial"/>
              </a:rPr>
              <a:t>)  Certificates({C</a:t>
            </a:r>
            <a:r>
              <a:rPr sz="1588" spc="-6" baseline="-20833" dirty="0">
                <a:latin typeface="Arial"/>
                <a:cs typeface="Arial"/>
              </a:rPr>
              <a:t>BofA</a:t>
            </a:r>
            <a:r>
              <a:rPr sz="1588" spc="-4" dirty="0">
                <a:latin typeface="Arial"/>
                <a:cs typeface="Arial"/>
              </a:rPr>
              <a:t>, </a:t>
            </a:r>
            <a:r>
              <a:rPr sz="1588" spc="-9" dirty="0">
                <a:latin typeface="Arial"/>
                <a:cs typeface="Arial"/>
              </a:rPr>
              <a:t>C</a:t>
            </a:r>
            <a:r>
              <a:rPr sz="1588" spc="-13" baseline="-20833" dirty="0">
                <a:latin typeface="Arial"/>
                <a:cs typeface="Arial"/>
              </a:rPr>
              <a:t>Verisign</a:t>
            </a:r>
            <a:r>
              <a:rPr sz="1588" spc="-9" dirty="0">
                <a:latin typeface="Arial"/>
                <a:cs typeface="Arial"/>
              </a:rPr>
              <a:t>})  </a:t>
            </a:r>
            <a:r>
              <a:rPr sz="1588" dirty="0">
                <a:latin typeface="Arial"/>
                <a:cs typeface="Arial"/>
              </a:rPr>
              <a:t>ServerHelloDone</a:t>
            </a:r>
            <a:endParaRPr sz="1588">
              <a:latin typeface="Arial"/>
              <a:cs typeface="Arial"/>
            </a:endParaRPr>
          </a:p>
          <a:p>
            <a:pPr marR="4483" algn="r">
              <a:lnSpc>
                <a:spcPts val="953"/>
              </a:lnSpc>
              <a:spcBef>
                <a:spcPts val="1240"/>
              </a:spcBef>
            </a:pPr>
            <a:r>
              <a:rPr sz="1588" dirty="0">
                <a:latin typeface="Gill Sans MT"/>
                <a:cs typeface="Gill Sans MT"/>
              </a:rPr>
              <a:t>)</a:t>
            </a:r>
            <a:endParaRPr sz="1588">
              <a:latin typeface="Gill Sans MT"/>
              <a:cs typeface="Gill Sans MT"/>
            </a:endParaRPr>
          </a:p>
          <a:p>
            <a:pPr marR="58274" algn="ctr">
              <a:lnSpc>
                <a:spcPts val="953"/>
              </a:lnSpc>
            </a:pPr>
            <a:r>
              <a:rPr sz="1588" spc="-9" dirty="0">
                <a:latin typeface="Gill Sans MT"/>
                <a:cs typeface="Gill Sans MT"/>
              </a:rPr>
              <a:t>ClientKeyExchange({PreMasterKey}</a:t>
            </a:r>
            <a:r>
              <a:rPr sz="1588" spc="-13" baseline="-20833" dirty="0">
                <a:latin typeface="Gill Sans MT"/>
                <a:cs typeface="Gill Sans MT"/>
              </a:rPr>
              <a:t>P</a:t>
            </a:r>
            <a:r>
              <a:rPr sz="1588" spc="-13" baseline="-32407" dirty="0">
                <a:latin typeface="Gill Sans MT"/>
                <a:cs typeface="Gill Sans MT"/>
              </a:rPr>
              <a:t>BofA</a:t>
            </a:r>
            <a:endParaRPr sz="1588" baseline="-32407">
              <a:latin typeface="Gill Sans MT"/>
              <a:cs typeface="Gill Sans MT"/>
            </a:endParaRPr>
          </a:p>
          <a:p>
            <a:pPr algn="ctr">
              <a:spcBef>
                <a:spcPts val="1094"/>
              </a:spcBef>
            </a:pPr>
            <a:r>
              <a:rPr sz="1588" dirty="0">
                <a:latin typeface="Gill Sans MT"/>
                <a:cs typeface="Gill Sans MT"/>
              </a:rPr>
              <a:t>ChangeCipherSpec</a:t>
            </a:r>
            <a:endParaRPr sz="1588">
              <a:latin typeface="Gill Sans MT"/>
              <a:cs typeface="Gill Sans MT"/>
            </a:endParaRPr>
          </a:p>
          <a:p>
            <a:pPr algn="ctr">
              <a:spcBef>
                <a:spcPts val="1094"/>
              </a:spcBef>
            </a:pPr>
            <a:r>
              <a:rPr sz="1588" dirty="0">
                <a:latin typeface="Gill Sans MT"/>
                <a:cs typeface="Gill Sans MT"/>
              </a:rPr>
              <a:t>{Finished}</a:t>
            </a:r>
            <a:r>
              <a:rPr sz="1588" baseline="-20833" dirty="0">
                <a:latin typeface="Gill Sans MT"/>
                <a:cs typeface="Gill Sans MT"/>
              </a:rPr>
              <a:t>K</a:t>
            </a:r>
            <a:endParaRPr sz="1588" baseline="-20833">
              <a:latin typeface="Gill Sans MT"/>
              <a:cs typeface="Gill Sans MT"/>
            </a:endParaRPr>
          </a:p>
          <a:p>
            <a:pPr algn="ctr">
              <a:spcBef>
                <a:spcPts val="1174"/>
              </a:spcBef>
            </a:pPr>
            <a:r>
              <a:rPr sz="1588" dirty="0">
                <a:latin typeface="Arial"/>
                <a:cs typeface="Arial"/>
              </a:rPr>
              <a:t>ChangeCipherSpec</a:t>
            </a:r>
            <a:endParaRPr sz="1588">
              <a:latin typeface="Arial"/>
              <a:cs typeface="Arial"/>
            </a:endParaRPr>
          </a:p>
          <a:p>
            <a:pPr marL="2241" algn="ctr">
              <a:spcBef>
                <a:spcPts val="1293"/>
              </a:spcBef>
            </a:pPr>
            <a:r>
              <a:rPr sz="1588" spc="-4" dirty="0">
                <a:latin typeface="Arial"/>
                <a:cs typeface="Arial"/>
              </a:rPr>
              <a:t>{Finished}</a:t>
            </a:r>
            <a:r>
              <a:rPr sz="1588" spc="-6" baseline="-20833" dirty="0">
                <a:latin typeface="Arial"/>
                <a:cs typeface="Arial"/>
              </a:rPr>
              <a:t>K</a:t>
            </a:r>
            <a:endParaRPr sz="1588" baseline="-20833">
              <a:latin typeface="Arial"/>
              <a:cs typeface="Arial"/>
            </a:endParaRPr>
          </a:p>
        </p:txBody>
      </p:sp>
      <p:sp>
        <p:nvSpPr>
          <p:cNvPr id="28" name="object 27">
            <a:extLst>
              <a:ext uri="{FF2B5EF4-FFF2-40B4-BE49-F238E27FC236}">
                <a16:creationId xmlns:a16="http://schemas.microsoft.com/office/drawing/2014/main" id="{2826761F-11B1-AE85-676C-BE50A3168AE1}"/>
              </a:ext>
            </a:extLst>
          </p:cNvPr>
          <p:cNvSpPr/>
          <p:nvPr/>
        </p:nvSpPr>
        <p:spPr>
          <a:xfrm>
            <a:off x="7792817" y="3073347"/>
            <a:ext cx="2089337" cy="409574"/>
          </a:xfrm>
          <a:custGeom>
            <a:avLst/>
            <a:gdLst/>
            <a:ahLst/>
            <a:cxnLst/>
            <a:rect l="l" t="t" r="r" b="b"/>
            <a:pathLst>
              <a:path w="2367915" h="464185">
                <a:moveTo>
                  <a:pt x="2367394" y="193395"/>
                </a:moveTo>
                <a:lnTo>
                  <a:pt x="703605" y="193395"/>
                </a:lnTo>
                <a:lnTo>
                  <a:pt x="703605" y="464159"/>
                </a:lnTo>
                <a:lnTo>
                  <a:pt x="2367394" y="464159"/>
                </a:lnTo>
                <a:lnTo>
                  <a:pt x="2367394" y="193395"/>
                </a:lnTo>
                <a:close/>
              </a:path>
              <a:path w="2367915" h="464185">
                <a:moveTo>
                  <a:pt x="2367394" y="0"/>
                </a:moveTo>
                <a:lnTo>
                  <a:pt x="703605" y="0"/>
                </a:lnTo>
                <a:lnTo>
                  <a:pt x="703605" y="77355"/>
                </a:lnTo>
                <a:lnTo>
                  <a:pt x="0" y="227266"/>
                </a:lnTo>
                <a:lnTo>
                  <a:pt x="703605" y="193395"/>
                </a:lnTo>
                <a:lnTo>
                  <a:pt x="2367394" y="193395"/>
                </a:lnTo>
                <a:lnTo>
                  <a:pt x="2367394" y="0"/>
                </a:lnTo>
                <a:close/>
              </a:path>
            </a:pathLst>
          </a:custGeom>
          <a:solidFill>
            <a:srgbClr val="AEC5D6"/>
          </a:solidFill>
        </p:spPr>
        <p:txBody>
          <a:bodyPr wrap="square" lIns="0" tIns="0" rIns="0" bIns="0" rtlCol="0"/>
          <a:lstStyle/>
          <a:p>
            <a:endParaRPr sz="1588"/>
          </a:p>
        </p:txBody>
      </p:sp>
      <p:sp>
        <p:nvSpPr>
          <p:cNvPr id="29" name="object 28">
            <a:extLst>
              <a:ext uri="{FF2B5EF4-FFF2-40B4-BE49-F238E27FC236}">
                <a16:creationId xmlns:a16="http://schemas.microsoft.com/office/drawing/2014/main" id="{E3F70DF8-5CFB-A996-52B5-5804BAD74637}"/>
              </a:ext>
            </a:extLst>
          </p:cNvPr>
          <p:cNvSpPr/>
          <p:nvPr/>
        </p:nvSpPr>
        <p:spPr>
          <a:xfrm>
            <a:off x="7792810" y="3073347"/>
            <a:ext cx="2089337" cy="409574"/>
          </a:xfrm>
          <a:custGeom>
            <a:avLst/>
            <a:gdLst/>
            <a:ahLst/>
            <a:cxnLst/>
            <a:rect l="l" t="t" r="r" b="b"/>
            <a:pathLst>
              <a:path w="2367915" h="464185">
                <a:moveTo>
                  <a:pt x="703613" y="0"/>
                </a:moveTo>
                <a:lnTo>
                  <a:pt x="980910" y="0"/>
                </a:lnTo>
                <a:lnTo>
                  <a:pt x="1396855" y="0"/>
                </a:lnTo>
                <a:lnTo>
                  <a:pt x="2367392" y="0"/>
                </a:lnTo>
                <a:lnTo>
                  <a:pt x="2367392" y="77359"/>
                </a:lnTo>
                <a:lnTo>
                  <a:pt x="2367392" y="193399"/>
                </a:lnTo>
                <a:lnTo>
                  <a:pt x="2367392" y="464159"/>
                </a:lnTo>
                <a:lnTo>
                  <a:pt x="1396855" y="464159"/>
                </a:lnTo>
                <a:lnTo>
                  <a:pt x="980910" y="464159"/>
                </a:lnTo>
                <a:lnTo>
                  <a:pt x="703613" y="464159"/>
                </a:lnTo>
                <a:lnTo>
                  <a:pt x="703613" y="193399"/>
                </a:lnTo>
                <a:lnTo>
                  <a:pt x="0" y="227275"/>
                </a:lnTo>
                <a:lnTo>
                  <a:pt x="703613" y="77359"/>
                </a:lnTo>
                <a:lnTo>
                  <a:pt x="703613" y="0"/>
                </a:lnTo>
                <a:close/>
              </a:path>
            </a:pathLst>
          </a:custGeom>
          <a:ln w="19049">
            <a:solidFill>
              <a:srgbClr val="4E718B"/>
            </a:solidFill>
          </a:ln>
        </p:spPr>
        <p:txBody>
          <a:bodyPr wrap="square" lIns="0" tIns="0" rIns="0" bIns="0" rtlCol="0"/>
          <a:lstStyle/>
          <a:p>
            <a:endParaRPr sz="1588"/>
          </a:p>
        </p:txBody>
      </p:sp>
      <p:sp>
        <p:nvSpPr>
          <p:cNvPr id="30" name="object 29">
            <a:extLst>
              <a:ext uri="{FF2B5EF4-FFF2-40B4-BE49-F238E27FC236}">
                <a16:creationId xmlns:a16="http://schemas.microsoft.com/office/drawing/2014/main" id="{1D4B2AA7-EB9D-4D32-49E5-969E99A8495C}"/>
              </a:ext>
            </a:extLst>
          </p:cNvPr>
          <p:cNvSpPr txBox="1"/>
          <p:nvPr/>
        </p:nvSpPr>
        <p:spPr>
          <a:xfrm>
            <a:off x="8704871" y="3049524"/>
            <a:ext cx="890307" cy="487313"/>
          </a:xfrm>
          <a:prstGeom prst="rect">
            <a:avLst/>
          </a:prstGeom>
        </p:spPr>
        <p:txBody>
          <a:bodyPr vert="horz" wrap="square" lIns="0" tIns="0" rIns="0" bIns="0" rtlCol="0">
            <a:spAutoFit/>
          </a:bodyPr>
          <a:lstStyle/>
          <a:p>
            <a:pPr marL="234776" marR="4483" indent="-224130">
              <a:lnSpc>
                <a:spcPts val="1853"/>
              </a:lnSpc>
            </a:pPr>
            <a:r>
              <a:rPr sz="1588" dirty="0">
                <a:latin typeface="Gill Sans MT"/>
                <a:cs typeface="Gill Sans MT"/>
              </a:rPr>
              <a:t>Ce</a:t>
            </a:r>
            <a:r>
              <a:rPr sz="1588" spc="31" dirty="0">
                <a:latin typeface="Gill Sans MT"/>
                <a:cs typeface="Gill Sans MT"/>
              </a:rPr>
              <a:t>r</a:t>
            </a:r>
            <a:r>
              <a:rPr sz="1588" dirty="0">
                <a:latin typeface="Gill Sans MT"/>
                <a:cs typeface="Gill Sans MT"/>
              </a:rPr>
              <a:t>tificate  chain</a:t>
            </a:r>
            <a:endParaRPr sz="1588">
              <a:latin typeface="Gill Sans MT"/>
              <a:cs typeface="Gill Sans MT"/>
            </a:endParaRPr>
          </a:p>
        </p:txBody>
      </p:sp>
      <p:sp>
        <p:nvSpPr>
          <p:cNvPr id="31" name="object 30">
            <a:extLst>
              <a:ext uri="{FF2B5EF4-FFF2-40B4-BE49-F238E27FC236}">
                <a16:creationId xmlns:a16="http://schemas.microsoft.com/office/drawing/2014/main" id="{84068A68-DE29-3142-CFA1-6BD0CA1D0419}"/>
              </a:ext>
            </a:extLst>
          </p:cNvPr>
          <p:cNvSpPr/>
          <p:nvPr/>
        </p:nvSpPr>
        <p:spPr>
          <a:xfrm>
            <a:off x="7783516" y="3777144"/>
            <a:ext cx="2089337" cy="629210"/>
          </a:xfrm>
          <a:custGeom>
            <a:avLst/>
            <a:gdLst/>
            <a:ahLst/>
            <a:cxnLst/>
            <a:rect l="l" t="t" r="r" b="b"/>
            <a:pathLst>
              <a:path w="2367915" h="713104">
                <a:moveTo>
                  <a:pt x="2367394" y="296964"/>
                </a:moveTo>
                <a:lnTo>
                  <a:pt x="703605" y="296964"/>
                </a:lnTo>
                <a:lnTo>
                  <a:pt x="703605" y="712711"/>
                </a:lnTo>
                <a:lnTo>
                  <a:pt x="2367394" y="712711"/>
                </a:lnTo>
                <a:lnTo>
                  <a:pt x="2367394" y="296964"/>
                </a:lnTo>
                <a:close/>
              </a:path>
              <a:path w="2367915" h="713104">
                <a:moveTo>
                  <a:pt x="2367394" y="0"/>
                </a:moveTo>
                <a:lnTo>
                  <a:pt x="703605" y="0"/>
                </a:lnTo>
                <a:lnTo>
                  <a:pt x="703605" y="118783"/>
                </a:lnTo>
                <a:lnTo>
                  <a:pt x="0" y="348970"/>
                </a:lnTo>
                <a:lnTo>
                  <a:pt x="703605" y="296964"/>
                </a:lnTo>
                <a:lnTo>
                  <a:pt x="2367394" y="296964"/>
                </a:lnTo>
                <a:lnTo>
                  <a:pt x="2367394" y="0"/>
                </a:lnTo>
                <a:close/>
              </a:path>
            </a:pathLst>
          </a:custGeom>
          <a:solidFill>
            <a:srgbClr val="AEC5D6"/>
          </a:solidFill>
        </p:spPr>
        <p:txBody>
          <a:bodyPr wrap="square" lIns="0" tIns="0" rIns="0" bIns="0" rtlCol="0"/>
          <a:lstStyle/>
          <a:p>
            <a:endParaRPr sz="1588"/>
          </a:p>
        </p:txBody>
      </p:sp>
      <p:sp>
        <p:nvSpPr>
          <p:cNvPr id="32" name="object 31">
            <a:extLst>
              <a:ext uri="{FF2B5EF4-FFF2-40B4-BE49-F238E27FC236}">
                <a16:creationId xmlns:a16="http://schemas.microsoft.com/office/drawing/2014/main" id="{9A585241-9A4D-FBC3-1CE7-5EA6DBDE7660}"/>
              </a:ext>
            </a:extLst>
          </p:cNvPr>
          <p:cNvSpPr/>
          <p:nvPr/>
        </p:nvSpPr>
        <p:spPr>
          <a:xfrm>
            <a:off x="7783509" y="3777144"/>
            <a:ext cx="2089337" cy="629210"/>
          </a:xfrm>
          <a:custGeom>
            <a:avLst/>
            <a:gdLst/>
            <a:ahLst/>
            <a:cxnLst/>
            <a:rect l="l" t="t" r="r" b="b"/>
            <a:pathLst>
              <a:path w="2367915" h="713104">
                <a:moveTo>
                  <a:pt x="703613" y="0"/>
                </a:moveTo>
                <a:lnTo>
                  <a:pt x="980910" y="0"/>
                </a:lnTo>
                <a:lnTo>
                  <a:pt x="1396855" y="0"/>
                </a:lnTo>
                <a:lnTo>
                  <a:pt x="2367392" y="0"/>
                </a:lnTo>
                <a:lnTo>
                  <a:pt x="2367392" y="118783"/>
                </a:lnTo>
                <a:lnTo>
                  <a:pt x="2367392" y="296960"/>
                </a:lnTo>
                <a:lnTo>
                  <a:pt x="2367392" y="712705"/>
                </a:lnTo>
                <a:lnTo>
                  <a:pt x="1396855" y="712705"/>
                </a:lnTo>
                <a:lnTo>
                  <a:pt x="980910" y="712705"/>
                </a:lnTo>
                <a:lnTo>
                  <a:pt x="703613" y="712705"/>
                </a:lnTo>
                <a:lnTo>
                  <a:pt x="703613" y="296960"/>
                </a:lnTo>
                <a:lnTo>
                  <a:pt x="0" y="348975"/>
                </a:lnTo>
                <a:lnTo>
                  <a:pt x="703613" y="118783"/>
                </a:lnTo>
                <a:lnTo>
                  <a:pt x="703613" y="0"/>
                </a:lnTo>
                <a:close/>
              </a:path>
            </a:pathLst>
          </a:custGeom>
          <a:ln w="19049">
            <a:solidFill>
              <a:srgbClr val="4E718B"/>
            </a:solidFill>
          </a:ln>
        </p:spPr>
        <p:txBody>
          <a:bodyPr wrap="square" lIns="0" tIns="0" rIns="0" bIns="0" rtlCol="0"/>
          <a:lstStyle/>
          <a:p>
            <a:endParaRPr sz="1588"/>
          </a:p>
        </p:txBody>
      </p:sp>
      <p:sp>
        <p:nvSpPr>
          <p:cNvPr id="33" name="object 32">
            <a:extLst>
              <a:ext uri="{FF2B5EF4-FFF2-40B4-BE49-F238E27FC236}">
                <a16:creationId xmlns:a16="http://schemas.microsoft.com/office/drawing/2014/main" id="{E3C9E6A2-C8FB-C9E8-0D68-21CAD9719202}"/>
              </a:ext>
            </a:extLst>
          </p:cNvPr>
          <p:cNvSpPr/>
          <p:nvPr/>
        </p:nvSpPr>
        <p:spPr>
          <a:xfrm>
            <a:off x="7774349" y="4596967"/>
            <a:ext cx="2223247" cy="629210"/>
          </a:xfrm>
          <a:custGeom>
            <a:avLst/>
            <a:gdLst/>
            <a:ahLst/>
            <a:cxnLst/>
            <a:rect l="l" t="t" r="r" b="b"/>
            <a:pathLst>
              <a:path w="2519679" h="713104">
                <a:moveTo>
                  <a:pt x="2519324" y="0"/>
                </a:moveTo>
                <a:lnTo>
                  <a:pt x="593534" y="0"/>
                </a:lnTo>
                <a:lnTo>
                  <a:pt x="593534" y="118783"/>
                </a:lnTo>
                <a:lnTo>
                  <a:pt x="0" y="294474"/>
                </a:lnTo>
                <a:lnTo>
                  <a:pt x="593534" y="296964"/>
                </a:lnTo>
                <a:lnTo>
                  <a:pt x="593534" y="712711"/>
                </a:lnTo>
                <a:lnTo>
                  <a:pt x="2519324" y="712711"/>
                </a:lnTo>
                <a:lnTo>
                  <a:pt x="2519324" y="0"/>
                </a:lnTo>
                <a:close/>
              </a:path>
            </a:pathLst>
          </a:custGeom>
          <a:solidFill>
            <a:srgbClr val="AEC5D6"/>
          </a:solidFill>
        </p:spPr>
        <p:txBody>
          <a:bodyPr wrap="square" lIns="0" tIns="0" rIns="0" bIns="0" rtlCol="0"/>
          <a:lstStyle/>
          <a:p>
            <a:endParaRPr sz="1588"/>
          </a:p>
        </p:txBody>
      </p:sp>
      <p:sp>
        <p:nvSpPr>
          <p:cNvPr id="34" name="object 33">
            <a:extLst>
              <a:ext uri="{FF2B5EF4-FFF2-40B4-BE49-F238E27FC236}">
                <a16:creationId xmlns:a16="http://schemas.microsoft.com/office/drawing/2014/main" id="{2BE3C157-23DF-DAA3-99FD-68FF19652433}"/>
              </a:ext>
            </a:extLst>
          </p:cNvPr>
          <p:cNvSpPr/>
          <p:nvPr/>
        </p:nvSpPr>
        <p:spPr>
          <a:xfrm>
            <a:off x="7774339" y="4596967"/>
            <a:ext cx="2223247" cy="629210"/>
          </a:xfrm>
          <a:custGeom>
            <a:avLst/>
            <a:gdLst/>
            <a:ahLst/>
            <a:cxnLst/>
            <a:rect l="l" t="t" r="r" b="b"/>
            <a:pathLst>
              <a:path w="2519679" h="713104">
                <a:moveTo>
                  <a:pt x="593545" y="0"/>
                </a:moveTo>
                <a:lnTo>
                  <a:pt x="914509" y="0"/>
                </a:lnTo>
                <a:lnTo>
                  <a:pt x="1395954" y="0"/>
                </a:lnTo>
                <a:lnTo>
                  <a:pt x="2519324" y="0"/>
                </a:lnTo>
                <a:lnTo>
                  <a:pt x="2519324" y="118783"/>
                </a:lnTo>
                <a:lnTo>
                  <a:pt x="2519324" y="296960"/>
                </a:lnTo>
                <a:lnTo>
                  <a:pt x="2519324" y="712705"/>
                </a:lnTo>
                <a:lnTo>
                  <a:pt x="1395954" y="712705"/>
                </a:lnTo>
                <a:lnTo>
                  <a:pt x="914509" y="712705"/>
                </a:lnTo>
                <a:lnTo>
                  <a:pt x="593545" y="712705"/>
                </a:lnTo>
                <a:lnTo>
                  <a:pt x="593545" y="296960"/>
                </a:lnTo>
                <a:lnTo>
                  <a:pt x="0" y="294475"/>
                </a:lnTo>
                <a:lnTo>
                  <a:pt x="593545" y="118783"/>
                </a:lnTo>
                <a:lnTo>
                  <a:pt x="593545" y="0"/>
                </a:lnTo>
                <a:close/>
              </a:path>
            </a:pathLst>
          </a:custGeom>
          <a:ln w="19049">
            <a:solidFill>
              <a:srgbClr val="4E718B"/>
            </a:solidFill>
          </a:ln>
        </p:spPr>
        <p:txBody>
          <a:bodyPr wrap="square" lIns="0" tIns="0" rIns="0" bIns="0" rtlCol="0"/>
          <a:lstStyle/>
          <a:p>
            <a:endParaRPr sz="1588"/>
          </a:p>
        </p:txBody>
      </p:sp>
      <p:sp>
        <p:nvSpPr>
          <p:cNvPr id="35" name="object 34">
            <a:extLst>
              <a:ext uri="{FF2B5EF4-FFF2-40B4-BE49-F238E27FC236}">
                <a16:creationId xmlns:a16="http://schemas.microsoft.com/office/drawing/2014/main" id="{D2BC3ADD-D96E-3635-0752-7E01A85BCBA2}"/>
              </a:ext>
            </a:extLst>
          </p:cNvPr>
          <p:cNvSpPr txBox="1"/>
          <p:nvPr/>
        </p:nvSpPr>
        <p:spPr>
          <a:xfrm>
            <a:off x="8391116" y="3729710"/>
            <a:ext cx="1517836" cy="1568763"/>
          </a:xfrm>
          <a:prstGeom prst="rect">
            <a:avLst/>
          </a:prstGeom>
        </p:spPr>
        <p:txBody>
          <a:bodyPr vert="horz" wrap="square" lIns="0" tIns="0" rIns="0" bIns="0" rtlCol="0">
            <a:spAutoFit/>
          </a:bodyPr>
          <a:lstStyle/>
          <a:p>
            <a:pPr marL="100297" marR="113185" algn="ctr">
              <a:lnSpc>
                <a:spcPct val="99500"/>
              </a:lnSpc>
            </a:pPr>
            <a:r>
              <a:rPr sz="1588" spc="4" dirty="0">
                <a:latin typeface="Gill Sans MT"/>
                <a:cs typeface="Gill Sans MT"/>
              </a:rPr>
              <a:t>Encrypted</a:t>
            </a:r>
            <a:r>
              <a:rPr sz="1588" spc="-84" dirty="0">
                <a:latin typeface="Gill Sans MT"/>
                <a:cs typeface="Gill Sans MT"/>
              </a:rPr>
              <a:t> </a:t>
            </a:r>
            <a:r>
              <a:rPr sz="1588" dirty="0">
                <a:latin typeface="Gill Sans MT"/>
                <a:cs typeface="Gill Sans MT"/>
              </a:rPr>
              <a:t>using  </a:t>
            </a:r>
            <a:r>
              <a:rPr sz="1588" spc="-18" dirty="0">
                <a:latin typeface="Gill Sans MT"/>
                <a:cs typeface="Gill Sans MT"/>
              </a:rPr>
              <a:t>server’s </a:t>
            </a:r>
            <a:r>
              <a:rPr sz="1588" dirty="0">
                <a:latin typeface="Gill Sans MT"/>
                <a:cs typeface="Gill Sans MT"/>
              </a:rPr>
              <a:t>public  </a:t>
            </a:r>
            <a:r>
              <a:rPr sz="1588" spc="-26" dirty="0">
                <a:latin typeface="Gill Sans MT"/>
                <a:cs typeface="Gill Sans MT"/>
              </a:rPr>
              <a:t>key</a:t>
            </a:r>
            <a:endParaRPr sz="1588">
              <a:latin typeface="Gill Sans MT"/>
              <a:cs typeface="Gill Sans MT"/>
            </a:endParaRPr>
          </a:p>
          <a:p>
            <a:pPr marL="11206" marR="4483" indent="-560" algn="ctr">
              <a:lnSpc>
                <a:spcPct val="99500"/>
              </a:lnSpc>
              <a:spcBef>
                <a:spcPts val="763"/>
              </a:spcBef>
            </a:pPr>
            <a:r>
              <a:rPr sz="1588" spc="4" dirty="0">
                <a:latin typeface="Gill Sans MT"/>
                <a:cs typeface="Gill Sans MT"/>
              </a:rPr>
              <a:t>Encrypted </a:t>
            </a:r>
            <a:r>
              <a:rPr sz="1588" dirty="0">
                <a:latin typeface="Gill Sans MT"/>
                <a:cs typeface="Gill Sans MT"/>
              </a:rPr>
              <a:t>using  </a:t>
            </a:r>
            <a:r>
              <a:rPr sz="1588" spc="-4" dirty="0">
                <a:latin typeface="Gill Sans MT"/>
                <a:cs typeface="Gill Sans MT"/>
              </a:rPr>
              <a:t>symmetric</a:t>
            </a:r>
            <a:r>
              <a:rPr sz="1588" spc="-53" dirty="0">
                <a:latin typeface="Gill Sans MT"/>
                <a:cs typeface="Gill Sans MT"/>
              </a:rPr>
              <a:t> </a:t>
            </a:r>
            <a:r>
              <a:rPr sz="1588" dirty="0">
                <a:latin typeface="Gill Sans MT"/>
                <a:cs typeface="Gill Sans MT"/>
              </a:rPr>
              <a:t>session  </a:t>
            </a:r>
            <a:r>
              <a:rPr sz="1588" spc="-26" dirty="0">
                <a:latin typeface="Gill Sans MT"/>
                <a:cs typeface="Gill Sans MT"/>
              </a:rPr>
              <a:t>key</a:t>
            </a:r>
            <a:endParaRPr sz="1588">
              <a:latin typeface="Gill Sans MT"/>
              <a:cs typeface="Gill Sans MT"/>
            </a:endParaRPr>
          </a:p>
        </p:txBody>
      </p:sp>
      <p:sp>
        <p:nvSpPr>
          <p:cNvPr id="36" name="object 35">
            <a:extLst>
              <a:ext uri="{FF2B5EF4-FFF2-40B4-BE49-F238E27FC236}">
                <a16:creationId xmlns:a16="http://schemas.microsoft.com/office/drawing/2014/main" id="{EFE17CF3-3B9F-4778-7987-F1D57D31696F}"/>
              </a:ext>
            </a:extLst>
          </p:cNvPr>
          <p:cNvSpPr/>
          <p:nvPr/>
        </p:nvSpPr>
        <p:spPr>
          <a:xfrm>
            <a:off x="2113978" y="3311820"/>
            <a:ext cx="1991846" cy="1559858"/>
          </a:xfrm>
          <a:custGeom>
            <a:avLst/>
            <a:gdLst/>
            <a:ahLst/>
            <a:cxnLst/>
            <a:rect l="l" t="t" r="r" b="b"/>
            <a:pathLst>
              <a:path w="2257425" h="1767839">
                <a:moveTo>
                  <a:pt x="1487893" y="0"/>
                </a:moveTo>
                <a:lnTo>
                  <a:pt x="0" y="0"/>
                </a:lnTo>
                <a:lnTo>
                  <a:pt x="0" y="1767433"/>
                </a:lnTo>
                <a:lnTo>
                  <a:pt x="1487893" y="1767433"/>
                </a:lnTo>
                <a:lnTo>
                  <a:pt x="1487893" y="1472869"/>
                </a:lnTo>
                <a:lnTo>
                  <a:pt x="2095009" y="1031011"/>
                </a:lnTo>
                <a:lnTo>
                  <a:pt x="1487893" y="1031011"/>
                </a:lnTo>
                <a:lnTo>
                  <a:pt x="1487893" y="0"/>
                </a:lnTo>
                <a:close/>
              </a:path>
              <a:path w="2257425" h="1767839">
                <a:moveTo>
                  <a:pt x="2257171" y="912990"/>
                </a:moveTo>
                <a:lnTo>
                  <a:pt x="1487893" y="1031011"/>
                </a:lnTo>
                <a:lnTo>
                  <a:pt x="2095009" y="1031011"/>
                </a:lnTo>
                <a:lnTo>
                  <a:pt x="2257171" y="912990"/>
                </a:lnTo>
                <a:close/>
              </a:path>
            </a:pathLst>
          </a:custGeom>
          <a:solidFill>
            <a:srgbClr val="AEC5D6"/>
          </a:solidFill>
        </p:spPr>
        <p:txBody>
          <a:bodyPr wrap="square" lIns="0" tIns="0" rIns="0" bIns="0" rtlCol="0"/>
          <a:lstStyle/>
          <a:p>
            <a:endParaRPr sz="1588"/>
          </a:p>
        </p:txBody>
      </p:sp>
      <p:sp>
        <p:nvSpPr>
          <p:cNvPr id="37" name="object 36">
            <a:extLst>
              <a:ext uri="{FF2B5EF4-FFF2-40B4-BE49-F238E27FC236}">
                <a16:creationId xmlns:a16="http://schemas.microsoft.com/office/drawing/2014/main" id="{763A035D-8B48-6008-7F31-1433334A9CA3}"/>
              </a:ext>
            </a:extLst>
          </p:cNvPr>
          <p:cNvSpPr/>
          <p:nvPr/>
        </p:nvSpPr>
        <p:spPr>
          <a:xfrm>
            <a:off x="2113978" y="3311820"/>
            <a:ext cx="1991846" cy="1559858"/>
          </a:xfrm>
          <a:custGeom>
            <a:avLst/>
            <a:gdLst/>
            <a:ahLst/>
            <a:cxnLst/>
            <a:rect l="l" t="t" r="r" b="b"/>
            <a:pathLst>
              <a:path w="2257425" h="1767839">
                <a:moveTo>
                  <a:pt x="0" y="0"/>
                </a:moveTo>
                <a:lnTo>
                  <a:pt x="867939" y="0"/>
                </a:lnTo>
                <a:lnTo>
                  <a:pt x="1239909" y="0"/>
                </a:lnTo>
                <a:lnTo>
                  <a:pt x="1487898" y="0"/>
                </a:lnTo>
                <a:lnTo>
                  <a:pt x="1487898" y="1030999"/>
                </a:lnTo>
                <a:lnTo>
                  <a:pt x="2257168" y="912985"/>
                </a:lnTo>
                <a:lnTo>
                  <a:pt x="1487898" y="1472858"/>
                </a:lnTo>
                <a:lnTo>
                  <a:pt x="1487898" y="1767428"/>
                </a:lnTo>
                <a:lnTo>
                  <a:pt x="1239909" y="1767428"/>
                </a:lnTo>
                <a:lnTo>
                  <a:pt x="867939" y="1767428"/>
                </a:lnTo>
                <a:lnTo>
                  <a:pt x="0" y="1767428"/>
                </a:lnTo>
                <a:lnTo>
                  <a:pt x="0" y="1472858"/>
                </a:lnTo>
                <a:lnTo>
                  <a:pt x="0" y="1030999"/>
                </a:lnTo>
                <a:lnTo>
                  <a:pt x="0" y="0"/>
                </a:lnTo>
                <a:close/>
              </a:path>
            </a:pathLst>
          </a:custGeom>
          <a:ln w="19049">
            <a:solidFill>
              <a:srgbClr val="4E718B"/>
            </a:solidFill>
          </a:ln>
        </p:spPr>
        <p:txBody>
          <a:bodyPr wrap="square" lIns="0" tIns="0" rIns="0" bIns="0" rtlCol="0"/>
          <a:lstStyle/>
          <a:p>
            <a:endParaRPr sz="1588"/>
          </a:p>
        </p:txBody>
      </p:sp>
      <p:sp>
        <p:nvSpPr>
          <p:cNvPr id="38" name="object 37">
            <a:extLst>
              <a:ext uri="{FF2B5EF4-FFF2-40B4-BE49-F238E27FC236}">
                <a16:creationId xmlns:a16="http://schemas.microsoft.com/office/drawing/2014/main" id="{39439AC7-3719-F986-8286-F804AB9F0AF5}"/>
              </a:ext>
            </a:extLst>
          </p:cNvPr>
          <p:cNvSpPr txBox="1"/>
          <p:nvPr/>
        </p:nvSpPr>
        <p:spPr>
          <a:xfrm>
            <a:off x="2190869" y="3367607"/>
            <a:ext cx="1164851" cy="1498902"/>
          </a:xfrm>
          <a:prstGeom prst="rect">
            <a:avLst/>
          </a:prstGeom>
        </p:spPr>
        <p:txBody>
          <a:bodyPr vert="horz" wrap="square" lIns="0" tIns="11206" rIns="0" bIns="0" rtlCol="0">
            <a:spAutoFit/>
          </a:bodyPr>
          <a:lstStyle/>
          <a:p>
            <a:pPr marL="155210" marR="148486" algn="ctr">
              <a:lnSpc>
                <a:spcPts val="1853"/>
              </a:lnSpc>
              <a:spcBef>
                <a:spcPts val="88"/>
              </a:spcBef>
            </a:pPr>
            <a:r>
              <a:rPr sz="1588" dirty="0">
                <a:latin typeface="Gill Sans MT"/>
                <a:cs typeface="Gill Sans MT"/>
              </a:rPr>
              <a:t>Both</a:t>
            </a:r>
            <a:r>
              <a:rPr sz="1588" spc="-84" dirty="0">
                <a:latin typeface="Gill Sans MT"/>
                <a:cs typeface="Gill Sans MT"/>
              </a:rPr>
              <a:t> </a:t>
            </a:r>
            <a:r>
              <a:rPr sz="1588" dirty="0">
                <a:latin typeface="Gill Sans MT"/>
                <a:cs typeface="Gill Sans MT"/>
              </a:rPr>
              <a:t>sides  </a:t>
            </a:r>
            <a:r>
              <a:rPr sz="1588" spc="-9" dirty="0">
                <a:latin typeface="Gill Sans MT"/>
                <a:cs typeface="Gill Sans MT"/>
              </a:rPr>
              <a:t>derive</a:t>
            </a:r>
            <a:endParaRPr sz="1588" dirty="0">
              <a:latin typeface="Gill Sans MT"/>
              <a:cs typeface="Gill Sans MT"/>
            </a:endParaRPr>
          </a:p>
          <a:p>
            <a:pPr marL="39783" marR="33619" algn="ctr">
              <a:lnSpc>
                <a:spcPts val="1853"/>
              </a:lnSpc>
              <a:spcBef>
                <a:spcPts val="88"/>
              </a:spcBef>
            </a:pPr>
            <a:r>
              <a:rPr sz="1588" spc="-4" dirty="0">
                <a:latin typeface="Gill Sans MT"/>
                <a:cs typeface="Gill Sans MT"/>
              </a:rPr>
              <a:t>symmetric  </a:t>
            </a:r>
            <a:r>
              <a:rPr sz="1588" dirty="0">
                <a:latin typeface="Gill Sans MT"/>
                <a:cs typeface="Gill Sans MT"/>
              </a:rPr>
              <a:t>session </a:t>
            </a:r>
            <a:r>
              <a:rPr sz="1588" spc="-26" dirty="0">
                <a:latin typeface="Gill Sans MT"/>
                <a:cs typeface="Gill Sans MT"/>
              </a:rPr>
              <a:t>key</a:t>
            </a:r>
            <a:r>
              <a:rPr sz="1588" spc="-88" dirty="0">
                <a:latin typeface="Gill Sans MT"/>
                <a:cs typeface="Gill Sans MT"/>
              </a:rPr>
              <a:t> </a:t>
            </a:r>
            <a:r>
              <a:rPr sz="1588" i="1" dirty="0">
                <a:latin typeface="Gill Sans MT"/>
                <a:cs typeface="Gill Sans MT"/>
              </a:rPr>
              <a:t>K</a:t>
            </a:r>
            <a:endParaRPr sz="1588" dirty="0">
              <a:latin typeface="Gill Sans MT"/>
              <a:cs typeface="Gill Sans MT"/>
            </a:endParaRPr>
          </a:p>
          <a:p>
            <a:pPr marL="10646" marR="4483" indent="-560" algn="ctr">
              <a:lnSpc>
                <a:spcPts val="1853"/>
              </a:lnSpc>
              <a:spcBef>
                <a:spcPts val="88"/>
              </a:spcBef>
            </a:pPr>
            <a:r>
              <a:rPr sz="1588" spc="-13" dirty="0">
                <a:latin typeface="Gill Sans MT"/>
                <a:cs typeface="Gill Sans MT"/>
              </a:rPr>
              <a:t>from </a:t>
            </a:r>
            <a:r>
              <a:rPr sz="1588" dirty="0">
                <a:latin typeface="Gill Sans MT"/>
                <a:cs typeface="Gill Sans MT"/>
              </a:rPr>
              <a:t>the  P</a:t>
            </a:r>
            <a:r>
              <a:rPr sz="1588" spc="-35" dirty="0">
                <a:latin typeface="Gill Sans MT"/>
                <a:cs typeface="Gill Sans MT"/>
              </a:rPr>
              <a:t>r</a:t>
            </a:r>
            <a:r>
              <a:rPr sz="1588" dirty="0">
                <a:latin typeface="Gill Sans MT"/>
                <a:cs typeface="Gill Sans MT"/>
              </a:rPr>
              <a:t>eMaster</a:t>
            </a:r>
            <a:r>
              <a:rPr sz="1588" spc="-97" dirty="0">
                <a:latin typeface="Gill Sans MT"/>
                <a:cs typeface="Gill Sans MT"/>
              </a:rPr>
              <a:t>K</a:t>
            </a:r>
            <a:r>
              <a:rPr sz="1588" spc="-26" dirty="0">
                <a:latin typeface="Gill Sans MT"/>
                <a:cs typeface="Gill Sans MT"/>
              </a:rPr>
              <a:t>e</a:t>
            </a:r>
            <a:r>
              <a:rPr sz="1588" dirty="0">
                <a:latin typeface="Gill Sans MT"/>
                <a:cs typeface="Gill Sans MT"/>
              </a:rPr>
              <a:t>y</a:t>
            </a:r>
          </a:p>
        </p:txBody>
      </p:sp>
      <p:sp>
        <p:nvSpPr>
          <p:cNvPr id="39" name="object 38">
            <a:extLst>
              <a:ext uri="{FF2B5EF4-FFF2-40B4-BE49-F238E27FC236}">
                <a16:creationId xmlns:a16="http://schemas.microsoft.com/office/drawing/2014/main" id="{D4C49C22-EF95-DE96-7644-A3989E5A2D01}"/>
              </a:ext>
            </a:extLst>
          </p:cNvPr>
          <p:cNvSpPr/>
          <p:nvPr/>
        </p:nvSpPr>
        <p:spPr>
          <a:xfrm>
            <a:off x="8667885" y="1428382"/>
            <a:ext cx="328695" cy="438260"/>
          </a:xfrm>
          <a:prstGeom prst="rect">
            <a:avLst/>
          </a:prstGeom>
          <a:blipFill>
            <a:blip r:embed="rId9" cstate="print"/>
            <a:stretch>
              <a:fillRect/>
            </a:stretch>
          </a:blipFill>
        </p:spPr>
        <p:txBody>
          <a:bodyPr wrap="square" lIns="0" tIns="0" rIns="0" bIns="0" rtlCol="0"/>
          <a:lstStyle/>
          <a:p>
            <a:endParaRPr sz="1588"/>
          </a:p>
        </p:txBody>
      </p:sp>
      <p:sp>
        <p:nvSpPr>
          <p:cNvPr id="40" name="object 39">
            <a:extLst>
              <a:ext uri="{FF2B5EF4-FFF2-40B4-BE49-F238E27FC236}">
                <a16:creationId xmlns:a16="http://schemas.microsoft.com/office/drawing/2014/main" id="{70E9A441-B25E-2D72-352D-3A19FE4B19B7}"/>
              </a:ext>
            </a:extLst>
          </p:cNvPr>
          <p:cNvSpPr txBox="1"/>
          <p:nvPr/>
        </p:nvSpPr>
        <p:spPr>
          <a:xfrm>
            <a:off x="8860166" y="1691214"/>
            <a:ext cx="763120" cy="682623"/>
          </a:xfrm>
          <a:prstGeom prst="rect">
            <a:avLst/>
          </a:prstGeom>
        </p:spPr>
        <p:txBody>
          <a:bodyPr vert="horz" wrap="square" lIns="0" tIns="0" rIns="0" bIns="0" rtlCol="0">
            <a:spAutoFit/>
          </a:bodyPr>
          <a:lstStyle/>
          <a:p>
            <a:pPr marL="11206"/>
            <a:r>
              <a:rPr sz="2647" b="1" spc="19" baseline="13888" dirty="0">
                <a:latin typeface="Arial"/>
                <a:cs typeface="Arial"/>
              </a:rPr>
              <a:t>S</a:t>
            </a:r>
            <a:r>
              <a:rPr sz="1147" b="1" spc="13" dirty="0">
                <a:latin typeface="Arial"/>
                <a:cs typeface="Arial"/>
              </a:rPr>
              <a:t>BofA</a:t>
            </a:r>
            <a:endParaRPr sz="1147">
              <a:latin typeface="Arial"/>
              <a:cs typeface="Arial"/>
            </a:endParaRPr>
          </a:p>
          <a:p>
            <a:pPr marL="313781">
              <a:spcBef>
                <a:spcPts val="1271"/>
              </a:spcBef>
            </a:pPr>
            <a:r>
              <a:rPr sz="1588" dirty="0">
                <a:latin typeface="Arial"/>
                <a:cs typeface="Arial"/>
              </a:rPr>
              <a:t>BofA</a:t>
            </a:r>
            <a:endParaRPr sz="1588">
              <a:latin typeface="Arial"/>
              <a:cs typeface="Arial"/>
            </a:endParaRPr>
          </a:p>
        </p:txBody>
      </p:sp>
    </p:spTree>
    <p:custDataLst>
      <p:tags r:id="rId1"/>
    </p:custDataLst>
    <p:extLst>
      <p:ext uri="{BB962C8B-B14F-4D97-AF65-F5344CB8AC3E}">
        <p14:creationId xmlns:p14="http://schemas.microsoft.com/office/powerpoint/2010/main" val="4249105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66C2A2B8-4417-F88C-5D34-0639C3E83943}"/>
              </a:ext>
            </a:extLst>
          </p:cNvPr>
          <p:cNvSpPr/>
          <p:nvPr>
            <p:custDataLst>
              <p:tags r:id="rId2"/>
            </p:custDataLst>
          </p:nvPr>
        </p:nvSpPr>
        <p:spPr>
          <a:xfrm>
            <a:off x="195508" y="1308735"/>
            <a:ext cx="665873" cy="887831"/>
          </a:xfrm>
          <a:prstGeom prst="rect">
            <a:avLst/>
          </a:prstGeom>
          <a:blipFill>
            <a:blip r:embed="rId40" cstate="print"/>
            <a:stretch>
              <a:fillRect/>
            </a:stretch>
          </a:blipFill>
        </p:spPr>
        <p:txBody>
          <a:bodyPr wrap="square" lIns="0" tIns="0" rIns="0" bIns="0" rtlCol="0"/>
          <a:lstStyle/>
          <a:p>
            <a:endParaRPr sz="1588"/>
          </a:p>
        </p:txBody>
      </p:sp>
      <p:sp>
        <p:nvSpPr>
          <p:cNvPr id="3" name="object 4">
            <a:extLst>
              <a:ext uri="{FF2B5EF4-FFF2-40B4-BE49-F238E27FC236}">
                <a16:creationId xmlns:a16="http://schemas.microsoft.com/office/drawing/2014/main" id="{C10C158C-1132-0718-9C6F-D351E01D1A4A}"/>
              </a:ext>
            </a:extLst>
          </p:cNvPr>
          <p:cNvSpPr/>
          <p:nvPr>
            <p:custDataLst>
              <p:tags r:id="rId3"/>
            </p:custDataLst>
          </p:nvPr>
        </p:nvSpPr>
        <p:spPr>
          <a:xfrm>
            <a:off x="1003294" y="1584568"/>
            <a:ext cx="424833" cy="443909"/>
          </a:xfrm>
          <a:prstGeom prst="rect">
            <a:avLst/>
          </a:prstGeom>
          <a:blipFill>
            <a:blip r:embed="rId41" cstate="print"/>
            <a:stretch>
              <a:fillRect/>
            </a:stretch>
          </a:blipFill>
        </p:spPr>
        <p:txBody>
          <a:bodyPr wrap="square" lIns="0" tIns="0" rIns="0" bIns="0" rtlCol="0"/>
          <a:lstStyle/>
          <a:p>
            <a:endParaRPr sz="1588"/>
          </a:p>
        </p:txBody>
      </p:sp>
      <p:sp>
        <p:nvSpPr>
          <p:cNvPr id="4" name="object 5">
            <a:extLst>
              <a:ext uri="{FF2B5EF4-FFF2-40B4-BE49-F238E27FC236}">
                <a16:creationId xmlns:a16="http://schemas.microsoft.com/office/drawing/2014/main" id="{1F3592BF-8B3D-CA39-584A-F469D6DE7037}"/>
              </a:ext>
            </a:extLst>
          </p:cNvPr>
          <p:cNvSpPr/>
          <p:nvPr>
            <p:custDataLst>
              <p:tags r:id="rId4"/>
            </p:custDataLst>
          </p:nvPr>
        </p:nvSpPr>
        <p:spPr>
          <a:xfrm>
            <a:off x="5947463" y="1570560"/>
            <a:ext cx="649121" cy="608804"/>
          </a:xfrm>
          <a:prstGeom prst="rect">
            <a:avLst/>
          </a:prstGeom>
          <a:blipFill>
            <a:blip r:embed="rId42" cstate="print"/>
            <a:stretch>
              <a:fillRect/>
            </a:stretch>
          </a:blipFill>
        </p:spPr>
        <p:txBody>
          <a:bodyPr wrap="square" lIns="0" tIns="0" rIns="0" bIns="0" rtlCol="0"/>
          <a:lstStyle/>
          <a:p>
            <a:endParaRPr sz="1588"/>
          </a:p>
        </p:txBody>
      </p:sp>
      <p:sp>
        <p:nvSpPr>
          <p:cNvPr id="7" name="object 6">
            <a:extLst>
              <a:ext uri="{FF2B5EF4-FFF2-40B4-BE49-F238E27FC236}">
                <a16:creationId xmlns:a16="http://schemas.microsoft.com/office/drawing/2014/main" id="{0289C2FB-9927-FBAC-96FF-A2B3AEA24567}"/>
              </a:ext>
            </a:extLst>
          </p:cNvPr>
          <p:cNvSpPr/>
          <p:nvPr>
            <p:custDataLst>
              <p:tags r:id="rId5"/>
            </p:custDataLst>
          </p:nvPr>
        </p:nvSpPr>
        <p:spPr>
          <a:xfrm>
            <a:off x="5219037" y="1428387"/>
            <a:ext cx="1312623" cy="216984"/>
          </a:xfrm>
          <a:prstGeom prst="rect">
            <a:avLst/>
          </a:prstGeom>
          <a:blipFill>
            <a:blip r:embed="rId43"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50441020-4DAD-820E-3C57-5D412115B39E}"/>
              </a:ext>
            </a:extLst>
          </p:cNvPr>
          <p:cNvSpPr/>
          <p:nvPr>
            <p:custDataLst>
              <p:tags r:id="rId6"/>
            </p:custDataLst>
          </p:nvPr>
        </p:nvSpPr>
        <p:spPr>
          <a:xfrm>
            <a:off x="6638251" y="1786912"/>
            <a:ext cx="412947" cy="550601"/>
          </a:xfrm>
          <a:prstGeom prst="rect">
            <a:avLst/>
          </a:prstGeom>
          <a:blipFill>
            <a:blip r:embed="rId44"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6CCAF482-454A-DA4E-55C0-0A8AEED5FC7F}"/>
              </a:ext>
            </a:extLst>
          </p:cNvPr>
          <p:cNvSpPr/>
          <p:nvPr>
            <p:custDataLst>
              <p:tags r:id="rId7"/>
            </p:custDataLst>
          </p:nvPr>
        </p:nvSpPr>
        <p:spPr>
          <a:xfrm>
            <a:off x="1422776" y="2288072"/>
            <a:ext cx="4560234" cy="324971"/>
          </a:xfrm>
          <a:custGeom>
            <a:avLst/>
            <a:gdLst/>
            <a:ahLst/>
            <a:cxnLst/>
            <a:rect l="l" t="t" r="r" b="b"/>
            <a:pathLst>
              <a:path w="5168265" h="368300">
                <a:moveTo>
                  <a:pt x="4984013" y="0"/>
                </a:moveTo>
                <a:lnTo>
                  <a:pt x="0" y="0"/>
                </a:lnTo>
                <a:lnTo>
                  <a:pt x="184061" y="184061"/>
                </a:lnTo>
                <a:lnTo>
                  <a:pt x="0" y="368122"/>
                </a:lnTo>
                <a:lnTo>
                  <a:pt x="4984013" y="368122"/>
                </a:lnTo>
                <a:lnTo>
                  <a:pt x="5168061" y="184061"/>
                </a:lnTo>
                <a:lnTo>
                  <a:pt x="4984013" y="0"/>
                </a:lnTo>
                <a:close/>
              </a:path>
            </a:pathLst>
          </a:custGeom>
          <a:solidFill>
            <a:srgbClr val="8590B2"/>
          </a:solidFill>
        </p:spPr>
        <p:txBody>
          <a:bodyPr wrap="square" lIns="0" tIns="0" rIns="0" bIns="0" rtlCol="0"/>
          <a:lstStyle/>
          <a:p>
            <a:endParaRPr sz="1588"/>
          </a:p>
        </p:txBody>
      </p:sp>
      <p:sp>
        <p:nvSpPr>
          <p:cNvPr id="10" name="object 9">
            <a:extLst>
              <a:ext uri="{FF2B5EF4-FFF2-40B4-BE49-F238E27FC236}">
                <a16:creationId xmlns:a16="http://schemas.microsoft.com/office/drawing/2014/main" id="{48EF5B77-AA9B-3A2F-0947-2E8C7ABF8BAA}"/>
              </a:ext>
            </a:extLst>
          </p:cNvPr>
          <p:cNvSpPr/>
          <p:nvPr>
            <p:custDataLst>
              <p:tags r:id="rId8"/>
            </p:custDataLst>
          </p:nvPr>
        </p:nvSpPr>
        <p:spPr>
          <a:xfrm>
            <a:off x="1422776" y="2288072"/>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1" name="object 10">
            <a:extLst>
              <a:ext uri="{FF2B5EF4-FFF2-40B4-BE49-F238E27FC236}">
                <a16:creationId xmlns:a16="http://schemas.microsoft.com/office/drawing/2014/main" id="{17F23512-67ED-9739-D52D-3678BD93B56B}"/>
              </a:ext>
            </a:extLst>
          </p:cNvPr>
          <p:cNvSpPr/>
          <p:nvPr>
            <p:custDataLst>
              <p:tags r:id="rId9"/>
            </p:custDataLst>
          </p:nvPr>
        </p:nvSpPr>
        <p:spPr>
          <a:xfrm>
            <a:off x="1424916" y="2691406"/>
            <a:ext cx="4560234" cy="324971"/>
          </a:xfrm>
          <a:custGeom>
            <a:avLst/>
            <a:gdLst/>
            <a:ahLst/>
            <a:cxnLst/>
            <a:rect l="l" t="t" r="r" b="b"/>
            <a:pathLst>
              <a:path w="5168265" h="368300">
                <a:moveTo>
                  <a:pt x="5168061" y="0"/>
                </a:moveTo>
                <a:lnTo>
                  <a:pt x="184061" y="0"/>
                </a:lnTo>
                <a:lnTo>
                  <a:pt x="0" y="184061"/>
                </a:lnTo>
                <a:lnTo>
                  <a:pt x="184061" y="368109"/>
                </a:lnTo>
                <a:lnTo>
                  <a:pt x="5168061" y="368109"/>
                </a:lnTo>
                <a:lnTo>
                  <a:pt x="4984000" y="184061"/>
                </a:lnTo>
                <a:lnTo>
                  <a:pt x="5168061" y="0"/>
                </a:lnTo>
                <a:close/>
              </a:path>
            </a:pathLst>
          </a:custGeom>
          <a:solidFill>
            <a:srgbClr val="C69785"/>
          </a:solidFill>
        </p:spPr>
        <p:txBody>
          <a:bodyPr wrap="square" lIns="0" tIns="0" rIns="0" bIns="0" rtlCol="0"/>
          <a:lstStyle/>
          <a:p>
            <a:endParaRPr sz="1588"/>
          </a:p>
        </p:txBody>
      </p:sp>
      <p:sp>
        <p:nvSpPr>
          <p:cNvPr id="12" name="object 11">
            <a:extLst>
              <a:ext uri="{FF2B5EF4-FFF2-40B4-BE49-F238E27FC236}">
                <a16:creationId xmlns:a16="http://schemas.microsoft.com/office/drawing/2014/main" id="{B21CBD6B-4DB3-1177-1264-8DE36971FD2F}"/>
              </a:ext>
            </a:extLst>
          </p:cNvPr>
          <p:cNvSpPr/>
          <p:nvPr>
            <p:custDataLst>
              <p:tags r:id="rId10"/>
            </p:custDataLst>
          </p:nvPr>
        </p:nvSpPr>
        <p:spPr>
          <a:xfrm>
            <a:off x="1424912" y="2691399"/>
            <a:ext cx="4560234" cy="324971"/>
          </a:xfrm>
          <a:custGeom>
            <a:avLst/>
            <a:gdLst/>
            <a:ahLst/>
            <a:cxnLst/>
            <a:rect l="l" t="t" r="r" b="b"/>
            <a:pathLst>
              <a:path w="5168265" h="368300">
                <a:moveTo>
                  <a:pt x="5168065" y="368117"/>
                </a:moveTo>
                <a:lnTo>
                  <a:pt x="184059" y="368117"/>
                </a:lnTo>
                <a:lnTo>
                  <a:pt x="0" y="184058"/>
                </a:lnTo>
                <a:lnTo>
                  <a:pt x="184059" y="0"/>
                </a:lnTo>
                <a:lnTo>
                  <a:pt x="5168065" y="0"/>
                </a:lnTo>
                <a:lnTo>
                  <a:pt x="4984006" y="184058"/>
                </a:lnTo>
                <a:lnTo>
                  <a:pt x="5168065" y="368117"/>
                </a:lnTo>
                <a:close/>
              </a:path>
            </a:pathLst>
          </a:custGeom>
          <a:ln w="19049">
            <a:solidFill>
              <a:srgbClr val="775141"/>
            </a:solidFill>
          </a:ln>
        </p:spPr>
        <p:txBody>
          <a:bodyPr wrap="square" lIns="0" tIns="0" rIns="0" bIns="0" rtlCol="0"/>
          <a:lstStyle/>
          <a:p>
            <a:endParaRPr sz="1588"/>
          </a:p>
        </p:txBody>
      </p:sp>
      <p:sp>
        <p:nvSpPr>
          <p:cNvPr id="13" name="object 12">
            <a:extLst>
              <a:ext uri="{FF2B5EF4-FFF2-40B4-BE49-F238E27FC236}">
                <a16:creationId xmlns:a16="http://schemas.microsoft.com/office/drawing/2014/main" id="{3671097C-8667-79A4-3205-F908C0799EC9}"/>
              </a:ext>
            </a:extLst>
          </p:cNvPr>
          <p:cNvSpPr/>
          <p:nvPr>
            <p:custDataLst>
              <p:tags r:id="rId11"/>
            </p:custDataLst>
          </p:nvPr>
        </p:nvSpPr>
        <p:spPr>
          <a:xfrm>
            <a:off x="1422776" y="3100858"/>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4" name="object 13">
            <a:extLst>
              <a:ext uri="{FF2B5EF4-FFF2-40B4-BE49-F238E27FC236}">
                <a16:creationId xmlns:a16="http://schemas.microsoft.com/office/drawing/2014/main" id="{500440D8-570E-A8C1-031F-993DF1253208}"/>
              </a:ext>
            </a:extLst>
          </p:cNvPr>
          <p:cNvSpPr/>
          <p:nvPr>
            <p:custDataLst>
              <p:tags r:id="rId12"/>
            </p:custDataLst>
          </p:nvPr>
        </p:nvSpPr>
        <p:spPr>
          <a:xfrm>
            <a:off x="1422771" y="3100850"/>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6" y="184058"/>
                </a:lnTo>
                <a:lnTo>
                  <a:pt x="5168066" y="368117"/>
                </a:lnTo>
                <a:close/>
              </a:path>
            </a:pathLst>
          </a:custGeom>
          <a:ln w="19049">
            <a:solidFill>
              <a:srgbClr val="775141"/>
            </a:solidFill>
          </a:ln>
        </p:spPr>
        <p:txBody>
          <a:bodyPr wrap="square" lIns="0" tIns="0" rIns="0" bIns="0" rtlCol="0"/>
          <a:lstStyle/>
          <a:p>
            <a:endParaRPr sz="1588"/>
          </a:p>
        </p:txBody>
      </p:sp>
      <p:sp>
        <p:nvSpPr>
          <p:cNvPr id="15" name="object 14">
            <a:extLst>
              <a:ext uri="{FF2B5EF4-FFF2-40B4-BE49-F238E27FC236}">
                <a16:creationId xmlns:a16="http://schemas.microsoft.com/office/drawing/2014/main" id="{298225CB-B071-FC66-70E9-5BFCB77BE67C}"/>
              </a:ext>
            </a:extLst>
          </p:cNvPr>
          <p:cNvSpPr/>
          <p:nvPr>
            <p:custDataLst>
              <p:tags r:id="rId13"/>
            </p:custDataLst>
          </p:nvPr>
        </p:nvSpPr>
        <p:spPr>
          <a:xfrm>
            <a:off x="1422776" y="3510310"/>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6" name="object 15">
            <a:extLst>
              <a:ext uri="{FF2B5EF4-FFF2-40B4-BE49-F238E27FC236}">
                <a16:creationId xmlns:a16="http://schemas.microsoft.com/office/drawing/2014/main" id="{F950E074-2A8F-06D4-FE82-28E07C71FCF0}"/>
              </a:ext>
            </a:extLst>
          </p:cNvPr>
          <p:cNvSpPr/>
          <p:nvPr>
            <p:custDataLst>
              <p:tags r:id="rId14"/>
            </p:custDataLst>
          </p:nvPr>
        </p:nvSpPr>
        <p:spPr>
          <a:xfrm>
            <a:off x="1422771" y="351030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17" name="object 16">
            <a:extLst>
              <a:ext uri="{FF2B5EF4-FFF2-40B4-BE49-F238E27FC236}">
                <a16:creationId xmlns:a16="http://schemas.microsoft.com/office/drawing/2014/main" id="{AACC50F6-3C71-D3C2-EEF7-8FF3983BC588}"/>
              </a:ext>
            </a:extLst>
          </p:cNvPr>
          <p:cNvSpPr/>
          <p:nvPr>
            <p:custDataLst>
              <p:tags r:id="rId15"/>
            </p:custDataLst>
          </p:nvPr>
        </p:nvSpPr>
        <p:spPr>
          <a:xfrm>
            <a:off x="1422776" y="3897652"/>
            <a:ext cx="4560234" cy="324971"/>
          </a:xfrm>
          <a:custGeom>
            <a:avLst/>
            <a:gdLst/>
            <a:ahLst/>
            <a:cxnLst/>
            <a:rect l="l" t="t" r="r" b="b"/>
            <a:pathLst>
              <a:path w="5168265" h="368300">
                <a:moveTo>
                  <a:pt x="4984000" y="0"/>
                </a:moveTo>
                <a:lnTo>
                  <a:pt x="0" y="0"/>
                </a:lnTo>
                <a:lnTo>
                  <a:pt x="184061" y="184061"/>
                </a:lnTo>
                <a:lnTo>
                  <a:pt x="0" y="368109"/>
                </a:lnTo>
                <a:lnTo>
                  <a:pt x="4984000" y="368109"/>
                </a:lnTo>
                <a:lnTo>
                  <a:pt x="5168061" y="184061"/>
                </a:lnTo>
                <a:lnTo>
                  <a:pt x="4984000" y="0"/>
                </a:lnTo>
                <a:close/>
              </a:path>
            </a:pathLst>
          </a:custGeom>
          <a:solidFill>
            <a:srgbClr val="8590B2"/>
          </a:solidFill>
        </p:spPr>
        <p:txBody>
          <a:bodyPr wrap="square" lIns="0" tIns="0" rIns="0" bIns="0" rtlCol="0"/>
          <a:lstStyle/>
          <a:p>
            <a:endParaRPr sz="1588"/>
          </a:p>
        </p:txBody>
      </p:sp>
      <p:sp>
        <p:nvSpPr>
          <p:cNvPr id="18" name="object 17">
            <a:extLst>
              <a:ext uri="{FF2B5EF4-FFF2-40B4-BE49-F238E27FC236}">
                <a16:creationId xmlns:a16="http://schemas.microsoft.com/office/drawing/2014/main" id="{94F4BEE0-87CC-E1D9-B537-BE4B70A7FE67}"/>
              </a:ext>
            </a:extLst>
          </p:cNvPr>
          <p:cNvSpPr/>
          <p:nvPr>
            <p:custDataLst>
              <p:tags r:id="rId16"/>
            </p:custDataLst>
          </p:nvPr>
        </p:nvSpPr>
        <p:spPr>
          <a:xfrm>
            <a:off x="1422776" y="3897652"/>
            <a:ext cx="4560234" cy="324971"/>
          </a:xfrm>
          <a:custGeom>
            <a:avLst/>
            <a:gdLst/>
            <a:ahLst/>
            <a:cxnLst/>
            <a:rect l="l" t="t" r="r" b="b"/>
            <a:pathLst>
              <a:path w="5168265" h="368300">
                <a:moveTo>
                  <a:pt x="0" y="0"/>
                </a:moveTo>
                <a:lnTo>
                  <a:pt x="4984006" y="0"/>
                </a:lnTo>
                <a:lnTo>
                  <a:pt x="516806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9" name="object 18">
            <a:extLst>
              <a:ext uri="{FF2B5EF4-FFF2-40B4-BE49-F238E27FC236}">
                <a16:creationId xmlns:a16="http://schemas.microsoft.com/office/drawing/2014/main" id="{825DCA2D-EA05-F1CF-22BA-41BCFCD6C90B}"/>
              </a:ext>
            </a:extLst>
          </p:cNvPr>
          <p:cNvSpPr/>
          <p:nvPr>
            <p:custDataLst>
              <p:tags r:id="rId17"/>
            </p:custDataLst>
          </p:nvPr>
        </p:nvSpPr>
        <p:spPr>
          <a:xfrm>
            <a:off x="1422776" y="4278865"/>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0" name="object 19">
            <a:extLst>
              <a:ext uri="{FF2B5EF4-FFF2-40B4-BE49-F238E27FC236}">
                <a16:creationId xmlns:a16="http://schemas.microsoft.com/office/drawing/2014/main" id="{088DC0D2-2813-40F6-72F3-3DE0D74F5030}"/>
              </a:ext>
            </a:extLst>
          </p:cNvPr>
          <p:cNvSpPr/>
          <p:nvPr>
            <p:custDataLst>
              <p:tags r:id="rId18"/>
            </p:custDataLst>
          </p:nvPr>
        </p:nvSpPr>
        <p:spPr>
          <a:xfrm>
            <a:off x="1422776" y="4278865"/>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1" name="object 20">
            <a:extLst>
              <a:ext uri="{FF2B5EF4-FFF2-40B4-BE49-F238E27FC236}">
                <a16:creationId xmlns:a16="http://schemas.microsoft.com/office/drawing/2014/main" id="{A76FC1AB-91C7-65FC-A725-106EDF4C0B6C}"/>
              </a:ext>
            </a:extLst>
          </p:cNvPr>
          <p:cNvSpPr/>
          <p:nvPr>
            <p:custDataLst>
              <p:tags r:id="rId19"/>
            </p:custDataLst>
          </p:nvPr>
        </p:nvSpPr>
        <p:spPr>
          <a:xfrm>
            <a:off x="1422776" y="4660089"/>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2" name="object 21">
            <a:extLst>
              <a:ext uri="{FF2B5EF4-FFF2-40B4-BE49-F238E27FC236}">
                <a16:creationId xmlns:a16="http://schemas.microsoft.com/office/drawing/2014/main" id="{96CE261C-C010-E8FA-AC96-52E60A883EFD}"/>
              </a:ext>
            </a:extLst>
          </p:cNvPr>
          <p:cNvSpPr/>
          <p:nvPr>
            <p:custDataLst>
              <p:tags r:id="rId20"/>
            </p:custDataLst>
          </p:nvPr>
        </p:nvSpPr>
        <p:spPr>
          <a:xfrm>
            <a:off x="1422776" y="4660089"/>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3" name="object 22">
            <a:extLst>
              <a:ext uri="{FF2B5EF4-FFF2-40B4-BE49-F238E27FC236}">
                <a16:creationId xmlns:a16="http://schemas.microsoft.com/office/drawing/2014/main" id="{BCFBA040-E004-E3B3-5BDD-C60AF14873F4}"/>
              </a:ext>
            </a:extLst>
          </p:cNvPr>
          <p:cNvSpPr/>
          <p:nvPr>
            <p:custDataLst>
              <p:tags r:id="rId21"/>
            </p:custDataLst>
          </p:nvPr>
        </p:nvSpPr>
        <p:spPr>
          <a:xfrm>
            <a:off x="1422776" y="5063422"/>
            <a:ext cx="4560234" cy="324971"/>
          </a:xfrm>
          <a:custGeom>
            <a:avLst/>
            <a:gdLst/>
            <a:ahLst/>
            <a:cxnLst/>
            <a:rect l="l" t="t" r="r" b="b"/>
            <a:pathLst>
              <a:path w="5168265" h="368300">
                <a:moveTo>
                  <a:pt x="5168061" y="0"/>
                </a:moveTo>
                <a:lnTo>
                  <a:pt x="184061" y="0"/>
                </a:lnTo>
                <a:lnTo>
                  <a:pt x="0" y="184061"/>
                </a:lnTo>
                <a:lnTo>
                  <a:pt x="184061" y="368122"/>
                </a:lnTo>
                <a:lnTo>
                  <a:pt x="5168061" y="368122"/>
                </a:lnTo>
                <a:lnTo>
                  <a:pt x="4984000" y="184061"/>
                </a:lnTo>
                <a:lnTo>
                  <a:pt x="5168061" y="0"/>
                </a:lnTo>
                <a:close/>
              </a:path>
            </a:pathLst>
          </a:custGeom>
          <a:solidFill>
            <a:srgbClr val="C69785"/>
          </a:solidFill>
        </p:spPr>
        <p:txBody>
          <a:bodyPr wrap="square" lIns="0" tIns="0" rIns="0" bIns="0" rtlCol="0"/>
          <a:lstStyle/>
          <a:p>
            <a:endParaRPr sz="1588"/>
          </a:p>
        </p:txBody>
      </p:sp>
      <p:sp>
        <p:nvSpPr>
          <p:cNvPr id="24" name="object 23">
            <a:extLst>
              <a:ext uri="{FF2B5EF4-FFF2-40B4-BE49-F238E27FC236}">
                <a16:creationId xmlns:a16="http://schemas.microsoft.com/office/drawing/2014/main" id="{EF2F468A-2B03-C9C8-04D0-A05BC139E229}"/>
              </a:ext>
            </a:extLst>
          </p:cNvPr>
          <p:cNvSpPr/>
          <p:nvPr>
            <p:custDataLst>
              <p:tags r:id="rId22"/>
            </p:custDataLst>
          </p:nvPr>
        </p:nvSpPr>
        <p:spPr>
          <a:xfrm>
            <a:off x="1422771" y="5063426"/>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5" name="object 24">
            <a:extLst>
              <a:ext uri="{FF2B5EF4-FFF2-40B4-BE49-F238E27FC236}">
                <a16:creationId xmlns:a16="http://schemas.microsoft.com/office/drawing/2014/main" id="{EF5CAB71-CC72-EE96-5CE8-5A00B448A7DE}"/>
              </a:ext>
            </a:extLst>
          </p:cNvPr>
          <p:cNvSpPr/>
          <p:nvPr>
            <p:custDataLst>
              <p:tags r:id="rId23"/>
            </p:custDataLst>
          </p:nvPr>
        </p:nvSpPr>
        <p:spPr>
          <a:xfrm>
            <a:off x="1422776" y="5472874"/>
            <a:ext cx="4560234" cy="324971"/>
          </a:xfrm>
          <a:custGeom>
            <a:avLst/>
            <a:gdLst/>
            <a:ahLst/>
            <a:cxnLst/>
            <a:rect l="l" t="t" r="r" b="b"/>
            <a:pathLst>
              <a:path w="5168265" h="368300">
                <a:moveTo>
                  <a:pt x="5168061" y="0"/>
                </a:moveTo>
                <a:lnTo>
                  <a:pt x="184061" y="0"/>
                </a:lnTo>
                <a:lnTo>
                  <a:pt x="0" y="184061"/>
                </a:lnTo>
                <a:lnTo>
                  <a:pt x="184061" y="368115"/>
                </a:lnTo>
                <a:lnTo>
                  <a:pt x="5168061" y="368115"/>
                </a:lnTo>
                <a:lnTo>
                  <a:pt x="4984000" y="184061"/>
                </a:lnTo>
                <a:lnTo>
                  <a:pt x="5168061" y="0"/>
                </a:lnTo>
                <a:close/>
              </a:path>
            </a:pathLst>
          </a:custGeom>
          <a:solidFill>
            <a:srgbClr val="C69785"/>
          </a:solidFill>
        </p:spPr>
        <p:txBody>
          <a:bodyPr wrap="square" lIns="0" tIns="0" rIns="0" bIns="0" rtlCol="0"/>
          <a:lstStyle/>
          <a:p>
            <a:endParaRPr sz="1588"/>
          </a:p>
        </p:txBody>
      </p:sp>
      <p:sp>
        <p:nvSpPr>
          <p:cNvPr id="26" name="object 25">
            <a:extLst>
              <a:ext uri="{FF2B5EF4-FFF2-40B4-BE49-F238E27FC236}">
                <a16:creationId xmlns:a16="http://schemas.microsoft.com/office/drawing/2014/main" id="{02942A36-17B2-679F-3EC8-DEF3649411B3}"/>
              </a:ext>
            </a:extLst>
          </p:cNvPr>
          <p:cNvSpPr/>
          <p:nvPr>
            <p:custDataLst>
              <p:tags r:id="rId24"/>
            </p:custDataLst>
          </p:nvPr>
        </p:nvSpPr>
        <p:spPr>
          <a:xfrm>
            <a:off x="1422771" y="547287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7" name="object 26">
            <a:extLst>
              <a:ext uri="{FF2B5EF4-FFF2-40B4-BE49-F238E27FC236}">
                <a16:creationId xmlns:a16="http://schemas.microsoft.com/office/drawing/2014/main" id="{00526F85-36E7-D9DC-13A6-D52308A36924}"/>
              </a:ext>
            </a:extLst>
          </p:cNvPr>
          <p:cNvSpPr txBox="1"/>
          <p:nvPr>
            <p:custDataLst>
              <p:tags r:id="rId25"/>
            </p:custDataLst>
          </p:nvPr>
        </p:nvSpPr>
        <p:spPr>
          <a:xfrm>
            <a:off x="2040544" y="2168011"/>
            <a:ext cx="3329827" cy="3622787"/>
          </a:xfrm>
          <a:prstGeom prst="rect">
            <a:avLst/>
          </a:prstGeom>
        </p:spPr>
        <p:txBody>
          <a:bodyPr vert="horz" wrap="square" lIns="0" tIns="0" rIns="0" bIns="0" rtlCol="0">
            <a:spAutoFit/>
          </a:bodyPr>
          <a:lstStyle/>
          <a:p>
            <a:pPr marL="59394" marR="56593" indent="3922" algn="ctr">
              <a:lnSpc>
                <a:spcPct val="166700"/>
              </a:lnSpc>
            </a:pPr>
            <a:r>
              <a:rPr sz="1588" spc="-9" dirty="0">
                <a:latin typeface="Gill Sans MT"/>
                <a:cs typeface="Gill Sans MT"/>
              </a:rPr>
              <a:t>ClientHello(Version, Prefs, </a:t>
            </a:r>
            <a:r>
              <a:rPr sz="1588" spc="-4" dirty="0">
                <a:latin typeface="Gill Sans MT"/>
                <a:cs typeface="Gill Sans MT"/>
              </a:rPr>
              <a:t>Nonce</a:t>
            </a:r>
            <a:r>
              <a:rPr sz="1588" spc="-6" baseline="-20833" dirty="0">
                <a:latin typeface="Gill Sans MT"/>
                <a:cs typeface="Gill Sans MT"/>
              </a:rPr>
              <a:t>c</a:t>
            </a:r>
            <a:r>
              <a:rPr sz="1588" spc="-4" dirty="0">
                <a:latin typeface="Gill Sans MT"/>
                <a:cs typeface="Gill Sans MT"/>
              </a:rPr>
              <a:t>)  </a:t>
            </a:r>
            <a:r>
              <a:rPr sz="1588" spc="-9" dirty="0">
                <a:latin typeface="Arial"/>
                <a:cs typeface="Arial"/>
              </a:rPr>
              <a:t>ServerHello(Version, </a:t>
            </a:r>
            <a:r>
              <a:rPr sz="1588" dirty="0">
                <a:latin typeface="Arial"/>
                <a:cs typeface="Arial"/>
              </a:rPr>
              <a:t>Prefs, </a:t>
            </a:r>
            <a:r>
              <a:rPr sz="1588" spc="-4" dirty="0">
                <a:latin typeface="Arial"/>
                <a:cs typeface="Arial"/>
              </a:rPr>
              <a:t>Nonce</a:t>
            </a:r>
            <a:r>
              <a:rPr sz="1588" spc="-6" baseline="-20833" dirty="0">
                <a:latin typeface="Arial"/>
                <a:cs typeface="Arial"/>
              </a:rPr>
              <a:t>s</a:t>
            </a:r>
            <a:r>
              <a:rPr sz="1588" spc="-4" dirty="0">
                <a:latin typeface="Arial"/>
                <a:cs typeface="Arial"/>
              </a:rPr>
              <a:t>)  Certificates({C</a:t>
            </a:r>
            <a:r>
              <a:rPr sz="1588" spc="-6" baseline="-20833" dirty="0">
                <a:latin typeface="Arial"/>
                <a:cs typeface="Arial"/>
              </a:rPr>
              <a:t>BofA</a:t>
            </a:r>
            <a:r>
              <a:rPr sz="1588" spc="-4" dirty="0">
                <a:latin typeface="Arial"/>
                <a:cs typeface="Arial"/>
              </a:rPr>
              <a:t>, </a:t>
            </a:r>
            <a:r>
              <a:rPr sz="1588" spc="-9" dirty="0">
                <a:latin typeface="Arial"/>
                <a:cs typeface="Arial"/>
              </a:rPr>
              <a:t>C</a:t>
            </a:r>
            <a:r>
              <a:rPr sz="1588" spc="-13" baseline="-20833" dirty="0">
                <a:latin typeface="Arial"/>
                <a:cs typeface="Arial"/>
              </a:rPr>
              <a:t>Verisign</a:t>
            </a:r>
            <a:r>
              <a:rPr sz="1588" spc="-9" dirty="0">
                <a:latin typeface="Arial"/>
                <a:cs typeface="Arial"/>
              </a:rPr>
              <a:t>})  </a:t>
            </a:r>
            <a:r>
              <a:rPr sz="1588" dirty="0">
                <a:latin typeface="Arial"/>
                <a:cs typeface="Arial"/>
              </a:rPr>
              <a:t>ServerHelloDone</a:t>
            </a:r>
          </a:p>
          <a:p>
            <a:pPr marR="4483" algn="r">
              <a:lnSpc>
                <a:spcPts val="953"/>
              </a:lnSpc>
              <a:spcBef>
                <a:spcPts val="1240"/>
              </a:spcBef>
            </a:pPr>
            <a:r>
              <a:rPr sz="1588" dirty="0">
                <a:latin typeface="Gill Sans MT"/>
                <a:cs typeface="Gill Sans MT"/>
              </a:rPr>
              <a:t>)</a:t>
            </a:r>
          </a:p>
          <a:p>
            <a:pPr marR="58274" algn="ctr">
              <a:lnSpc>
                <a:spcPts val="953"/>
              </a:lnSpc>
            </a:pPr>
            <a:r>
              <a:rPr sz="1588" spc="-9" dirty="0">
                <a:latin typeface="Gill Sans MT"/>
                <a:cs typeface="Gill Sans MT"/>
              </a:rPr>
              <a:t>ClientKeyExchange({PreMasterKey}</a:t>
            </a:r>
            <a:r>
              <a:rPr sz="1588" spc="-13" baseline="-20833" dirty="0">
                <a:latin typeface="Gill Sans MT"/>
                <a:cs typeface="Gill Sans MT"/>
              </a:rPr>
              <a:t>P</a:t>
            </a:r>
            <a:r>
              <a:rPr sz="1588" spc="-13" baseline="-32407" dirty="0">
                <a:latin typeface="Gill Sans MT"/>
                <a:cs typeface="Gill Sans MT"/>
              </a:rPr>
              <a:t>BofA</a:t>
            </a:r>
            <a:endParaRPr sz="1588" baseline="-32407" dirty="0">
              <a:latin typeface="Gill Sans MT"/>
              <a:cs typeface="Gill Sans MT"/>
            </a:endParaRPr>
          </a:p>
          <a:p>
            <a:pPr algn="ctr">
              <a:spcBef>
                <a:spcPts val="1094"/>
              </a:spcBef>
            </a:pPr>
            <a:r>
              <a:rPr sz="1588" dirty="0">
                <a:latin typeface="Gill Sans MT"/>
                <a:cs typeface="Gill Sans MT"/>
              </a:rPr>
              <a:t>ChangeCipherSpec</a:t>
            </a:r>
          </a:p>
          <a:p>
            <a:pPr algn="ctr">
              <a:spcBef>
                <a:spcPts val="1094"/>
              </a:spcBef>
            </a:pPr>
            <a:r>
              <a:rPr sz="1588" dirty="0">
                <a:latin typeface="Gill Sans MT"/>
                <a:cs typeface="Gill Sans MT"/>
              </a:rPr>
              <a:t>{Finished}</a:t>
            </a:r>
            <a:r>
              <a:rPr sz="1588" baseline="-20833" dirty="0">
                <a:latin typeface="Gill Sans MT"/>
                <a:cs typeface="Gill Sans MT"/>
              </a:rPr>
              <a:t>K</a:t>
            </a:r>
          </a:p>
          <a:p>
            <a:pPr algn="ctr">
              <a:spcBef>
                <a:spcPts val="1174"/>
              </a:spcBef>
            </a:pPr>
            <a:r>
              <a:rPr sz="1588" dirty="0">
                <a:latin typeface="Arial"/>
                <a:cs typeface="Arial"/>
              </a:rPr>
              <a:t>ChangeCipherSpec</a:t>
            </a:r>
          </a:p>
          <a:p>
            <a:pPr marL="2241" algn="ctr">
              <a:spcBef>
                <a:spcPts val="1293"/>
              </a:spcBef>
            </a:pPr>
            <a:r>
              <a:rPr sz="1588" spc="-4" dirty="0">
                <a:latin typeface="Arial"/>
                <a:cs typeface="Arial"/>
              </a:rPr>
              <a:t>{Finished}</a:t>
            </a:r>
            <a:r>
              <a:rPr sz="1588" spc="-6" baseline="-20833" dirty="0">
                <a:latin typeface="Arial"/>
                <a:cs typeface="Arial"/>
              </a:rPr>
              <a:t>K</a:t>
            </a:r>
            <a:endParaRPr sz="1588" baseline="-20833" dirty="0">
              <a:latin typeface="Arial"/>
              <a:cs typeface="Arial"/>
            </a:endParaRPr>
          </a:p>
        </p:txBody>
      </p:sp>
      <p:sp>
        <p:nvSpPr>
          <p:cNvPr id="28" name="object 27">
            <a:extLst>
              <a:ext uri="{FF2B5EF4-FFF2-40B4-BE49-F238E27FC236}">
                <a16:creationId xmlns:a16="http://schemas.microsoft.com/office/drawing/2014/main" id="{2826761F-11B1-AE85-676C-BE50A3168AE1}"/>
              </a:ext>
            </a:extLst>
          </p:cNvPr>
          <p:cNvSpPr/>
          <p:nvPr>
            <p:custDataLst>
              <p:tags r:id="rId26"/>
            </p:custDataLst>
          </p:nvPr>
        </p:nvSpPr>
        <p:spPr>
          <a:xfrm>
            <a:off x="5718696" y="2872630"/>
            <a:ext cx="2089337" cy="610291"/>
          </a:xfrm>
          <a:custGeom>
            <a:avLst/>
            <a:gdLst/>
            <a:ahLst/>
            <a:cxnLst/>
            <a:rect l="l" t="t" r="r" b="b"/>
            <a:pathLst>
              <a:path w="2367915" h="464185">
                <a:moveTo>
                  <a:pt x="2367394" y="193395"/>
                </a:moveTo>
                <a:lnTo>
                  <a:pt x="703605" y="193395"/>
                </a:lnTo>
                <a:lnTo>
                  <a:pt x="703605" y="464159"/>
                </a:lnTo>
                <a:lnTo>
                  <a:pt x="2367394" y="464159"/>
                </a:lnTo>
                <a:lnTo>
                  <a:pt x="2367394" y="193395"/>
                </a:lnTo>
                <a:close/>
              </a:path>
              <a:path w="2367915" h="464185">
                <a:moveTo>
                  <a:pt x="2367394" y="0"/>
                </a:moveTo>
                <a:lnTo>
                  <a:pt x="703605" y="0"/>
                </a:lnTo>
                <a:lnTo>
                  <a:pt x="703605" y="77355"/>
                </a:lnTo>
                <a:lnTo>
                  <a:pt x="0" y="227266"/>
                </a:lnTo>
                <a:lnTo>
                  <a:pt x="703605" y="193395"/>
                </a:lnTo>
                <a:lnTo>
                  <a:pt x="2367394" y="193395"/>
                </a:lnTo>
                <a:lnTo>
                  <a:pt x="2367394" y="0"/>
                </a:lnTo>
                <a:close/>
              </a:path>
            </a:pathLst>
          </a:custGeom>
          <a:solidFill>
            <a:srgbClr val="AEC5D6"/>
          </a:solidFill>
        </p:spPr>
        <p:txBody>
          <a:bodyPr wrap="square" lIns="0" tIns="0" rIns="0" bIns="0" rtlCol="0"/>
          <a:lstStyle/>
          <a:p>
            <a:endParaRPr sz="1588"/>
          </a:p>
        </p:txBody>
      </p:sp>
      <p:sp>
        <p:nvSpPr>
          <p:cNvPr id="29" name="object 28">
            <a:extLst>
              <a:ext uri="{FF2B5EF4-FFF2-40B4-BE49-F238E27FC236}">
                <a16:creationId xmlns:a16="http://schemas.microsoft.com/office/drawing/2014/main" id="{E3F70DF8-5CFB-A996-52B5-5804BAD74637}"/>
              </a:ext>
            </a:extLst>
          </p:cNvPr>
          <p:cNvSpPr/>
          <p:nvPr>
            <p:custDataLst>
              <p:tags r:id="rId27"/>
            </p:custDataLst>
          </p:nvPr>
        </p:nvSpPr>
        <p:spPr>
          <a:xfrm>
            <a:off x="5718689" y="2872638"/>
            <a:ext cx="2089337" cy="610283"/>
          </a:xfrm>
          <a:custGeom>
            <a:avLst/>
            <a:gdLst/>
            <a:ahLst/>
            <a:cxnLst/>
            <a:rect l="l" t="t" r="r" b="b"/>
            <a:pathLst>
              <a:path w="2367915" h="464185">
                <a:moveTo>
                  <a:pt x="703613" y="0"/>
                </a:moveTo>
                <a:lnTo>
                  <a:pt x="980910" y="0"/>
                </a:lnTo>
                <a:lnTo>
                  <a:pt x="1396855" y="0"/>
                </a:lnTo>
                <a:lnTo>
                  <a:pt x="2367392" y="0"/>
                </a:lnTo>
                <a:lnTo>
                  <a:pt x="2367392" y="77359"/>
                </a:lnTo>
                <a:lnTo>
                  <a:pt x="2367392" y="193399"/>
                </a:lnTo>
                <a:lnTo>
                  <a:pt x="2367392" y="464159"/>
                </a:lnTo>
                <a:lnTo>
                  <a:pt x="1396855" y="464159"/>
                </a:lnTo>
                <a:lnTo>
                  <a:pt x="980910" y="464159"/>
                </a:lnTo>
                <a:lnTo>
                  <a:pt x="703613" y="464159"/>
                </a:lnTo>
                <a:lnTo>
                  <a:pt x="703613" y="193399"/>
                </a:lnTo>
                <a:lnTo>
                  <a:pt x="0" y="227275"/>
                </a:lnTo>
                <a:lnTo>
                  <a:pt x="703613" y="77359"/>
                </a:lnTo>
                <a:lnTo>
                  <a:pt x="703613" y="0"/>
                </a:lnTo>
                <a:close/>
              </a:path>
            </a:pathLst>
          </a:custGeom>
          <a:ln w="19049">
            <a:solidFill>
              <a:srgbClr val="4E718B"/>
            </a:solidFill>
          </a:ln>
        </p:spPr>
        <p:txBody>
          <a:bodyPr wrap="square" lIns="0" tIns="0" rIns="0" bIns="0" rtlCol="0"/>
          <a:lstStyle/>
          <a:p>
            <a:endParaRPr sz="1588"/>
          </a:p>
        </p:txBody>
      </p:sp>
      <p:sp>
        <p:nvSpPr>
          <p:cNvPr id="30" name="object 29">
            <a:extLst>
              <a:ext uri="{FF2B5EF4-FFF2-40B4-BE49-F238E27FC236}">
                <a16:creationId xmlns:a16="http://schemas.microsoft.com/office/drawing/2014/main" id="{1D4B2AA7-EB9D-4D32-49E5-969E99A8495C}"/>
              </a:ext>
            </a:extLst>
          </p:cNvPr>
          <p:cNvSpPr txBox="1"/>
          <p:nvPr>
            <p:custDataLst>
              <p:tags r:id="rId28"/>
            </p:custDataLst>
          </p:nvPr>
        </p:nvSpPr>
        <p:spPr>
          <a:xfrm>
            <a:off x="6630759" y="2975024"/>
            <a:ext cx="890307" cy="487313"/>
          </a:xfrm>
          <a:prstGeom prst="rect">
            <a:avLst/>
          </a:prstGeom>
        </p:spPr>
        <p:txBody>
          <a:bodyPr vert="horz" wrap="square" lIns="0" tIns="0" rIns="0" bIns="0" rtlCol="0">
            <a:spAutoFit/>
          </a:bodyPr>
          <a:lstStyle/>
          <a:p>
            <a:pPr marL="234776" marR="4483" indent="-224130">
              <a:lnSpc>
                <a:spcPts val="1853"/>
              </a:lnSpc>
            </a:pPr>
            <a:r>
              <a:rPr sz="1588" dirty="0">
                <a:latin typeface="Gill Sans MT"/>
                <a:cs typeface="Gill Sans MT"/>
              </a:rPr>
              <a:t>Ce</a:t>
            </a:r>
            <a:r>
              <a:rPr sz="1588" spc="31" dirty="0">
                <a:latin typeface="Gill Sans MT"/>
                <a:cs typeface="Gill Sans MT"/>
              </a:rPr>
              <a:t>r</a:t>
            </a:r>
            <a:r>
              <a:rPr sz="1588" dirty="0">
                <a:latin typeface="Gill Sans MT"/>
                <a:cs typeface="Gill Sans MT"/>
              </a:rPr>
              <a:t>tificate  chain</a:t>
            </a:r>
          </a:p>
        </p:txBody>
      </p:sp>
      <p:sp>
        <p:nvSpPr>
          <p:cNvPr id="31" name="object 30">
            <a:extLst>
              <a:ext uri="{FF2B5EF4-FFF2-40B4-BE49-F238E27FC236}">
                <a16:creationId xmlns:a16="http://schemas.microsoft.com/office/drawing/2014/main" id="{84068A68-DE29-3142-CFA1-6BD0CA1D0419}"/>
              </a:ext>
            </a:extLst>
          </p:cNvPr>
          <p:cNvSpPr/>
          <p:nvPr>
            <p:custDataLst>
              <p:tags r:id="rId29"/>
            </p:custDataLst>
          </p:nvPr>
        </p:nvSpPr>
        <p:spPr>
          <a:xfrm>
            <a:off x="5709395" y="3777144"/>
            <a:ext cx="2089337" cy="629210"/>
          </a:xfrm>
          <a:custGeom>
            <a:avLst/>
            <a:gdLst/>
            <a:ahLst/>
            <a:cxnLst/>
            <a:rect l="l" t="t" r="r" b="b"/>
            <a:pathLst>
              <a:path w="2367915" h="713104">
                <a:moveTo>
                  <a:pt x="2367394" y="296964"/>
                </a:moveTo>
                <a:lnTo>
                  <a:pt x="703605" y="296964"/>
                </a:lnTo>
                <a:lnTo>
                  <a:pt x="703605" y="712711"/>
                </a:lnTo>
                <a:lnTo>
                  <a:pt x="2367394" y="712711"/>
                </a:lnTo>
                <a:lnTo>
                  <a:pt x="2367394" y="296964"/>
                </a:lnTo>
                <a:close/>
              </a:path>
              <a:path w="2367915" h="713104">
                <a:moveTo>
                  <a:pt x="2367394" y="0"/>
                </a:moveTo>
                <a:lnTo>
                  <a:pt x="703605" y="0"/>
                </a:lnTo>
                <a:lnTo>
                  <a:pt x="703605" y="118783"/>
                </a:lnTo>
                <a:lnTo>
                  <a:pt x="0" y="348970"/>
                </a:lnTo>
                <a:lnTo>
                  <a:pt x="703605" y="296964"/>
                </a:lnTo>
                <a:lnTo>
                  <a:pt x="2367394" y="296964"/>
                </a:lnTo>
                <a:lnTo>
                  <a:pt x="2367394" y="0"/>
                </a:lnTo>
                <a:close/>
              </a:path>
            </a:pathLst>
          </a:custGeom>
          <a:solidFill>
            <a:srgbClr val="AEC5D6"/>
          </a:solidFill>
        </p:spPr>
        <p:txBody>
          <a:bodyPr wrap="square" lIns="0" tIns="0" rIns="0" bIns="0" rtlCol="0"/>
          <a:lstStyle/>
          <a:p>
            <a:endParaRPr sz="1588"/>
          </a:p>
        </p:txBody>
      </p:sp>
      <p:sp>
        <p:nvSpPr>
          <p:cNvPr id="32" name="object 31">
            <a:extLst>
              <a:ext uri="{FF2B5EF4-FFF2-40B4-BE49-F238E27FC236}">
                <a16:creationId xmlns:a16="http://schemas.microsoft.com/office/drawing/2014/main" id="{9A585241-9A4D-FBC3-1CE7-5EA6DBDE7660}"/>
              </a:ext>
            </a:extLst>
          </p:cNvPr>
          <p:cNvSpPr/>
          <p:nvPr>
            <p:custDataLst>
              <p:tags r:id="rId30"/>
            </p:custDataLst>
          </p:nvPr>
        </p:nvSpPr>
        <p:spPr>
          <a:xfrm>
            <a:off x="5709388" y="3777144"/>
            <a:ext cx="2089337" cy="629210"/>
          </a:xfrm>
          <a:custGeom>
            <a:avLst/>
            <a:gdLst/>
            <a:ahLst/>
            <a:cxnLst/>
            <a:rect l="l" t="t" r="r" b="b"/>
            <a:pathLst>
              <a:path w="2367915" h="713104">
                <a:moveTo>
                  <a:pt x="703613" y="0"/>
                </a:moveTo>
                <a:lnTo>
                  <a:pt x="980910" y="0"/>
                </a:lnTo>
                <a:lnTo>
                  <a:pt x="1396855" y="0"/>
                </a:lnTo>
                <a:lnTo>
                  <a:pt x="2367392" y="0"/>
                </a:lnTo>
                <a:lnTo>
                  <a:pt x="2367392" y="118783"/>
                </a:lnTo>
                <a:lnTo>
                  <a:pt x="2367392" y="296960"/>
                </a:lnTo>
                <a:lnTo>
                  <a:pt x="2367392" y="712705"/>
                </a:lnTo>
                <a:lnTo>
                  <a:pt x="1396855" y="712705"/>
                </a:lnTo>
                <a:lnTo>
                  <a:pt x="980910" y="712705"/>
                </a:lnTo>
                <a:lnTo>
                  <a:pt x="703613" y="712705"/>
                </a:lnTo>
                <a:lnTo>
                  <a:pt x="703613" y="296960"/>
                </a:lnTo>
                <a:lnTo>
                  <a:pt x="0" y="348975"/>
                </a:lnTo>
                <a:lnTo>
                  <a:pt x="703613" y="118783"/>
                </a:lnTo>
                <a:lnTo>
                  <a:pt x="703613" y="0"/>
                </a:lnTo>
                <a:close/>
              </a:path>
            </a:pathLst>
          </a:custGeom>
          <a:ln w="19049">
            <a:solidFill>
              <a:srgbClr val="4E718B"/>
            </a:solidFill>
          </a:ln>
        </p:spPr>
        <p:txBody>
          <a:bodyPr wrap="square" lIns="0" tIns="0" rIns="0" bIns="0" rtlCol="0"/>
          <a:lstStyle/>
          <a:p>
            <a:endParaRPr sz="1588"/>
          </a:p>
        </p:txBody>
      </p:sp>
      <p:sp>
        <p:nvSpPr>
          <p:cNvPr id="33" name="object 32">
            <a:extLst>
              <a:ext uri="{FF2B5EF4-FFF2-40B4-BE49-F238E27FC236}">
                <a16:creationId xmlns:a16="http://schemas.microsoft.com/office/drawing/2014/main" id="{E3C9E6A2-C8FB-C9E8-0D68-21CAD9719202}"/>
              </a:ext>
            </a:extLst>
          </p:cNvPr>
          <p:cNvSpPr/>
          <p:nvPr>
            <p:custDataLst>
              <p:tags r:id="rId31"/>
            </p:custDataLst>
          </p:nvPr>
        </p:nvSpPr>
        <p:spPr>
          <a:xfrm>
            <a:off x="5700228" y="4596967"/>
            <a:ext cx="2223247" cy="629210"/>
          </a:xfrm>
          <a:custGeom>
            <a:avLst/>
            <a:gdLst/>
            <a:ahLst/>
            <a:cxnLst/>
            <a:rect l="l" t="t" r="r" b="b"/>
            <a:pathLst>
              <a:path w="2519679" h="713104">
                <a:moveTo>
                  <a:pt x="2519324" y="0"/>
                </a:moveTo>
                <a:lnTo>
                  <a:pt x="593534" y="0"/>
                </a:lnTo>
                <a:lnTo>
                  <a:pt x="593534" y="118783"/>
                </a:lnTo>
                <a:lnTo>
                  <a:pt x="0" y="294474"/>
                </a:lnTo>
                <a:lnTo>
                  <a:pt x="593534" y="296964"/>
                </a:lnTo>
                <a:lnTo>
                  <a:pt x="593534" y="712711"/>
                </a:lnTo>
                <a:lnTo>
                  <a:pt x="2519324" y="712711"/>
                </a:lnTo>
                <a:lnTo>
                  <a:pt x="2519324" y="0"/>
                </a:lnTo>
                <a:close/>
              </a:path>
            </a:pathLst>
          </a:custGeom>
          <a:solidFill>
            <a:srgbClr val="AEC5D6"/>
          </a:solidFill>
        </p:spPr>
        <p:txBody>
          <a:bodyPr wrap="square" lIns="0" tIns="0" rIns="0" bIns="0" rtlCol="0"/>
          <a:lstStyle/>
          <a:p>
            <a:endParaRPr sz="1588"/>
          </a:p>
        </p:txBody>
      </p:sp>
      <p:sp>
        <p:nvSpPr>
          <p:cNvPr id="34" name="object 33">
            <a:extLst>
              <a:ext uri="{FF2B5EF4-FFF2-40B4-BE49-F238E27FC236}">
                <a16:creationId xmlns:a16="http://schemas.microsoft.com/office/drawing/2014/main" id="{2BE3C157-23DF-DAA3-99FD-68FF19652433}"/>
              </a:ext>
            </a:extLst>
          </p:cNvPr>
          <p:cNvSpPr/>
          <p:nvPr>
            <p:custDataLst>
              <p:tags r:id="rId32"/>
            </p:custDataLst>
          </p:nvPr>
        </p:nvSpPr>
        <p:spPr>
          <a:xfrm>
            <a:off x="5700218" y="4596967"/>
            <a:ext cx="2223247" cy="629210"/>
          </a:xfrm>
          <a:custGeom>
            <a:avLst/>
            <a:gdLst/>
            <a:ahLst/>
            <a:cxnLst/>
            <a:rect l="l" t="t" r="r" b="b"/>
            <a:pathLst>
              <a:path w="2519679" h="713104">
                <a:moveTo>
                  <a:pt x="593545" y="0"/>
                </a:moveTo>
                <a:lnTo>
                  <a:pt x="914509" y="0"/>
                </a:lnTo>
                <a:lnTo>
                  <a:pt x="1395954" y="0"/>
                </a:lnTo>
                <a:lnTo>
                  <a:pt x="2519324" y="0"/>
                </a:lnTo>
                <a:lnTo>
                  <a:pt x="2519324" y="118783"/>
                </a:lnTo>
                <a:lnTo>
                  <a:pt x="2519324" y="296960"/>
                </a:lnTo>
                <a:lnTo>
                  <a:pt x="2519324" y="712705"/>
                </a:lnTo>
                <a:lnTo>
                  <a:pt x="1395954" y="712705"/>
                </a:lnTo>
                <a:lnTo>
                  <a:pt x="914509" y="712705"/>
                </a:lnTo>
                <a:lnTo>
                  <a:pt x="593545" y="712705"/>
                </a:lnTo>
                <a:lnTo>
                  <a:pt x="593545" y="296960"/>
                </a:lnTo>
                <a:lnTo>
                  <a:pt x="0" y="294475"/>
                </a:lnTo>
                <a:lnTo>
                  <a:pt x="593545" y="118783"/>
                </a:lnTo>
                <a:lnTo>
                  <a:pt x="593545" y="0"/>
                </a:lnTo>
                <a:close/>
              </a:path>
            </a:pathLst>
          </a:custGeom>
          <a:ln w="19049">
            <a:solidFill>
              <a:srgbClr val="4E718B"/>
            </a:solidFill>
          </a:ln>
        </p:spPr>
        <p:txBody>
          <a:bodyPr wrap="square" lIns="0" tIns="0" rIns="0" bIns="0" rtlCol="0"/>
          <a:lstStyle/>
          <a:p>
            <a:endParaRPr sz="1588"/>
          </a:p>
        </p:txBody>
      </p:sp>
      <p:sp>
        <p:nvSpPr>
          <p:cNvPr id="35" name="object 34">
            <a:extLst>
              <a:ext uri="{FF2B5EF4-FFF2-40B4-BE49-F238E27FC236}">
                <a16:creationId xmlns:a16="http://schemas.microsoft.com/office/drawing/2014/main" id="{D2BC3ADD-D96E-3635-0752-7E01A85BCBA2}"/>
              </a:ext>
            </a:extLst>
          </p:cNvPr>
          <p:cNvSpPr txBox="1"/>
          <p:nvPr>
            <p:custDataLst>
              <p:tags r:id="rId33"/>
            </p:custDataLst>
          </p:nvPr>
        </p:nvSpPr>
        <p:spPr>
          <a:xfrm>
            <a:off x="6316994" y="3775743"/>
            <a:ext cx="1517836" cy="1610697"/>
          </a:xfrm>
          <a:prstGeom prst="rect">
            <a:avLst/>
          </a:prstGeom>
        </p:spPr>
        <p:txBody>
          <a:bodyPr vert="horz" wrap="square" lIns="0" tIns="0" rIns="0" bIns="0" rtlCol="0">
            <a:spAutoFit/>
          </a:bodyPr>
          <a:lstStyle/>
          <a:p>
            <a:pPr marL="100297" marR="113185" algn="ctr">
              <a:lnSpc>
                <a:spcPct val="99500"/>
              </a:lnSpc>
            </a:pPr>
            <a:r>
              <a:rPr sz="1400" spc="4" dirty="0">
                <a:latin typeface="Gill Sans MT"/>
                <a:cs typeface="Gill Sans MT"/>
              </a:rPr>
              <a:t>Encrypted</a:t>
            </a:r>
            <a:r>
              <a:rPr sz="1400" spc="-84" dirty="0">
                <a:latin typeface="Gill Sans MT"/>
                <a:cs typeface="Gill Sans MT"/>
              </a:rPr>
              <a:t> </a:t>
            </a:r>
            <a:r>
              <a:rPr sz="1400" dirty="0">
                <a:latin typeface="Gill Sans MT"/>
                <a:cs typeface="Gill Sans MT"/>
              </a:rPr>
              <a:t>using  </a:t>
            </a:r>
            <a:r>
              <a:rPr sz="1400" spc="-18" dirty="0">
                <a:latin typeface="Gill Sans MT"/>
                <a:cs typeface="Gill Sans MT"/>
              </a:rPr>
              <a:t>server’s </a:t>
            </a:r>
            <a:r>
              <a:rPr sz="1400" dirty="0">
                <a:latin typeface="Gill Sans MT"/>
                <a:cs typeface="Gill Sans MT"/>
              </a:rPr>
              <a:t>public  </a:t>
            </a:r>
            <a:r>
              <a:rPr sz="1400" spc="-26" dirty="0">
                <a:latin typeface="Gill Sans MT"/>
                <a:cs typeface="Gill Sans MT"/>
              </a:rPr>
              <a:t>key</a:t>
            </a:r>
            <a:endParaRPr lang="en-US" sz="1400" spc="-26" dirty="0">
              <a:latin typeface="Gill Sans MT"/>
              <a:cs typeface="Gill Sans MT"/>
            </a:endParaRPr>
          </a:p>
          <a:p>
            <a:pPr marL="100297" marR="113185" algn="ctr">
              <a:lnSpc>
                <a:spcPct val="99500"/>
              </a:lnSpc>
            </a:pPr>
            <a:endParaRPr sz="1400" dirty="0">
              <a:latin typeface="Gill Sans MT"/>
              <a:cs typeface="Gill Sans MT"/>
            </a:endParaRPr>
          </a:p>
          <a:p>
            <a:pPr marL="11206" marR="4483" indent="-560" algn="ctr">
              <a:lnSpc>
                <a:spcPct val="99500"/>
              </a:lnSpc>
              <a:spcBef>
                <a:spcPts val="763"/>
              </a:spcBef>
            </a:pPr>
            <a:r>
              <a:rPr sz="1400" spc="4" dirty="0">
                <a:latin typeface="Gill Sans MT"/>
                <a:cs typeface="Gill Sans MT"/>
              </a:rPr>
              <a:t>Encrypted </a:t>
            </a:r>
            <a:r>
              <a:rPr sz="1400" dirty="0">
                <a:latin typeface="Gill Sans MT"/>
                <a:cs typeface="Gill Sans MT"/>
              </a:rPr>
              <a:t>using  </a:t>
            </a:r>
            <a:r>
              <a:rPr sz="1400" spc="-4" dirty="0">
                <a:latin typeface="Gill Sans MT"/>
                <a:cs typeface="Gill Sans MT"/>
              </a:rPr>
              <a:t>symmetric</a:t>
            </a:r>
            <a:r>
              <a:rPr sz="1400" spc="-53" dirty="0">
                <a:latin typeface="Gill Sans MT"/>
                <a:cs typeface="Gill Sans MT"/>
              </a:rPr>
              <a:t> </a:t>
            </a:r>
            <a:r>
              <a:rPr sz="1400" dirty="0">
                <a:latin typeface="Gill Sans MT"/>
                <a:cs typeface="Gill Sans MT"/>
              </a:rPr>
              <a:t>session  </a:t>
            </a:r>
            <a:r>
              <a:rPr sz="1400" spc="-26" dirty="0">
                <a:latin typeface="Gill Sans MT"/>
                <a:cs typeface="Gill Sans MT"/>
              </a:rPr>
              <a:t>key</a:t>
            </a:r>
            <a:endParaRPr sz="1400" dirty="0">
              <a:latin typeface="Gill Sans MT"/>
              <a:cs typeface="Gill Sans MT"/>
            </a:endParaRPr>
          </a:p>
        </p:txBody>
      </p:sp>
      <p:sp>
        <p:nvSpPr>
          <p:cNvPr id="39" name="object 38">
            <a:extLst>
              <a:ext uri="{FF2B5EF4-FFF2-40B4-BE49-F238E27FC236}">
                <a16:creationId xmlns:a16="http://schemas.microsoft.com/office/drawing/2014/main" id="{D4C49C22-EF95-DE96-7644-A3989E5A2D01}"/>
              </a:ext>
            </a:extLst>
          </p:cNvPr>
          <p:cNvSpPr/>
          <p:nvPr>
            <p:custDataLst>
              <p:tags r:id="rId34"/>
            </p:custDataLst>
          </p:nvPr>
        </p:nvSpPr>
        <p:spPr>
          <a:xfrm>
            <a:off x="6593764" y="1428382"/>
            <a:ext cx="328695" cy="438260"/>
          </a:xfrm>
          <a:prstGeom prst="rect">
            <a:avLst/>
          </a:prstGeom>
          <a:blipFill>
            <a:blip r:embed="rId45" cstate="print"/>
            <a:stretch>
              <a:fillRect/>
            </a:stretch>
          </a:blipFill>
        </p:spPr>
        <p:txBody>
          <a:bodyPr wrap="square" lIns="0" tIns="0" rIns="0" bIns="0" rtlCol="0"/>
          <a:lstStyle/>
          <a:p>
            <a:endParaRPr sz="1588"/>
          </a:p>
        </p:txBody>
      </p:sp>
      <p:sp>
        <p:nvSpPr>
          <p:cNvPr id="40" name="object 39">
            <a:extLst>
              <a:ext uri="{FF2B5EF4-FFF2-40B4-BE49-F238E27FC236}">
                <a16:creationId xmlns:a16="http://schemas.microsoft.com/office/drawing/2014/main" id="{70E9A441-B25E-2D72-352D-3A19FE4B19B7}"/>
              </a:ext>
            </a:extLst>
          </p:cNvPr>
          <p:cNvSpPr txBox="1"/>
          <p:nvPr>
            <p:custDataLst>
              <p:tags r:id="rId35"/>
            </p:custDataLst>
          </p:nvPr>
        </p:nvSpPr>
        <p:spPr>
          <a:xfrm>
            <a:off x="6786045" y="1691214"/>
            <a:ext cx="763120" cy="682623"/>
          </a:xfrm>
          <a:prstGeom prst="rect">
            <a:avLst/>
          </a:prstGeom>
        </p:spPr>
        <p:txBody>
          <a:bodyPr vert="horz" wrap="square" lIns="0" tIns="0" rIns="0" bIns="0" rtlCol="0">
            <a:spAutoFit/>
          </a:bodyPr>
          <a:lstStyle/>
          <a:p>
            <a:pPr marL="11206"/>
            <a:r>
              <a:rPr sz="2647" b="1" spc="19" baseline="13888" dirty="0">
                <a:latin typeface="Arial"/>
                <a:cs typeface="Arial"/>
              </a:rPr>
              <a:t>S</a:t>
            </a:r>
            <a:r>
              <a:rPr sz="1147" b="1" spc="13" dirty="0">
                <a:latin typeface="Arial"/>
                <a:cs typeface="Arial"/>
              </a:rPr>
              <a:t>BofA</a:t>
            </a:r>
            <a:endParaRPr sz="1147">
              <a:latin typeface="Arial"/>
              <a:cs typeface="Arial"/>
            </a:endParaRPr>
          </a:p>
          <a:p>
            <a:pPr marL="313781">
              <a:spcBef>
                <a:spcPts val="1271"/>
              </a:spcBef>
            </a:pPr>
            <a:r>
              <a:rPr sz="1588" dirty="0">
                <a:latin typeface="Arial"/>
                <a:cs typeface="Arial"/>
              </a:rPr>
              <a:t>BofA</a:t>
            </a:r>
            <a:endParaRPr sz="1588">
              <a:latin typeface="Arial"/>
              <a:cs typeface="Arial"/>
            </a:endParaRPr>
          </a:p>
        </p:txBody>
      </p:sp>
      <p:sp>
        <p:nvSpPr>
          <p:cNvPr id="41" name="object 35">
            <a:extLst>
              <a:ext uri="{FF2B5EF4-FFF2-40B4-BE49-F238E27FC236}">
                <a16:creationId xmlns:a16="http://schemas.microsoft.com/office/drawing/2014/main" id="{FC7EFB51-386D-34A3-4051-E9028B63D4FB}"/>
              </a:ext>
            </a:extLst>
          </p:cNvPr>
          <p:cNvSpPr/>
          <p:nvPr>
            <p:custDataLst>
              <p:tags r:id="rId36"/>
            </p:custDataLst>
          </p:nvPr>
        </p:nvSpPr>
        <p:spPr>
          <a:xfrm>
            <a:off x="12599" y="4032838"/>
            <a:ext cx="1991846" cy="1559858"/>
          </a:xfrm>
          <a:custGeom>
            <a:avLst/>
            <a:gdLst/>
            <a:ahLst/>
            <a:cxnLst/>
            <a:rect l="l" t="t" r="r" b="b"/>
            <a:pathLst>
              <a:path w="2257425" h="1767839">
                <a:moveTo>
                  <a:pt x="1487893" y="0"/>
                </a:moveTo>
                <a:lnTo>
                  <a:pt x="0" y="0"/>
                </a:lnTo>
                <a:lnTo>
                  <a:pt x="0" y="1767433"/>
                </a:lnTo>
                <a:lnTo>
                  <a:pt x="1487893" y="1767433"/>
                </a:lnTo>
                <a:lnTo>
                  <a:pt x="1487893" y="1472869"/>
                </a:lnTo>
                <a:lnTo>
                  <a:pt x="2095009" y="1031011"/>
                </a:lnTo>
                <a:lnTo>
                  <a:pt x="1487893" y="1031011"/>
                </a:lnTo>
                <a:lnTo>
                  <a:pt x="1487893" y="0"/>
                </a:lnTo>
                <a:close/>
              </a:path>
              <a:path w="2257425" h="1767839">
                <a:moveTo>
                  <a:pt x="2257171" y="912990"/>
                </a:moveTo>
                <a:lnTo>
                  <a:pt x="1487893" y="1031011"/>
                </a:lnTo>
                <a:lnTo>
                  <a:pt x="2095009" y="1031011"/>
                </a:lnTo>
                <a:lnTo>
                  <a:pt x="2257171" y="912990"/>
                </a:lnTo>
                <a:close/>
              </a:path>
            </a:pathLst>
          </a:custGeom>
          <a:solidFill>
            <a:srgbClr val="AEC5D6"/>
          </a:solidFill>
        </p:spPr>
        <p:txBody>
          <a:bodyPr wrap="square" lIns="0" tIns="0" rIns="0" bIns="0" rtlCol="0"/>
          <a:lstStyle/>
          <a:p>
            <a:endParaRPr sz="1588" dirty="0"/>
          </a:p>
        </p:txBody>
      </p:sp>
      <p:sp>
        <p:nvSpPr>
          <p:cNvPr id="42" name="object 37">
            <a:extLst>
              <a:ext uri="{FF2B5EF4-FFF2-40B4-BE49-F238E27FC236}">
                <a16:creationId xmlns:a16="http://schemas.microsoft.com/office/drawing/2014/main" id="{A35FC1FB-751B-2151-0EE4-18E45446381C}"/>
              </a:ext>
            </a:extLst>
          </p:cNvPr>
          <p:cNvSpPr txBox="1"/>
          <p:nvPr>
            <p:custDataLst>
              <p:tags r:id="rId37"/>
            </p:custDataLst>
          </p:nvPr>
        </p:nvSpPr>
        <p:spPr>
          <a:xfrm>
            <a:off x="12590" y="4063316"/>
            <a:ext cx="1311550" cy="997163"/>
          </a:xfrm>
          <a:prstGeom prst="rect">
            <a:avLst/>
          </a:prstGeom>
        </p:spPr>
        <p:txBody>
          <a:bodyPr vert="horz" wrap="square" lIns="0" tIns="11206" rIns="0" bIns="0" rtlCol="0">
            <a:spAutoFit/>
          </a:bodyPr>
          <a:lstStyle/>
          <a:p>
            <a:pPr marL="155210" marR="148486" algn="ctr">
              <a:lnSpc>
                <a:spcPts val="1853"/>
              </a:lnSpc>
              <a:spcBef>
                <a:spcPts val="88"/>
              </a:spcBef>
            </a:pPr>
            <a:r>
              <a:rPr lang="en-US" sz="1100" dirty="0" err="1">
                <a:latin typeface="Gill Sans MT"/>
                <a:cs typeface="Gill Sans MT"/>
              </a:rPr>
              <a:t>ClientHello</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ServerHello</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ServerCert</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ServerHelloDone</a:t>
            </a:r>
            <a:endParaRPr lang="en-US" sz="1100" dirty="0">
              <a:latin typeface="Gill Sans MT"/>
              <a:cs typeface="Gill Sans MT"/>
            </a:endParaRPr>
          </a:p>
        </p:txBody>
      </p:sp>
    </p:spTree>
    <p:custDataLst>
      <p:tags r:id="rId1"/>
    </p:custDataLst>
    <p:extLst>
      <p:ext uri="{BB962C8B-B14F-4D97-AF65-F5344CB8AC3E}">
        <p14:creationId xmlns:p14="http://schemas.microsoft.com/office/powerpoint/2010/main" val="3344147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66C2A2B8-4417-F88C-5D34-0639C3E83943}"/>
              </a:ext>
            </a:extLst>
          </p:cNvPr>
          <p:cNvSpPr/>
          <p:nvPr>
            <p:custDataLst>
              <p:tags r:id="rId2"/>
            </p:custDataLst>
          </p:nvPr>
        </p:nvSpPr>
        <p:spPr>
          <a:xfrm>
            <a:off x="195508" y="1308735"/>
            <a:ext cx="665873" cy="887831"/>
          </a:xfrm>
          <a:prstGeom prst="rect">
            <a:avLst/>
          </a:prstGeom>
          <a:blipFill>
            <a:blip r:embed="rId41" cstate="print"/>
            <a:stretch>
              <a:fillRect/>
            </a:stretch>
          </a:blipFill>
        </p:spPr>
        <p:txBody>
          <a:bodyPr wrap="square" lIns="0" tIns="0" rIns="0" bIns="0" rtlCol="0"/>
          <a:lstStyle/>
          <a:p>
            <a:endParaRPr sz="1588"/>
          </a:p>
        </p:txBody>
      </p:sp>
      <p:sp>
        <p:nvSpPr>
          <p:cNvPr id="3" name="object 4">
            <a:extLst>
              <a:ext uri="{FF2B5EF4-FFF2-40B4-BE49-F238E27FC236}">
                <a16:creationId xmlns:a16="http://schemas.microsoft.com/office/drawing/2014/main" id="{C10C158C-1132-0718-9C6F-D351E01D1A4A}"/>
              </a:ext>
            </a:extLst>
          </p:cNvPr>
          <p:cNvSpPr/>
          <p:nvPr>
            <p:custDataLst>
              <p:tags r:id="rId3"/>
            </p:custDataLst>
          </p:nvPr>
        </p:nvSpPr>
        <p:spPr>
          <a:xfrm>
            <a:off x="1003294" y="1584568"/>
            <a:ext cx="424833" cy="443909"/>
          </a:xfrm>
          <a:prstGeom prst="rect">
            <a:avLst/>
          </a:prstGeom>
          <a:blipFill>
            <a:blip r:embed="rId42" cstate="print"/>
            <a:stretch>
              <a:fillRect/>
            </a:stretch>
          </a:blipFill>
        </p:spPr>
        <p:txBody>
          <a:bodyPr wrap="square" lIns="0" tIns="0" rIns="0" bIns="0" rtlCol="0"/>
          <a:lstStyle/>
          <a:p>
            <a:endParaRPr sz="1588"/>
          </a:p>
        </p:txBody>
      </p:sp>
      <p:sp>
        <p:nvSpPr>
          <p:cNvPr id="4" name="object 5">
            <a:extLst>
              <a:ext uri="{FF2B5EF4-FFF2-40B4-BE49-F238E27FC236}">
                <a16:creationId xmlns:a16="http://schemas.microsoft.com/office/drawing/2014/main" id="{1F3592BF-8B3D-CA39-584A-F469D6DE7037}"/>
              </a:ext>
            </a:extLst>
          </p:cNvPr>
          <p:cNvSpPr/>
          <p:nvPr>
            <p:custDataLst>
              <p:tags r:id="rId4"/>
            </p:custDataLst>
          </p:nvPr>
        </p:nvSpPr>
        <p:spPr>
          <a:xfrm>
            <a:off x="5947463" y="1570560"/>
            <a:ext cx="649121" cy="608804"/>
          </a:xfrm>
          <a:prstGeom prst="rect">
            <a:avLst/>
          </a:prstGeom>
          <a:blipFill>
            <a:blip r:embed="rId43" cstate="print"/>
            <a:stretch>
              <a:fillRect/>
            </a:stretch>
          </a:blipFill>
        </p:spPr>
        <p:txBody>
          <a:bodyPr wrap="square" lIns="0" tIns="0" rIns="0" bIns="0" rtlCol="0"/>
          <a:lstStyle/>
          <a:p>
            <a:endParaRPr sz="1588"/>
          </a:p>
        </p:txBody>
      </p:sp>
      <p:sp>
        <p:nvSpPr>
          <p:cNvPr id="7" name="object 6">
            <a:extLst>
              <a:ext uri="{FF2B5EF4-FFF2-40B4-BE49-F238E27FC236}">
                <a16:creationId xmlns:a16="http://schemas.microsoft.com/office/drawing/2014/main" id="{0289C2FB-9927-FBAC-96FF-A2B3AEA24567}"/>
              </a:ext>
            </a:extLst>
          </p:cNvPr>
          <p:cNvSpPr/>
          <p:nvPr>
            <p:custDataLst>
              <p:tags r:id="rId5"/>
            </p:custDataLst>
          </p:nvPr>
        </p:nvSpPr>
        <p:spPr>
          <a:xfrm>
            <a:off x="5219037" y="1428387"/>
            <a:ext cx="1312623" cy="216984"/>
          </a:xfrm>
          <a:prstGeom prst="rect">
            <a:avLst/>
          </a:prstGeom>
          <a:blipFill>
            <a:blip r:embed="rId44"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50441020-4DAD-820E-3C57-5D412115B39E}"/>
              </a:ext>
            </a:extLst>
          </p:cNvPr>
          <p:cNvSpPr/>
          <p:nvPr>
            <p:custDataLst>
              <p:tags r:id="rId6"/>
            </p:custDataLst>
          </p:nvPr>
        </p:nvSpPr>
        <p:spPr>
          <a:xfrm>
            <a:off x="6638251" y="1786912"/>
            <a:ext cx="412947" cy="550601"/>
          </a:xfrm>
          <a:prstGeom prst="rect">
            <a:avLst/>
          </a:prstGeom>
          <a:blipFill>
            <a:blip r:embed="rId45"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6CCAF482-454A-DA4E-55C0-0A8AEED5FC7F}"/>
              </a:ext>
            </a:extLst>
          </p:cNvPr>
          <p:cNvSpPr/>
          <p:nvPr>
            <p:custDataLst>
              <p:tags r:id="rId7"/>
            </p:custDataLst>
          </p:nvPr>
        </p:nvSpPr>
        <p:spPr>
          <a:xfrm>
            <a:off x="1422776" y="2288072"/>
            <a:ext cx="4560234" cy="324971"/>
          </a:xfrm>
          <a:custGeom>
            <a:avLst/>
            <a:gdLst/>
            <a:ahLst/>
            <a:cxnLst/>
            <a:rect l="l" t="t" r="r" b="b"/>
            <a:pathLst>
              <a:path w="5168265" h="368300">
                <a:moveTo>
                  <a:pt x="4984013" y="0"/>
                </a:moveTo>
                <a:lnTo>
                  <a:pt x="0" y="0"/>
                </a:lnTo>
                <a:lnTo>
                  <a:pt x="184061" y="184061"/>
                </a:lnTo>
                <a:lnTo>
                  <a:pt x="0" y="368122"/>
                </a:lnTo>
                <a:lnTo>
                  <a:pt x="4984013" y="368122"/>
                </a:lnTo>
                <a:lnTo>
                  <a:pt x="5168061" y="184061"/>
                </a:lnTo>
                <a:lnTo>
                  <a:pt x="4984013" y="0"/>
                </a:lnTo>
                <a:close/>
              </a:path>
            </a:pathLst>
          </a:custGeom>
          <a:solidFill>
            <a:srgbClr val="8590B2"/>
          </a:solidFill>
        </p:spPr>
        <p:txBody>
          <a:bodyPr wrap="square" lIns="0" tIns="0" rIns="0" bIns="0" rtlCol="0"/>
          <a:lstStyle/>
          <a:p>
            <a:endParaRPr sz="1588"/>
          </a:p>
        </p:txBody>
      </p:sp>
      <p:sp>
        <p:nvSpPr>
          <p:cNvPr id="10" name="object 9">
            <a:extLst>
              <a:ext uri="{FF2B5EF4-FFF2-40B4-BE49-F238E27FC236}">
                <a16:creationId xmlns:a16="http://schemas.microsoft.com/office/drawing/2014/main" id="{48EF5B77-AA9B-3A2F-0947-2E8C7ABF8BAA}"/>
              </a:ext>
            </a:extLst>
          </p:cNvPr>
          <p:cNvSpPr/>
          <p:nvPr>
            <p:custDataLst>
              <p:tags r:id="rId8"/>
            </p:custDataLst>
          </p:nvPr>
        </p:nvSpPr>
        <p:spPr>
          <a:xfrm>
            <a:off x="1422776" y="2288072"/>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1" name="object 10">
            <a:extLst>
              <a:ext uri="{FF2B5EF4-FFF2-40B4-BE49-F238E27FC236}">
                <a16:creationId xmlns:a16="http://schemas.microsoft.com/office/drawing/2014/main" id="{17F23512-67ED-9739-D52D-3678BD93B56B}"/>
              </a:ext>
            </a:extLst>
          </p:cNvPr>
          <p:cNvSpPr/>
          <p:nvPr>
            <p:custDataLst>
              <p:tags r:id="rId9"/>
            </p:custDataLst>
          </p:nvPr>
        </p:nvSpPr>
        <p:spPr>
          <a:xfrm>
            <a:off x="1424916" y="2691406"/>
            <a:ext cx="4560234" cy="324971"/>
          </a:xfrm>
          <a:custGeom>
            <a:avLst/>
            <a:gdLst/>
            <a:ahLst/>
            <a:cxnLst/>
            <a:rect l="l" t="t" r="r" b="b"/>
            <a:pathLst>
              <a:path w="5168265" h="368300">
                <a:moveTo>
                  <a:pt x="5168061" y="0"/>
                </a:moveTo>
                <a:lnTo>
                  <a:pt x="184061" y="0"/>
                </a:lnTo>
                <a:lnTo>
                  <a:pt x="0" y="184061"/>
                </a:lnTo>
                <a:lnTo>
                  <a:pt x="184061" y="368109"/>
                </a:lnTo>
                <a:lnTo>
                  <a:pt x="5168061" y="368109"/>
                </a:lnTo>
                <a:lnTo>
                  <a:pt x="4984000" y="184061"/>
                </a:lnTo>
                <a:lnTo>
                  <a:pt x="5168061" y="0"/>
                </a:lnTo>
                <a:close/>
              </a:path>
            </a:pathLst>
          </a:custGeom>
          <a:solidFill>
            <a:srgbClr val="C69785"/>
          </a:solidFill>
        </p:spPr>
        <p:txBody>
          <a:bodyPr wrap="square" lIns="0" tIns="0" rIns="0" bIns="0" rtlCol="0"/>
          <a:lstStyle/>
          <a:p>
            <a:endParaRPr sz="1588"/>
          </a:p>
        </p:txBody>
      </p:sp>
      <p:sp>
        <p:nvSpPr>
          <p:cNvPr id="12" name="object 11">
            <a:extLst>
              <a:ext uri="{FF2B5EF4-FFF2-40B4-BE49-F238E27FC236}">
                <a16:creationId xmlns:a16="http://schemas.microsoft.com/office/drawing/2014/main" id="{B21CBD6B-4DB3-1177-1264-8DE36971FD2F}"/>
              </a:ext>
            </a:extLst>
          </p:cNvPr>
          <p:cNvSpPr/>
          <p:nvPr>
            <p:custDataLst>
              <p:tags r:id="rId10"/>
            </p:custDataLst>
          </p:nvPr>
        </p:nvSpPr>
        <p:spPr>
          <a:xfrm>
            <a:off x="1424912" y="2691399"/>
            <a:ext cx="4560234" cy="324971"/>
          </a:xfrm>
          <a:custGeom>
            <a:avLst/>
            <a:gdLst/>
            <a:ahLst/>
            <a:cxnLst/>
            <a:rect l="l" t="t" r="r" b="b"/>
            <a:pathLst>
              <a:path w="5168265" h="368300">
                <a:moveTo>
                  <a:pt x="5168065" y="368117"/>
                </a:moveTo>
                <a:lnTo>
                  <a:pt x="184059" y="368117"/>
                </a:lnTo>
                <a:lnTo>
                  <a:pt x="0" y="184058"/>
                </a:lnTo>
                <a:lnTo>
                  <a:pt x="184059" y="0"/>
                </a:lnTo>
                <a:lnTo>
                  <a:pt x="5168065" y="0"/>
                </a:lnTo>
                <a:lnTo>
                  <a:pt x="4984006" y="184058"/>
                </a:lnTo>
                <a:lnTo>
                  <a:pt x="5168065" y="368117"/>
                </a:lnTo>
                <a:close/>
              </a:path>
            </a:pathLst>
          </a:custGeom>
          <a:ln w="19049">
            <a:solidFill>
              <a:srgbClr val="775141"/>
            </a:solidFill>
          </a:ln>
        </p:spPr>
        <p:txBody>
          <a:bodyPr wrap="square" lIns="0" tIns="0" rIns="0" bIns="0" rtlCol="0"/>
          <a:lstStyle/>
          <a:p>
            <a:endParaRPr sz="1588"/>
          </a:p>
        </p:txBody>
      </p:sp>
      <p:sp>
        <p:nvSpPr>
          <p:cNvPr id="13" name="object 12">
            <a:extLst>
              <a:ext uri="{FF2B5EF4-FFF2-40B4-BE49-F238E27FC236}">
                <a16:creationId xmlns:a16="http://schemas.microsoft.com/office/drawing/2014/main" id="{3671097C-8667-79A4-3205-F908C0799EC9}"/>
              </a:ext>
            </a:extLst>
          </p:cNvPr>
          <p:cNvSpPr/>
          <p:nvPr>
            <p:custDataLst>
              <p:tags r:id="rId11"/>
            </p:custDataLst>
          </p:nvPr>
        </p:nvSpPr>
        <p:spPr>
          <a:xfrm>
            <a:off x="1422776" y="3100858"/>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4" name="object 13">
            <a:extLst>
              <a:ext uri="{FF2B5EF4-FFF2-40B4-BE49-F238E27FC236}">
                <a16:creationId xmlns:a16="http://schemas.microsoft.com/office/drawing/2014/main" id="{500440D8-570E-A8C1-031F-993DF1253208}"/>
              </a:ext>
            </a:extLst>
          </p:cNvPr>
          <p:cNvSpPr/>
          <p:nvPr>
            <p:custDataLst>
              <p:tags r:id="rId12"/>
            </p:custDataLst>
          </p:nvPr>
        </p:nvSpPr>
        <p:spPr>
          <a:xfrm>
            <a:off x="1422771" y="3100850"/>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6" y="184058"/>
                </a:lnTo>
                <a:lnTo>
                  <a:pt x="5168066" y="368117"/>
                </a:lnTo>
                <a:close/>
              </a:path>
            </a:pathLst>
          </a:custGeom>
          <a:ln w="19049">
            <a:solidFill>
              <a:srgbClr val="775141"/>
            </a:solidFill>
          </a:ln>
        </p:spPr>
        <p:txBody>
          <a:bodyPr wrap="square" lIns="0" tIns="0" rIns="0" bIns="0" rtlCol="0"/>
          <a:lstStyle/>
          <a:p>
            <a:endParaRPr sz="1588"/>
          </a:p>
        </p:txBody>
      </p:sp>
      <p:sp>
        <p:nvSpPr>
          <p:cNvPr id="15" name="object 14">
            <a:extLst>
              <a:ext uri="{FF2B5EF4-FFF2-40B4-BE49-F238E27FC236}">
                <a16:creationId xmlns:a16="http://schemas.microsoft.com/office/drawing/2014/main" id="{298225CB-B071-FC66-70E9-5BFCB77BE67C}"/>
              </a:ext>
            </a:extLst>
          </p:cNvPr>
          <p:cNvSpPr/>
          <p:nvPr>
            <p:custDataLst>
              <p:tags r:id="rId13"/>
            </p:custDataLst>
          </p:nvPr>
        </p:nvSpPr>
        <p:spPr>
          <a:xfrm>
            <a:off x="1422776" y="3510310"/>
            <a:ext cx="4560234" cy="324971"/>
          </a:xfrm>
          <a:custGeom>
            <a:avLst/>
            <a:gdLst/>
            <a:ahLst/>
            <a:cxnLst/>
            <a:rect l="l" t="t" r="r" b="b"/>
            <a:pathLst>
              <a:path w="5168265" h="368300">
                <a:moveTo>
                  <a:pt x="5168061" y="0"/>
                </a:moveTo>
                <a:lnTo>
                  <a:pt x="184061" y="0"/>
                </a:lnTo>
                <a:lnTo>
                  <a:pt x="0" y="184048"/>
                </a:lnTo>
                <a:lnTo>
                  <a:pt x="184061" y="368109"/>
                </a:lnTo>
                <a:lnTo>
                  <a:pt x="5168061" y="368109"/>
                </a:lnTo>
                <a:lnTo>
                  <a:pt x="4984000" y="184048"/>
                </a:lnTo>
                <a:lnTo>
                  <a:pt x="5168061" y="0"/>
                </a:lnTo>
                <a:close/>
              </a:path>
            </a:pathLst>
          </a:custGeom>
          <a:solidFill>
            <a:srgbClr val="C69785"/>
          </a:solidFill>
        </p:spPr>
        <p:txBody>
          <a:bodyPr wrap="square" lIns="0" tIns="0" rIns="0" bIns="0" rtlCol="0"/>
          <a:lstStyle/>
          <a:p>
            <a:endParaRPr sz="1588"/>
          </a:p>
        </p:txBody>
      </p:sp>
      <p:sp>
        <p:nvSpPr>
          <p:cNvPr id="16" name="object 15">
            <a:extLst>
              <a:ext uri="{FF2B5EF4-FFF2-40B4-BE49-F238E27FC236}">
                <a16:creationId xmlns:a16="http://schemas.microsoft.com/office/drawing/2014/main" id="{F950E074-2A8F-06D4-FE82-28E07C71FCF0}"/>
              </a:ext>
            </a:extLst>
          </p:cNvPr>
          <p:cNvSpPr/>
          <p:nvPr>
            <p:custDataLst>
              <p:tags r:id="rId14"/>
            </p:custDataLst>
          </p:nvPr>
        </p:nvSpPr>
        <p:spPr>
          <a:xfrm>
            <a:off x="1422771" y="351030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17" name="object 16">
            <a:extLst>
              <a:ext uri="{FF2B5EF4-FFF2-40B4-BE49-F238E27FC236}">
                <a16:creationId xmlns:a16="http://schemas.microsoft.com/office/drawing/2014/main" id="{AACC50F6-3C71-D3C2-EEF7-8FF3983BC588}"/>
              </a:ext>
            </a:extLst>
          </p:cNvPr>
          <p:cNvSpPr/>
          <p:nvPr>
            <p:custDataLst>
              <p:tags r:id="rId15"/>
            </p:custDataLst>
          </p:nvPr>
        </p:nvSpPr>
        <p:spPr>
          <a:xfrm>
            <a:off x="1422776" y="3897652"/>
            <a:ext cx="4560234" cy="324971"/>
          </a:xfrm>
          <a:custGeom>
            <a:avLst/>
            <a:gdLst/>
            <a:ahLst/>
            <a:cxnLst/>
            <a:rect l="l" t="t" r="r" b="b"/>
            <a:pathLst>
              <a:path w="5168265" h="368300">
                <a:moveTo>
                  <a:pt x="4984000" y="0"/>
                </a:moveTo>
                <a:lnTo>
                  <a:pt x="0" y="0"/>
                </a:lnTo>
                <a:lnTo>
                  <a:pt x="184061" y="184061"/>
                </a:lnTo>
                <a:lnTo>
                  <a:pt x="0" y="368109"/>
                </a:lnTo>
                <a:lnTo>
                  <a:pt x="4984000" y="368109"/>
                </a:lnTo>
                <a:lnTo>
                  <a:pt x="5168061" y="184061"/>
                </a:lnTo>
                <a:lnTo>
                  <a:pt x="4984000" y="0"/>
                </a:lnTo>
                <a:close/>
              </a:path>
            </a:pathLst>
          </a:custGeom>
          <a:solidFill>
            <a:srgbClr val="8590B2"/>
          </a:solidFill>
        </p:spPr>
        <p:txBody>
          <a:bodyPr wrap="square" lIns="0" tIns="0" rIns="0" bIns="0" rtlCol="0"/>
          <a:lstStyle/>
          <a:p>
            <a:endParaRPr sz="1588"/>
          </a:p>
        </p:txBody>
      </p:sp>
      <p:sp>
        <p:nvSpPr>
          <p:cNvPr id="18" name="object 17">
            <a:extLst>
              <a:ext uri="{FF2B5EF4-FFF2-40B4-BE49-F238E27FC236}">
                <a16:creationId xmlns:a16="http://schemas.microsoft.com/office/drawing/2014/main" id="{94F4BEE0-87CC-E1D9-B537-BE4B70A7FE67}"/>
              </a:ext>
            </a:extLst>
          </p:cNvPr>
          <p:cNvSpPr/>
          <p:nvPr>
            <p:custDataLst>
              <p:tags r:id="rId16"/>
            </p:custDataLst>
          </p:nvPr>
        </p:nvSpPr>
        <p:spPr>
          <a:xfrm>
            <a:off x="1422776" y="3897652"/>
            <a:ext cx="4560234" cy="324971"/>
          </a:xfrm>
          <a:custGeom>
            <a:avLst/>
            <a:gdLst/>
            <a:ahLst/>
            <a:cxnLst/>
            <a:rect l="l" t="t" r="r" b="b"/>
            <a:pathLst>
              <a:path w="5168265" h="368300">
                <a:moveTo>
                  <a:pt x="0" y="0"/>
                </a:moveTo>
                <a:lnTo>
                  <a:pt x="4984006" y="0"/>
                </a:lnTo>
                <a:lnTo>
                  <a:pt x="516806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9" name="object 18">
            <a:extLst>
              <a:ext uri="{FF2B5EF4-FFF2-40B4-BE49-F238E27FC236}">
                <a16:creationId xmlns:a16="http://schemas.microsoft.com/office/drawing/2014/main" id="{825DCA2D-EA05-F1CF-22BA-41BCFCD6C90B}"/>
              </a:ext>
            </a:extLst>
          </p:cNvPr>
          <p:cNvSpPr/>
          <p:nvPr>
            <p:custDataLst>
              <p:tags r:id="rId17"/>
            </p:custDataLst>
          </p:nvPr>
        </p:nvSpPr>
        <p:spPr>
          <a:xfrm>
            <a:off x="1422776" y="4278865"/>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0" name="object 19">
            <a:extLst>
              <a:ext uri="{FF2B5EF4-FFF2-40B4-BE49-F238E27FC236}">
                <a16:creationId xmlns:a16="http://schemas.microsoft.com/office/drawing/2014/main" id="{088DC0D2-2813-40F6-72F3-3DE0D74F5030}"/>
              </a:ext>
            </a:extLst>
          </p:cNvPr>
          <p:cNvSpPr/>
          <p:nvPr>
            <p:custDataLst>
              <p:tags r:id="rId18"/>
            </p:custDataLst>
          </p:nvPr>
        </p:nvSpPr>
        <p:spPr>
          <a:xfrm>
            <a:off x="1422776" y="4278865"/>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1" name="object 20">
            <a:extLst>
              <a:ext uri="{FF2B5EF4-FFF2-40B4-BE49-F238E27FC236}">
                <a16:creationId xmlns:a16="http://schemas.microsoft.com/office/drawing/2014/main" id="{A76FC1AB-91C7-65FC-A725-106EDF4C0B6C}"/>
              </a:ext>
            </a:extLst>
          </p:cNvPr>
          <p:cNvSpPr/>
          <p:nvPr>
            <p:custDataLst>
              <p:tags r:id="rId19"/>
            </p:custDataLst>
          </p:nvPr>
        </p:nvSpPr>
        <p:spPr>
          <a:xfrm>
            <a:off x="1422776" y="4660089"/>
            <a:ext cx="4560234" cy="324971"/>
          </a:xfrm>
          <a:custGeom>
            <a:avLst/>
            <a:gdLst/>
            <a:ahLst/>
            <a:cxnLst/>
            <a:rect l="l" t="t" r="r" b="b"/>
            <a:pathLst>
              <a:path w="5168265" h="368300">
                <a:moveTo>
                  <a:pt x="4984000" y="0"/>
                </a:moveTo>
                <a:lnTo>
                  <a:pt x="0" y="0"/>
                </a:lnTo>
                <a:lnTo>
                  <a:pt x="184061" y="184061"/>
                </a:lnTo>
                <a:lnTo>
                  <a:pt x="0" y="368122"/>
                </a:lnTo>
                <a:lnTo>
                  <a:pt x="4984000" y="368122"/>
                </a:lnTo>
                <a:lnTo>
                  <a:pt x="5168061" y="184061"/>
                </a:lnTo>
                <a:lnTo>
                  <a:pt x="4984000" y="0"/>
                </a:lnTo>
                <a:close/>
              </a:path>
            </a:pathLst>
          </a:custGeom>
          <a:solidFill>
            <a:srgbClr val="8590B2"/>
          </a:solidFill>
        </p:spPr>
        <p:txBody>
          <a:bodyPr wrap="square" lIns="0" tIns="0" rIns="0" bIns="0" rtlCol="0"/>
          <a:lstStyle/>
          <a:p>
            <a:endParaRPr sz="1588"/>
          </a:p>
        </p:txBody>
      </p:sp>
      <p:sp>
        <p:nvSpPr>
          <p:cNvPr id="22" name="object 21">
            <a:extLst>
              <a:ext uri="{FF2B5EF4-FFF2-40B4-BE49-F238E27FC236}">
                <a16:creationId xmlns:a16="http://schemas.microsoft.com/office/drawing/2014/main" id="{96CE261C-C010-E8FA-AC96-52E60A883EFD}"/>
              </a:ext>
            </a:extLst>
          </p:cNvPr>
          <p:cNvSpPr/>
          <p:nvPr>
            <p:custDataLst>
              <p:tags r:id="rId20"/>
            </p:custDataLst>
          </p:nvPr>
        </p:nvSpPr>
        <p:spPr>
          <a:xfrm>
            <a:off x="1422776" y="4660089"/>
            <a:ext cx="4560234" cy="324971"/>
          </a:xfrm>
          <a:custGeom>
            <a:avLst/>
            <a:gdLst/>
            <a:ahLst/>
            <a:cxnLst/>
            <a:rect l="l" t="t" r="r" b="b"/>
            <a:pathLst>
              <a:path w="5168265" h="368300">
                <a:moveTo>
                  <a:pt x="0" y="0"/>
                </a:moveTo>
                <a:lnTo>
                  <a:pt x="4984006" y="0"/>
                </a:lnTo>
                <a:lnTo>
                  <a:pt x="5168056" y="184058"/>
                </a:lnTo>
                <a:lnTo>
                  <a:pt x="4984006"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23" name="object 22">
            <a:extLst>
              <a:ext uri="{FF2B5EF4-FFF2-40B4-BE49-F238E27FC236}">
                <a16:creationId xmlns:a16="http://schemas.microsoft.com/office/drawing/2014/main" id="{BCFBA040-E004-E3B3-5BDD-C60AF14873F4}"/>
              </a:ext>
            </a:extLst>
          </p:cNvPr>
          <p:cNvSpPr/>
          <p:nvPr>
            <p:custDataLst>
              <p:tags r:id="rId21"/>
            </p:custDataLst>
          </p:nvPr>
        </p:nvSpPr>
        <p:spPr>
          <a:xfrm>
            <a:off x="1422776" y="5063422"/>
            <a:ext cx="4560234" cy="324971"/>
          </a:xfrm>
          <a:custGeom>
            <a:avLst/>
            <a:gdLst/>
            <a:ahLst/>
            <a:cxnLst/>
            <a:rect l="l" t="t" r="r" b="b"/>
            <a:pathLst>
              <a:path w="5168265" h="368300">
                <a:moveTo>
                  <a:pt x="5168061" y="0"/>
                </a:moveTo>
                <a:lnTo>
                  <a:pt x="184061" y="0"/>
                </a:lnTo>
                <a:lnTo>
                  <a:pt x="0" y="184061"/>
                </a:lnTo>
                <a:lnTo>
                  <a:pt x="184061" y="368122"/>
                </a:lnTo>
                <a:lnTo>
                  <a:pt x="5168061" y="368122"/>
                </a:lnTo>
                <a:lnTo>
                  <a:pt x="4984000" y="184061"/>
                </a:lnTo>
                <a:lnTo>
                  <a:pt x="5168061" y="0"/>
                </a:lnTo>
                <a:close/>
              </a:path>
            </a:pathLst>
          </a:custGeom>
          <a:solidFill>
            <a:srgbClr val="C69785"/>
          </a:solidFill>
        </p:spPr>
        <p:txBody>
          <a:bodyPr wrap="square" lIns="0" tIns="0" rIns="0" bIns="0" rtlCol="0"/>
          <a:lstStyle/>
          <a:p>
            <a:endParaRPr sz="1588"/>
          </a:p>
        </p:txBody>
      </p:sp>
      <p:sp>
        <p:nvSpPr>
          <p:cNvPr id="24" name="object 23">
            <a:extLst>
              <a:ext uri="{FF2B5EF4-FFF2-40B4-BE49-F238E27FC236}">
                <a16:creationId xmlns:a16="http://schemas.microsoft.com/office/drawing/2014/main" id="{EF2F468A-2B03-C9C8-04D0-A05BC139E229}"/>
              </a:ext>
            </a:extLst>
          </p:cNvPr>
          <p:cNvSpPr/>
          <p:nvPr>
            <p:custDataLst>
              <p:tags r:id="rId22"/>
            </p:custDataLst>
          </p:nvPr>
        </p:nvSpPr>
        <p:spPr>
          <a:xfrm>
            <a:off x="1422771" y="5063426"/>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5" name="object 24">
            <a:extLst>
              <a:ext uri="{FF2B5EF4-FFF2-40B4-BE49-F238E27FC236}">
                <a16:creationId xmlns:a16="http://schemas.microsoft.com/office/drawing/2014/main" id="{EF5CAB71-CC72-EE96-5CE8-5A00B448A7DE}"/>
              </a:ext>
            </a:extLst>
          </p:cNvPr>
          <p:cNvSpPr/>
          <p:nvPr>
            <p:custDataLst>
              <p:tags r:id="rId23"/>
            </p:custDataLst>
          </p:nvPr>
        </p:nvSpPr>
        <p:spPr>
          <a:xfrm>
            <a:off x="1422776" y="5472874"/>
            <a:ext cx="4560234" cy="324971"/>
          </a:xfrm>
          <a:custGeom>
            <a:avLst/>
            <a:gdLst/>
            <a:ahLst/>
            <a:cxnLst/>
            <a:rect l="l" t="t" r="r" b="b"/>
            <a:pathLst>
              <a:path w="5168265" h="368300">
                <a:moveTo>
                  <a:pt x="5168061" y="0"/>
                </a:moveTo>
                <a:lnTo>
                  <a:pt x="184061" y="0"/>
                </a:lnTo>
                <a:lnTo>
                  <a:pt x="0" y="184061"/>
                </a:lnTo>
                <a:lnTo>
                  <a:pt x="184061" y="368115"/>
                </a:lnTo>
                <a:lnTo>
                  <a:pt x="5168061" y="368115"/>
                </a:lnTo>
                <a:lnTo>
                  <a:pt x="4984000" y="184061"/>
                </a:lnTo>
                <a:lnTo>
                  <a:pt x="5168061" y="0"/>
                </a:lnTo>
                <a:close/>
              </a:path>
            </a:pathLst>
          </a:custGeom>
          <a:solidFill>
            <a:srgbClr val="C69785"/>
          </a:solidFill>
        </p:spPr>
        <p:txBody>
          <a:bodyPr wrap="square" lIns="0" tIns="0" rIns="0" bIns="0" rtlCol="0"/>
          <a:lstStyle/>
          <a:p>
            <a:endParaRPr sz="1588"/>
          </a:p>
        </p:txBody>
      </p:sp>
      <p:sp>
        <p:nvSpPr>
          <p:cNvPr id="26" name="object 25">
            <a:extLst>
              <a:ext uri="{FF2B5EF4-FFF2-40B4-BE49-F238E27FC236}">
                <a16:creationId xmlns:a16="http://schemas.microsoft.com/office/drawing/2014/main" id="{02942A36-17B2-679F-3EC8-DEF3649411B3}"/>
              </a:ext>
            </a:extLst>
          </p:cNvPr>
          <p:cNvSpPr/>
          <p:nvPr>
            <p:custDataLst>
              <p:tags r:id="rId24"/>
            </p:custDataLst>
          </p:nvPr>
        </p:nvSpPr>
        <p:spPr>
          <a:xfrm>
            <a:off x="1422771" y="5472872"/>
            <a:ext cx="4560234" cy="324971"/>
          </a:xfrm>
          <a:custGeom>
            <a:avLst/>
            <a:gdLst/>
            <a:ahLst/>
            <a:cxnLst/>
            <a:rect l="l" t="t" r="r" b="b"/>
            <a:pathLst>
              <a:path w="5168265" h="368300">
                <a:moveTo>
                  <a:pt x="5168066" y="368117"/>
                </a:moveTo>
                <a:lnTo>
                  <a:pt x="184059" y="368117"/>
                </a:lnTo>
                <a:lnTo>
                  <a:pt x="0" y="184058"/>
                </a:lnTo>
                <a:lnTo>
                  <a:pt x="184059" y="0"/>
                </a:lnTo>
                <a:lnTo>
                  <a:pt x="5168066" y="0"/>
                </a:lnTo>
                <a:lnTo>
                  <a:pt x="4984007" y="184058"/>
                </a:lnTo>
                <a:lnTo>
                  <a:pt x="5168066" y="368117"/>
                </a:lnTo>
                <a:close/>
              </a:path>
            </a:pathLst>
          </a:custGeom>
          <a:ln w="19049">
            <a:solidFill>
              <a:srgbClr val="775141"/>
            </a:solidFill>
          </a:ln>
        </p:spPr>
        <p:txBody>
          <a:bodyPr wrap="square" lIns="0" tIns="0" rIns="0" bIns="0" rtlCol="0"/>
          <a:lstStyle/>
          <a:p>
            <a:endParaRPr sz="1588"/>
          </a:p>
        </p:txBody>
      </p:sp>
      <p:sp>
        <p:nvSpPr>
          <p:cNvPr id="27" name="object 26">
            <a:extLst>
              <a:ext uri="{FF2B5EF4-FFF2-40B4-BE49-F238E27FC236}">
                <a16:creationId xmlns:a16="http://schemas.microsoft.com/office/drawing/2014/main" id="{00526F85-36E7-D9DC-13A6-D52308A36924}"/>
              </a:ext>
            </a:extLst>
          </p:cNvPr>
          <p:cNvSpPr txBox="1"/>
          <p:nvPr>
            <p:custDataLst>
              <p:tags r:id="rId25"/>
            </p:custDataLst>
          </p:nvPr>
        </p:nvSpPr>
        <p:spPr>
          <a:xfrm>
            <a:off x="2040544" y="2168011"/>
            <a:ext cx="3329827" cy="3622787"/>
          </a:xfrm>
          <a:prstGeom prst="rect">
            <a:avLst/>
          </a:prstGeom>
        </p:spPr>
        <p:txBody>
          <a:bodyPr vert="horz" wrap="square" lIns="0" tIns="0" rIns="0" bIns="0" rtlCol="0">
            <a:spAutoFit/>
          </a:bodyPr>
          <a:lstStyle/>
          <a:p>
            <a:pPr marL="59394" marR="56593" indent="3922" algn="ctr">
              <a:lnSpc>
                <a:spcPct val="166700"/>
              </a:lnSpc>
            </a:pPr>
            <a:r>
              <a:rPr sz="1588" spc="-9" dirty="0">
                <a:latin typeface="Gill Sans MT"/>
                <a:cs typeface="Gill Sans MT"/>
              </a:rPr>
              <a:t>ClientHello(Version, Prefs, </a:t>
            </a:r>
            <a:r>
              <a:rPr sz="1588" spc="-4" dirty="0">
                <a:latin typeface="Gill Sans MT"/>
                <a:cs typeface="Gill Sans MT"/>
              </a:rPr>
              <a:t>Nonce</a:t>
            </a:r>
            <a:r>
              <a:rPr sz="1588" spc="-6" baseline="-20833" dirty="0">
                <a:latin typeface="Gill Sans MT"/>
                <a:cs typeface="Gill Sans MT"/>
              </a:rPr>
              <a:t>c</a:t>
            </a:r>
            <a:r>
              <a:rPr sz="1588" spc="-4" dirty="0">
                <a:latin typeface="Gill Sans MT"/>
                <a:cs typeface="Gill Sans MT"/>
              </a:rPr>
              <a:t>)  </a:t>
            </a:r>
            <a:r>
              <a:rPr sz="1588" spc="-9" dirty="0">
                <a:latin typeface="Arial"/>
                <a:cs typeface="Arial"/>
              </a:rPr>
              <a:t>ServerHello(Version, </a:t>
            </a:r>
            <a:r>
              <a:rPr sz="1588" dirty="0">
                <a:latin typeface="Arial"/>
                <a:cs typeface="Arial"/>
              </a:rPr>
              <a:t>Prefs, </a:t>
            </a:r>
            <a:r>
              <a:rPr sz="1588" spc="-4" dirty="0">
                <a:latin typeface="Arial"/>
                <a:cs typeface="Arial"/>
              </a:rPr>
              <a:t>Nonce</a:t>
            </a:r>
            <a:r>
              <a:rPr sz="1588" spc="-6" baseline="-20833" dirty="0">
                <a:latin typeface="Arial"/>
                <a:cs typeface="Arial"/>
              </a:rPr>
              <a:t>s</a:t>
            </a:r>
            <a:r>
              <a:rPr sz="1588" spc="-4" dirty="0">
                <a:latin typeface="Arial"/>
                <a:cs typeface="Arial"/>
              </a:rPr>
              <a:t>)  Certificates({C</a:t>
            </a:r>
            <a:r>
              <a:rPr sz="1588" spc="-6" baseline="-20833" dirty="0">
                <a:latin typeface="Arial"/>
                <a:cs typeface="Arial"/>
              </a:rPr>
              <a:t>BofA</a:t>
            </a:r>
            <a:r>
              <a:rPr sz="1588" spc="-4" dirty="0">
                <a:latin typeface="Arial"/>
                <a:cs typeface="Arial"/>
              </a:rPr>
              <a:t>, </a:t>
            </a:r>
            <a:r>
              <a:rPr sz="1588" spc="-9" dirty="0">
                <a:latin typeface="Arial"/>
                <a:cs typeface="Arial"/>
              </a:rPr>
              <a:t>C</a:t>
            </a:r>
            <a:r>
              <a:rPr sz="1588" spc="-13" baseline="-20833" dirty="0">
                <a:latin typeface="Arial"/>
                <a:cs typeface="Arial"/>
              </a:rPr>
              <a:t>Verisign</a:t>
            </a:r>
            <a:r>
              <a:rPr sz="1588" spc="-9" dirty="0">
                <a:latin typeface="Arial"/>
                <a:cs typeface="Arial"/>
              </a:rPr>
              <a:t>})  </a:t>
            </a:r>
            <a:r>
              <a:rPr sz="1588" dirty="0">
                <a:latin typeface="Arial"/>
                <a:cs typeface="Arial"/>
              </a:rPr>
              <a:t>ServerHelloDone</a:t>
            </a:r>
          </a:p>
          <a:p>
            <a:pPr marR="4483" algn="r">
              <a:lnSpc>
                <a:spcPts val="953"/>
              </a:lnSpc>
              <a:spcBef>
                <a:spcPts val="1240"/>
              </a:spcBef>
            </a:pPr>
            <a:r>
              <a:rPr sz="1588" dirty="0">
                <a:latin typeface="Gill Sans MT"/>
                <a:cs typeface="Gill Sans MT"/>
              </a:rPr>
              <a:t>)</a:t>
            </a:r>
          </a:p>
          <a:p>
            <a:pPr marR="58274" algn="ctr">
              <a:lnSpc>
                <a:spcPts val="953"/>
              </a:lnSpc>
            </a:pPr>
            <a:r>
              <a:rPr sz="1588" spc="-9" dirty="0">
                <a:latin typeface="Gill Sans MT"/>
                <a:cs typeface="Gill Sans MT"/>
              </a:rPr>
              <a:t>ClientKeyExchange({PreMasterKey}</a:t>
            </a:r>
            <a:r>
              <a:rPr sz="1588" spc="-13" baseline="-20833" dirty="0">
                <a:latin typeface="Gill Sans MT"/>
                <a:cs typeface="Gill Sans MT"/>
              </a:rPr>
              <a:t>P</a:t>
            </a:r>
            <a:r>
              <a:rPr sz="1588" spc="-13" baseline="-32407" dirty="0">
                <a:latin typeface="Gill Sans MT"/>
                <a:cs typeface="Gill Sans MT"/>
              </a:rPr>
              <a:t>BofA</a:t>
            </a:r>
            <a:endParaRPr sz="1588" baseline="-32407" dirty="0">
              <a:latin typeface="Gill Sans MT"/>
              <a:cs typeface="Gill Sans MT"/>
            </a:endParaRPr>
          </a:p>
          <a:p>
            <a:pPr algn="ctr">
              <a:spcBef>
                <a:spcPts val="1094"/>
              </a:spcBef>
            </a:pPr>
            <a:r>
              <a:rPr sz="1588" dirty="0">
                <a:latin typeface="Gill Sans MT"/>
                <a:cs typeface="Gill Sans MT"/>
              </a:rPr>
              <a:t>ChangeCipherSpec</a:t>
            </a:r>
          </a:p>
          <a:p>
            <a:pPr algn="ctr">
              <a:spcBef>
                <a:spcPts val="1094"/>
              </a:spcBef>
            </a:pPr>
            <a:r>
              <a:rPr sz="1588" dirty="0">
                <a:latin typeface="Gill Sans MT"/>
                <a:cs typeface="Gill Sans MT"/>
              </a:rPr>
              <a:t>{Finished}</a:t>
            </a:r>
            <a:r>
              <a:rPr sz="1588" baseline="-20833" dirty="0">
                <a:latin typeface="Gill Sans MT"/>
                <a:cs typeface="Gill Sans MT"/>
              </a:rPr>
              <a:t>K</a:t>
            </a:r>
          </a:p>
          <a:p>
            <a:pPr algn="ctr">
              <a:spcBef>
                <a:spcPts val="1174"/>
              </a:spcBef>
            </a:pPr>
            <a:r>
              <a:rPr sz="1588" dirty="0">
                <a:latin typeface="Arial"/>
                <a:cs typeface="Arial"/>
              </a:rPr>
              <a:t>ChangeCipherSpec</a:t>
            </a:r>
          </a:p>
          <a:p>
            <a:pPr marL="2241" algn="ctr">
              <a:spcBef>
                <a:spcPts val="1293"/>
              </a:spcBef>
            </a:pPr>
            <a:r>
              <a:rPr sz="1588" spc="-4" dirty="0">
                <a:latin typeface="Arial"/>
                <a:cs typeface="Arial"/>
              </a:rPr>
              <a:t>{Finished}</a:t>
            </a:r>
            <a:r>
              <a:rPr sz="1588" spc="-6" baseline="-20833" dirty="0">
                <a:latin typeface="Arial"/>
                <a:cs typeface="Arial"/>
              </a:rPr>
              <a:t>K</a:t>
            </a:r>
            <a:endParaRPr sz="1588" baseline="-20833" dirty="0">
              <a:latin typeface="Arial"/>
              <a:cs typeface="Arial"/>
            </a:endParaRPr>
          </a:p>
        </p:txBody>
      </p:sp>
      <p:sp>
        <p:nvSpPr>
          <p:cNvPr id="28" name="object 27">
            <a:extLst>
              <a:ext uri="{FF2B5EF4-FFF2-40B4-BE49-F238E27FC236}">
                <a16:creationId xmlns:a16="http://schemas.microsoft.com/office/drawing/2014/main" id="{2826761F-11B1-AE85-676C-BE50A3168AE1}"/>
              </a:ext>
            </a:extLst>
          </p:cNvPr>
          <p:cNvSpPr/>
          <p:nvPr>
            <p:custDataLst>
              <p:tags r:id="rId26"/>
            </p:custDataLst>
          </p:nvPr>
        </p:nvSpPr>
        <p:spPr>
          <a:xfrm>
            <a:off x="5718696" y="2872630"/>
            <a:ext cx="2089337" cy="610291"/>
          </a:xfrm>
          <a:custGeom>
            <a:avLst/>
            <a:gdLst/>
            <a:ahLst/>
            <a:cxnLst/>
            <a:rect l="l" t="t" r="r" b="b"/>
            <a:pathLst>
              <a:path w="2367915" h="464185">
                <a:moveTo>
                  <a:pt x="2367394" y="193395"/>
                </a:moveTo>
                <a:lnTo>
                  <a:pt x="703605" y="193395"/>
                </a:lnTo>
                <a:lnTo>
                  <a:pt x="703605" y="464159"/>
                </a:lnTo>
                <a:lnTo>
                  <a:pt x="2367394" y="464159"/>
                </a:lnTo>
                <a:lnTo>
                  <a:pt x="2367394" y="193395"/>
                </a:lnTo>
                <a:close/>
              </a:path>
              <a:path w="2367915" h="464185">
                <a:moveTo>
                  <a:pt x="2367394" y="0"/>
                </a:moveTo>
                <a:lnTo>
                  <a:pt x="703605" y="0"/>
                </a:lnTo>
                <a:lnTo>
                  <a:pt x="703605" y="77355"/>
                </a:lnTo>
                <a:lnTo>
                  <a:pt x="0" y="227266"/>
                </a:lnTo>
                <a:lnTo>
                  <a:pt x="703605" y="193395"/>
                </a:lnTo>
                <a:lnTo>
                  <a:pt x="2367394" y="193395"/>
                </a:lnTo>
                <a:lnTo>
                  <a:pt x="2367394" y="0"/>
                </a:lnTo>
                <a:close/>
              </a:path>
            </a:pathLst>
          </a:custGeom>
          <a:solidFill>
            <a:srgbClr val="AEC5D6"/>
          </a:solidFill>
        </p:spPr>
        <p:txBody>
          <a:bodyPr wrap="square" lIns="0" tIns="0" rIns="0" bIns="0" rtlCol="0"/>
          <a:lstStyle/>
          <a:p>
            <a:endParaRPr sz="1588"/>
          </a:p>
        </p:txBody>
      </p:sp>
      <p:sp>
        <p:nvSpPr>
          <p:cNvPr id="29" name="object 28">
            <a:extLst>
              <a:ext uri="{FF2B5EF4-FFF2-40B4-BE49-F238E27FC236}">
                <a16:creationId xmlns:a16="http://schemas.microsoft.com/office/drawing/2014/main" id="{E3F70DF8-5CFB-A996-52B5-5804BAD74637}"/>
              </a:ext>
            </a:extLst>
          </p:cNvPr>
          <p:cNvSpPr/>
          <p:nvPr>
            <p:custDataLst>
              <p:tags r:id="rId27"/>
            </p:custDataLst>
          </p:nvPr>
        </p:nvSpPr>
        <p:spPr>
          <a:xfrm>
            <a:off x="5718689" y="2872638"/>
            <a:ext cx="2089337" cy="610283"/>
          </a:xfrm>
          <a:custGeom>
            <a:avLst/>
            <a:gdLst/>
            <a:ahLst/>
            <a:cxnLst/>
            <a:rect l="l" t="t" r="r" b="b"/>
            <a:pathLst>
              <a:path w="2367915" h="464185">
                <a:moveTo>
                  <a:pt x="703613" y="0"/>
                </a:moveTo>
                <a:lnTo>
                  <a:pt x="980910" y="0"/>
                </a:lnTo>
                <a:lnTo>
                  <a:pt x="1396855" y="0"/>
                </a:lnTo>
                <a:lnTo>
                  <a:pt x="2367392" y="0"/>
                </a:lnTo>
                <a:lnTo>
                  <a:pt x="2367392" y="77359"/>
                </a:lnTo>
                <a:lnTo>
                  <a:pt x="2367392" y="193399"/>
                </a:lnTo>
                <a:lnTo>
                  <a:pt x="2367392" y="464159"/>
                </a:lnTo>
                <a:lnTo>
                  <a:pt x="1396855" y="464159"/>
                </a:lnTo>
                <a:lnTo>
                  <a:pt x="980910" y="464159"/>
                </a:lnTo>
                <a:lnTo>
                  <a:pt x="703613" y="464159"/>
                </a:lnTo>
                <a:lnTo>
                  <a:pt x="703613" y="193399"/>
                </a:lnTo>
                <a:lnTo>
                  <a:pt x="0" y="227275"/>
                </a:lnTo>
                <a:lnTo>
                  <a:pt x="703613" y="77359"/>
                </a:lnTo>
                <a:lnTo>
                  <a:pt x="703613" y="0"/>
                </a:lnTo>
                <a:close/>
              </a:path>
            </a:pathLst>
          </a:custGeom>
          <a:ln w="19049">
            <a:solidFill>
              <a:srgbClr val="4E718B"/>
            </a:solidFill>
          </a:ln>
        </p:spPr>
        <p:txBody>
          <a:bodyPr wrap="square" lIns="0" tIns="0" rIns="0" bIns="0" rtlCol="0"/>
          <a:lstStyle/>
          <a:p>
            <a:endParaRPr sz="1588"/>
          </a:p>
        </p:txBody>
      </p:sp>
      <p:sp>
        <p:nvSpPr>
          <p:cNvPr id="30" name="object 29">
            <a:extLst>
              <a:ext uri="{FF2B5EF4-FFF2-40B4-BE49-F238E27FC236}">
                <a16:creationId xmlns:a16="http://schemas.microsoft.com/office/drawing/2014/main" id="{1D4B2AA7-EB9D-4D32-49E5-969E99A8495C}"/>
              </a:ext>
            </a:extLst>
          </p:cNvPr>
          <p:cNvSpPr txBox="1"/>
          <p:nvPr>
            <p:custDataLst>
              <p:tags r:id="rId28"/>
            </p:custDataLst>
          </p:nvPr>
        </p:nvSpPr>
        <p:spPr>
          <a:xfrm>
            <a:off x="6630759" y="2975024"/>
            <a:ext cx="890307" cy="487313"/>
          </a:xfrm>
          <a:prstGeom prst="rect">
            <a:avLst/>
          </a:prstGeom>
        </p:spPr>
        <p:txBody>
          <a:bodyPr vert="horz" wrap="square" lIns="0" tIns="0" rIns="0" bIns="0" rtlCol="0">
            <a:spAutoFit/>
          </a:bodyPr>
          <a:lstStyle/>
          <a:p>
            <a:pPr marL="234776" marR="4483" indent="-224130">
              <a:lnSpc>
                <a:spcPts val="1853"/>
              </a:lnSpc>
            </a:pPr>
            <a:r>
              <a:rPr sz="1588" dirty="0">
                <a:latin typeface="Gill Sans MT"/>
                <a:cs typeface="Gill Sans MT"/>
              </a:rPr>
              <a:t>Ce</a:t>
            </a:r>
            <a:r>
              <a:rPr sz="1588" spc="31" dirty="0">
                <a:latin typeface="Gill Sans MT"/>
                <a:cs typeface="Gill Sans MT"/>
              </a:rPr>
              <a:t>r</a:t>
            </a:r>
            <a:r>
              <a:rPr sz="1588" dirty="0">
                <a:latin typeface="Gill Sans MT"/>
                <a:cs typeface="Gill Sans MT"/>
              </a:rPr>
              <a:t>tificate  chain</a:t>
            </a:r>
          </a:p>
        </p:txBody>
      </p:sp>
      <p:sp>
        <p:nvSpPr>
          <p:cNvPr id="31" name="object 30">
            <a:extLst>
              <a:ext uri="{FF2B5EF4-FFF2-40B4-BE49-F238E27FC236}">
                <a16:creationId xmlns:a16="http://schemas.microsoft.com/office/drawing/2014/main" id="{84068A68-DE29-3142-CFA1-6BD0CA1D0419}"/>
              </a:ext>
            </a:extLst>
          </p:cNvPr>
          <p:cNvSpPr/>
          <p:nvPr>
            <p:custDataLst>
              <p:tags r:id="rId29"/>
            </p:custDataLst>
          </p:nvPr>
        </p:nvSpPr>
        <p:spPr>
          <a:xfrm>
            <a:off x="5709395" y="3777144"/>
            <a:ext cx="2089337" cy="629210"/>
          </a:xfrm>
          <a:custGeom>
            <a:avLst/>
            <a:gdLst/>
            <a:ahLst/>
            <a:cxnLst/>
            <a:rect l="l" t="t" r="r" b="b"/>
            <a:pathLst>
              <a:path w="2367915" h="713104">
                <a:moveTo>
                  <a:pt x="2367394" y="296964"/>
                </a:moveTo>
                <a:lnTo>
                  <a:pt x="703605" y="296964"/>
                </a:lnTo>
                <a:lnTo>
                  <a:pt x="703605" y="712711"/>
                </a:lnTo>
                <a:lnTo>
                  <a:pt x="2367394" y="712711"/>
                </a:lnTo>
                <a:lnTo>
                  <a:pt x="2367394" y="296964"/>
                </a:lnTo>
                <a:close/>
              </a:path>
              <a:path w="2367915" h="713104">
                <a:moveTo>
                  <a:pt x="2367394" y="0"/>
                </a:moveTo>
                <a:lnTo>
                  <a:pt x="703605" y="0"/>
                </a:lnTo>
                <a:lnTo>
                  <a:pt x="703605" y="118783"/>
                </a:lnTo>
                <a:lnTo>
                  <a:pt x="0" y="348970"/>
                </a:lnTo>
                <a:lnTo>
                  <a:pt x="703605" y="296964"/>
                </a:lnTo>
                <a:lnTo>
                  <a:pt x="2367394" y="296964"/>
                </a:lnTo>
                <a:lnTo>
                  <a:pt x="2367394" y="0"/>
                </a:lnTo>
                <a:close/>
              </a:path>
            </a:pathLst>
          </a:custGeom>
          <a:solidFill>
            <a:srgbClr val="AEC5D6"/>
          </a:solidFill>
        </p:spPr>
        <p:txBody>
          <a:bodyPr wrap="square" lIns="0" tIns="0" rIns="0" bIns="0" rtlCol="0"/>
          <a:lstStyle/>
          <a:p>
            <a:endParaRPr sz="1588"/>
          </a:p>
        </p:txBody>
      </p:sp>
      <p:sp>
        <p:nvSpPr>
          <p:cNvPr id="32" name="object 31">
            <a:extLst>
              <a:ext uri="{FF2B5EF4-FFF2-40B4-BE49-F238E27FC236}">
                <a16:creationId xmlns:a16="http://schemas.microsoft.com/office/drawing/2014/main" id="{9A585241-9A4D-FBC3-1CE7-5EA6DBDE7660}"/>
              </a:ext>
            </a:extLst>
          </p:cNvPr>
          <p:cNvSpPr/>
          <p:nvPr>
            <p:custDataLst>
              <p:tags r:id="rId30"/>
            </p:custDataLst>
          </p:nvPr>
        </p:nvSpPr>
        <p:spPr>
          <a:xfrm>
            <a:off x="5709388" y="3777144"/>
            <a:ext cx="2089337" cy="629210"/>
          </a:xfrm>
          <a:custGeom>
            <a:avLst/>
            <a:gdLst/>
            <a:ahLst/>
            <a:cxnLst/>
            <a:rect l="l" t="t" r="r" b="b"/>
            <a:pathLst>
              <a:path w="2367915" h="713104">
                <a:moveTo>
                  <a:pt x="703613" y="0"/>
                </a:moveTo>
                <a:lnTo>
                  <a:pt x="980910" y="0"/>
                </a:lnTo>
                <a:lnTo>
                  <a:pt x="1396855" y="0"/>
                </a:lnTo>
                <a:lnTo>
                  <a:pt x="2367392" y="0"/>
                </a:lnTo>
                <a:lnTo>
                  <a:pt x="2367392" y="118783"/>
                </a:lnTo>
                <a:lnTo>
                  <a:pt x="2367392" y="296960"/>
                </a:lnTo>
                <a:lnTo>
                  <a:pt x="2367392" y="712705"/>
                </a:lnTo>
                <a:lnTo>
                  <a:pt x="1396855" y="712705"/>
                </a:lnTo>
                <a:lnTo>
                  <a:pt x="980910" y="712705"/>
                </a:lnTo>
                <a:lnTo>
                  <a:pt x="703613" y="712705"/>
                </a:lnTo>
                <a:lnTo>
                  <a:pt x="703613" y="296960"/>
                </a:lnTo>
                <a:lnTo>
                  <a:pt x="0" y="348975"/>
                </a:lnTo>
                <a:lnTo>
                  <a:pt x="703613" y="118783"/>
                </a:lnTo>
                <a:lnTo>
                  <a:pt x="703613" y="0"/>
                </a:lnTo>
                <a:close/>
              </a:path>
            </a:pathLst>
          </a:custGeom>
          <a:ln w="19049">
            <a:solidFill>
              <a:srgbClr val="4E718B"/>
            </a:solidFill>
          </a:ln>
        </p:spPr>
        <p:txBody>
          <a:bodyPr wrap="square" lIns="0" tIns="0" rIns="0" bIns="0" rtlCol="0"/>
          <a:lstStyle/>
          <a:p>
            <a:endParaRPr sz="1588"/>
          </a:p>
        </p:txBody>
      </p:sp>
      <p:sp>
        <p:nvSpPr>
          <p:cNvPr id="33" name="object 32">
            <a:extLst>
              <a:ext uri="{FF2B5EF4-FFF2-40B4-BE49-F238E27FC236}">
                <a16:creationId xmlns:a16="http://schemas.microsoft.com/office/drawing/2014/main" id="{E3C9E6A2-C8FB-C9E8-0D68-21CAD9719202}"/>
              </a:ext>
            </a:extLst>
          </p:cNvPr>
          <p:cNvSpPr/>
          <p:nvPr>
            <p:custDataLst>
              <p:tags r:id="rId31"/>
            </p:custDataLst>
          </p:nvPr>
        </p:nvSpPr>
        <p:spPr>
          <a:xfrm>
            <a:off x="5700228" y="4596967"/>
            <a:ext cx="2223247" cy="629210"/>
          </a:xfrm>
          <a:custGeom>
            <a:avLst/>
            <a:gdLst/>
            <a:ahLst/>
            <a:cxnLst/>
            <a:rect l="l" t="t" r="r" b="b"/>
            <a:pathLst>
              <a:path w="2519679" h="713104">
                <a:moveTo>
                  <a:pt x="2519324" y="0"/>
                </a:moveTo>
                <a:lnTo>
                  <a:pt x="593534" y="0"/>
                </a:lnTo>
                <a:lnTo>
                  <a:pt x="593534" y="118783"/>
                </a:lnTo>
                <a:lnTo>
                  <a:pt x="0" y="294474"/>
                </a:lnTo>
                <a:lnTo>
                  <a:pt x="593534" y="296964"/>
                </a:lnTo>
                <a:lnTo>
                  <a:pt x="593534" y="712711"/>
                </a:lnTo>
                <a:lnTo>
                  <a:pt x="2519324" y="712711"/>
                </a:lnTo>
                <a:lnTo>
                  <a:pt x="2519324" y="0"/>
                </a:lnTo>
                <a:close/>
              </a:path>
            </a:pathLst>
          </a:custGeom>
          <a:solidFill>
            <a:srgbClr val="AEC5D6"/>
          </a:solidFill>
        </p:spPr>
        <p:txBody>
          <a:bodyPr wrap="square" lIns="0" tIns="0" rIns="0" bIns="0" rtlCol="0"/>
          <a:lstStyle/>
          <a:p>
            <a:endParaRPr sz="1588"/>
          </a:p>
        </p:txBody>
      </p:sp>
      <p:sp>
        <p:nvSpPr>
          <p:cNvPr id="34" name="object 33">
            <a:extLst>
              <a:ext uri="{FF2B5EF4-FFF2-40B4-BE49-F238E27FC236}">
                <a16:creationId xmlns:a16="http://schemas.microsoft.com/office/drawing/2014/main" id="{2BE3C157-23DF-DAA3-99FD-68FF19652433}"/>
              </a:ext>
            </a:extLst>
          </p:cNvPr>
          <p:cNvSpPr/>
          <p:nvPr>
            <p:custDataLst>
              <p:tags r:id="rId32"/>
            </p:custDataLst>
          </p:nvPr>
        </p:nvSpPr>
        <p:spPr>
          <a:xfrm>
            <a:off x="5700218" y="4596967"/>
            <a:ext cx="2223247" cy="629210"/>
          </a:xfrm>
          <a:custGeom>
            <a:avLst/>
            <a:gdLst/>
            <a:ahLst/>
            <a:cxnLst/>
            <a:rect l="l" t="t" r="r" b="b"/>
            <a:pathLst>
              <a:path w="2519679" h="713104">
                <a:moveTo>
                  <a:pt x="593545" y="0"/>
                </a:moveTo>
                <a:lnTo>
                  <a:pt x="914509" y="0"/>
                </a:lnTo>
                <a:lnTo>
                  <a:pt x="1395954" y="0"/>
                </a:lnTo>
                <a:lnTo>
                  <a:pt x="2519324" y="0"/>
                </a:lnTo>
                <a:lnTo>
                  <a:pt x="2519324" y="118783"/>
                </a:lnTo>
                <a:lnTo>
                  <a:pt x="2519324" y="296960"/>
                </a:lnTo>
                <a:lnTo>
                  <a:pt x="2519324" y="712705"/>
                </a:lnTo>
                <a:lnTo>
                  <a:pt x="1395954" y="712705"/>
                </a:lnTo>
                <a:lnTo>
                  <a:pt x="914509" y="712705"/>
                </a:lnTo>
                <a:lnTo>
                  <a:pt x="593545" y="712705"/>
                </a:lnTo>
                <a:lnTo>
                  <a:pt x="593545" y="296960"/>
                </a:lnTo>
                <a:lnTo>
                  <a:pt x="0" y="294475"/>
                </a:lnTo>
                <a:lnTo>
                  <a:pt x="593545" y="118783"/>
                </a:lnTo>
                <a:lnTo>
                  <a:pt x="593545" y="0"/>
                </a:lnTo>
                <a:close/>
              </a:path>
            </a:pathLst>
          </a:custGeom>
          <a:ln w="19049">
            <a:solidFill>
              <a:srgbClr val="4E718B"/>
            </a:solidFill>
          </a:ln>
        </p:spPr>
        <p:txBody>
          <a:bodyPr wrap="square" lIns="0" tIns="0" rIns="0" bIns="0" rtlCol="0"/>
          <a:lstStyle/>
          <a:p>
            <a:endParaRPr sz="1588"/>
          </a:p>
        </p:txBody>
      </p:sp>
      <p:sp>
        <p:nvSpPr>
          <p:cNvPr id="35" name="object 34">
            <a:extLst>
              <a:ext uri="{FF2B5EF4-FFF2-40B4-BE49-F238E27FC236}">
                <a16:creationId xmlns:a16="http://schemas.microsoft.com/office/drawing/2014/main" id="{D2BC3ADD-D96E-3635-0752-7E01A85BCBA2}"/>
              </a:ext>
            </a:extLst>
          </p:cNvPr>
          <p:cNvSpPr txBox="1"/>
          <p:nvPr>
            <p:custDataLst>
              <p:tags r:id="rId33"/>
            </p:custDataLst>
          </p:nvPr>
        </p:nvSpPr>
        <p:spPr>
          <a:xfrm>
            <a:off x="6316994" y="3775743"/>
            <a:ext cx="1517836" cy="1610697"/>
          </a:xfrm>
          <a:prstGeom prst="rect">
            <a:avLst/>
          </a:prstGeom>
        </p:spPr>
        <p:txBody>
          <a:bodyPr vert="horz" wrap="square" lIns="0" tIns="0" rIns="0" bIns="0" rtlCol="0">
            <a:spAutoFit/>
          </a:bodyPr>
          <a:lstStyle/>
          <a:p>
            <a:pPr marL="100297" marR="113185" algn="ctr">
              <a:lnSpc>
                <a:spcPct val="99500"/>
              </a:lnSpc>
            </a:pPr>
            <a:r>
              <a:rPr sz="1400" spc="4" dirty="0">
                <a:latin typeface="Gill Sans MT"/>
                <a:cs typeface="Gill Sans MT"/>
              </a:rPr>
              <a:t>Encrypted</a:t>
            </a:r>
            <a:r>
              <a:rPr sz="1400" spc="-84" dirty="0">
                <a:latin typeface="Gill Sans MT"/>
                <a:cs typeface="Gill Sans MT"/>
              </a:rPr>
              <a:t> </a:t>
            </a:r>
            <a:r>
              <a:rPr sz="1400" dirty="0">
                <a:latin typeface="Gill Sans MT"/>
                <a:cs typeface="Gill Sans MT"/>
              </a:rPr>
              <a:t>using  </a:t>
            </a:r>
            <a:r>
              <a:rPr sz="1400" spc="-18" dirty="0">
                <a:latin typeface="Gill Sans MT"/>
                <a:cs typeface="Gill Sans MT"/>
              </a:rPr>
              <a:t>server’s </a:t>
            </a:r>
            <a:r>
              <a:rPr sz="1400" dirty="0">
                <a:latin typeface="Gill Sans MT"/>
                <a:cs typeface="Gill Sans MT"/>
              </a:rPr>
              <a:t>public  </a:t>
            </a:r>
            <a:r>
              <a:rPr sz="1400" spc="-26" dirty="0">
                <a:latin typeface="Gill Sans MT"/>
                <a:cs typeface="Gill Sans MT"/>
              </a:rPr>
              <a:t>key</a:t>
            </a:r>
            <a:endParaRPr lang="en-US" sz="1400" spc="-26" dirty="0">
              <a:latin typeface="Gill Sans MT"/>
              <a:cs typeface="Gill Sans MT"/>
            </a:endParaRPr>
          </a:p>
          <a:p>
            <a:pPr marL="100297" marR="113185" algn="ctr">
              <a:lnSpc>
                <a:spcPct val="99500"/>
              </a:lnSpc>
            </a:pPr>
            <a:endParaRPr sz="1400" dirty="0">
              <a:latin typeface="Gill Sans MT"/>
              <a:cs typeface="Gill Sans MT"/>
            </a:endParaRPr>
          </a:p>
          <a:p>
            <a:pPr marL="11206" marR="4483" indent="-560" algn="ctr">
              <a:lnSpc>
                <a:spcPct val="99500"/>
              </a:lnSpc>
              <a:spcBef>
                <a:spcPts val="763"/>
              </a:spcBef>
            </a:pPr>
            <a:r>
              <a:rPr sz="1400" spc="4" dirty="0">
                <a:latin typeface="Gill Sans MT"/>
                <a:cs typeface="Gill Sans MT"/>
              </a:rPr>
              <a:t>Encrypted </a:t>
            </a:r>
            <a:r>
              <a:rPr sz="1400" dirty="0">
                <a:latin typeface="Gill Sans MT"/>
                <a:cs typeface="Gill Sans MT"/>
              </a:rPr>
              <a:t>using  </a:t>
            </a:r>
            <a:r>
              <a:rPr sz="1400" spc="-4" dirty="0">
                <a:latin typeface="Gill Sans MT"/>
                <a:cs typeface="Gill Sans MT"/>
              </a:rPr>
              <a:t>symmetric</a:t>
            </a:r>
            <a:r>
              <a:rPr sz="1400" spc="-53" dirty="0">
                <a:latin typeface="Gill Sans MT"/>
                <a:cs typeface="Gill Sans MT"/>
              </a:rPr>
              <a:t> </a:t>
            </a:r>
            <a:r>
              <a:rPr sz="1400" dirty="0">
                <a:latin typeface="Gill Sans MT"/>
                <a:cs typeface="Gill Sans MT"/>
              </a:rPr>
              <a:t>session  </a:t>
            </a:r>
            <a:r>
              <a:rPr sz="1400" spc="-26" dirty="0">
                <a:latin typeface="Gill Sans MT"/>
                <a:cs typeface="Gill Sans MT"/>
              </a:rPr>
              <a:t>key</a:t>
            </a:r>
            <a:endParaRPr sz="1400" dirty="0">
              <a:latin typeface="Gill Sans MT"/>
              <a:cs typeface="Gill Sans MT"/>
            </a:endParaRPr>
          </a:p>
        </p:txBody>
      </p:sp>
      <p:sp>
        <p:nvSpPr>
          <p:cNvPr id="39" name="object 38">
            <a:extLst>
              <a:ext uri="{FF2B5EF4-FFF2-40B4-BE49-F238E27FC236}">
                <a16:creationId xmlns:a16="http://schemas.microsoft.com/office/drawing/2014/main" id="{D4C49C22-EF95-DE96-7644-A3989E5A2D01}"/>
              </a:ext>
            </a:extLst>
          </p:cNvPr>
          <p:cNvSpPr/>
          <p:nvPr>
            <p:custDataLst>
              <p:tags r:id="rId34"/>
            </p:custDataLst>
          </p:nvPr>
        </p:nvSpPr>
        <p:spPr>
          <a:xfrm>
            <a:off x="6593764" y="1428382"/>
            <a:ext cx="328695" cy="438260"/>
          </a:xfrm>
          <a:prstGeom prst="rect">
            <a:avLst/>
          </a:prstGeom>
          <a:blipFill>
            <a:blip r:embed="rId46" cstate="print"/>
            <a:stretch>
              <a:fillRect/>
            </a:stretch>
          </a:blipFill>
        </p:spPr>
        <p:txBody>
          <a:bodyPr wrap="square" lIns="0" tIns="0" rIns="0" bIns="0" rtlCol="0"/>
          <a:lstStyle/>
          <a:p>
            <a:endParaRPr sz="1588"/>
          </a:p>
        </p:txBody>
      </p:sp>
      <p:sp>
        <p:nvSpPr>
          <p:cNvPr id="40" name="object 39">
            <a:extLst>
              <a:ext uri="{FF2B5EF4-FFF2-40B4-BE49-F238E27FC236}">
                <a16:creationId xmlns:a16="http://schemas.microsoft.com/office/drawing/2014/main" id="{70E9A441-B25E-2D72-352D-3A19FE4B19B7}"/>
              </a:ext>
            </a:extLst>
          </p:cNvPr>
          <p:cNvSpPr txBox="1"/>
          <p:nvPr>
            <p:custDataLst>
              <p:tags r:id="rId35"/>
            </p:custDataLst>
          </p:nvPr>
        </p:nvSpPr>
        <p:spPr>
          <a:xfrm>
            <a:off x="6786045" y="1691214"/>
            <a:ext cx="763120" cy="682623"/>
          </a:xfrm>
          <a:prstGeom prst="rect">
            <a:avLst/>
          </a:prstGeom>
        </p:spPr>
        <p:txBody>
          <a:bodyPr vert="horz" wrap="square" lIns="0" tIns="0" rIns="0" bIns="0" rtlCol="0">
            <a:spAutoFit/>
          </a:bodyPr>
          <a:lstStyle/>
          <a:p>
            <a:pPr marL="11206"/>
            <a:r>
              <a:rPr sz="2647" b="1" spc="19" baseline="13888" dirty="0">
                <a:latin typeface="Arial"/>
                <a:cs typeface="Arial"/>
              </a:rPr>
              <a:t>S</a:t>
            </a:r>
            <a:r>
              <a:rPr sz="1147" b="1" spc="13" dirty="0">
                <a:latin typeface="Arial"/>
                <a:cs typeface="Arial"/>
              </a:rPr>
              <a:t>BofA</a:t>
            </a:r>
            <a:endParaRPr sz="1147">
              <a:latin typeface="Arial"/>
              <a:cs typeface="Arial"/>
            </a:endParaRPr>
          </a:p>
          <a:p>
            <a:pPr marL="313781">
              <a:spcBef>
                <a:spcPts val="1271"/>
              </a:spcBef>
            </a:pPr>
            <a:r>
              <a:rPr sz="1588" dirty="0">
                <a:latin typeface="Arial"/>
                <a:cs typeface="Arial"/>
              </a:rPr>
              <a:t>BofA</a:t>
            </a:r>
            <a:endParaRPr sz="1588">
              <a:latin typeface="Arial"/>
              <a:cs typeface="Arial"/>
            </a:endParaRPr>
          </a:p>
        </p:txBody>
      </p:sp>
      <p:sp>
        <p:nvSpPr>
          <p:cNvPr id="41" name="object 35">
            <a:extLst>
              <a:ext uri="{FF2B5EF4-FFF2-40B4-BE49-F238E27FC236}">
                <a16:creationId xmlns:a16="http://schemas.microsoft.com/office/drawing/2014/main" id="{FC7EFB51-386D-34A3-4051-E9028B63D4FB}"/>
              </a:ext>
            </a:extLst>
          </p:cNvPr>
          <p:cNvSpPr/>
          <p:nvPr>
            <p:custDataLst>
              <p:tags r:id="rId36"/>
            </p:custDataLst>
          </p:nvPr>
        </p:nvSpPr>
        <p:spPr>
          <a:xfrm>
            <a:off x="12599" y="4032838"/>
            <a:ext cx="1991846" cy="1559858"/>
          </a:xfrm>
          <a:custGeom>
            <a:avLst/>
            <a:gdLst/>
            <a:ahLst/>
            <a:cxnLst/>
            <a:rect l="l" t="t" r="r" b="b"/>
            <a:pathLst>
              <a:path w="2257425" h="1767839">
                <a:moveTo>
                  <a:pt x="1487893" y="0"/>
                </a:moveTo>
                <a:lnTo>
                  <a:pt x="0" y="0"/>
                </a:lnTo>
                <a:lnTo>
                  <a:pt x="0" y="1767433"/>
                </a:lnTo>
                <a:lnTo>
                  <a:pt x="1487893" y="1767433"/>
                </a:lnTo>
                <a:lnTo>
                  <a:pt x="1487893" y="1472869"/>
                </a:lnTo>
                <a:lnTo>
                  <a:pt x="2095009" y="1031011"/>
                </a:lnTo>
                <a:lnTo>
                  <a:pt x="1487893" y="1031011"/>
                </a:lnTo>
                <a:lnTo>
                  <a:pt x="1487893" y="0"/>
                </a:lnTo>
                <a:close/>
              </a:path>
              <a:path w="2257425" h="1767839">
                <a:moveTo>
                  <a:pt x="2257171" y="912990"/>
                </a:moveTo>
                <a:lnTo>
                  <a:pt x="1487893" y="1031011"/>
                </a:lnTo>
                <a:lnTo>
                  <a:pt x="2095009" y="1031011"/>
                </a:lnTo>
                <a:lnTo>
                  <a:pt x="2257171" y="912990"/>
                </a:lnTo>
                <a:close/>
              </a:path>
            </a:pathLst>
          </a:custGeom>
          <a:solidFill>
            <a:srgbClr val="AEC5D6"/>
          </a:solidFill>
        </p:spPr>
        <p:txBody>
          <a:bodyPr wrap="square" lIns="0" tIns="0" rIns="0" bIns="0" rtlCol="0"/>
          <a:lstStyle/>
          <a:p>
            <a:endParaRPr sz="1588" dirty="0"/>
          </a:p>
        </p:txBody>
      </p:sp>
      <p:sp>
        <p:nvSpPr>
          <p:cNvPr id="42" name="object 37">
            <a:extLst>
              <a:ext uri="{FF2B5EF4-FFF2-40B4-BE49-F238E27FC236}">
                <a16:creationId xmlns:a16="http://schemas.microsoft.com/office/drawing/2014/main" id="{A35FC1FB-751B-2151-0EE4-18E45446381C}"/>
              </a:ext>
            </a:extLst>
          </p:cNvPr>
          <p:cNvSpPr txBox="1"/>
          <p:nvPr>
            <p:custDataLst>
              <p:tags r:id="rId37"/>
            </p:custDataLst>
          </p:nvPr>
        </p:nvSpPr>
        <p:spPr>
          <a:xfrm>
            <a:off x="12590" y="4063316"/>
            <a:ext cx="1311550" cy="997163"/>
          </a:xfrm>
          <a:prstGeom prst="rect">
            <a:avLst/>
          </a:prstGeom>
        </p:spPr>
        <p:txBody>
          <a:bodyPr vert="horz" wrap="square" lIns="0" tIns="11206" rIns="0" bIns="0" rtlCol="0">
            <a:spAutoFit/>
          </a:bodyPr>
          <a:lstStyle/>
          <a:p>
            <a:pPr marL="155210" marR="148486" algn="ctr">
              <a:lnSpc>
                <a:spcPts val="1853"/>
              </a:lnSpc>
              <a:spcBef>
                <a:spcPts val="88"/>
              </a:spcBef>
            </a:pPr>
            <a:r>
              <a:rPr lang="en-US" sz="1100" dirty="0" err="1">
                <a:latin typeface="Gill Sans MT"/>
                <a:cs typeface="Gill Sans MT"/>
              </a:rPr>
              <a:t>ClientHello</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ServerHello</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ServerCert</a:t>
            </a:r>
            <a:endParaRPr lang="en-US" sz="1100" dirty="0">
              <a:latin typeface="Gill Sans MT"/>
              <a:cs typeface="Gill Sans MT"/>
            </a:endParaRPr>
          </a:p>
          <a:p>
            <a:pPr marL="155210" marR="148486" algn="ctr">
              <a:lnSpc>
                <a:spcPts val="1853"/>
              </a:lnSpc>
              <a:spcBef>
                <a:spcPts val="88"/>
              </a:spcBef>
            </a:pPr>
            <a:r>
              <a:rPr lang="en-US" sz="1100" dirty="0" err="1">
                <a:latin typeface="Gill Sans MT"/>
                <a:cs typeface="Gill Sans MT"/>
              </a:rPr>
              <a:t>ServerHelloDone</a:t>
            </a:r>
            <a:endParaRPr lang="en-US" sz="1100" dirty="0">
              <a:latin typeface="Gill Sans MT"/>
              <a:cs typeface="Gill Sans MT"/>
            </a:endParaRPr>
          </a:p>
        </p:txBody>
      </p:sp>
      <p:sp>
        <p:nvSpPr>
          <p:cNvPr id="45" name="TextBox 44">
            <a:extLst>
              <a:ext uri="{FF2B5EF4-FFF2-40B4-BE49-F238E27FC236}">
                <a16:creationId xmlns:a16="http://schemas.microsoft.com/office/drawing/2014/main" id="{1735A36A-C7B8-789A-B409-927FFA72F23E}"/>
              </a:ext>
            </a:extLst>
          </p:cNvPr>
          <p:cNvSpPr txBox="1"/>
          <p:nvPr>
            <p:custDataLst>
              <p:tags r:id="rId38"/>
            </p:custDataLst>
          </p:nvPr>
        </p:nvSpPr>
        <p:spPr>
          <a:xfrm>
            <a:off x="7933468" y="714767"/>
            <a:ext cx="4218675" cy="5170646"/>
          </a:xfrm>
          <a:prstGeom prst="rect">
            <a:avLst/>
          </a:prstGeom>
          <a:noFill/>
        </p:spPr>
        <p:txBody>
          <a:bodyPr wrap="square" rtlCol="0">
            <a:spAutoFit/>
          </a:bodyPr>
          <a:lstStyle/>
          <a:p>
            <a:r>
              <a:rPr lang="en-US" sz="1100" b="1" dirty="0">
                <a:latin typeface="Avenir Next" panose="020B0503020202020204" pitchFamily="34" charset="0"/>
                <a:cs typeface="Courier New" panose="02070309020205020404" pitchFamily="49" charset="0"/>
              </a:rPr>
              <a:t>seed = "master secret" + </a:t>
            </a:r>
            <a:r>
              <a:rPr lang="en-US" sz="1100" b="1" dirty="0" err="1">
                <a:latin typeface="Avenir Next" panose="020B0503020202020204" pitchFamily="34" charset="0"/>
                <a:cs typeface="Courier New" panose="02070309020205020404" pitchFamily="49" charset="0"/>
              </a:rPr>
              <a:t>client_random</a:t>
            </a:r>
            <a:r>
              <a:rPr lang="en-US" sz="1100" b="1" dirty="0">
                <a:latin typeface="Avenir Next" panose="020B0503020202020204" pitchFamily="34" charset="0"/>
                <a:cs typeface="Courier New" panose="02070309020205020404" pitchFamily="49" charset="0"/>
              </a:rPr>
              <a:t> + </a:t>
            </a:r>
            <a:r>
              <a:rPr lang="en-US" sz="1100" b="1" dirty="0" err="1">
                <a:latin typeface="Avenir Next" panose="020B0503020202020204" pitchFamily="34" charset="0"/>
                <a:cs typeface="Courier New" panose="02070309020205020404" pitchFamily="49" charset="0"/>
              </a:rPr>
              <a:t>server_random</a:t>
            </a:r>
            <a:endParaRPr lang="en-US" sz="1100" b="1" dirty="0">
              <a:latin typeface="Avenir Next" panose="020B0503020202020204" pitchFamily="34" charset="0"/>
              <a:cs typeface="Courier New" panose="02070309020205020404" pitchFamily="49" charset="0"/>
            </a:endParaRPr>
          </a:p>
          <a:p>
            <a:r>
              <a:rPr lang="en-US" sz="1100" b="1" dirty="0">
                <a:latin typeface="Avenir Next" panose="020B0503020202020204" pitchFamily="34" charset="0"/>
                <a:cs typeface="Courier New" panose="02070309020205020404" pitchFamily="49" charset="0"/>
              </a:rPr>
              <a:t>a0 = seed</a:t>
            </a:r>
          </a:p>
          <a:p>
            <a:r>
              <a:rPr lang="en-US" sz="1100" b="1" dirty="0">
                <a:latin typeface="Avenir Next" panose="020B0503020202020204" pitchFamily="34" charset="0"/>
                <a:cs typeface="Courier New" panose="02070309020205020404" pitchFamily="49" charset="0"/>
              </a:rPr>
              <a:t>a1 = HMAC-SHA256(key=</a:t>
            </a:r>
            <a:r>
              <a:rPr lang="en-US" sz="1100" b="1" dirty="0" err="1">
                <a:latin typeface="Avenir Next" panose="020B0503020202020204" pitchFamily="34" charset="0"/>
                <a:cs typeface="Courier New" panose="02070309020205020404" pitchFamily="49" charset="0"/>
              </a:rPr>
              <a:t>PreMasterSecret</a:t>
            </a:r>
            <a:r>
              <a:rPr lang="en-US" sz="1100" b="1" dirty="0">
                <a:latin typeface="Avenir Next" panose="020B0503020202020204" pitchFamily="34" charset="0"/>
                <a:cs typeface="Courier New" panose="02070309020205020404" pitchFamily="49" charset="0"/>
              </a:rPr>
              <a:t>, data=a0)</a:t>
            </a:r>
          </a:p>
          <a:p>
            <a:r>
              <a:rPr lang="en-US" sz="1100" b="1" dirty="0">
                <a:latin typeface="Avenir Next" panose="020B0503020202020204" pitchFamily="34" charset="0"/>
                <a:cs typeface="Courier New" panose="02070309020205020404" pitchFamily="49" charset="0"/>
              </a:rPr>
              <a:t>a2 = HMAC-SHA256(key=</a:t>
            </a:r>
            <a:r>
              <a:rPr lang="en-US" sz="1100" b="1" dirty="0" err="1">
                <a:latin typeface="Avenir Next" panose="020B0503020202020204" pitchFamily="34" charset="0"/>
                <a:cs typeface="Courier New" panose="02070309020205020404" pitchFamily="49" charset="0"/>
              </a:rPr>
              <a:t>PreMasterSecret</a:t>
            </a:r>
            <a:r>
              <a:rPr lang="en-US" sz="1100" b="1" dirty="0">
                <a:latin typeface="Avenir Next" panose="020B0503020202020204" pitchFamily="34" charset="0"/>
                <a:cs typeface="Courier New" panose="02070309020205020404" pitchFamily="49" charset="0"/>
              </a:rPr>
              <a:t>, data=a1)</a:t>
            </a:r>
          </a:p>
          <a:p>
            <a:r>
              <a:rPr lang="en-US" sz="1100" b="1" dirty="0">
                <a:latin typeface="Avenir Next" panose="020B0503020202020204" pitchFamily="34" charset="0"/>
                <a:cs typeface="Courier New" panose="02070309020205020404" pitchFamily="49" charset="0"/>
              </a:rPr>
              <a:t>p1 = HMAC-SHA256(key=</a:t>
            </a:r>
            <a:r>
              <a:rPr lang="en-US" sz="1100" b="1" dirty="0" err="1">
                <a:latin typeface="Avenir Next" panose="020B0503020202020204" pitchFamily="34" charset="0"/>
                <a:cs typeface="Courier New" panose="02070309020205020404" pitchFamily="49" charset="0"/>
              </a:rPr>
              <a:t>PreMasterSecret</a:t>
            </a:r>
            <a:r>
              <a:rPr lang="en-US" sz="1100" b="1" dirty="0">
                <a:latin typeface="Avenir Next" panose="020B0503020202020204" pitchFamily="34" charset="0"/>
                <a:cs typeface="Courier New" panose="02070309020205020404" pitchFamily="49" charset="0"/>
              </a:rPr>
              <a:t>, data=a1 + seed)</a:t>
            </a:r>
          </a:p>
          <a:p>
            <a:r>
              <a:rPr lang="en-US" sz="1100" b="1" dirty="0">
                <a:latin typeface="Avenir Next" panose="020B0503020202020204" pitchFamily="34" charset="0"/>
                <a:cs typeface="Courier New" panose="02070309020205020404" pitchFamily="49" charset="0"/>
              </a:rPr>
              <a:t>p2 = HMAC-SHA256(key=</a:t>
            </a:r>
            <a:r>
              <a:rPr lang="en-US" sz="1100" b="1" dirty="0" err="1">
                <a:latin typeface="Avenir Next" panose="020B0503020202020204" pitchFamily="34" charset="0"/>
                <a:cs typeface="Courier New" panose="02070309020205020404" pitchFamily="49" charset="0"/>
              </a:rPr>
              <a:t>PreMasterSecret</a:t>
            </a:r>
            <a:r>
              <a:rPr lang="en-US" sz="1100" b="1" dirty="0">
                <a:latin typeface="Avenir Next" panose="020B0503020202020204" pitchFamily="34" charset="0"/>
                <a:cs typeface="Courier New" panose="02070309020205020404" pitchFamily="49" charset="0"/>
              </a:rPr>
              <a:t>, data=a2 + seed)</a:t>
            </a:r>
          </a:p>
          <a:p>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 p1[all 32 bytes] + p2[first 16 bytes]</a:t>
            </a:r>
          </a:p>
          <a:p>
            <a:endParaRPr lang="en-US" sz="1100" b="1" dirty="0">
              <a:latin typeface="Avenir Next" panose="020B0503020202020204" pitchFamily="34" charset="0"/>
              <a:cs typeface="Courier New" panose="02070309020205020404" pitchFamily="49" charset="0"/>
            </a:endParaRPr>
          </a:p>
          <a:p>
            <a:r>
              <a:rPr lang="en-US" sz="1100" b="1" dirty="0">
                <a:latin typeface="Avenir Next" panose="020B0503020202020204" pitchFamily="34" charset="0"/>
                <a:cs typeface="Courier New" panose="02070309020205020404" pitchFamily="49" charset="0"/>
              </a:rPr>
              <a:t>seed = "key expansion" + </a:t>
            </a:r>
            <a:r>
              <a:rPr lang="en-US" sz="1100" b="1" dirty="0" err="1">
                <a:latin typeface="Avenir Next" panose="020B0503020202020204" pitchFamily="34" charset="0"/>
                <a:cs typeface="Courier New" panose="02070309020205020404" pitchFamily="49" charset="0"/>
              </a:rPr>
              <a:t>server_random</a:t>
            </a:r>
            <a:r>
              <a:rPr lang="en-US" sz="1100" b="1" dirty="0">
                <a:latin typeface="Avenir Next" panose="020B0503020202020204" pitchFamily="34" charset="0"/>
                <a:cs typeface="Courier New" panose="02070309020205020404" pitchFamily="49" charset="0"/>
              </a:rPr>
              <a:t> + </a:t>
            </a:r>
            <a:r>
              <a:rPr lang="en-US" sz="1100" b="1" dirty="0" err="1">
                <a:latin typeface="Avenir Next" panose="020B0503020202020204" pitchFamily="34" charset="0"/>
                <a:cs typeface="Courier New" panose="02070309020205020404" pitchFamily="49" charset="0"/>
              </a:rPr>
              <a:t>client_random</a:t>
            </a:r>
            <a:endParaRPr lang="en-US" sz="1100" b="1" dirty="0">
              <a:latin typeface="Avenir Next" panose="020B0503020202020204" pitchFamily="34" charset="0"/>
              <a:cs typeface="Courier New" panose="02070309020205020404" pitchFamily="49" charset="0"/>
            </a:endParaRPr>
          </a:p>
          <a:p>
            <a:r>
              <a:rPr lang="en-US" sz="1100" b="1" dirty="0">
                <a:latin typeface="Avenir Next" panose="020B0503020202020204" pitchFamily="34" charset="0"/>
                <a:cs typeface="Courier New" panose="02070309020205020404" pitchFamily="49" charset="0"/>
              </a:rPr>
              <a:t>a0 = seed</a:t>
            </a:r>
          </a:p>
          <a:p>
            <a:r>
              <a:rPr lang="en-US" sz="1100" b="1" dirty="0">
                <a:latin typeface="Avenir Next" panose="020B0503020202020204" pitchFamily="34" charset="0"/>
                <a:cs typeface="Courier New" panose="02070309020205020404" pitchFamily="49" charset="0"/>
              </a:rPr>
              <a:t>a1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data=a0)</a:t>
            </a:r>
          </a:p>
          <a:p>
            <a:r>
              <a:rPr lang="en-US" sz="1100" b="1" dirty="0">
                <a:latin typeface="Avenir Next" panose="020B0503020202020204" pitchFamily="34" charset="0"/>
                <a:cs typeface="Courier New" panose="02070309020205020404" pitchFamily="49" charset="0"/>
              </a:rPr>
              <a:t>a2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data=a1)</a:t>
            </a:r>
          </a:p>
          <a:p>
            <a:r>
              <a:rPr lang="en-US" sz="1100" b="1" dirty="0">
                <a:latin typeface="Avenir Next" panose="020B0503020202020204" pitchFamily="34" charset="0"/>
                <a:cs typeface="Courier New" panose="02070309020205020404" pitchFamily="49" charset="0"/>
              </a:rPr>
              <a:t>a3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data=a2)</a:t>
            </a:r>
          </a:p>
          <a:p>
            <a:r>
              <a:rPr lang="en-US" sz="1100" b="1" dirty="0">
                <a:latin typeface="Avenir Next" panose="020B0503020202020204" pitchFamily="34" charset="0"/>
                <a:cs typeface="Courier New" panose="02070309020205020404" pitchFamily="49" charset="0"/>
              </a:rPr>
              <a:t>a4 = ...</a:t>
            </a:r>
          </a:p>
          <a:p>
            <a:r>
              <a:rPr lang="en-US" sz="1100" b="1" dirty="0">
                <a:latin typeface="Avenir Next" panose="020B0503020202020204" pitchFamily="34" charset="0"/>
                <a:cs typeface="Courier New" panose="02070309020205020404" pitchFamily="49" charset="0"/>
              </a:rPr>
              <a:t>p1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data=a1 + seed)</a:t>
            </a:r>
          </a:p>
          <a:p>
            <a:r>
              <a:rPr lang="en-US" sz="1100" b="1" dirty="0">
                <a:latin typeface="Avenir Next" panose="020B0503020202020204" pitchFamily="34" charset="0"/>
                <a:cs typeface="Courier New" panose="02070309020205020404" pitchFamily="49" charset="0"/>
              </a:rPr>
              <a:t>p2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data=a2 + seed)</a:t>
            </a:r>
          </a:p>
          <a:p>
            <a:r>
              <a:rPr lang="en-US" sz="1100" b="1" dirty="0">
                <a:latin typeface="Avenir Next" panose="020B0503020202020204" pitchFamily="34" charset="0"/>
                <a:cs typeface="Courier New" panose="02070309020205020404" pitchFamily="49" charset="0"/>
              </a:rPr>
              <a:t>p3 = HMAC-SHA256(key=</a:t>
            </a:r>
            <a:r>
              <a:rPr lang="en-US" sz="1100" b="1" dirty="0" err="1">
                <a:latin typeface="Avenir Next" panose="020B0503020202020204" pitchFamily="34" charset="0"/>
                <a:cs typeface="Courier New" panose="02070309020205020404" pitchFamily="49" charset="0"/>
              </a:rPr>
              <a:t>MasterSecret</a:t>
            </a:r>
            <a:r>
              <a:rPr lang="en-US" sz="1100" b="1" dirty="0">
                <a:latin typeface="Avenir Next" panose="020B0503020202020204" pitchFamily="34" charset="0"/>
                <a:cs typeface="Courier New" panose="02070309020205020404" pitchFamily="49" charset="0"/>
              </a:rPr>
              <a:t>, data=a3 + seed)</a:t>
            </a:r>
          </a:p>
          <a:p>
            <a:r>
              <a:rPr lang="en-US" sz="1100" b="1" dirty="0">
                <a:latin typeface="Avenir Next" panose="020B0503020202020204" pitchFamily="34" charset="0"/>
                <a:cs typeface="Courier New" panose="02070309020205020404" pitchFamily="49" charset="0"/>
              </a:rPr>
              <a:t>p4 = ...</a:t>
            </a:r>
          </a:p>
          <a:p>
            <a:r>
              <a:rPr lang="en-US" sz="1100" b="1" dirty="0">
                <a:latin typeface="Avenir Next" panose="020B0503020202020204" pitchFamily="34" charset="0"/>
                <a:cs typeface="Courier New" panose="02070309020205020404" pitchFamily="49" charset="0"/>
              </a:rPr>
              <a:t>p = p1 + p2 + p3 + p4 ...</a:t>
            </a:r>
          </a:p>
          <a:p>
            <a:endParaRPr lang="en-US" sz="1100" b="1" dirty="0">
              <a:latin typeface="Avenir Next" panose="020B0503020202020204" pitchFamily="34" charset="0"/>
              <a:cs typeface="Courier New" panose="02070309020205020404" pitchFamily="49" charset="0"/>
            </a:endParaRPr>
          </a:p>
          <a:p>
            <a:r>
              <a:rPr lang="en-US" sz="1100" b="1" dirty="0">
                <a:latin typeface="Avenir Next" panose="020B0503020202020204" pitchFamily="34" charset="0"/>
                <a:cs typeface="Courier New" panose="02070309020205020404" pitchFamily="49" charset="0"/>
              </a:rPr>
              <a:t>client write mac key = [first 20 bytes of p]</a:t>
            </a:r>
          </a:p>
          <a:p>
            <a:r>
              <a:rPr lang="en-US" sz="1100" b="1" dirty="0">
                <a:latin typeface="Avenir Next" panose="020B0503020202020204" pitchFamily="34" charset="0"/>
                <a:cs typeface="Courier New" panose="02070309020205020404" pitchFamily="49" charset="0"/>
              </a:rPr>
              <a:t>server write mac key = [next 20 bytes of p]</a:t>
            </a:r>
          </a:p>
          <a:p>
            <a:r>
              <a:rPr lang="en-US" sz="1100" b="1" dirty="0">
                <a:latin typeface="Avenir Next" panose="020B0503020202020204" pitchFamily="34" charset="0"/>
                <a:cs typeface="Courier New" panose="02070309020205020404" pitchFamily="49" charset="0"/>
              </a:rPr>
              <a:t>client write key = [next 16 bytes of p]</a:t>
            </a:r>
          </a:p>
          <a:p>
            <a:r>
              <a:rPr lang="en-US" sz="1100" b="1" dirty="0">
                <a:latin typeface="Avenir Next" panose="020B0503020202020204" pitchFamily="34" charset="0"/>
                <a:cs typeface="Courier New" panose="02070309020205020404" pitchFamily="49" charset="0"/>
              </a:rPr>
              <a:t>server write key = [next 16 bytes of p]</a:t>
            </a:r>
          </a:p>
          <a:p>
            <a:r>
              <a:rPr lang="en-US" sz="1100" b="1" dirty="0">
                <a:latin typeface="Avenir Next" panose="020B0503020202020204" pitchFamily="34" charset="0"/>
                <a:cs typeface="Courier New" panose="02070309020205020404" pitchFamily="49" charset="0"/>
              </a:rPr>
              <a:t>client write IV = [next 16 bytes of p]</a:t>
            </a:r>
          </a:p>
          <a:p>
            <a:r>
              <a:rPr lang="en-US" sz="1100" b="1" dirty="0">
                <a:latin typeface="Avenir Next" panose="020B0503020202020204" pitchFamily="34" charset="0"/>
                <a:cs typeface="Courier New" panose="02070309020205020404" pitchFamily="49" charset="0"/>
              </a:rPr>
              <a:t>server write IV = [next 16 bytes of p]</a:t>
            </a:r>
          </a:p>
          <a:p>
            <a:endParaRPr lang="en-US" sz="1100" b="1" dirty="0">
              <a:latin typeface="Avenir Next" panose="020B0503020202020204" pitchFamily="34" charset="0"/>
              <a:cs typeface="Courier New" panose="02070309020205020404" pitchFamily="49" charset="0"/>
            </a:endParaRPr>
          </a:p>
          <a:p>
            <a:endParaRPr lang="en-US" sz="1100" b="1" dirty="0">
              <a:latin typeface="Avenir Next" panose="020B0503020202020204" pitchFamily="34"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4118404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894005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Handshake Protocol: Hello Message</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2400" spc="309" dirty="0">
                <a:solidFill>
                  <a:srgbClr val="727CA3"/>
                </a:solidFill>
                <a:latin typeface="Avenir Next" panose="020B0503020202020204" pitchFamily="34" charset="0"/>
                <a:cs typeface="Times New Roman"/>
              </a:rPr>
              <a:t> </a:t>
            </a:r>
            <a:r>
              <a:rPr lang="en-US" sz="3600" spc="-4" dirty="0" err="1">
                <a:latin typeface="Courier New" panose="02070309020205020404" pitchFamily="49" charset="0"/>
                <a:cs typeface="Courier New" panose="02070309020205020404" pitchFamily="49" charset="0"/>
              </a:rPr>
              <a:t>Client_hello_message</a:t>
            </a:r>
            <a:r>
              <a:rPr lang="en-US" sz="3600" spc="-4" dirty="0">
                <a:latin typeface="Avenir Next" panose="020B0503020202020204" pitchFamily="34" charset="0"/>
              </a:rPr>
              <a:t> </a:t>
            </a:r>
            <a:r>
              <a:rPr lang="en-US" sz="3600" dirty="0">
                <a:latin typeface="Avenir Next" panose="020B0503020202020204" pitchFamily="34" charset="0"/>
              </a:rPr>
              <a:t>has the </a:t>
            </a:r>
            <a:r>
              <a:rPr lang="en-US" sz="3600" spc="-9" dirty="0">
                <a:latin typeface="Avenir Next" panose="020B0503020202020204" pitchFamily="34" charset="0"/>
              </a:rPr>
              <a:t>following</a:t>
            </a:r>
            <a:r>
              <a:rPr lang="en-US" sz="3600" spc="18" dirty="0">
                <a:latin typeface="Avenir Next" panose="020B0503020202020204" pitchFamily="34" charset="0"/>
              </a:rPr>
              <a:t> </a:t>
            </a:r>
            <a:r>
              <a:rPr lang="en-US" sz="3600" dirty="0">
                <a:latin typeface="Avenir Next" panose="020B0503020202020204" pitchFamily="34" charset="0"/>
              </a:rPr>
              <a:t>parameters:</a:t>
            </a:r>
            <a:endParaRPr lang="en-US" sz="2400" dirty="0">
              <a:latin typeface="Avenir Next" panose="020B0503020202020204" pitchFamily="34" charset="0"/>
              <a:cs typeface="Times New Roman"/>
            </a:endParaRPr>
          </a:p>
          <a:p>
            <a:pPr marL="770981" lvl="1">
              <a:lnSpc>
                <a:spcPct val="100000"/>
              </a:lnSpc>
              <a:spcBef>
                <a:spcPts val="159"/>
              </a:spcBef>
            </a:pPr>
            <a:r>
              <a:rPr lang="en-US" sz="3200" spc="-35" dirty="0">
                <a:solidFill>
                  <a:srgbClr val="464653"/>
                </a:solidFill>
                <a:latin typeface="Avenir Next" panose="020B0503020202020204" pitchFamily="34" charset="0"/>
              </a:rPr>
              <a:t>Version</a:t>
            </a:r>
            <a:endParaRPr lang="en-US" sz="2000" dirty="0">
              <a:latin typeface="Avenir Next" panose="020B0503020202020204" pitchFamily="34" charset="0"/>
              <a:cs typeface="Times New Roman"/>
            </a:endParaRPr>
          </a:p>
          <a:p>
            <a:pPr marL="770981" lvl="1">
              <a:lnSpc>
                <a:spcPct val="100000"/>
              </a:lnSpc>
              <a:spcBef>
                <a:spcPts val="159"/>
              </a:spcBef>
            </a:pPr>
            <a:r>
              <a:rPr lang="en-US" sz="3200" dirty="0">
                <a:solidFill>
                  <a:srgbClr val="464653"/>
                </a:solidFill>
                <a:latin typeface="Avenir Next" panose="020B0503020202020204" pitchFamily="34" charset="0"/>
              </a:rPr>
              <a:t>Random: timestamp + </a:t>
            </a:r>
            <a:r>
              <a:rPr lang="en-US" sz="3200" spc="-4" dirty="0">
                <a:solidFill>
                  <a:srgbClr val="464653"/>
                </a:solidFill>
                <a:latin typeface="Avenir Next" panose="020B0503020202020204" pitchFamily="34" charset="0"/>
              </a:rPr>
              <a:t>28-bytes</a:t>
            </a:r>
            <a:r>
              <a:rPr lang="en-US" sz="3200" spc="-300" dirty="0">
                <a:solidFill>
                  <a:srgbClr val="464653"/>
                </a:solidFill>
                <a:latin typeface="Avenir Next" panose="020B0503020202020204" pitchFamily="34" charset="0"/>
              </a:rPr>
              <a:t> </a:t>
            </a:r>
            <a:r>
              <a:rPr lang="en-US" sz="3200" dirty="0">
                <a:solidFill>
                  <a:srgbClr val="464653"/>
                </a:solidFill>
                <a:latin typeface="Avenir Next" panose="020B0503020202020204" pitchFamily="34" charset="0"/>
              </a:rPr>
              <a:t>random</a:t>
            </a:r>
            <a:endParaRPr lang="en-US" sz="2000" dirty="0">
              <a:latin typeface="Avenir Next" panose="020B0503020202020204" pitchFamily="34" charset="0"/>
              <a:cs typeface="Times New Roman"/>
            </a:endParaRPr>
          </a:p>
          <a:p>
            <a:pPr marL="770981" lvl="1">
              <a:lnSpc>
                <a:spcPct val="100000"/>
              </a:lnSpc>
              <a:spcBef>
                <a:spcPts val="159"/>
              </a:spcBef>
            </a:pPr>
            <a:r>
              <a:rPr lang="en-US" sz="3200" dirty="0">
                <a:solidFill>
                  <a:srgbClr val="464653"/>
                </a:solidFill>
                <a:latin typeface="Avenir Next" panose="020B0503020202020204" pitchFamily="34" charset="0"/>
              </a:rPr>
              <a:t>Session</a:t>
            </a:r>
            <a:r>
              <a:rPr lang="en-US" sz="3200" spc="-44" dirty="0">
                <a:solidFill>
                  <a:srgbClr val="464653"/>
                </a:solidFill>
                <a:latin typeface="Avenir Next" panose="020B0503020202020204" pitchFamily="34" charset="0"/>
              </a:rPr>
              <a:t> </a:t>
            </a:r>
            <a:r>
              <a:rPr lang="en-US" sz="3200" dirty="0">
                <a:solidFill>
                  <a:srgbClr val="464653"/>
                </a:solidFill>
                <a:latin typeface="Avenir Next" panose="020B0503020202020204" pitchFamily="34" charset="0"/>
              </a:rPr>
              <a:t>ID</a:t>
            </a:r>
            <a:endParaRPr lang="en-US" sz="2000" dirty="0">
              <a:latin typeface="Avenir Next" panose="020B0503020202020204" pitchFamily="34" charset="0"/>
              <a:cs typeface="Times New Roman"/>
            </a:endParaRPr>
          </a:p>
          <a:p>
            <a:pPr marL="1017524" marR="4483" lvl="1" indent="-246543">
              <a:lnSpc>
                <a:spcPct val="100000"/>
              </a:lnSpc>
              <a:spcBef>
                <a:spcPts val="476"/>
              </a:spcBef>
            </a:pPr>
            <a:r>
              <a:rPr lang="en-US" sz="3200" spc="-4" dirty="0" err="1">
                <a:solidFill>
                  <a:srgbClr val="464653"/>
                </a:solidFill>
                <a:latin typeface="Avenir Next" panose="020B0503020202020204" pitchFamily="34" charset="0"/>
              </a:rPr>
              <a:t>CipherSuite</a:t>
            </a:r>
            <a:r>
              <a:rPr lang="en-US" sz="3200" spc="-4" dirty="0">
                <a:solidFill>
                  <a:srgbClr val="464653"/>
                </a:solidFill>
                <a:latin typeface="Avenir Next" panose="020B0503020202020204" pitchFamily="34" charset="0"/>
              </a:rPr>
              <a:t>: </a:t>
            </a:r>
            <a:r>
              <a:rPr lang="en-US" sz="3200" dirty="0">
                <a:solidFill>
                  <a:srgbClr val="464653"/>
                </a:solidFill>
                <a:latin typeface="Avenir Next" panose="020B0503020202020204" pitchFamily="34" charset="0"/>
              </a:rPr>
              <a:t>cipher </a:t>
            </a:r>
            <a:r>
              <a:rPr lang="en-US" sz="3200" spc="-4" dirty="0">
                <a:solidFill>
                  <a:srgbClr val="464653"/>
                </a:solidFill>
                <a:latin typeface="Avenir Next" panose="020B0503020202020204" pitchFamily="34" charset="0"/>
              </a:rPr>
              <a:t>algorithms </a:t>
            </a:r>
            <a:r>
              <a:rPr lang="en-US" sz="3200" spc="4" dirty="0">
                <a:solidFill>
                  <a:srgbClr val="464653"/>
                </a:solidFill>
                <a:latin typeface="Avenir Next" panose="020B0503020202020204" pitchFamily="34" charset="0"/>
              </a:rPr>
              <a:t>supported </a:t>
            </a:r>
            <a:r>
              <a:rPr lang="en-US" sz="3200" spc="-13" dirty="0">
                <a:solidFill>
                  <a:srgbClr val="464653"/>
                </a:solidFill>
                <a:latin typeface="Avenir Next" panose="020B0503020202020204" pitchFamily="34" charset="0"/>
              </a:rPr>
              <a:t>by </a:t>
            </a:r>
            <a:r>
              <a:rPr lang="en-US" sz="3200" dirty="0">
                <a:solidFill>
                  <a:srgbClr val="464653"/>
                </a:solidFill>
                <a:latin typeface="Avenir Next" panose="020B0503020202020204" pitchFamily="34" charset="0"/>
              </a:rPr>
              <a:t>the client,  first is </a:t>
            </a:r>
            <a:r>
              <a:rPr lang="en-US" sz="3200" spc="-35" dirty="0">
                <a:solidFill>
                  <a:srgbClr val="464653"/>
                </a:solidFill>
                <a:latin typeface="Avenir Next" panose="020B0503020202020204" pitchFamily="34" charset="0"/>
              </a:rPr>
              <a:t>key</a:t>
            </a:r>
            <a:r>
              <a:rPr lang="en-US" sz="3200" spc="-93" dirty="0">
                <a:solidFill>
                  <a:srgbClr val="464653"/>
                </a:solidFill>
                <a:latin typeface="Avenir Next" panose="020B0503020202020204" pitchFamily="34" charset="0"/>
              </a:rPr>
              <a:t> </a:t>
            </a:r>
            <a:r>
              <a:rPr lang="en-US" sz="3200" dirty="0">
                <a:solidFill>
                  <a:srgbClr val="464653"/>
                </a:solidFill>
                <a:latin typeface="Avenir Next" panose="020B0503020202020204" pitchFamily="34" charset="0"/>
              </a:rPr>
              <a:t>exchange</a:t>
            </a:r>
            <a:endParaRPr lang="en-US" sz="2000" dirty="0">
              <a:latin typeface="Avenir Next" panose="020B0503020202020204" pitchFamily="34" charset="0"/>
              <a:cs typeface="Times New Roman"/>
            </a:endParaRPr>
          </a:p>
          <a:p>
            <a:pPr marL="560324" marR="4483" indent="-246543">
              <a:lnSpc>
                <a:spcPct val="100000"/>
              </a:lnSpc>
              <a:spcBef>
                <a:spcPts val="476"/>
              </a:spcBef>
            </a:pPr>
            <a:r>
              <a:rPr lang="en-US" sz="3600" spc="-4" dirty="0">
                <a:solidFill>
                  <a:srgbClr val="464653"/>
                </a:solidFill>
                <a:latin typeface="Avenir Next" panose="020B0503020202020204" pitchFamily="34" charset="0"/>
              </a:rPr>
              <a:t>Compression</a:t>
            </a:r>
            <a:r>
              <a:rPr lang="en-US" sz="3600" spc="-44" dirty="0">
                <a:solidFill>
                  <a:srgbClr val="464653"/>
                </a:solidFill>
                <a:latin typeface="Avenir Next" panose="020B0503020202020204" pitchFamily="34" charset="0"/>
              </a:rPr>
              <a:t> </a:t>
            </a:r>
            <a:r>
              <a:rPr lang="en-US" sz="3600" dirty="0">
                <a:solidFill>
                  <a:srgbClr val="464653"/>
                </a:solidFill>
                <a:latin typeface="Avenir Next" panose="020B0503020202020204" pitchFamily="34" charset="0"/>
              </a:rPr>
              <a:t>method</a:t>
            </a:r>
            <a:endParaRPr lang="en-US" sz="2400" dirty="0">
              <a:latin typeface="Avenir Next" panose="020B0503020202020204" pitchFamily="34" charset="0"/>
              <a:cs typeface="Times New Roman"/>
            </a:endParaRPr>
          </a:p>
          <a:p>
            <a:pPr marL="78445">
              <a:lnSpc>
                <a:spcPct val="100000"/>
              </a:lnSpc>
              <a:spcBef>
                <a:spcPts val="247"/>
              </a:spcBef>
            </a:pPr>
            <a:r>
              <a:rPr lang="en-US" sz="2400" spc="296" dirty="0">
                <a:solidFill>
                  <a:srgbClr val="727CA3"/>
                </a:solidFill>
                <a:latin typeface="Avenir Next" panose="020B0503020202020204" pitchFamily="34" charset="0"/>
                <a:cs typeface="Times New Roman"/>
              </a:rPr>
              <a:t> </a:t>
            </a:r>
            <a:r>
              <a:rPr lang="en-US" sz="3600" dirty="0">
                <a:latin typeface="Avenir Next" panose="020B0503020202020204" pitchFamily="34" charset="0"/>
              </a:rPr>
              <a:t>Server </a:t>
            </a:r>
            <a:r>
              <a:rPr lang="en-US" sz="3600" spc="-9" dirty="0">
                <a:latin typeface="Avenir Next" panose="020B0503020202020204" pitchFamily="34" charset="0"/>
              </a:rPr>
              <a:t>responds </a:t>
            </a:r>
            <a:r>
              <a:rPr lang="en-US" sz="3600" dirty="0">
                <a:latin typeface="Avenir Next" panose="020B0503020202020204" pitchFamily="34" charset="0"/>
              </a:rPr>
              <a:t>with the</a:t>
            </a:r>
            <a:r>
              <a:rPr lang="en-US" sz="3600" spc="-31" dirty="0">
                <a:latin typeface="Avenir Next" panose="020B0503020202020204" pitchFamily="34" charset="0"/>
              </a:rPr>
              <a:t> </a:t>
            </a:r>
            <a:r>
              <a:rPr lang="en-US" sz="3600" dirty="0">
                <a:latin typeface="Avenir Next" panose="020B0503020202020204" pitchFamily="34" charset="0"/>
              </a:rPr>
              <a:t>same</a:t>
            </a:r>
            <a:endParaRPr lang="en-US" sz="2400" dirty="0">
              <a:latin typeface="Avenir Next" panose="020B0503020202020204" pitchFamily="34" charset="0"/>
              <a:cs typeface="Times New Roman"/>
            </a:endParaRPr>
          </a:p>
          <a:p>
            <a:pPr marL="78445">
              <a:lnSpc>
                <a:spcPct val="100000"/>
              </a:lnSpc>
              <a:spcBef>
                <a:spcPts val="247"/>
              </a:spcBef>
            </a:pPr>
            <a:r>
              <a:rPr lang="en-US" sz="2400" spc="291" dirty="0">
                <a:solidFill>
                  <a:srgbClr val="727CA3"/>
                </a:solidFill>
                <a:latin typeface="Avenir Next" panose="020B0503020202020204" pitchFamily="34" charset="0"/>
                <a:cs typeface="Times New Roman"/>
              </a:rPr>
              <a:t> </a:t>
            </a:r>
            <a:r>
              <a:rPr lang="en-US" sz="3600" dirty="0">
                <a:latin typeface="Avenir Next" panose="020B0503020202020204" pitchFamily="34" charset="0"/>
              </a:rPr>
              <a:t>Client </a:t>
            </a:r>
            <a:r>
              <a:rPr lang="en-US" sz="3600" spc="-31" dirty="0">
                <a:latin typeface="Avenir Next" panose="020B0503020202020204" pitchFamily="34" charset="0"/>
              </a:rPr>
              <a:t>may </a:t>
            </a:r>
            <a:r>
              <a:rPr lang="en-US" sz="3600" spc="-9" dirty="0">
                <a:latin typeface="Avenir Next" panose="020B0503020202020204" pitchFamily="34" charset="0"/>
              </a:rPr>
              <a:t>request </a:t>
            </a:r>
            <a:r>
              <a:rPr lang="en-US" sz="3600" dirty="0">
                <a:latin typeface="Avenir Next" panose="020B0503020202020204" pitchFamily="34" charset="0"/>
              </a:rPr>
              <a:t>use of cached</a:t>
            </a:r>
            <a:r>
              <a:rPr lang="en-US" sz="3600" spc="-31" dirty="0">
                <a:latin typeface="Avenir Next" panose="020B0503020202020204" pitchFamily="34" charset="0"/>
              </a:rPr>
              <a:t> </a:t>
            </a:r>
            <a:r>
              <a:rPr lang="en-US" sz="3600" dirty="0">
                <a:latin typeface="Avenir Next" panose="020B0503020202020204" pitchFamily="34" charset="0"/>
              </a:rPr>
              <a:t>session</a:t>
            </a:r>
            <a:endParaRPr lang="en-US" sz="2400" dirty="0">
              <a:latin typeface="Avenir Next" panose="020B0503020202020204" pitchFamily="34" charset="0"/>
              <a:cs typeface="Times New Roman"/>
            </a:endParaRPr>
          </a:p>
          <a:p>
            <a:pPr marL="313781">
              <a:lnSpc>
                <a:spcPct val="100000"/>
              </a:lnSpc>
              <a:spcBef>
                <a:spcPts val="159"/>
              </a:spcBef>
            </a:pPr>
            <a:r>
              <a:rPr lang="en-US" sz="2400" spc="291" dirty="0">
                <a:solidFill>
                  <a:srgbClr val="9FB8CD"/>
                </a:solidFill>
                <a:latin typeface="Avenir Next" panose="020B0503020202020204" pitchFamily="34" charset="0"/>
                <a:cs typeface="Times New Roman"/>
              </a:rPr>
              <a:t> </a:t>
            </a:r>
            <a:r>
              <a:rPr lang="en-US" sz="3600" dirty="0">
                <a:solidFill>
                  <a:srgbClr val="464653"/>
                </a:solidFill>
                <a:latin typeface="Avenir Next" panose="020B0503020202020204" pitchFamily="34" charset="0"/>
              </a:rPr>
              <a:t>Server chooses whether to accept or</a:t>
            </a:r>
            <a:r>
              <a:rPr lang="en-US" sz="3600" spc="-71" dirty="0">
                <a:solidFill>
                  <a:srgbClr val="464653"/>
                </a:solidFill>
                <a:latin typeface="Avenir Next" panose="020B0503020202020204" pitchFamily="34" charset="0"/>
              </a:rPr>
              <a:t> </a:t>
            </a:r>
            <a:r>
              <a:rPr lang="en-US" sz="3600" dirty="0">
                <a:solidFill>
                  <a:srgbClr val="464653"/>
                </a:solidFill>
                <a:latin typeface="Avenir Next" panose="020B0503020202020204" pitchFamily="34" charset="0"/>
              </a:rPr>
              <a:t>not</a:t>
            </a:r>
            <a:endParaRPr lang="en-US" sz="24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2130437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36613"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Supported Key Exchange</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3600" b="1" dirty="0">
                <a:latin typeface="Avenir Next" panose="020B0503020202020204" pitchFamily="34" charset="0"/>
                <a:ea typeface="Roboto Medium" panose="02000000000000000000" pitchFamily="2" charset="0"/>
              </a:rPr>
              <a:t>RSA:</a:t>
            </a:r>
          </a:p>
          <a:p>
            <a:pPr marL="535645" lvl="1">
              <a:lnSpc>
                <a:spcPct val="100000"/>
              </a:lnSpc>
            </a:pPr>
            <a:r>
              <a:rPr lang="en-US" sz="3200" spc="-9" dirty="0">
                <a:solidFill>
                  <a:srgbClr val="464653"/>
                </a:solidFill>
                <a:latin typeface="Avenir Next" panose="020B0503020202020204" pitchFamily="34" charset="0"/>
                <a:ea typeface="Roboto Medium" panose="02000000000000000000" pitchFamily="2" charset="0"/>
              </a:rPr>
              <a:t>Shared </a:t>
            </a:r>
            <a:r>
              <a:rPr lang="en-US" sz="3200" spc="-31" dirty="0">
                <a:solidFill>
                  <a:srgbClr val="464653"/>
                </a:solidFill>
                <a:latin typeface="Avenir Next" panose="020B0503020202020204" pitchFamily="34" charset="0"/>
                <a:ea typeface="Roboto Medium" panose="02000000000000000000" pitchFamily="2" charset="0"/>
              </a:rPr>
              <a:t>key </a:t>
            </a:r>
            <a:r>
              <a:rPr lang="en-US" sz="3200" spc="4" dirty="0">
                <a:solidFill>
                  <a:srgbClr val="464653"/>
                </a:solidFill>
                <a:latin typeface="Avenir Next" panose="020B0503020202020204" pitchFamily="34" charset="0"/>
                <a:ea typeface="Roboto Medium" panose="02000000000000000000" pitchFamily="2" charset="0"/>
              </a:rPr>
              <a:t>encrypted </a:t>
            </a:r>
            <a:r>
              <a:rPr lang="en-US" sz="3200" dirty="0">
                <a:solidFill>
                  <a:srgbClr val="464653"/>
                </a:solidFill>
                <a:latin typeface="Avenir Next" panose="020B0503020202020204" pitchFamily="34" charset="0"/>
                <a:ea typeface="Roboto Medium" panose="02000000000000000000" pitchFamily="2" charset="0"/>
              </a:rPr>
              <a:t>with RSA public</a:t>
            </a:r>
            <a:r>
              <a:rPr lang="en-US" sz="3200" spc="-18" dirty="0">
                <a:solidFill>
                  <a:srgbClr val="464653"/>
                </a:solidFill>
                <a:latin typeface="Avenir Next" panose="020B0503020202020204" pitchFamily="34" charset="0"/>
                <a:ea typeface="Roboto Medium" panose="02000000000000000000" pitchFamily="2" charset="0"/>
              </a:rPr>
              <a:t> </a:t>
            </a:r>
            <a:r>
              <a:rPr lang="en-US" sz="3200" spc="-31" dirty="0">
                <a:solidFill>
                  <a:srgbClr val="464653"/>
                </a:solidFill>
                <a:latin typeface="Avenir Next" panose="020B0503020202020204" pitchFamily="34" charset="0"/>
                <a:ea typeface="Roboto Medium" panose="02000000000000000000" pitchFamily="2" charset="0"/>
              </a:rPr>
              <a:t>key</a:t>
            </a:r>
            <a:endParaRPr lang="en-US" sz="3200" dirty="0">
              <a:latin typeface="Avenir Next" panose="020B0503020202020204" pitchFamily="34" charset="0"/>
              <a:ea typeface="Roboto Medium" panose="02000000000000000000" pitchFamily="2" charset="0"/>
              <a:cs typeface="Times New Roman"/>
            </a:endParaRPr>
          </a:p>
          <a:p>
            <a:pPr marL="78445">
              <a:lnSpc>
                <a:spcPct val="100000"/>
              </a:lnSpc>
              <a:spcBef>
                <a:spcPts val="185"/>
              </a:spcBef>
            </a:pPr>
            <a:r>
              <a:rPr lang="en-US" sz="3600" b="1" spc="-18" dirty="0">
                <a:latin typeface="Avenir Next" panose="020B0503020202020204" pitchFamily="34" charset="0"/>
                <a:ea typeface="Roboto Medium" panose="02000000000000000000" pitchFamily="2" charset="0"/>
              </a:rPr>
              <a:t>Fixed</a:t>
            </a:r>
            <a:r>
              <a:rPr lang="en-US" sz="3600" b="1" spc="-4" dirty="0">
                <a:latin typeface="Avenir Next" panose="020B0503020202020204" pitchFamily="34" charset="0"/>
                <a:ea typeface="Roboto Medium" panose="02000000000000000000" pitchFamily="2" charset="0"/>
              </a:rPr>
              <a:t> Diffie-Hellman:</a:t>
            </a:r>
            <a:endParaRPr lang="en-US" b="1" spc="-4" dirty="0">
              <a:latin typeface="Avenir Next" panose="020B0503020202020204" pitchFamily="34" charset="0"/>
              <a:ea typeface="Roboto Medium" panose="02000000000000000000" pitchFamily="2" charset="0"/>
              <a:cs typeface="Times New Roman"/>
            </a:endParaRPr>
          </a:p>
          <a:p>
            <a:pPr marL="535645" lvl="1">
              <a:lnSpc>
                <a:spcPct val="100000"/>
              </a:lnSpc>
              <a:spcBef>
                <a:spcPts val="185"/>
              </a:spcBef>
            </a:pPr>
            <a:r>
              <a:rPr lang="en-US" sz="3200" dirty="0">
                <a:solidFill>
                  <a:srgbClr val="464653"/>
                </a:solidFill>
                <a:latin typeface="Avenir Next" panose="020B0503020202020204" pitchFamily="34" charset="0"/>
                <a:ea typeface="Roboto Medium" panose="02000000000000000000" pitchFamily="2" charset="0"/>
              </a:rPr>
              <a:t>Public parameters </a:t>
            </a:r>
            <a:r>
              <a:rPr lang="en-US" sz="3200" spc="-13" dirty="0">
                <a:solidFill>
                  <a:srgbClr val="464653"/>
                </a:solidFill>
                <a:latin typeface="Avenir Next" panose="020B0503020202020204" pitchFamily="34" charset="0"/>
                <a:ea typeface="Roboto Medium" panose="02000000000000000000" pitchFamily="2" charset="0"/>
              </a:rPr>
              <a:t>provided </a:t>
            </a:r>
            <a:r>
              <a:rPr lang="en-US" sz="3200" dirty="0">
                <a:solidFill>
                  <a:srgbClr val="464653"/>
                </a:solidFill>
                <a:latin typeface="Avenir Next" panose="020B0503020202020204" pitchFamily="34" charset="0"/>
                <a:ea typeface="Roboto Medium" panose="02000000000000000000" pitchFamily="2" charset="0"/>
              </a:rPr>
              <a:t>in a certificate</a:t>
            </a:r>
            <a:endParaRPr lang="en-US" sz="3200" dirty="0">
              <a:latin typeface="Avenir Next" panose="020B0503020202020204" pitchFamily="34" charset="0"/>
              <a:ea typeface="Roboto Medium" panose="02000000000000000000" pitchFamily="2" charset="0"/>
              <a:cs typeface="Times New Roman"/>
            </a:endParaRPr>
          </a:p>
          <a:p>
            <a:pPr marL="78445">
              <a:lnSpc>
                <a:spcPct val="100000"/>
              </a:lnSpc>
              <a:spcBef>
                <a:spcPts val="185"/>
              </a:spcBef>
            </a:pPr>
            <a:r>
              <a:rPr lang="en-US" sz="3600" b="1" u="sng" dirty="0">
                <a:solidFill>
                  <a:srgbClr val="C00000"/>
                </a:solidFill>
                <a:latin typeface="Avenir Next" panose="020B0503020202020204" pitchFamily="34" charset="0"/>
                <a:ea typeface="Roboto Medium" panose="02000000000000000000" pitchFamily="2" charset="0"/>
              </a:rPr>
              <a:t>Ephemeral</a:t>
            </a:r>
            <a:r>
              <a:rPr lang="en-US" sz="3600" b="1" u="sng" spc="-18" dirty="0">
                <a:solidFill>
                  <a:srgbClr val="C00000"/>
                </a:solidFill>
                <a:latin typeface="Avenir Next" panose="020B0503020202020204" pitchFamily="34" charset="0"/>
                <a:ea typeface="Roboto Medium" panose="02000000000000000000" pitchFamily="2" charset="0"/>
              </a:rPr>
              <a:t> </a:t>
            </a:r>
            <a:r>
              <a:rPr lang="en-US" sz="3600" b="1" u="sng" spc="-4" dirty="0">
                <a:solidFill>
                  <a:srgbClr val="C00000"/>
                </a:solidFill>
                <a:latin typeface="Avenir Next" panose="020B0503020202020204" pitchFamily="34" charset="0"/>
                <a:ea typeface="Roboto Medium" panose="02000000000000000000" pitchFamily="2" charset="0"/>
              </a:rPr>
              <a:t>Diffie-Hellman:</a:t>
            </a:r>
            <a:endParaRPr lang="en-US" b="1" u="sng" spc="-4" dirty="0">
              <a:solidFill>
                <a:srgbClr val="C00000"/>
              </a:solidFill>
              <a:latin typeface="Avenir Next" panose="020B0503020202020204" pitchFamily="34" charset="0"/>
              <a:ea typeface="Roboto Medium" panose="02000000000000000000" pitchFamily="2" charset="0"/>
              <a:cs typeface="Times New Roman"/>
            </a:endParaRPr>
          </a:p>
          <a:p>
            <a:pPr marL="535645" lvl="1">
              <a:lnSpc>
                <a:spcPct val="100000"/>
              </a:lnSpc>
              <a:spcBef>
                <a:spcPts val="185"/>
              </a:spcBef>
            </a:pPr>
            <a:r>
              <a:rPr lang="en-US" sz="3200" dirty="0">
                <a:solidFill>
                  <a:srgbClr val="464653"/>
                </a:solidFill>
                <a:latin typeface="Avenir Next" panose="020B0503020202020204" pitchFamily="34" charset="0"/>
                <a:ea typeface="Roboto Medium" panose="02000000000000000000" pitchFamily="2" charset="0"/>
              </a:rPr>
              <a:t>The best;</a:t>
            </a:r>
            <a:r>
              <a:rPr lang="en-US" sz="3200" spc="-383" dirty="0">
                <a:solidFill>
                  <a:srgbClr val="464653"/>
                </a:solidFill>
                <a:latin typeface="Avenir Next" panose="020B0503020202020204" pitchFamily="34" charset="0"/>
                <a:ea typeface="Roboto Medium" panose="02000000000000000000" pitchFamily="2" charset="0"/>
              </a:rPr>
              <a:t> </a:t>
            </a:r>
            <a:r>
              <a:rPr lang="en-US" sz="3200" dirty="0">
                <a:solidFill>
                  <a:srgbClr val="464653"/>
                </a:solidFill>
                <a:latin typeface="Avenir Next" panose="020B0503020202020204" pitchFamily="34" charset="0"/>
                <a:ea typeface="Roboto Medium" panose="02000000000000000000" pitchFamily="2" charset="0"/>
              </a:rPr>
              <a:t>Diffie-Hellman with </a:t>
            </a:r>
            <a:r>
              <a:rPr lang="en-US" sz="3200" spc="4" dirty="0">
                <a:solidFill>
                  <a:srgbClr val="464653"/>
                </a:solidFill>
                <a:latin typeface="Avenir Next" panose="020B0503020202020204" pitchFamily="34" charset="0"/>
                <a:ea typeface="Roboto Medium" panose="02000000000000000000" pitchFamily="2" charset="0"/>
              </a:rPr>
              <a:t>temporary </a:t>
            </a:r>
            <a:r>
              <a:rPr lang="en-US" sz="3200" spc="-9" dirty="0">
                <a:solidFill>
                  <a:srgbClr val="464653"/>
                </a:solidFill>
                <a:latin typeface="Avenir Next" panose="020B0503020202020204" pitchFamily="34" charset="0"/>
                <a:ea typeface="Roboto Medium" panose="02000000000000000000" pitchFamily="2" charset="0"/>
              </a:rPr>
              <a:t>secret </a:t>
            </a:r>
            <a:r>
              <a:rPr lang="en-US" sz="3200" spc="-66" dirty="0">
                <a:solidFill>
                  <a:srgbClr val="464653"/>
                </a:solidFill>
                <a:latin typeface="Avenir Next" panose="020B0503020202020204" pitchFamily="34" charset="0"/>
                <a:ea typeface="Roboto Medium" panose="02000000000000000000" pitchFamily="2" charset="0"/>
              </a:rPr>
              <a:t>key, </a:t>
            </a:r>
            <a:r>
              <a:rPr lang="en-US" sz="3200" dirty="0">
                <a:solidFill>
                  <a:srgbClr val="464653"/>
                </a:solidFill>
                <a:latin typeface="Avenir Next" panose="020B0503020202020204" pitchFamily="34" charset="0"/>
                <a:ea typeface="Roboto Medium" panose="02000000000000000000" pitchFamily="2" charset="0"/>
              </a:rPr>
              <a:t>messages  signed using RSA or</a:t>
            </a:r>
            <a:r>
              <a:rPr lang="en-US" sz="3200" spc="-88" dirty="0">
                <a:solidFill>
                  <a:srgbClr val="464653"/>
                </a:solidFill>
                <a:latin typeface="Avenir Next" panose="020B0503020202020204" pitchFamily="34" charset="0"/>
                <a:ea typeface="Roboto Medium" panose="02000000000000000000" pitchFamily="2" charset="0"/>
              </a:rPr>
              <a:t> </a:t>
            </a:r>
            <a:r>
              <a:rPr lang="en-US" sz="3200" dirty="0">
                <a:solidFill>
                  <a:srgbClr val="464653"/>
                </a:solidFill>
                <a:latin typeface="Avenir Next" panose="020B0503020202020204" pitchFamily="34" charset="0"/>
                <a:ea typeface="Roboto Medium" panose="02000000000000000000" pitchFamily="2" charset="0"/>
              </a:rPr>
              <a:t>DSS</a:t>
            </a:r>
            <a:endParaRPr lang="en-US" sz="3200" dirty="0">
              <a:latin typeface="Avenir Next" panose="020B0503020202020204" pitchFamily="34" charset="0"/>
              <a:ea typeface="Roboto Medium" panose="02000000000000000000" pitchFamily="2" charset="0"/>
              <a:cs typeface="Times New Roman"/>
            </a:endParaRPr>
          </a:p>
          <a:p>
            <a:pPr marL="78445">
              <a:lnSpc>
                <a:spcPct val="100000"/>
              </a:lnSpc>
              <a:spcBef>
                <a:spcPts val="238"/>
              </a:spcBef>
            </a:pPr>
            <a:r>
              <a:rPr lang="en-US" sz="3600" b="1" spc="-9" dirty="0">
                <a:latin typeface="Avenir Next" panose="020B0503020202020204" pitchFamily="34" charset="0"/>
                <a:ea typeface="Roboto Medium" panose="02000000000000000000" pitchFamily="2" charset="0"/>
              </a:rPr>
              <a:t>Anonymous</a:t>
            </a:r>
            <a:r>
              <a:rPr lang="en-US" sz="3600" b="1" spc="-4" dirty="0">
                <a:latin typeface="Avenir Next" panose="020B0503020202020204" pitchFamily="34" charset="0"/>
                <a:ea typeface="Roboto Medium" panose="02000000000000000000" pitchFamily="2" charset="0"/>
              </a:rPr>
              <a:t> Diffie-Hellman:</a:t>
            </a:r>
            <a:endParaRPr lang="en-US" b="1" dirty="0">
              <a:latin typeface="Avenir Next" panose="020B0503020202020204" pitchFamily="34" charset="0"/>
              <a:ea typeface="Roboto Medium" panose="02000000000000000000" pitchFamily="2" charset="0"/>
              <a:cs typeface="Times New Roman"/>
            </a:endParaRPr>
          </a:p>
          <a:p>
            <a:pPr marL="535645" lvl="1">
              <a:lnSpc>
                <a:spcPct val="100000"/>
              </a:lnSpc>
              <a:spcBef>
                <a:spcPts val="238"/>
              </a:spcBef>
            </a:pPr>
            <a:r>
              <a:rPr lang="en-US" sz="3200" spc="-4" dirty="0">
                <a:solidFill>
                  <a:srgbClr val="464653"/>
                </a:solidFill>
                <a:latin typeface="Avenir Next" panose="020B0503020202020204" pitchFamily="34" charset="0"/>
                <a:ea typeface="Roboto Medium" panose="02000000000000000000" pitchFamily="2" charset="0"/>
              </a:rPr>
              <a:t>Vulnerable </a:t>
            </a:r>
            <a:r>
              <a:rPr lang="en-US" sz="3200" dirty="0">
                <a:solidFill>
                  <a:srgbClr val="464653"/>
                </a:solidFill>
                <a:latin typeface="Avenir Next" panose="020B0503020202020204" pitchFamily="34" charset="0"/>
                <a:ea typeface="Roboto Medium" panose="02000000000000000000" pitchFamily="2" charset="0"/>
              </a:rPr>
              <a:t>to</a:t>
            </a:r>
            <a:r>
              <a:rPr lang="en-US" sz="3200" spc="4" dirty="0">
                <a:solidFill>
                  <a:srgbClr val="464653"/>
                </a:solidFill>
                <a:latin typeface="Avenir Next" panose="020B0503020202020204" pitchFamily="34" charset="0"/>
                <a:ea typeface="Roboto Medium" panose="02000000000000000000" pitchFamily="2" charset="0"/>
              </a:rPr>
              <a:t> </a:t>
            </a:r>
            <a:r>
              <a:rPr lang="en-US" sz="3200" spc="-4" dirty="0">
                <a:solidFill>
                  <a:srgbClr val="464653"/>
                </a:solidFill>
                <a:latin typeface="Avenir Next" panose="020B0503020202020204" pitchFamily="34" charset="0"/>
                <a:ea typeface="Roboto Medium" panose="02000000000000000000" pitchFamily="2" charset="0"/>
              </a:rPr>
              <a:t>man-in-the-middle</a:t>
            </a:r>
          </a:p>
          <a:p>
            <a:pPr marL="78445">
              <a:lnSpc>
                <a:spcPct val="100000"/>
              </a:lnSpc>
              <a:spcBef>
                <a:spcPts val="238"/>
              </a:spcBef>
            </a:pPr>
            <a:r>
              <a:rPr lang="en-US" sz="3600" spc="-4" dirty="0">
                <a:solidFill>
                  <a:srgbClr val="C00000"/>
                </a:solidFill>
                <a:latin typeface="Avenir Next" panose="020B0503020202020204" pitchFamily="34" charset="0"/>
                <a:ea typeface="Roboto Medium" panose="02000000000000000000" pitchFamily="2" charset="0"/>
                <a:cs typeface="Times New Roman"/>
              </a:rPr>
              <a:t> </a:t>
            </a:r>
            <a:r>
              <a:rPr lang="en-US" sz="3600" b="1" u="sng" spc="-4" dirty="0">
                <a:solidFill>
                  <a:srgbClr val="C00000"/>
                </a:solidFill>
                <a:latin typeface="Avenir Next" panose="020B0503020202020204" pitchFamily="34" charset="0"/>
                <a:ea typeface="Roboto Medium" panose="02000000000000000000" pitchFamily="2" charset="0"/>
                <a:cs typeface="Times New Roman"/>
              </a:rPr>
              <a:t>PSK with ephemeral (EC)DHE</a:t>
            </a:r>
          </a:p>
          <a:p>
            <a:pPr marL="78445">
              <a:lnSpc>
                <a:spcPct val="100000"/>
              </a:lnSpc>
              <a:spcBef>
                <a:spcPts val="238"/>
              </a:spcBef>
            </a:pPr>
            <a:r>
              <a:rPr lang="en-US" sz="3600" b="1" u="sng" spc="-4" dirty="0">
                <a:solidFill>
                  <a:srgbClr val="C00000"/>
                </a:solidFill>
                <a:latin typeface="Avenir Next" panose="020B0503020202020204" pitchFamily="34" charset="0"/>
                <a:ea typeface="Roboto Medium" panose="02000000000000000000" pitchFamily="2" charset="0"/>
                <a:cs typeface="Times New Roman"/>
              </a:rPr>
              <a:t> PSK without ephemeral DH</a:t>
            </a:r>
            <a:endParaRPr lang="en-US" sz="3600" b="1" u="sng" dirty="0">
              <a:solidFill>
                <a:srgbClr val="C00000"/>
              </a:solidFill>
              <a:latin typeface="Avenir Next" panose="020B0503020202020204" pitchFamily="34" charset="0"/>
              <a:ea typeface="Roboto Medium" panose="02000000000000000000" pitchFamily="2" charset="0"/>
              <a:cs typeface="Times New Roman"/>
            </a:endParaRPr>
          </a:p>
        </p:txBody>
      </p:sp>
    </p:spTree>
    <p:custDataLst>
      <p:tags r:id="rId1"/>
    </p:custDataLst>
    <p:extLst>
      <p:ext uri="{BB962C8B-B14F-4D97-AF65-F5344CB8AC3E}">
        <p14:creationId xmlns:p14="http://schemas.microsoft.com/office/powerpoint/2010/main" val="1928768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68718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Authentication</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89488490-CA93-65BA-01AF-3DD05E98B424}"/>
              </a:ext>
            </a:extLst>
          </p:cNvPr>
          <p:cNvSpPr>
            <a:spLocks noGrp="1"/>
          </p:cNvSpPr>
          <p:nvPr>
            <p:ph idx="1"/>
          </p:nvPr>
        </p:nvSpPr>
        <p:spPr>
          <a:xfrm>
            <a:off x="0" y="769913"/>
            <a:ext cx="12200091" cy="6023113"/>
          </a:xfrm>
        </p:spPr>
        <p:txBody>
          <a:bodyPr>
            <a:normAutofit/>
          </a:bodyPr>
          <a:lstStyle/>
          <a:p>
            <a:r>
              <a:rPr lang="en-US" sz="4000" dirty="0">
                <a:latin typeface="Avenir Next" panose="020B0503020202020204" pitchFamily="34" charset="0"/>
              </a:rPr>
              <a:t> Verify identities of the participants </a:t>
            </a:r>
          </a:p>
          <a:p>
            <a:r>
              <a:rPr lang="en-US" sz="4000" dirty="0">
                <a:latin typeface="Avenir Next" panose="020B0503020202020204" pitchFamily="34" charset="0"/>
              </a:rPr>
              <a:t> Client authentication is optional </a:t>
            </a:r>
          </a:p>
          <a:p>
            <a:r>
              <a:rPr lang="en-US" sz="4000" dirty="0">
                <a:latin typeface="Avenir Next" panose="020B0503020202020204" pitchFamily="34" charset="0"/>
              </a:rPr>
              <a:t> X.509 version 3 certificates are used to associate identity with public key and other attributes</a:t>
            </a:r>
          </a:p>
          <a:p>
            <a:r>
              <a:rPr lang="en-US" sz="4000" dirty="0">
                <a:latin typeface="Avenir Next" panose="020B0503020202020204" pitchFamily="34" charset="0"/>
              </a:rPr>
              <a:t> We have covered X.509 version 3 certificates and certificate chain validation in the PKI lecture </a:t>
            </a:r>
          </a:p>
        </p:txBody>
      </p:sp>
    </p:spTree>
    <p:custDataLst>
      <p:tags r:id="rId1"/>
    </p:custDataLst>
    <p:extLst>
      <p:ext uri="{BB962C8B-B14F-4D97-AF65-F5344CB8AC3E}">
        <p14:creationId xmlns:p14="http://schemas.microsoft.com/office/powerpoint/2010/main" val="2358588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8343708"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Change Cipher Spec/Finished</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89488490-CA93-65BA-01AF-3DD05E98B424}"/>
              </a:ext>
            </a:extLst>
          </p:cNvPr>
          <p:cNvSpPr>
            <a:spLocks noGrp="1"/>
          </p:cNvSpPr>
          <p:nvPr>
            <p:ph idx="1"/>
          </p:nvPr>
        </p:nvSpPr>
        <p:spPr>
          <a:xfrm>
            <a:off x="0" y="769913"/>
            <a:ext cx="12200091" cy="6023113"/>
          </a:xfrm>
        </p:spPr>
        <p:txBody>
          <a:bodyPr>
            <a:normAutofit/>
          </a:bodyPr>
          <a:lstStyle/>
          <a:p>
            <a:pPr marL="313781" marR="894837" indent="-235336">
              <a:lnSpc>
                <a:spcPct val="100000"/>
              </a:lnSpc>
            </a:pPr>
            <a:r>
              <a:rPr lang="en-US" sz="4000" dirty="0">
                <a:latin typeface="Avenir Next" panose="020B0503020202020204" pitchFamily="34" charset="0"/>
                <a:ea typeface="Roboto Medium" panose="02000000000000000000" pitchFamily="2" charset="0"/>
              </a:rPr>
              <a:t> Change Cipher Spec </a:t>
            </a:r>
            <a:r>
              <a:rPr lang="en-US" sz="4000" spc="-4" dirty="0">
                <a:latin typeface="Avenir Next" panose="020B0503020202020204" pitchFamily="34" charset="0"/>
                <a:ea typeface="Roboto Medium" panose="02000000000000000000" pitchFamily="2" charset="0"/>
              </a:rPr>
              <a:t>completes </a:t>
            </a:r>
            <a:r>
              <a:rPr lang="en-US" sz="4000" dirty="0">
                <a:latin typeface="Avenir Next" panose="020B0503020202020204" pitchFamily="34" charset="0"/>
                <a:ea typeface="Roboto Medium" panose="02000000000000000000" pitchFamily="2" charset="0"/>
              </a:rPr>
              <a:t>the setup of the  connections.</a:t>
            </a:r>
            <a:endParaRPr lang="en-US" sz="2400" dirty="0">
              <a:latin typeface="Avenir Next" panose="020B0503020202020204" pitchFamily="34" charset="0"/>
              <a:ea typeface="Roboto Medium" panose="02000000000000000000" pitchFamily="2" charset="0"/>
              <a:cs typeface="Times New Roman"/>
            </a:endParaRPr>
          </a:p>
          <a:p>
            <a:pPr marL="78445">
              <a:lnSpc>
                <a:spcPct val="100000"/>
              </a:lnSpc>
              <a:spcBef>
                <a:spcPts val="424"/>
              </a:spcBef>
            </a:pPr>
            <a:r>
              <a:rPr lang="en-US" sz="4000" dirty="0">
                <a:latin typeface="Avenir Next" panose="020B0503020202020204" pitchFamily="34" charset="0"/>
                <a:ea typeface="Roboto Medium" panose="02000000000000000000" pitchFamily="2" charset="0"/>
              </a:rPr>
              <a:t> Announce </a:t>
            </a:r>
            <a:r>
              <a:rPr lang="en-US" sz="4000" spc="-4" dirty="0">
                <a:latin typeface="Avenir Next" panose="020B0503020202020204" pitchFamily="34" charset="0"/>
                <a:ea typeface="Roboto Medium" panose="02000000000000000000" pitchFamily="2" charset="0"/>
              </a:rPr>
              <a:t>switch </a:t>
            </a:r>
            <a:r>
              <a:rPr lang="en-US" sz="4000" dirty="0">
                <a:latin typeface="Avenir Next" panose="020B0503020202020204" pitchFamily="34" charset="0"/>
                <a:ea typeface="Roboto Medium" panose="02000000000000000000" pitchFamily="2" charset="0"/>
              </a:rPr>
              <a:t>to </a:t>
            </a:r>
            <a:r>
              <a:rPr lang="en-US" sz="4000" spc="-4" dirty="0">
                <a:latin typeface="Avenir Next" panose="020B0503020202020204" pitchFamily="34" charset="0"/>
                <a:ea typeface="Roboto Medium" panose="02000000000000000000" pitchFamily="2" charset="0"/>
              </a:rPr>
              <a:t>negotiated algorithms </a:t>
            </a:r>
            <a:r>
              <a:rPr lang="en-US" sz="4000" dirty="0">
                <a:latin typeface="Avenir Next" panose="020B0503020202020204" pitchFamily="34" charset="0"/>
                <a:ea typeface="Roboto Medium" panose="02000000000000000000" pitchFamily="2" charset="0"/>
              </a:rPr>
              <a:t>and</a:t>
            </a:r>
            <a:r>
              <a:rPr lang="en-US" sz="4000" spc="-31" dirty="0">
                <a:latin typeface="Avenir Next" panose="020B0503020202020204" pitchFamily="34" charset="0"/>
                <a:ea typeface="Roboto Medium" panose="02000000000000000000" pitchFamily="2" charset="0"/>
              </a:rPr>
              <a:t> </a:t>
            </a:r>
            <a:r>
              <a:rPr lang="en-US" sz="4000" dirty="0">
                <a:latin typeface="Avenir Next" panose="020B0503020202020204" pitchFamily="34" charset="0"/>
                <a:ea typeface="Roboto Medium" panose="02000000000000000000" pitchFamily="2" charset="0"/>
              </a:rPr>
              <a:t>values</a:t>
            </a:r>
            <a:endParaRPr lang="en-US" sz="2400" dirty="0">
              <a:latin typeface="Avenir Next" panose="020B0503020202020204" pitchFamily="34" charset="0"/>
              <a:ea typeface="Roboto Medium" panose="02000000000000000000" pitchFamily="2" charset="0"/>
              <a:cs typeface="Times New Roman"/>
            </a:endParaRPr>
          </a:p>
          <a:p>
            <a:pPr marL="313781" marR="4483" indent="-235336">
              <a:lnSpc>
                <a:spcPct val="100000"/>
              </a:lnSpc>
              <a:spcBef>
                <a:spcPts val="618"/>
              </a:spcBef>
            </a:pPr>
            <a:r>
              <a:rPr lang="en-US" sz="4000" dirty="0">
                <a:latin typeface="Avenir Next" panose="020B0503020202020204" pitchFamily="34" charset="0"/>
                <a:ea typeface="Roboto Medium" panose="02000000000000000000" pitchFamily="2" charset="0"/>
              </a:rPr>
              <a:t> The client sends a message under the </a:t>
            </a:r>
            <a:r>
              <a:rPr lang="en-US" sz="4000" spc="-13" dirty="0">
                <a:latin typeface="Avenir Next" panose="020B0503020202020204" pitchFamily="34" charset="0"/>
                <a:ea typeface="Roboto Medium" panose="02000000000000000000" pitchFamily="2" charset="0"/>
              </a:rPr>
              <a:t>new </a:t>
            </a:r>
            <a:r>
              <a:rPr lang="en-US" sz="4000" spc="-4" dirty="0">
                <a:latin typeface="Avenir Next" panose="020B0503020202020204" pitchFamily="34" charset="0"/>
                <a:ea typeface="Roboto Medium" panose="02000000000000000000" pitchFamily="2" charset="0"/>
              </a:rPr>
              <a:t>algorithms,  allows verification </a:t>
            </a:r>
            <a:r>
              <a:rPr lang="en-US" sz="4000" dirty="0">
                <a:latin typeface="Avenir Next" panose="020B0503020202020204" pitchFamily="34" charset="0"/>
                <a:ea typeface="Roboto Medium" panose="02000000000000000000" pitchFamily="2" charset="0"/>
              </a:rPr>
              <a:t>of that the </a:t>
            </a:r>
            <a:r>
              <a:rPr lang="en-US" sz="4000" spc="-9" dirty="0">
                <a:latin typeface="Avenir Next" panose="020B0503020202020204" pitchFamily="34" charset="0"/>
                <a:ea typeface="Roboto Medium" panose="02000000000000000000" pitchFamily="2" charset="0"/>
              </a:rPr>
              <a:t>handshake </a:t>
            </a:r>
            <a:r>
              <a:rPr lang="en-US" sz="4000" dirty="0">
                <a:latin typeface="Avenir Next" panose="020B0503020202020204" pitchFamily="34" charset="0"/>
                <a:ea typeface="Roboto Medium" panose="02000000000000000000" pitchFamily="2" charset="0"/>
              </a:rPr>
              <a:t>was</a:t>
            </a:r>
            <a:r>
              <a:rPr lang="en-US" sz="4000" spc="-62" dirty="0">
                <a:latin typeface="Avenir Next" panose="020B0503020202020204" pitchFamily="34" charset="0"/>
                <a:ea typeface="Roboto Medium" panose="02000000000000000000" pitchFamily="2" charset="0"/>
              </a:rPr>
              <a:t> </a:t>
            </a:r>
            <a:r>
              <a:rPr lang="en-US" sz="4000" dirty="0">
                <a:latin typeface="Avenir Next" panose="020B0503020202020204" pitchFamily="34" charset="0"/>
                <a:ea typeface="Roboto Medium" panose="02000000000000000000" pitchFamily="2" charset="0"/>
              </a:rPr>
              <a:t>successful. </a:t>
            </a:r>
          </a:p>
          <a:p>
            <a:pPr marL="313781" marR="4483" indent="-235336">
              <a:lnSpc>
                <a:spcPct val="100000"/>
              </a:lnSpc>
              <a:spcBef>
                <a:spcPts val="618"/>
              </a:spcBef>
            </a:pPr>
            <a:r>
              <a:rPr lang="en-US" sz="4000" dirty="0">
                <a:latin typeface="Avenir Next" panose="020B0503020202020204" pitchFamily="34" charset="0"/>
                <a:ea typeface="Roboto Medium" panose="02000000000000000000" pitchFamily="2" charset="0"/>
                <a:cs typeface="Times New Roman"/>
              </a:rPr>
              <a:t> CCS message is optional in TLS 1.3 </a:t>
            </a:r>
            <a:endParaRPr lang="en-US" sz="2400" dirty="0">
              <a:latin typeface="Avenir Next" panose="020B0503020202020204" pitchFamily="34" charset="0"/>
              <a:ea typeface="Roboto Medium" panose="02000000000000000000" pitchFamily="2" charset="0"/>
              <a:cs typeface="Times New Roman"/>
            </a:endParaRPr>
          </a:p>
        </p:txBody>
      </p:sp>
    </p:spTree>
    <p:custDataLst>
      <p:tags r:id="rId1"/>
    </p:custDataLst>
    <p:extLst>
      <p:ext uri="{BB962C8B-B14F-4D97-AF65-F5344CB8AC3E}">
        <p14:creationId xmlns:p14="http://schemas.microsoft.com/office/powerpoint/2010/main" val="4262001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8343708"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CCS Message (TLS 1.2)</a:t>
            </a:r>
            <a:endParaRPr lang="en-US" sz="4000" dirty="0">
              <a:solidFill>
                <a:schemeClr val="bg1"/>
              </a:solidFill>
              <a:latin typeface="Playfair Display Medium" pitchFamily="2" charset="77"/>
            </a:endParaRPr>
          </a:p>
        </p:txBody>
      </p:sp>
      <p:pic>
        <p:nvPicPr>
          <p:cNvPr id="6" name="Content Placeholder 6" descr="A picture containing cup, coffee, sitting, microwave&#10;&#10;Description automatically generated">
            <a:extLst>
              <a:ext uri="{FF2B5EF4-FFF2-40B4-BE49-F238E27FC236}">
                <a16:creationId xmlns:a16="http://schemas.microsoft.com/office/drawing/2014/main" id="{CEBC4848-676F-D0FA-13FA-AAC0A72BD30C}"/>
              </a:ext>
            </a:extLst>
          </p:cNvPr>
          <p:cNvPicPr>
            <a:picLocks noGrp="1" noChangeAspect="1"/>
          </p:cNvPicPr>
          <p:nvPr>
            <p:ph idx="1"/>
            <p:custDataLst>
              <p:tags r:id="rId3"/>
            </p:custDataLst>
          </p:nvPr>
        </p:nvPicPr>
        <p:blipFill>
          <a:blip r:embed="rId23" cstate="print">
            <a:extLst>
              <a:ext uri="{28A0092B-C50C-407E-A947-70E740481C1C}">
                <a14:useLocalDpi xmlns:a14="http://schemas.microsoft.com/office/drawing/2010/main" val="0"/>
              </a:ext>
            </a:extLst>
          </a:blip>
          <a:stretch>
            <a:fillRect/>
          </a:stretch>
        </p:blipFill>
        <p:spPr>
          <a:xfrm>
            <a:off x="5324340" y="2012310"/>
            <a:ext cx="439822" cy="439822"/>
          </a:xfrm>
        </p:spPr>
      </p:pic>
      <p:pic>
        <p:nvPicPr>
          <p:cNvPr id="7" name="Picture 6" descr="A picture containing photo, sitting, monitor, table&#10;&#10;Description generated with very high confidence">
            <a:extLst>
              <a:ext uri="{FF2B5EF4-FFF2-40B4-BE49-F238E27FC236}">
                <a16:creationId xmlns:a16="http://schemas.microsoft.com/office/drawing/2014/main" id="{A006079A-66ED-D39E-CE9F-4CE87CD676F4}"/>
              </a:ext>
            </a:extLst>
          </p:cNvPr>
          <p:cNvPicPr>
            <a:picLocks noChangeAspect="1"/>
          </p:cNvPicPr>
          <p:nvPr>
            <p:custDataLst>
              <p:tags r:id="rId4"/>
            </p:custDataLst>
          </p:nvPr>
        </p:nvPicPr>
        <p:blipFill>
          <a:blip r:embed="rId24"/>
          <a:stretch>
            <a:fillRect/>
          </a:stretch>
        </p:blipFill>
        <p:spPr>
          <a:xfrm>
            <a:off x="2536297" y="2012310"/>
            <a:ext cx="459150" cy="504158"/>
          </a:xfrm>
          <a:prstGeom prst="rect">
            <a:avLst/>
          </a:prstGeom>
        </p:spPr>
      </p:pic>
      <p:cxnSp>
        <p:nvCxnSpPr>
          <p:cNvPr id="8" name="Straight Connector 7">
            <a:extLst>
              <a:ext uri="{FF2B5EF4-FFF2-40B4-BE49-F238E27FC236}">
                <a16:creationId xmlns:a16="http://schemas.microsoft.com/office/drawing/2014/main" id="{248B61B7-FDB0-99BB-DCCC-804B486BE64D}"/>
              </a:ext>
            </a:extLst>
          </p:cNvPr>
          <p:cNvCxnSpPr>
            <a:cxnSpLocks/>
          </p:cNvCxnSpPr>
          <p:nvPr>
            <p:custDataLst>
              <p:tags r:id="rId5"/>
            </p:custDataLst>
          </p:nvPr>
        </p:nvCxnSpPr>
        <p:spPr>
          <a:xfrm flipV="1">
            <a:off x="2753187" y="2498201"/>
            <a:ext cx="4018" cy="30049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E9273D6-8E4B-DB34-3882-8E015CA2D113}"/>
              </a:ext>
            </a:extLst>
          </p:cNvPr>
          <p:cNvCxnSpPr>
            <a:cxnSpLocks/>
          </p:cNvCxnSpPr>
          <p:nvPr>
            <p:custDataLst>
              <p:tags r:id="rId6"/>
            </p:custDataLst>
          </p:nvPr>
        </p:nvCxnSpPr>
        <p:spPr>
          <a:xfrm flipH="1" flipV="1">
            <a:off x="5550243" y="2452818"/>
            <a:ext cx="3640" cy="301369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73208327-1BE6-5C5B-8BDF-1D60FD7C92D5}"/>
              </a:ext>
            </a:extLst>
          </p:cNvPr>
          <p:cNvGrpSpPr/>
          <p:nvPr>
            <p:custDataLst>
              <p:tags r:id="rId7"/>
            </p:custDataLst>
          </p:nvPr>
        </p:nvGrpSpPr>
        <p:grpSpPr>
          <a:xfrm>
            <a:off x="2765715" y="2837085"/>
            <a:ext cx="2892241" cy="230832"/>
            <a:chOff x="1363672" y="3016578"/>
            <a:chExt cx="3973179" cy="317102"/>
          </a:xfrm>
        </p:grpSpPr>
        <p:cxnSp>
          <p:nvCxnSpPr>
            <p:cNvPr id="11" name="Straight Arrow Connector 10">
              <a:extLst>
                <a:ext uri="{FF2B5EF4-FFF2-40B4-BE49-F238E27FC236}">
                  <a16:creationId xmlns:a16="http://schemas.microsoft.com/office/drawing/2014/main" id="{D73EF221-E130-842B-3452-78B325290BB0}"/>
                </a:ext>
              </a:extLst>
            </p:cNvPr>
            <p:cNvCxnSpPr>
              <a:cxnSpLocks/>
            </p:cNvCxnSpPr>
            <p:nvPr/>
          </p:nvCxnSpPr>
          <p:spPr>
            <a:xfrm flipH="1">
              <a:off x="1363672" y="3327816"/>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C9BD497-33B8-F86B-FFEB-3EBB866EA602}"/>
                </a:ext>
              </a:extLst>
            </p:cNvPr>
            <p:cNvSpPr txBox="1"/>
            <p:nvPr/>
          </p:nvSpPr>
          <p:spPr>
            <a:xfrm>
              <a:off x="4002730" y="3016578"/>
              <a:ext cx="1334121" cy="317102"/>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ServerHello</a:t>
              </a:r>
              <a:endParaRPr lang="en-US" sz="900" b="1" dirty="0">
                <a:latin typeface="Courier New" panose="02070309020205020404" pitchFamily="49" charset="0"/>
                <a:cs typeface="Courier New" panose="02070309020205020404" pitchFamily="49" charset="0"/>
              </a:endParaRPr>
            </a:p>
          </p:txBody>
        </p:sp>
      </p:grpSp>
      <p:grpSp>
        <p:nvGrpSpPr>
          <p:cNvPr id="13" name="Group 12">
            <a:extLst>
              <a:ext uri="{FF2B5EF4-FFF2-40B4-BE49-F238E27FC236}">
                <a16:creationId xmlns:a16="http://schemas.microsoft.com/office/drawing/2014/main" id="{110E2F94-4BDF-0C10-4E15-C401338D5EED}"/>
              </a:ext>
            </a:extLst>
          </p:cNvPr>
          <p:cNvGrpSpPr/>
          <p:nvPr>
            <p:custDataLst>
              <p:tags r:id="rId8"/>
            </p:custDataLst>
          </p:nvPr>
        </p:nvGrpSpPr>
        <p:grpSpPr>
          <a:xfrm>
            <a:off x="2767534" y="3119671"/>
            <a:ext cx="2933504" cy="230832"/>
            <a:chOff x="1366172" y="3382302"/>
            <a:chExt cx="4029864" cy="317102"/>
          </a:xfrm>
        </p:grpSpPr>
        <p:cxnSp>
          <p:nvCxnSpPr>
            <p:cNvPr id="14" name="Straight Arrow Connector 13">
              <a:extLst>
                <a:ext uri="{FF2B5EF4-FFF2-40B4-BE49-F238E27FC236}">
                  <a16:creationId xmlns:a16="http://schemas.microsoft.com/office/drawing/2014/main" id="{BB6EA6E2-F909-A4E9-C0D4-E15D5E9D70F3}"/>
                </a:ext>
              </a:extLst>
            </p:cNvPr>
            <p:cNvCxnSpPr>
              <a:cxnSpLocks/>
            </p:cNvCxnSpPr>
            <p:nvPr/>
          </p:nvCxnSpPr>
          <p:spPr>
            <a:xfrm flipH="1">
              <a:off x="1366172" y="3690076"/>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51854B-D12B-1089-C524-AC42B0FA5F80}"/>
                </a:ext>
              </a:extLst>
            </p:cNvPr>
            <p:cNvSpPr txBox="1"/>
            <p:nvPr/>
          </p:nvSpPr>
          <p:spPr>
            <a:xfrm>
              <a:off x="4061914" y="3382302"/>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Certificate</a:t>
              </a:r>
            </a:p>
          </p:txBody>
        </p:sp>
      </p:grpSp>
      <p:grpSp>
        <p:nvGrpSpPr>
          <p:cNvPr id="16" name="Group 15">
            <a:extLst>
              <a:ext uri="{FF2B5EF4-FFF2-40B4-BE49-F238E27FC236}">
                <a16:creationId xmlns:a16="http://schemas.microsoft.com/office/drawing/2014/main" id="{74CC26CF-7DEE-6E07-29B6-C43A8A294C37}"/>
              </a:ext>
            </a:extLst>
          </p:cNvPr>
          <p:cNvGrpSpPr/>
          <p:nvPr>
            <p:custDataLst>
              <p:tags r:id="rId9"/>
            </p:custDataLst>
          </p:nvPr>
        </p:nvGrpSpPr>
        <p:grpSpPr>
          <a:xfrm>
            <a:off x="2762080" y="3397104"/>
            <a:ext cx="2788164" cy="230832"/>
            <a:chOff x="1358677" y="3748431"/>
            <a:chExt cx="3830205" cy="317104"/>
          </a:xfrm>
        </p:grpSpPr>
        <p:cxnSp>
          <p:nvCxnSpPr>
            <p:cNvPr id="17" name="Straight Arrow Connector 16">
              <a:extLst>
                <a:ext uri="{FF2B5EF4-FFF2-40B4-BE49-F238E27FC236}">
                  <a16:creationId xmlns:a16="http://schemas.microsoft.com/office/drawing/2014/main" id="{B536AB6A-92E4-696C-3388-5BFB3998E05F}"/>
                </a:ext>
              </a:extLst>
            </p:cNvPr>
            <p:cNvCxnSpPr>
              <a:cxnSpLocks/>
            </p:cNvCxnSpPr>
            <p:nvPr/>
          </p:nvCxnSpPr>
          <p:spPr>
            <a:xfrm flipH="1">
              <a:off x="1358677" y="4057332"/>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E420CE9-0702-8686-24E3-1E6A89D02E11}"/>
                </a:ext>
              </a:extLst>
            </p:cNvPr>
            <p:cNvSpPr txBox="1"/>
            <p:nvPr/>
          </p:nvSpPr>
          <p:spPr>
            <a:xfrm>
              <a:off x="3500209" y="3748431"/>
              <a:ext cx="1688673" cy="317104"/>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ServerHelloDone</a:t>
              </a:r>
              <a:endParaRPr lang="en-US" sz="900" b="1" dirty="0">
                <a:latin typeface="Courier New" panose="02070309020205020404" pitchFamily="49" charset="0"/>
                <a:cs typeface="Courier New" panose="02070309020205020404" pitchFamily="49" charset="0"/>
              </a:endParaRPr>
            </a:p>
          </p:txBody>
        </p:sp>
      </p:grpSp>
      <p:grpSp>
        <p:nvGrpSpPr>
          <p:cNvPr id="19" name="Group 18">
            <a:extLst>
              <a:ext uri="{FF2B5EF4-FFF2-40B4-BE49-F238E27FC236}">
                <a16:creationId xmlns:a16="http://schemas.microsoft.com/office/drawing/2014/main" id="{FC8828E2-4A00-D0B2-B843-70EE9B239E78}"/>
              </a:ext>
            </a:extLst>
          </p:cNvPr>
          <p:cNvGrpSpPr/>
          <p:nvPr>
            <p:custDataLst>
              <p:tags r:id="rId10"/>
            </p:custDataLst>
          </p:nvPr>
        </p:nvGrpSpPr>
        <p:grpSpPr>
          <a:xfrm>
            <a:off x="2767535" y="3661388"/>
            <a:ext cx="2782708" cy="230832"/>
            <a:chOff x="1366172" y="4148965"/>
            <a:chExt cx="3822710" cy="317102"/>
          </a:xfrm>
        </p:grpSpPr>
        <p:cxnSp>
          <p:nvCxnSpPr>
            <p:cNvPr id="20" name="Straight Arrow Connector 19">
              <a:extLst>
                <a:ext uri="{FF2B5EF4-FFF2-40B4-BE49-F238E27FC236}">
                  <a16:creationId xmlns:a16="http://schemas.microsoft.com/office/drawing/2014/main" id="{8F48F002-6A61-F6BC-8E46-447852BF7752}"/>
                </a:ext>
              </a:extLst>
            </p:cNvPr>
            <p:cNvCxnSpPr>
              <a:cxnSpLocks/>
            </p:cNvCxnSpPr>
            <p:nvPr/>
          </p:nvCxnSpPr>
          <p:spPr>
            <a:xfrm flipV="1">
              <a:off x="1366172" y="4459574"/>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0346774-4A18-6F1A-859A-DBEEE2AF8991}"/>
                </a:ext>
              </a:extLst>
            </p:cNvPr>
            <p:cNvSpPr txBox="1"/>
            <p:nvPr/>
          </p:nvSpPr>
          <p:spPr>
            <a:xfrm>
              <a:off x="1432892" y="4148965"/>
              <a:ext cx="1892358" cy="317102"/>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ClientKeyExchange</a:t>
              </a:r>
              <a:endParaRPr lang="en-US" sz="900" b="1" dirty="0">
                <a:latin typeface="Courier New" panose="02070309020205020404" pitchFamily="49" charset="0"/>
                <a:cs typeface="Courier New" panose="02070309020205020404" pitchFamily="49" charset="0"/>
              </a:endParaRPr>
            </a:p>
          </p:txBody>
        </p:sp>
      </p:grpSp>
      <p:grpSp>
        <p:nvGrpSpPr>
          <p:cNvPr id="22" name="Group 21">
            <a:extLst>
              <a:ext uri="{FF2B5EF4-FFF2-40B4-BE49-F238E27FC236}">
                <a16:creationId xmlns:a16="http://schemas.microsoft.com/office/drawing/2014/main" id="{18B978E6-EED2-EC1A-A842-8F612ACB8EAB}"/>
              </a:ext>
            </a:extLst>
          </p:cNvPr>
          <p:cNvGrpSpPr/>
          <p:nvPr>
            <p:custDataLst>
              <p:tags r:id="rId11"/>
            </p:custDataLst>
          </p:nvPr>
        </p:nvGrpSpPr>
        <p:grpSpPr>
          <a:xfrm>
            <a:off x="2763898" y="3944015"/>
            <a:ext cx="2782708" cy="230832"/>
            <a:chOff x="1361177" y="4567199"/>
            <a:chExt cx="3822710" cy="317102"/>
          </a:xfrm>
        </p:grpSpPr>
        <p:cxnSp>
          <p:nvCxnSpPr>
            <p:cNvPr id="23" name="Straight Arrow Connector 22">
              <a:extLst>
                <a:ext uri="{FF2B5EF4-FFF2-40B4-BE49-F238E27FC236}">
                  <a16:creationId xmlns:a16="http://schemas.microsoft.com/office/drawing/2014/main" id="{04B31F7D-7B38-9B01-B019-44AC2A3CDA26}"/>
                </a:ext>
              </a:extLst>
            </p:cNvPr>
            <p:cNvCxnSpPr>
              <a:cxnSpLocks/>
            </p:cNvCxnSpPr>
            <p:nvPr/>
          </p:nvCxnSpPr>
          <p:spPr>
            <a:xfrm flipV="1">
              <a:off x="1361177" y="4874302"/>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73E719D-0220-E4D6-3671-7257E0ABA30C}"/>
                </a:ext>
              </a:extLst>
            </p:cNvPr>
            <p:cNvSpPr txBox="1"/>
            <p:nvPr/>
          </p:nvSpPr>
          <p:spPr>
            <a:xfrm>
              <a:off x="1432427" y="4567199"/>
              <a:ext cx="1334122" cy="317102"/>
            </a:xfrm>
            <a:prstGeom prst="rect">
              <a:avLst/>
            </a:prstGeom>
            <a:noFill/>
            <a:ln w="19050">
              <a:noFill/>
            </a:ln>
          </p:spPr>
          <p:txBody>
            <a:bodyPr wrap="square" rtlCol="0">
              <a:spAutoFit/>
            </a:bodyPr>
            <a:lstStyle/>
            <a:p>
              <a:r>
                <a:rPr lang="en-US" sz="900" b="1" dirty="0" err="1">
                  <a:solidFill>
                    <a:srgbClr val="C00000"/>
                  </a:solidFill>
                  <a:latin typeface="Courier New" panose="02070309020205020404" pitchFamily="49" charset="0"/>
                  <a:cs typeface="Courier New" panose="02070309020205020404" pitchFamily="49" charset="0"/>
                </a:rPr>
                <a:t>ClientCCS</a:t>
              </a:r>
              <a:endParaRPr lang="en-US" sz="900" b="1" dirty="0">
                <a:solidFill>
                  <a:srgbClr val="C00000"/>
                </a:solidFill>
                <a:latin typeface="Courier New" panose="02070309020205020404" pitchFamily="49" charset="0"/>
                <a:cs typeface="Courier New" panose="02070309020205020404" pitchFamily="49" charset="0"/>
              </a:endParaRPr>
            </a:p>
          </p:txBody>
        </p:sp>
      </p:grpSp>
      <p:grpSp>
        <p:nvGrpSpPr>
          <p:cNvPr id="25" name="Group 24">
            <a:extLst>
              <a:ext uri="{FF2B5EF4-FFF2-40B4-BE49-F238E27FC236}">
                <a16:creationId xmlns:a16="http://schemas.microsoft.com/office/drawing/2014/main" id="{558612D5-B456-5C53-98EE-F913374359C0}"/>
              </a:ext>
            </a:extLst>
          </p:cNvPr>
          <p:cNvGrpSpPr/>
          <p:nvPr>
            <p:custDataLst>
              <p:tags r:id="rId12"/>
            </p:custDataLst>
          </p:nvPr>
        </p:nvGrpSpPr>
        <p:grpSpPr>
          <a:xfrm>
            <a:off x="2771174" y="4206984"/>
            <a:ext cx="2782708" cy="230832"/>
            <a:chOff x="1356182" y="5040884"/>
            <a:chExt cx="3822710" cy="317102"/>
          </a:xfrm>
        </p:grpSpPr>
        <p:cxnSp>
          <p:nvCxnSpPr>
            <p:cNvPr id="26" name="Straight Arrow Connector 25">
              <a:extLst>
                <a:ext uri="{FF2B5EF4-FFF2-40B4-BE49-F238E27FC236}">
                  <a16:creationId xmlns:a16="http://schemas.microsoft.com/office/drawing/2014/main" id="{7831D5AF-4FB8-35B9-4079-6CD1312296E8}"/>
                </a:ext>
              </a:extLst>
            </p:cNvPr>
            <p:cNvCxnSpPr>
              <a:cxnSpLocks/>
            </p:cNvCxnSpPr>
            <p:nvPr/>
          </p:nvCxnSpPr>
          <p:spPr>
            <a:xfrm flipV="1">
              <a:off x="1356182" y="5348987"/>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DED1C44-831C-21A6-4403-5ACBFEE48F45}"/>
                </a:ext>
              </a:extLst>
            </p:cNvPr>
            <p:cNvSpPr txBox="1"/>
            <p:nvPr/>
          </p:nvSpPr>
          <p:spPr>
            <a:xfrm>
              <a:off x="1432427" y="5040884"/>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Finished</a:t>
              </a:r>
            </a:p>
          </p:txBody>
        </p:sp>
      </p:grpSp>
      <p:grpSp>
        <p:nvGrpSpPr>
          <p:cNvPr id="28" name="Group 27">
            <a:extLst>
              <a:ext uri="{FF2B5EF4-FFF2-40B4-BE49-F238E27FC236}">
                <a16:creationId xmlns:a16="http://schemas.microsoft.com/office/drawing/2014/main" id="{5FBC98E3-24F0-8019-0665-D2BE8A91B2BA}"/>
              </a:ext>
            </a:extLst>
          </p:cNvPr>
          <p:cNvGrpSpPr/>
          <p:nvPr>
            <p:custDataLst>
              <p:tags r:id="rId13"/>
            </p:custDataLst>
          </p:nvPr>
        </p:nvGrpSpPr>
        <p:grpSpPr>
          <a:xfrm>
            <a:off x="2765715" y="4485259"/>
            <a:ext cx="2910814" cy="230832"/>
            <a:chOff x="1363672" y="5423164"/>
            <a:chExt cx="3998693" cy="317103"/>
          </a:xfrm>
        </p:grpSpPr>
        <p:cxnSp>
          <p:nvCxnSpPr>
            <p:cNvPr id="29" name="Straight Arrow Connector 28">
              <a:extLst>
                <a:ext uri="{FF2B5EF4-FFF2-40B4-BE49-F238E27FC236}">
                  <a16:creationId xmlns:a16="http://schemas.microsoft.com/office/drawing/2014/main" id="{44A2D0E4-DFB5-13A2-6AD9-E064541B7F46}"/>
                </a:ext>
              </a:extLst>
            </p:cNvPr>
            <p:cNvCxnSpPr>
              <a:cxnSpLocks/>
            </p:cNvCxnSpPr>
            <p:nvPr/>
          </p:nvCxnSpPr>
          <p:spPr>
            <a:xfrm flipH="1">
              <a:off x="1363672" y="5728741"/>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F177A98-D05F-117A-B31A-37CEA63DED52}"/>
                </a:ext>
              </a:extLst>
            </p:cNvPr>
            <p:cNvSpPr txBox="1"/>
            <p:nvPr/>
          </p:nvSpPr>
          <p:spPr>
            <a:xfrm>
              <a:off x="4028244" y="5423164"/>
              <a:ext cx="1334121" cy="317103"/>
            </a:xfrm>
            <a:prstGeom prst="rect">
              <a:avLst/>
            </a:prstGeom>
            <a:noFill/>
            <a:ln w="19050">
              <a:noFill/>
            </a:ln>
          </p:spPr>
          <p:txBody>
            <a:bodyPr wrap="square" rtlCol="0">
              <a:spAutoFit/>
            </a:bodyPr>
            <a:lstStyle/>
            <a:p>
              <a:r>
                <a:rPr lang="en-US" sz="900" b="1" dirty="0" err="1">
                  <a:solidFill>
                    <a:srgbClr val="C00000"/>
                  </a:solidFill>
                  <a:latin typeface="Courier New" panose="02070309020205020404" pitchFamily="49" charset="0"/>
                  <a:cs typeface="Courier New" panose="02070309020205020404" pitchFamily="49" charset="0"/>
                </a:rPr>
                <a:t>ServerCCS</a:t>
              </a:r>
              <a:endParaRPr lang="en-US" sz="900" b="1" dirty="0">
                <a:solidFill>
                  <a:srgbClr val="C00000"/>
                </a:solidFill>
                <a:latin typeface="Courier New" panose="02070309020205020404" pitchFamily="49" charset="0"/>
                <a:cs typeface="Courier New" panose="02070309020205020404" pitchFamily="49" charset="0"/>
              </a:endParaRPr>
            </a:p>
          </p:txBody>
        </p:sp>
      </p:grpSp>
      <p:grpSp>
        <p:nvGrpSpPr>
          <p:cNvPr id="31" name="Group 30">
            <a:extLst>
              <a:ext uri="{FF2B5EF4-FFF2-40B4-BE49-F238E27FC236}">
                <a16:creationId xmlns:a16="http://schemas.microsoft.com/office/drawing/2014/main" id="{88A16CE1-45CC-00D2-CD10-AB3FBAFCC485}"/>
              </a:ext>
            </a:extLst>
          </p:cNvPr>
          <p:cNvGrpSpPr/>
          <p:nvPr>
            <p:custDataLst>
              <p:tags r:id="rId14"/>
            </p:custDataLst>
          </p:nvPr>
        </p:nvGrpSpPr>
        <p:grpSpPr>
          <a:xfrm>
            <a:off x="2765715" y="4761920"/>
            <a:ext cx="3069585" cy="230832"/>
            <a:chOff x="1363672" y="5765731"/>
            <a:chExt cx="4216804" cy="317102"/>
          </a:xfrm>
        </p:grpSpPr>
        <p:cxnSp>
          <p:nvCxnSpPr>
            <p:cNvPr id="32" name="Straight Arrow Connector 31">
              <a:extLst>
                <a:ext uri="{FF2B5EF4-FFF2-40B4-BE49-F238E27FC236}">
                  <a16:creationId xmlns:a16="http://schemas.microsoft.com/office/drawing/2014/main" id="{3F08C6CB-302F-F53B-2C1A-1FE8BE6D3302}"/>
                </a:ext>
              </a:extLst>
            </p:cNvPr>
            <p:cNvCxnSpPr>
              <a:cxnSpLocks/>
            </p:cNvCxnSpPr>
            <p:nvPr/>
          </p:nvCxnSpPr>
          <p:spPr>
            <a:xfrm flipH="1">
              <a:off x="1363672" y="6073514"/>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B981E56-E1D0-D907-5AFD-8A8E16D01C6D}"/>
                </a:ext>
              </a:extLst>
            </p:cNvPr>
            <p:cNvSpPr txBox="1"/>
            <p:nvPr/>
          </p:nvSpPr>
          <p:spPr>
            <a:xfrm>
              <a:off x="4246354" y="5765731"/>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Finished</a:t>
              </a:r>
            </a:p>
          </p:txBody>
        </p:sp>
      </p:grpSp>
      <p:grpSp>
        <p:nvGrpSpPr>
          <p:cNvPr id="34" name="Group 33">
            <a:extLst>
              <a:ext uri="{FF2B5EF4-FFF2-40B4-BE49-F238E27FC236}">
                <a16:creationId xmlns:a16="http://schemas.microsoft.com/office/drawing/2014/main" id="{063A4B3A-4612-77F2-9466-2C44F024745C}"/>
              </a:ext>
            </a:extLst>
          </p:cNvPr>
          <p:cNvGrpSpPr/>
          <p:nvPr>
            <p:custDataLst>
              <p:tags r:id="rId15"/>
            </p:custDataLst>
          </p:nvPr>
        </p:nvGrpSpPr>
        <p:grpSpPr>
          <a:xfrm>
            <a:off x="2765313" y="2551323"/>
            <a:ext cx="2783114" cy="230832"/>
            <a:chOff x="1363119" y="2683984"/>
            <a:chExt cx="3823268" cy="317104"/>
          </a:xfrm>
        </p:grpSpPr>
        <p:grpSp>
          <p:nvGrpSpPr>
            <p:cNvPr id="35" name="Group 34">
              <a:extLst>
                <a:ext uri="{FF2B5EF4-FFF2-40B4-BE49-F238E27FC236}">
                  <a16:creationId xmlns:a16="http://schemas.microsoft.com/office/drawing/2014/main" id="{A6E2818E-4E53-115F-DD97-AF90601A5C82}"/>
                </a:ext>
              </a:extLst>
            </p:cNvPr>
            <p:cNvGrpSpPr/>
            <p:nvPr/>
          </p:nvGrpSpPr>
          <p:grpSpPr>
            <a:xfrm>
              <a:off x="1363119" y="2683984"/>
              <a:ext cx="3816544" cy="317104"/>
              <a:chOff x="1364105" y="2685706"/>
              <a:chExt cx="3816544" cy="317104"/>
            </a:xfrm>
          </p:grpSpPr>
          <p:cxnSp>
            <p:nvCxnSpPr>
              <p:cNvPr id="37" name="Straight Arrow Connector 36">
                <a:extLst>
                  <a:ext uri="{FF2B5EF4-FFF2-40B4-BE49-F238E27FC236}">
                    <a16:creationId xmlns:a16="http://schemas.microsoft.com/office/drawing/2014/main" id="{3D901852-D696-2174-5F06-B4AE32D62720}"/>
                  </a:ext>
                </a:extLst>
              </p:cNvPr>
              <p:cNvCxnSpPr>
                <a:cxnSpLocks/>
              </p:cNvCxnSpPr>
              <p:nvPr/>
            </p:nvCxnSpPr>
            <p:spPr>
              <a:xfrm>
                <a:off x="1364105" y="2990538"/>
                <a:ext cx="3816544"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EDD674-C79C-514F-6F9F-28F19CB4A8E4}"/>
                  </a:ext>
                </a:extLst>
              </p:cNvPr>
              <p:cNvSpPr txBox="1"/>
              <p:nvPr/>
            </p:nvSpPr>
            <p:spPr>
              <a:xfrm>
                <a:off x="1432426" y="2685706"/>
                <a:ext cx="1334120" cy="317104"/>
              </a:xfrm>
              <a:prstGeom prst="rect">
                <a:avLst/>
              </a:prstGeom>
              <a:noFill/>
              <a:ln>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ClientHello</a:t>
                </a:r>
                <a:endParaRPr lang="en-US" sz="900" b="1" dirty="0">
                  <a:latin typeface="Courier New" panose="02070309020205020404" pitchFamily="49" charset="0"/>
                  <a:cs typeface="Courier New" panose="02070309020205020404" pitchFamily="49" charset="0"/>
                </a:endParaRPr>
              </a:p>
            </p:txBody>
          </p:sp>
        </p:grpSp>
        <p:cxnSp>
          <p:nvCxnSpPr>
            <p:cNvPr id="36" name="Straight Arrow Connector 35">
              <a:extLst>
                <a:ext uri="{FF2B5EF4-FFF2-40B4-BE49-F238E27FC236}">
                  <a16:creationId xmlns:a16="http://schemas.microsoft.com/office/drawing/2014/main" id="{12CAE9C8-036A-DCD9-CCEC-6F2EA6F81C93}"/>
                </a:ext>
              </a:extLst>
            </p:cNvPr>
            <p:cNvCxnSpPr>
              <a:cxnSpLocks/>
            </p:cNvCxnSpPr>
            <p:nvPr/>
          </p:nvCxnSpPr>
          <p:spPr>
            <a:xfrm flipV="1">
              <a:off x="1363677" y="2988041"/>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D5DF84AB-D8E6-41FF-3822-2B7A2781B3FA}"/>
              </a:ext>
            </a:extLst>
          </p:cNvPr>
          <p:cNvGrpSpPr/>
          <p:nvPr>
            <p:custDataLst>
              <p:tags r:id="rId16"/>
            </p:custDataLst>
          </p:nvPr>
        </p:nvGrpSpPr>
        <p:grpSpPr>
          <a:xfrm>
            <a:off x="2753188" y="5016278"/>
            <a:ext cx="2807406" cy="230832"/>
            <a:chOff x="1503853" y="5875907"/>
            <a:chExt cx="3856639" cy="317103"/>
          </a:xfrm>
        </p:grpSpPr>
        <p:cxnSp>
          <p:nvCxnSpPr>
            <p:cNvPr id="40" name="Straight Arrow Connector 39">
              <a:extLst>
                <a:ext uri="{FF2B5EF4-FFF2-40B4-BE49-F238E27FC236}">
                  <a16:creationId xmlns:a16="http://schemas.microsoft.com/office/drawing/2014/main" id="{EB2F1C3F-6924-BB50-74BE-EF684EAF82B8}"/>
                </a:ext>
              </a:extLst>
            </p:cNvPr>
            <p:cNvCxnSpPr>
              <a:cxnSpLocks/>
            </p:cNvCxnSpPr>
            <p:nvPr/>
          </p:nvCxnSpPr>
          <p:spPr>
            <a:xfrm>
              <a:off x="1503853" y="6192000"/>
              <a:ext cx="3856639"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342A550-A727-D2A6-1A05-F2771DB12C4B}"/>
                </a:ext>
              </a:extLst>
            </p:cNvPr>
            <p:cNvSpPr txBox="1"/>
            <p:nvPr/>
          </p:nvSpPr>
          <p:spPr>
            <a:xfrm>
              <a:off x="2599435" y="5875907"/>
              <a:ext cx="2193136" cy="317103"/>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Application Data</a:t>
              </a:r>
            </a:p>
          </p:txBody>
        </p:sp>
      </p:grpSp>
      <p:sp>
        <p:nvSpPr>
          <p:cNvPr id="42" name="Left Brace 41">
            <a:extLst>
              <a:ext uri="{FF2B5EF4-FFF2-40B4-BE49-F238E27FC236}">
                <a16:creationId xmlns:a16="http://schemas.microsoft.com/office/drawing/2014/main" id="{94237E25-59D0-FB61-1BE6-402CA3FA6F61}"/>
              </a:ext>
            </a:extLst>
          </p:cNvPr>
          <p:cNvSpPr/>
          <p:nvPr>
            <p:custDataLst>
              <p:tags r:id="rId17"/>
            </p:custDataLst>
          </p:nvPr>
        </p:nvSpPr>
        <p:spPr>
          <a:xfrm flipH="1">
            <a:off x="5571252" y="2820091"/>
            <a:ext cx="316114" cy="763850"/>
          </a:xfrm>
          <a:prstGeom prst="leftBrace">
            <a:avLst>
              <a:gd name="adj1" fmla="val 8333"/>
              <a:gd name="adj2" fmla="val 54085"/>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3" name="Left Brace 42">
            <a:extLst>
              <a:ext uri="{FF2B5EF4-FFF2-40B4-BE49-F238E27FC236}">
                <a16:creationId xmlns:a16="http://schemas.microsoft.com/office/drawing/2014/main" id="{554D7ECC-D38F-8286-E7AB-5561E19E6027}"/>
              </a:ext>
            </a:extLst>
          </p:cNvPr>
          <p:cNvSpPr/>
          <p:nvPr>
            <p:custDataLst>
              <p:tags r:id="rId18"/>
            </p:custDataLst>
          </p:nvPr>
        </p:nvSpPr>
        <p:spPr>
          <a:xfrm flipH="1">
            <a:off x="5585865" y="4475387"/>
            <a:ext cx="249436" cy="510569"/>
          </a:xfrm>
          <a:prstGeom prst="leftBrace">
            <a:avLst>
              <a:gd name="adj1" fmla="val 8333"/>
              <a:gd name="adj2" fmla="val 4959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4" name="Left Brace 43">
            <a:extLst>
              <a:ext uri="{FF2B5EF4-FFF2-40B4-BE49-F238E27FC236}">
                <a16:creationId xmlns:a16="http://schemas.microsoft.com/office/drawing/2014/main" id="{7737CA82-76D0-2BD1-7408-5F1FF438C42A}"/>
              </a:ext>
            </a:extLst>
          </p:cNvPr>
          <p:cNvSpPr/>
          <p:nvPr>
            <p:custDataLst>
              <p:tags r:id="rId19"/>
            </p:custDataLst>
          </p:nvPr>
        </p:nvSpPr>
        <p:spPr>
          <a:xfrm>
            <a:off x="2439442" y="3705215"/>
            <a:ext cx="272006" cy="647587"/>
          </a:xfrm>
          <a:prstGeom prst="leftBrace">
            <a:avLst>
              <a:gd name="adj1" fmla="val 8333"/>
              <a:gd name="adj2" fmla="val 4772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5" name="Left Brace 44">
            <a:extLst>
              <a:ext uri="{FF2B5EF4-FFF2-40B4-BE49-F238E27FC236}">
                <a16:creationId xmlns:a16="http://schemas.microsoft.com/office/drawing/2014/main" id="{51D3EAED-E702-0A9C-CE11-6F774AF29D92}"/>
              </a:ext>
            </a:extLst>
          </p:cNvPr>
          <p:cNvSpPr/>
          <p:nvPr>
            <p:custDataLst>
              <p:tags r:id="rId20"/>
            </p:custDataLst>
          </p:nvPr>
        </p:nvSpPr>
        <p:spPr>
          <a:xfrm>
            <a:off x="2455131" y="2569281"/>
            <a:ext cx="272006" cy="203380"/>
          </a:xfrm>
          <a:prstGeom prst="leftBrace">
            <a:avLst>
              <a:gd name="adj1" fmla="val 8333"/>
              <a:gd name="adj2" fmla="val 44899"/>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3140102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8343708"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CCS Message (TLS 1.2)</a:t>
            </a:r>
            <a:endParaRPr lang="en-US" sz="4000" dirty="0">
              <a:solidFill>
                <a:schemeClr val="bg1"/>
              </a:solidFill>
              <a:latin typeface="Playfair Display Medium" pitchFamily="2" charset="77"/>
            </a:endParaRPr>
          </a:p>
        </p:txBody>
      </p:sp>
      <p:pic>
        <p:nvPicPr>
          <p:cNvPr id="6" name="Content Placeholder 6" descr="A picture containing cup, coffee, sitting, microwave&#10;&#10;Description automatically generated">
            <a:extLst>
              <a:ext uri="{FF2B5EF4-FFF2-40B4-BE49-F238E27FC236}">
                <a16:creationId xmlns:a16="http://schemas.microsoft.com/office/drawing/2014/main" id="{CEBC4848-676F-D0FA-13FA-AAC0A72BD30C}"/>
              </a:ext>
            </a:extLst>
          </p:cNvPr>
          <p:cNvPicPr>
            <a:picLocks noGrp="1" noChangeAspect="1"/>
          </p:cNvPicPr>
          <p:nvPr>
            <p:ph idx="1"/>
            <p:custDataLst>
              <p:tags r:id="rId3"/>
            </p:custDataLst>
          </p:nvPr>
        </p:nvPicPr>
        <p:blipFill>
          <a:blip r:embed="rId24" cstate="print">
            <a:extLst>
              <a:ext uri="{28A0092B-C50C-407E-A947-70E740481C1C}">
                <a14:useLocalDpi xmlns:a14="http://schemas.microsoft.com/office/drawing/2010/main" val="0"/>
              </a:ext>
            </a:extLst>
          </a:blip>
          <a:stretch>
            <a:fillRect/>
          </a:stretch>
        </p:blipFill>
        <p:spPr>
          <a:xfrm>
            <a:off x="5324340" y="2012310"/>
            <a:ext cx="439822" cy="439822"/>
          </a:xfrm>
        </p:spPr>
      </p:pic>
      <p:pic>
        <p:nvPicPr>
          <p:cNvPr id="7" name="Picture 6" descr="A picture containing photo, sitting, monitor, table&#10;&#10;Description generated with very high confidence">
            <a:extLst>
              <a:ext uri="{FF2B5EF4-FFF2-40B4-BE49-F238E27FC236}">
                <a16:creationId xmlns:a16="http://schemas.microsoft.com/office/drawing/2014/main" id="{A006079A-66ED-D39E-CE9F-4CE87CD676F4}"/>
              </a:ext>
            </a:extLst>
          </p:cNvPr>
          <p:cNvPicPr>
            <a:picLocks noChangeAspect="1"/>
          </p:cNvPicPr>
          <p:nvPr>
            <p:custDataLst>
              <p:tags r:id="rId4"/>
            </p:custDataLst>
          </p:nvPr>
        </p:nvPicPr>
        <p:blipFill>
          <a:blip r:embed="rId25"/>
          <a:stretch>
            <a:fillRect/>
          </a:stretch>
        </p:blipFill>
        <p:spPr>
          <a:xfrm>
            <a:off x="2536297" y="2012310"/>
            <a:ext cx="459150" cy="504158"/>
          </a:xfrm>
          <a:prstGeom prst="rect">
            <a:avLst/>
          </a:prstGeom>
        </p:spPr>
      </p:pic>
      <p:cxnSp>
        <p:nvCxnSpPr>
          <p:cNvPr id="8" name="Straight Connector 7">
            <a:extLst>
              <a:ext uri="{FF2B5EF4-FFF2-40B4-BE49-F238E27FC236}">
                <a16:creationId xmlns:a16="http://schemas.microsoft.com/office/drawing/2014/main" id="{248B61B7-FDB0-99BB-DCCC-804B486BE64D}"/>
              </a:ext>
            </a:extLst>
          </p:cNvPr>
          <p:cNvCxnSpPr>
            <a:cxnSpLocks/>
          </p:cNvCxnSpPr>
          <p:nvPr>
            <p:custDataLst>
              <p:tags r:id="rId5"/>
            </p:custDataLst>
          </p:nvPr>
        </p:nvCxnSpPr>
        <p:spPr>
          <a:xfrm flipV="1">
            <a:off x="2753187" y="2498201"/>
            <a:ext cx="4018" cy="30049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E9273D6-8E4B-DB34-3882-8E015CA2D113}"/>
              </a:ext>
            </a:extLst>
          </p:cNvPr>
          <p:cNvCxnSpPr>
            <a:cxnSpLocks/>
          </p:cNvCxnSpPr>
          <p:nvPr>
            <p:custDataLst>
              <p:tags r:id="rId6"/>
            </p:custDataLst>
          </p:nvPr>
        </p:nvCxnSpPr>
        <p:spPr>
          <a:xfrm flipH="1" flipV="1">
            <a:off x="5550243" y="2452818"/>
            <a:ext cx="3640" cy="301369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73208327-1BE6-5C5B-8BDF-1D60FD7C92D5}"/>
              </a:ext>
            </a:extLst>
          </p:cNvPr>
          <p:cNvGrpSpPr/>
          <p:nvPr>
            <p:custDataLst>
              <p:tags r:id="rId7"/>
            </p:custDataLst>
          </p:nvPr>
        </p:nvGrpSpPr>
        <p:grpSpPr>
          <a:xfrm>
            <a:off x="2765715" y="2837085"/>
            <a:ext cx="2892241" cy="230832"/>
            <a:chOff x="1363672" y="3016578"/>
            <a:chExt cx="3973179" cy="317102"/>
          </a:xfrm>
        </p:grpSpPr>
        <p:cxnSp>
          <p:nvCxnSpPr>
            <p:cNvPr id="11" name="Straight Arrow Connector 10">
              <a:extLst>
                <a:ext uri="{FF2B5EF4-FFF2-40B4-BE49-F238E27FC236}">
                  <a16:creationId xmlns:a16="http://schemas.microsoft.com/office/drawing/2014/main" id="{D73EF221-E130-842B-3452-78B325290BB0}"/>
                </a:ext>
              </a:extLst>
            </p:cNvPr>
            <p:cNvCxnSpPr>
              <a:cxnSpLocks/>
            </p:cNvCxnSpPr>
            <p:nvPr/>
          </p:nvCxnSpPr>
          <p:spPr>
            <a:xfrm flipH="1">
              <a:off x="1363672" y="3327816"/>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C9BD497-33B8-F86B-FFEB-3EBB866EA602}"/>
                </a:ext>
              </a:extLst>
            </p:cNvPr>
            <p:cNvSpPr txBox="1"/>
            <p:nvPr/>
          </p:nvSpPr>
          <p:spPr>
            <a:xfrm>
              <a:off x="4002730" y="3016578"/>
              <a:ext cx="1334121" cy="317102"/>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ServerHello</a:t>
              </a:r>
              <a:endParaRPr lang="en-US" sz="900" b="1" dirty="0">
                <a:latin typeface="Courier New" panose="02070309020205020404" pitchFamily="49" charset="0"/>
                <a:cs typeface="Courier New" panose="02070309020205020404" pitchFamily="49" charset="0"/>
              </a:endParaRPr>
            </a:p>
          </p:txBody>
        </p:sp>
      </p:grpSp>
      <p:grpSp>
        <p:nvGrpSpPr>
          <p:cNvPr id="13" name="Group 12">
            <a:extLst>
              <a:ext uri="{FF2B5EF4-FFF2-40B4-BE49-F238E27FC236}">
                <a16:creationId xmlns:a16="http://schemas.microsoft.com/office/drawing/2014/main" id="{110E2F94-4BDF-0C10-4E15-C401338D5EED}"/>
              </a:ext>
            </a:extLst>
          </p:cNvPr>
          <p:cNvGrpSpPr/>
          <p:nvPr>
            <p:custDataLst>
              <p:tags r:id="rId8"/>
            </p:custDataLst>
          </p:nvPr>
        </p:nvGrpSpPr>
        <p:grpSpPr>
          <a:xfrm>
            <a:off x="2767534" y="3119671"/>
            <a:ext cx="2933504" cy="230832"/>
            <a:chOff x="1366172" y="3382302"/>
            <a:chExt cx="4029864" cy="317102"/>
          </a:xfrm>
        </p:grpSpPr>
        <p:cxnSp>
          <p:nvCxnSpPr>
            <p:cNvPr id="14" name="Straight Arrow Connector 13">
              <a:extLst>
                <a:ext uri="{FF2B5EF4-FFF2-40B4-BE49-F238E27FC236}">
                  <a16:creationId xmlns:a16="http://schemas.microsoft.com/office/drawing/2014/main" id="{BB6EA6E2-F909-A4E9-C0D4-E15D5E9D70F3}"/>
                </a:ext>
              </a:extLst>
            </p:cNvPr>
            <p:cNvCxnSpPr>
              <a:cxnSpLocks/>
            </p:cNvCxnSpPr>
            <p:nvPr/>
          </p:nvCxnSpPr>
          <p:spPr>
            <a:xfrm flipH="1">
              <a:off x="1366172" y="3690076"/>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51854B-D12B-1089-C524-AC42B0FA5F80}"/>
                </a:ext>
              </a:extLst>
            </p:cNvPr>
            <p:cNvSpPr txBox="1"/>
            <p:nvPr/>
          </p:nvSpPr>
          <p:spPr>
            <a:xfrm>
              <a:off x="4061914" y="3382302"/>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Certificate</a:t>
              </a:r>
            </a:p>
          </p:txBody>
        </p:sp>
      </p:grpSp>
      <p:grpSp>
        <p:nvGrpSpPr>
          <p:cNvPr id="16" name="Group 15">
            <a:extLst>
              <a:ext uri="{FF2B5EF4-FFF2-40B4-BE49-F238E27FC236}">
                <a16:creationId xmlns:a16="http://schemas.microsoft.com/office/drawing/2014/main" id="{74CC26CF-7DEE-6E07-29B6-C43A8A294C37}"/>
              </a:ext>
            </a:extLst>
          </p:cNvPr>
          <p:cNvGrpSpPr/>
          <p:nvPr>
            <p:custDataLst>
              <p:tags r:id="rId9"/>
            </p:custDataLst>
          </p:nvPr>
        </p:nvGrpSpPr>
        <p:grpSpPr>
          <a:xfrm>
            <a:off x="2762080" y="3397104"/>
            <a:ext cx="2788164" cy="230832"/>
            <a:chOff x="1358677" y="3748431"/>
            <a:chExt cx="3830205" cy="317104"/>
          </a:xfrm>
        </p:grpSpPr>
        <p:cxnSp>
          <p:nvCxnSpPr>
            <p:cNvPr id="17" name="Straight Arrow Connector 16">
              <a:extLst>
                <a:ext uri="{FF2B5EF4-FFF2-40B4-BE49-F238E27FC236}">
                  <a16:creationId xmlns:a16="http://schemas.microsoft.com/office/drawing/2014/main" id="{B536AB6A-92E4-696C-3388-5BFB3998E05F}"/>
                </a:ext>
              </a:extLst>
            </p:cNvPr>
            <p:cNvCxnSpPr>
              <a:cxnSpLocks/>
            </p:cNvCxnSpPr>
            <p:nvPr/>
          </p:nvCxnSpPr>
          <p:spPr>
            <a:xfrm flipH="1">
              <a:off x="1358677" y="4057332"/>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E420CE9-0702-8686-24E3-1E6A89D02E11}"/>
                </a:ext>
              </a:extLst>
            </p:cNvPr>
            <p:cNvSpPr txBox="1"/>
            <p:nvPr/>
          </p:nvSpPr>
          <p:spPr>
            <a:xfrm>
              <a:off x="3500209" y="3748431"/>
              <a:ext cx="1688673" cy="317104"/>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ServerHelloDone</a:t>
              </a:r>
              <a:endParaRPr lang="en-US" sz="900" b="1" dirty="0">
                <a:latin typeface="Courier New" panose="02070309020205020404" pitchFamily="49" charset="0"/>
                <a:cs typeface="Courier New" panose="02070309020205020404" pitchFamily="49" charset="0"/>
              </a:endParaRPr>
            </a:p>
          </p:txBody>
        </p:sp>
      </p:grpSp>
      <p:grpSp>
        <p:nvGrpSpPr>
          <p:cNvPr id="19" name="Group 18">
            <a:extLst>
              <a:ext uri="{FF2B5EF4-FFF2-40B4-BE49-F238E27FC236}">
                <a16:creationId xmlns:a16="http://schemas.microsoft.com/office/drawing/2014/main" id="{FC8828E2-4A00-D0B2-B843-70EE9B239E78}"/>
              </a:ext>
            </a:extLst>
          </p:cNvPr>
          <p:cNvGrpSpPr/>
          <p:nvPr>
            <p:custDataLst>
              <p:tags r:id="rId10"/>
            </p:custDataLst>
          </p:nvPr>
        </p:nvGrpSpPr>
        <p:grpSpPr>
          <a:xfrm>
            <a:off x="2767535" y="3661388"/>
            <a:ext cx="2782708" cy="230832"/>
            <a:chOff x="1366172" y="4148965"/>
            <a:chExt cx="3822710" cy="317102"/>
          </a:xfrm>
        </p:grpSpPr>
        <p:cxnSp>
          <p:nvCxnSpPr>
            <p:cNvPr id="20" name="Straight Arrow Connector 19">
              <a:extLst>
                <a:ext uri="{FF2B5EF4-FFF2-40B4-BE49-F238E27FC236}">
                  <a16:creationId xmlns:a16="http://schemas.microsoft.com/office/drawing/2014/main" id="{8F48F002-6A61-F6BC-8E46-447852BF7752}"/>
                </a:ext>
              </a:extLst>
            </p:cNvPr>
            <p:cNvCxnSpPr>
              <a:cxnSpLocks/>
            </p:cNvCxnSpPr>
            <p:nvPr/>
          </p:nvCxnSpPr>
          <p:spPr>
            <a:xfrm flipV="1">
              <a:off x="1366172" y="4459574"/>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0346774-4A18-6F1A-859A-DBEEE2AF8991}"/>
                </a:ext>
              </a:extLst>
            </p:cNvPr>
            <p:cNvSpPr txBox="1"/>
            <p:nvPr/>
          </p:nvSpPr>
          <p:spPr>
            <a:xfrm>
              <a:off x="1432892" y="4148965"/>
              <a:ext cx="1892358" cy="317102"/>
            </a:xfrm>
            <a:prstGeom prst="rect">
              <a:avLst/>
            </a:prstGeom>
            <a:noFill/>
            <a:ln w="19050">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ClientKeyExchange</a:t>
              </a:r>
              <a:endParaRPr lang="en-US" sz="900" b="1" dirty="0">
                <a:latin typeface="Courier New" panose="02070309020205020404" pitchFamily="49" charset="0"/>
                <a:cs typeface="Courier New" panose="02070309020205020404" pitchFamily="49" charset="0"/>
              </a:endParaRPr>
            </a:p>
          </p:txBody>
        </p:sp>
      </p:grpSp>
      <p:grpSp>
        <p:nvGrpSpPr>
          <p:cNvPr id="22" name="Group 21">
            <a:extLst>
              <a:ext uri="{FF2B5EF4-FFF2-40B4-BE49-F238E27FC236}">
                <a16:creationId xmlns:a16="http://schemas.microsoft.com/office/drawing/2014/main" id="{18B978E6-EED2-EC1A-A842-8F612ACB8EAB}"/>
              </a:ext>
            </a:extLst>
          </p:cNvPr>
          <p:cNvGrpSpPr/>
          <p:nvPr>
            <p:custDataLst>
              <p:tags r:id="rId11"/>
            </p:custDataLst>
          </p:nvPr>
        </p:nvGrpSpPr>
        <p:grpSpPr>
          <a:xfrm>
            <a:off x="2763898" y="3944015"/>
            <a:ext cx="2782708" cy="230832"/>
            <a:chOff x="1361177" y="4567199"/>
            <a:chExt cx="3822710" cy="317102"/>
          </a:xfrm>
        </p:grpSpPr>
        <p:cxnSp>
          <p:nvCxnSpPr>
            <p:cNvPr id="23" name="Straight Arrow Connector 22">
              <a:extLst>
                <a:ext uri="{FF2B5EF4-FFF2-40B4-BE49-F238E27FC236}">
                  <a16:creationId xmlns:a16="http://schemas.microsoft.com/office/drawing/2014/main" id="{04B31F7D-7B38-9B01-B019-44AC2A3CDA26}"/>
                </a:ext>
              </a:extLst>
            </p:cNvPr>
            <p:cNvCxnSpPr>
              <a:cxnSpLocks/>
            </p:cNvCxnSpPr>
            <p:nvPr/>
          </p:nvCxnSpPr>
          <p:spPr>
            <a:xfrm flipV="1">
              <a:off x="1361177" y="4874302"/>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73E719D-0220-E4D6-3671-7257E0ABA30C}"/>
                </a:ext>
              </a:extLst>
            </p:cNvPr>
            <p:cNvSpPr txBox="1"/>
            <p:nvPr/>
          </p:nvSpPr>
          <p:spPr>
            <a:xfrm>
              <a:off x="1432427" y="4567199"/>
              <a:ext cx="1334122" cy="317102"/>
            </a:xfrm>
            <a:prstGeom prst="rect">
              <a:avLst/>
            </a:prstGeom>
            <a:noFill/>
            <a:ln w="19050">
              <a:noFill/>
            </a:ln>
          </p:spPr>
          <p:txBody>
            <a:bodyPr wrap="square" rtlCol="0">
              <a:spAutoFit/>
            </a:bodyPr>
            <a:lstStyle/>
            <a:p>
              <a:r>
                <a:rPr lang="en-US" sz="900" b="1" dirty="0" err="1">
                  <a:solidFill>
                    <a:srgbClr val="C00000"/>
                  </a:solidFill>
                  <a:latin typeface="Courier New" panose="02070309020205020404" pitchFamily="49" charset="0"/>
                  <a:cs typeface="Courier New" panose="02070309020205020404" pitchFamily="49" charset="0"/>
                </a:rPr>
                <a:t>ClientCCS</a:t>
              </a:r>
              <a:endParaRPr lang="en-US" sz="900" b="1" dirty="0">
                <a:solidFill>
                  <a:srgbClr val="C00000"/>
                </a:solidFill>
                <a:latin typeface="Courier New" panose="02070309020205020404" pitchFamily="49" charset="0"/>
                <a:cs typeface="Courier New" panose="02070309020205020404" pitchFamily="49" charset="0"/>
              </a:endParaRPr>
            </a:p>
          </p:txBody>
        </p:sp>
      </p:grpSp>
      <p:grpSp>
        <p:nvGrpSpPr>
          <p:cNvPr id="25" name="Group 24">
            <a:extLst>
              <a:ext uri="{FF2B5EF4-FFF2-40B4-BE49-F238E27FC236}">
                <a16:creationId xmlns:a16="http://schemas.microsoft.com/office/drawing/2014/main" id="{558612D5-B456-5C53-98EE-F913374359C0}"/>
              </a:ext>
            </a:extLst>
          </p:cNvPr>
          <p:cNvGrpSpPr/>
          <p:nvPr>
            <p:custDataLst>
              <p:tags r:id="rId12"/>
            </p:custDataLst>
          </p:nvPr>
        </p:nvGrpSpPr>
        <p:grpSpPr>
          <a:xfrm>
            <a:off x="2771174" y="4206984"/>
            <a:ext cx="2782708" cy="230832"/>
            <a:chOff x="1356182" y="5040884"/>
            <a:chExt cx="3822710" cy="317102"/>
          </a:xfrm>
        </p:grpSpPr>
        <p:cxnSp>
          <p:nvCxnSpPr>
            <p:cNvPr id="26" name="Straight Arrow Connector 25">
              <a:extLst>
                <a:ext uri="{FF2B5EF4-FFF2-40B4-BE49-F238E27FC236}">
                  <a16:creationId xmlns:a16="http://schemas.microsoft.com/office/drawing/2014/main" id="{7831D5AF-4FB8-35B9-4079-6CD1312296E8}"/>
                </a:ext>
              </a:extLst>
            </p:cNvPr>
            <p:cNvCxnSpPr>
              <a:cxnSpLocks/>
            </p:cNvCxnSpPr>
            <p:nvPr/>
          </p:nvCxnSpPr>
          <p:spPr>
            <a:xfrm flipV="1">
              <a:off x="1356182" y="5348987"/>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DED1C44-831C-21A6-4403-5ACBFEE48F45}"/>
                </a:ext>
              </a:extLst>
            </p:cNvPr>
            <p:cNvSpPr txBox="1"/>
            <p:nvPr/>
          </p:nvSpPr>
          <p:spPr>
            <a:xfrm>
              <a:off x="1432427" y="5040884"/>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Finished</a:t>
              </a:r>
            </a:p>
          </p:txBody>
        </p:sp>
      </p:grpSp>
      <p:grpSp>
        <p:nvGrpSpPr>
          <p:cNvPr id="28" name="Group 27">
            <a:extLst>
              <a:ext uri="{FF2B5EF4-FFF2-40B4-BE49-F238E27FC236}">
                <a16:creationId xmlns:a16="http://schemas.microsoft.com/office/drawing/2014/main" id="{5FBC98E3-24F0-8019-0665-D2BE8A91B2BA}"/>
              </a:ext>
            </a:extLst>
          </p:cNvPr>
          <p:cNvGrpSpPr/>
          <p:nvPr>
            <p:custDataLst>
              <p:tags r:id="rId13"/>
            </p:custDataLst>
          </p:nvPr>
        </p:nvGrpSpPr>
        <p:grpSpPr>
          <a:xfrm>
            <a:off x="2765715" y="4485259"/>
            <a:ext cx="2910814" cy="230832"/>
            <a:chOff x="1363672" y="5423164"/>
            <a:chExt cx="3998693" cy="317103"/>
          </a:xfrm>
        </p:grpSpPr>
        <p:cxnSp>
          <p:nvCxnSpPr>
            <p:cNvPr id="29" name="Straight Arrow Connector 28">
              <a:extLst>
                <a:ext uri="{FF2B5EF4-FFF2-40B4-BE49-F238E27FC236}">
                  <a16:creationId xmlns:a16="http://schemas.microsoft.com/office/drawing/2014/main" id="{44A2D0E4-DFB5-13A2-6AD9-E064541B7F46}"/>
                </a:ext>
              </a:extLst>
            </p:cNvPr>
            <p:cNvCxnSpPr>
              <a:cxnSpLocks/>
            </p:cNvCxnSpPr>
            <p:nvPr/>
          </p:nvCxnSpPr>
          <p:spPr>
            <a:xfrm flipH="1">
              <a:off x="1363672" y="5728741"/>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F177A98-D05F-117A-B31A-37CEA63DED52}"/>
                </a:ext>
              </a:extLst>
            </p:cNvPr>
            <p:cNvSpPr txBox="1"/>
            <p:nvPr/>
          </p:nvSpPr>
          <p:spPr>
            <a:xfrm>
              <a:off x="4028244" y="5423164"/>
              <a:ext cx="1334121" cy="317103"/>
            </a:xfrm>
            <a:prstGeom prst="rect">
              <a:avLst/>
            </a:prstGeom>
            <a:noFill/>
            <a:ln w="19050">
              <a:noFill/>
            </a:ln>
          </p:spPr>
          <p:txBody>
            <a:bodyPr wrap="square" rtlCol="0">
              <a:spAutoFit/>
            </a:bodyPr>
            <a:lstStyle/>
            <a:p>
              <a:r>
                <a:rPr lang="en-US" sz="900" b="1" dirty="0" err="1">
                  <a:solidFill>
                    <a:srgbClr val="C00000"/>
                  </a:solidFill>
                  <a:latin typeface="Courier New" panose="02070309020205020404" pitchFamily="49" charset="0"/>
                  <a:cs typeface="Courier New" panose="02070309020205020404" pitchFamily="49" charset="0"/>
                </a:rPr>
                <a:t>ServerCCS</a:t>
              </a:r>
              <a:endParaRPr lang="en-US" sz="900" b="1" dirty="0">
                <a:solidFill>
                  <a:srgbClr val="C00000"/>
                </a:solidFill>
                <a:latin typeface="Courier New" panose="02070309020205020404" pitchFamily="49" charset="0"/>
                <a:cs typeface="Courier New" panose="02070309020205020404" pitchFamily="49" charset="0"/>
              </a:endParaRPr>
            </a:p>
          </p:txBody>
        </p:sp>
      </p:grpSp>
      <p:grpSp>
        <p:nvGrpSpPr>
          <p:cNvPr id="31" name="Group 30">
            <a:extLst>
              <a:ext uri="{FF2B5EF4-FFF2-40B4-BE49-F238E27FC236}">
                <a16:creationId xmlns:a16="http://schemas.microsoft.com/office/drawing/2014/main" id="{88A16CE1-45CC-00D2-CD10-AB3FBAFCC485}"/>
              </a:ext>
            </a:extLst>
          </p:cNvPr>
          <p:cNvGrpSpPr/>
          <p:nvPr>
            <p:custDataLst>
              <p:tags r:id="rId14"/>
            </p:custDataLst>
          </p:nvPr>
        </p:nvGrpSpPr>
        <p:grpSpPr>
          <a:xfrm>
            <a:off x="2765715" y="4761920"/>
            <a:ext cx="3069585" cy="230832"/>
            <a:chOff x="1363672" y="5765731"/>
            <a:chExt cx="4216804" cy="317102"/>
          </a:xfrm>
        </p:grpSpPr>
        <p:cxnSp>
          <p:nvCxnSpPr>
            <p:cNvPr id="32" name="Straight Arrow Connector 31">
              <a:extLst>
                <a:ext uri="{FF2B5EF4-FFF2-40B4-BE49-F238E27FC236}">
                  <a16:creationId xmlns:a16="http://schemas.microsoft.com/office/drawing/2014/main" id="{3F08C6CB-302F-F53B-2C1A-1FE8BE6D3302}"/>
                </a:ext>
              </a:extLst>
            </p:cNvPr>
            <p:cNvCxnSpPr>
              <a:cxnSpLocks/>
            </p:cNvCxnSpPr>
            <p:nvPr/>
          </p:nvCxnSpPr>
          <p:spPr>
            <a:xfrm flipH="1">
              <a:off x="1363672" y="6073514"/>
              <a:ext cx="382521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B981E56-E1D0-D907-5AFD-8A8E16D01C6D}"/>
                </a:ext>
              </a:extLst>
            </p:cNvPr>
            <p:cNvSpPr txBox="1"/>
            <p:nvPr/>
          </p:nvSpPr>
          <p:spPr>
            <a:xfrm>
              <a:off x="4246354" y="5765731"/>
              <a:ext cx="1334122" cy="317102"/>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Finished</a:t>
              </a:r>
            </a:p>
          </p:txBody>
        </p:sp>
      </p:grpSp>
      <p:grpSp>
        <p:nvGrpSpPr>
          <p:cNvPr id="34" name="Group 33">
            <a:extLst>
              <a:ext uri="{FF2B5EF4-FFF2-40B4-BE49-F238E27FC236}">
                <a16:creationId xmlns:a16="http://schemas.microsoft.com/office/drawing/2014/main" id="{063A4B3A-4612-77F2-9466-2C44F024745C}"/>
              </a:ext>
            </a:extLst>
          </p:cNvPr>
          <p:cNvGrpSpPr/>
          <p:nvPr>
            <p:custDataLst>
              <p:tags r:id="rId15"/>
            </p:custDataLst>
          </p:nvPr>
        </p:nvGrpSpPr>
        <p:grpSpPr>
          <a:xfrm>
            <a:off x="2765313" y="2551323"/>
            <a:ext cx="2783114" cy="230832"/>
            <a:chOff x="1363119" y="2683984"/>
            <a:chExt cx="3823268" cy="317104"/>
          </a:xfrm>
        </p:grpSpPr>
        <p:grpSp>
          <p:nvGrpSpPr>
            <p:cNvPr id="35" name="Group 34">
              <a:extLst>
                <a:ext uri="{FF2B5EF4-FFF2-40B4-BE49-F238E27FC236}">
                  <a16:creationId xmlns:a16="http://schemas.microsoft.com/office/drawing/2014/main" id="{A6E2818E-4E53-115F-DD97-AF90601A5C82}"/>
                </a:ext>
              </a:extLst>
            </p:cNvPr>
            <p:cNvGrpSpPr/>
            <p:nvPr/>
          </p:nvGrpSpPr>
          <p:grpSpPr>
            <a:xfrm>
              <a:off x="1363119" y="2683984"/>
              <a:ext cx="3816544" cy="317104"/>
              <a:chOff x="1364105" y="2685706"/>
              <a:chExt cx="3816544" cy="317104"/>
            </a:xfrm>
          </p:grpSpPr>
          <p:cxnSp>
            <p:nvCxnSpPr>
              <p:cNvPr id="37" name="Straight Arrow Connector 36">
                <a:extLst>
                  <a:ext uri="{FF2B5EF4-FFF2-40B4-BE49-F238E27FC236}">
                    <a16:creationId xmlns:a16="http://schemas.microsoft.com/office/drawing/2014/main" id="{3D901852-D696-2174-5F06-B4AE32D62720}"/>
                  </a:ext>
                </a:extLst>
              </p:cNvPr>
              <p:cNvCxnSpPr>
                <a:cxnSpLocks/>
              </p:cNvCxnSpPr>
              <p:nvPr/>
            </p:nvCxnSpPr>
            <p:spPr>
              <a:xfrm>
                <a:off x="1364105" y="2990538"/>
                <a:ext cx="3816544" cy="0"/>
              </a:xfrm>
              <a:prstGeom prst="straightConnector1">
                <a:avLst/>
              </a:prstGeom>
              <a:ln>
                <a:no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EDD674-C79C-514F-6F9F-28F19CB4A8E4}"/>
                  </a:ext>
                </a:extLst>
              </p:cNvPr>
              <p:cNvSpPr txBox="1"/>
              <p:nvPr/>
            </p:nvSpPr>
            <p:spPr>
              <a:xfrm>
                <a:off x="1432426" y="2685706"/>
                <a:ext cx="1334120" cy="317104"/>
              </a:xfrm>
              <a:prstGeom prst="rect">
                <a:avLst/>
              </a:prstGeom>
              <a:noFill/>
              <a:ln>
                <a:noFill/>
              </a:ln>
            </p:spPr>
            <p:txBody>
              <a:bodyPr wrap="square" rtlCol="0">
                <a:spAutoFit/>
              </a:bodyPr>
              <a:lstStyle/>
              <a:p>
                <a:r>
                  <a:rPr lang="en-US" sz="900" b="1" dirty="0" err="1">
                    <a:latin typeface="Courier New" panose="02070309020205020404" pitchFamily="49" charset="0"/>
                    <a:cs typeface="Courier New" panose="02070309020205020404" pitchFamily="49" charset="0"/>
                  </a:rPr>
                  <a:t>ClientHello</a:t>
                </a:r>
                <a:endParaRPr lang="en-US" sz="900" b="1" dirty="0">
                  <a:latin typeface="Courier New" panose="02070309020205020404" pitchFamily="49" charset="0"/>
                  <a:cs typeface="Courier New" panose="02070309020205020404" pitchFamily="49" charset="0"/>
                </a:endParaRPr>
              </a:p>
            </p:txBody>
          </p:sp>
        </p:grpSp>
        <p:cxnSp>
          <p:nvCxnSpPr>
            <p:cNvPr id="36" name="Straight Arrow Connector 35">
              <a:extLst>
                <a:ext uri="{FF2B5EF4-FFF2-40B4-BE49-F238E27FC236}">
                  <a16:creationId xmlns:a16="http://schemas.microsoft.com/office/drawing/2014/main" id="{12CAE9C8-036A-DCD9-CCEC-6F2EA6F81C93}"/>
                </a:ext>
              </a:extLst>
            </p:cNvPr>
            <p:cNvCxnSpPr>
              <a:cxnSpLocks/>
            </p:cNvCxnSpPr>
            <p:nvPr/>
          </p:nvCxnSpPr>
          <p:spPr>
            <a:xfrm flipV="1">
              <a:off x="1363677" y="2988041"/>
              <a:ext cx="3822710"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D5DF84AB-D8E6-41FF-3822-2B7A2781B3FA}"/>
              </a:ext>
            </a:extLst>
          </p:cNvPr>
          <p:cNvGrpSpPr/>
          <p:nvPr>
            <p:custDataLst>
              <p:tags r:id="rId16"/>
            </p:custDataLst>
          </p:nvPr>
        </p:nvGrpSpPr>
        <p:grpSpPr>
          <a:xfrm>
            <a:off x="2753188" y="5016278"/>
            <a:ext cx="2807406" cy="230832"/>
            <a:chOff x="1503853" y="5875907"/>
            <a:chExt cx="3856639" cy="317103"/>
          </a:xfrm>
        </p:grpSpPr>
        <p:cxnSp>
          <p:nvCxnSpPr>
            <p:cNvPr id="40" name="Straight Arrow Connector 39">
              <a:extLst>
                <a:ext uri="{FF2B5EF4-FFF2-40B4-BE49-F238E27FC236}">
                  <a16:creationId xmlns:a16="http://schemas.microsoft.com/office/drawing/2014/main" id="{EB2F1C3F-6924-BB50-74BE-EF684EAF82B8}"/>
                </a:ext>
              </a:extLst>
            </p:cNvPr>
            <p:cNvCxnSpPr>
              <a:cxnSpLocks/>
            </p:cNvCxnSpPr>
            <p:nvPr/>
          </p:nvCxnSpPr>
          <p:spPr>
            <a:xfrm>
              <a:off x="1503853" y="6192000"/>
              <a:ext cx="3856639"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342A550-A727-D2A6-1A05-F2771DB12C4B}"/>
                </a:ext>
              </a:extLst>
            </p:cNvPr>
            <p:cNvSpPr txBox="1"/>
            <p:nvPr/>
          </p:nvSpPr>
          <p:spPr>
            <a:xfrm>
              <a:off x="2599435" y="5875907"/>
              <a:ext cx="2193136" cy="317103"/>
            </a:xfrm>
            <a:prstGeom prst="rect">
              <a:avLst/>
            </a:prstGeom>
            <a:noFill/>
            <a:ln w="19050">
              <a:noFill/>
            </a:ln>
          </p:spPr>
          <p:txBody>
            <a:bodyPr wrap="square" rtlCol="0">
              <a:spAutoFit/>
            </a:bodyPr>
            <a:lstStyle/>
            <a:p>
              <a:r>
                <a:rPr lang="en-US" sz="900" b="1" dirty="0">
                  <a:latin typeface="Courier New" panose="02070309020205020404" pitchFamily="49" charset="0"/>
                  <a:cs typeface="Courier New" panose="02070309020205020404" pitchFamily="49" charset="0"/>
                </a:rPr>
                <a:t>Application Data</a:t>
              </a:r>
            </a:p>
          </p:txBody>
        </p:sp>
      </p:grpSp>
      <p:sp>
        <p:nvSpPr>
          <p:cNvPr id="42" name="Left Brace 41">
            <a:extLst>
              <a:ext uri="{FF2B5EF4-FFF2-40B4-BE49-F238E27FC236}">
                <a16:creationId xmlns:a16="http://schemas.microsoft.com/office/drawing/2014/main" id="{94237E25-59D0-FB61-1BE6-402CA3FA6F61}"/>
              </a:ext>
            </a:extLst>
          </p:cNvPr>
          <p:cNvSpPr/>
          <p:nvPr>
            <p:custDataLst>
              <p:tags r:id="rId17"/>
            </p:custDataLst>
          </p:nvPr>
        </p:nvSpPr>
        <p:spPr>
          <a:xfrm flipH="1">
            <a:off x="5571252" y="2820091"/>
            <a:ext cx="316114" cy="763850"/>
          </a:xfrm>
          <a:prstGeom prst="leftBrace">
            <a:avLst>
              <a:gd name="adj1" fmla="val 8333"/>
              <a:gd name="adj2" fmla="val 54085"/>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3" name="Left Brace 42">
            <a:extLst>
              <a:ext uri="{FF2B5EF4-FFF2-40B4-BE49-F238E27FC236}">
                <a16:creationId xmlns:a16="http://schemas.microsoft.com/office/drawing/2014/main" id="{554D7ECC-D38F-8286-E7AB-5561E19E6027}"/>
              </a:ext>
            </a:extLst>
          </p:cNvPr>
          <p:cNvSpPr/>
          <p:nvPr>
            <p:custDataLst>
              <p:tags r:id="rId18"/>
            </p:custDataLst>
          </p:nvPr>
        </p:nvSpPr>
        <p:spPr>
          <a:xfrm flipH="1">
            <a:off x="5585865" y="4475387"/>
            <a:ext cx="249436" cy="510569"/>
          </a:xfrm>
          <a:prstGeom prst="leftBrace">
            <a:avLst>
              <a:gd name="adj1" fmla="val 8333"/>
              <a:gd name="adj2" fmla="val 4959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4" name="Left Brace 43">
            <a:extLst>
              <a:ext uri="{FF2B5EF4-FFF2-40B4-BE49-F238E27FC236}">
                <a16:creationId xmlns:a16="http://schemas.microsoft.com/office/drawing/2014/main" id="{7737CA82-76D0-2BD1-7408-5F1FF438C42A}"/>
              </a:ext>
            </a:extLst>
          </p:cNvPr>
          <p:cNvSpPr/>
          <p:nvPr>
            <p:custDataLst>
              <p:tags r:id="rId19"/>
            </p:custDataLst>
          </p:nvPr>
        </p:nvSpPr>
        <p:spPr>
          <a:xfrm>
            <a:off x="2439442" y="3705215"/>
            <a:ext cx="272006" cy="647587"/>
          </a:xfrm>
          <a:prstGeom prst="leftBrace">
            <a:avLst>
              <a:gd name="adj1" fmla="val 8333"/>
              <a:gd name="adj2" fmla="val 4772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5" name="Left Brace 44">
            <a:extLst>
              <a:ext uri="{FF2B5EF4-FFF2-40B4-BE49-F238E27FC236}">
                <a16:creationId xmlns:a16="http://schemas.microsoft.com/office/drawing/2014/main" id="{51D3EAED-E702-0A9C-CE11-6F774AF29D92}"/>
              </a:ext>
            </a:extLst>
          </p:cNvPr>
          <p:cNvSpPr/>
          <p:nvPr>
            <p:custDataLst>
              <p:tags r:id="rId20"/>
            </p:custDataLst>
          </p:nvPr>
        </p:nvSpPr>
        <p:spPr>
          <a:xfrm>
            <a:off x="2455131" y="2569281"/>
            <a:ext cx="272006" cy="203380"/>
          </a:xfrm>
          <a:prstGeom prst="leftBrace">
            <a:avLst>
              <a:gd name="adj1" fmla="val 8333"/>
              <a:gd name="adj2" fmla="val 44899"/>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100">
              <a:latin typeface="Courier New" panose="02070309020205020404" pitchFamily="49" charset="0"/>
              <a:cs typeface="Courier New" panose="02070309020205020404" pitchFamily="49" charset="0"/>
            </a:endParaRPr>
          </a:p>
        </p:txBody>
      </p:sp>
      <p:sp>
        <p:nvSpPr>
          <p:cNvPr id="46" name="TextBox 45">
            <a:extLst>
              <a:ext uri="{FF2B5EF4-FFF2-40B4-BE49-F238E27FC236}">
                <a16:creationId xmlns:a16="http://schemas.microsoft.com/office/drawing/2014/main" id="{F261350C-6D8D-C4C8-0572-D309F26305B6}"/>
              </a:ext>
            </a:extLst>
          </p:cNvPr>
          <p:cNvSpPr txBox="1"/>
          <p:nvPr>
            <p:custDataLst>
              <p:tags r:id="rId21"/>
            </p:custDataLst>
          </p:nvPr>
        </p:nvSpPr>
        <p:spPr>
          <a:xfrm>
            <a:off x="5956945" y="732380"/>
            <a:ext cx="6235055" cy="6124754"/>
          </a:xfrm>
          <a:prstGeom prst="rect">
            <a:avLst/>
          </a:prstGeom>
          <a:noFill/>
        </p:spPr>
        <p:txBody>
          <a:bodyPr wrap="square" rtlCol="0">
            <a:spAutoFit/>
          </a:bodyPr>
          <a:lstStyle/>
          <a:p>
            <a:r>
              <a:rPr lang="en-US" sz="1400" b="1" dirty="0">
                <a:latin typeface="Avenir Next" panose="020B0503020202020204" pitchFamily="34" charset="0"/>
                <a:cs typeface="Courier New" panose="02070309020205020404" pitchFamily="49" charset="0"/>
              </a:rPr>
              <a:t>seed = "master secret" + </a:t>
            </a:r>
            <a:r>
              <a:rPr lang="en-US" sz="1400" b="1" dirty="0" err="1">
                <a:latin typeface="Avenir Next" panose="020B0503020202020204" pitchFamily="34" charset="0"/>
                <a:cs typeface="Courier New" panose="02070309020205020404" pitchFamily="49" charset="0"/>
              </a:rPr>
              <a:t>client_random</a:t>
            </a:r>
            <a:r>
              <a:rPr lang="en-US" sz="1400" b="1" dirty="0">
                <a:latin typeface="Avenir Next" panose="020B0503020202020204" pitchFamily="34" charset="0"/>
                <a:cs typeface="Courier New" panose="02070309020205020404" pitchFamily="49" charset="0"/>
              </a:rPr>
              <a:t> + </a:t>
            </a:r>
            <a:r>
              <a:rPr lang="en-US" sz="1400" b="1" dirty="0" err="1">
                <a:latin typeface="Avenir Next" panose="020B0503020202020204" pitchFamily="34" charset="0"/>
                <a:cs typeface="Courier New" panose="02070309020205020404" pitchFamily="49" charset="0"/>
              </a:rPr>
              <a:t>server_random</a:t>
            </a:r>
            <a:endParaRPr lang="en-US" sz="1400" b="1" dirty="0">
              <a:latin typeface="Avenir Next" panose="020B0503020202020204" pitchFamily="34" charset="0"/>
              <a:cs typeface="Courier New" panose="02070309020205020404" pitchFamily="49" charset="0"/>
            </a:endParaRPr>
          </a:p>
          <a:p>
            <a:r>
              <a:rPr lang="en-US" sz="1400" b="1" dirty="0">
                <a:latin typeface="Avenir Next" panose="020B0503020202020204" pitchFamily="34" charset="0"/>
                <a:cs typeface="Courier New" panose="02070309020205020404" pitchFamily="49" charset="0"/>
              </a:rPr>
              <a:t>a0 = seed</a:t>
            </a:r>
          </a:p>
          <a:p>
            <a:r>
              <a:rPr lang="en-US" sz="1400" b="1" dirty="0">
                <a:latin typeface="Avenir Next" panose="020B0503020202020204" pitchFamily="34" charset="0"/>
                <a:cs typeface="Courier New" panose="02070309020205020404" pitchFamily="49" charset="0"/>
              </a:rPr>
              <a:t>a1 = HMAC-SHA256(key=</a:t>
            </a:r>
            <a:r>
              <a:rPr lang="en-US" sz="1400" b="1" dirty="0" err="1">
                <a:latin typeface="Avenir Next" panose="020B0503020202020204" pitchFamily="34" charset="0"/>
                <a:cs typeface="Courier New" panose="02070309020205020404" pitchFamily="49" charset="0"/>
              </a:rPr>
              <a:t>PreMasterSecret</a:t>
            </a:r>
            <a:r>
              <a:rPr lang="en-US" sz="1400" b="1" dirty="0">
                <a:latin typeface="Avenir Next" panose="020B0503020202020204" pitchFamily="34" charset="0"/>
                <a:cs typeface="Courier New" panose="02070309020205020404" pitchFamily="49" charset="0"/>
              </a:rPr>
              <a:t>, data=a0)</a:t>
            </a:r>
          </a:p>
          <a:p>
            <a:r>
              <a:rPr lang="en-US" sz="1400" b="1" dirty="0">
                <a:latin typeface="Avenir Next" panose="020B0503020202020204" pitchFamily="34" charset="0"/>
                <a:cs typeface="Courier New" panose="02070309020205020404" pitchFamily="49" charset="0"/>
              </a:rPr>
              <a:t>a2 = HMAC-SHA256(key=</a:t>
            </a:r>
            <a:r>
              <a:rPr lang="en-US" sz="1400" b="1" dirty="0" err="1">
                <a:latin typeface="Avenir Next" panose="020B0503020202020204" pitchFamily="34" charset="0"/>
                <a:cs typeface="Courier New" panose="02070309020205020404" pitchFamily="49" charset="0"/>
              </a:rPr>
              <a:t>PreMasterSecret</a:t>
            </a:r>
            <a:r>
              <a:rPr lang="en-US" sz="1400" b="1" dirty="0">
                <a:latin typeface="Avenir Next" panose="020B0503020202020204" pitchFamily="34" charset="0"/>
                <a:cs typeface="Courier New" panose="02070309020205020404" pitchFamily="49" charset="0"/>
              </a:rPr>
              <a:t>, data=a1)</a:t>
            </a:r>
          </a:p>
          <a:p>
            <a:r>
              <a:rPr lang="en-US" sz="1400" b="1" dirty="0">
                <a:latin typeface="Avenir Next" panose="020B0503020202020204" pitchFamily="34" charset="0"/>
                <a:cs typeface="Courier New" panose="02070309020205020404" pitchFamily="49" charset="0"/>
              </a:rPr>
              <a:t>p1 = HMAC-SHA256(key=</a:t>
            </a:r>
            <a:r>
              <a:rPr lang="en-US" sz="1400" b="1" dirty="0" err="1">
                <a:latin typeface="Avenir Next" panose="020B0503020202020204" pitchFamily="34" charset="0"/>
                <a:cs typeface="Courier New" panose="02070309020205020404" pitchFamily="49" charset="0"/>
              </a:rPr>
              <a:t>PreMasterSecret</a:t>
            </a:r>
            <a:r>
              <a:rPr lang="en-US" sz="1400" b="1" dirty="0">
                <a:latin typeface="Avenir Next" panose="020B0503020202020204" pitchFamily="34" charset="0"/>
                <a:cs typeface="Courier New" panose="02070309020205020404" pitchFamily="49" charset="0"/>
              </a:rPr>
              <a:t>, data=a1 + seed)</a:t>
            </a:r>
          </a:p>
          <a:p>
            <a:r>
              <a:rPr lang="en-US" sz="1400" b="1" dirty="0">
                <a:latin typeface="Avenir Next" panose="020B0503020202020204" pitchFamily="34" charset="0"/>
                <a:cs typeface="Courier New" panose="02070309020205020404" pitchFamily="49" charset="0"/>
              </a:rPr>
              <a:t>p2 = HMAC-SHA256(key=</a:t>
            </a:r>
            <a:r>
              <a:rPr lang="en-US" sz="1400" b="1" dirty="0" err="1">
                <a:latin typeface="Avenir Next" panose="020B0503020202020204" pitchFamily="34" charset="0"/>
                <a:cs typeface="Courier New" panose="02070309020205020404" pitchFamily="49" charset="0"/>
              </a:rPr>
              <a:t>PreMasterSecret</a:t>
            </a:r>
            <a:r>
              <a:rPr lang="en-US" sz="1400" b="1" dirty="0">
                <a:latin typeface="Avenir Next" panose="020B0503020202020204" pitchFamily="34" charset="0"/>
                <a:cs typeface="Courier New" panose="02070309020205020404" pitchFamily="49" charset="0"/>
              </a:rPr>
              <a:t>, data=a2 + seed)</a:t>
            </a:r>
          </a:p>
          <a:p>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 p1[all 32 bytes] + p2[first 16 bytes]</a:t>
            </a:r>
          </a:p>
          <a:p>
            <a:endParaRPr lang="en-US" sz="1400" b="1" dirty="0">
              <a:latin typeface="Avenir Next" panose="020B0503020202020204" pitchFamily="34" charset="0"/>
              <a:cs typeface="Courier New" panose="02070309020205020404" pitchFamily="49" charset="0"/>
            </a:endParaRPr>
          </a:p>
          <a:p>
            <a:r>
              <a:rPr lang="en-US" sz="1400" b="1" dirty="0">
                <a:latin typeface="Avenir Next" panose="020B0503020202020204" pitchFamily="34" charset="0"/>
                <a:cs typeface="Courier New" panose="02070309020205020404" pitchFamily="49" charset="0"/>
              </a:rPr>
              <a:t>seed = "key expansion" + </a:t>
            </a:r>
            <a:r>
              <a:rPr lang="en-US" sz="1400" b="1" dirty="0" err="1">
                <a:latin typeface="Avenir Next" panose="020B0503020202020204" pitchFamily="34" charset="0"/>
                <a:cs typeface="Courier New" panose="02070309020205020404" pitchFamily="49" charset="0"/>
              </a:rPr>
              <a:t>server_random</a:t>
            </a:r>
            <a:r>
              <a:rPr lang="en-US" sz="1400" b="1" dirty="0">
                <a:latin typeface="Avenir Next" panose="020B0503020202020204" pitchFamily="34" charset="0"/>
                <a:cs typeface="Courier New" panose="02070309020205020404" pitchFamily="49" charset="0"/>
              </a:rPr>
              <a:t> + </a:t>
            </a:r>
            <a:r>
              <a:rPr lang="en-US" sz="1400" b="1" dirty="0" err="1">
                <a:latin typeface="Avenir Next" panose="020B0503020202020204" pitchFamily="34" charset="0"/>
                <a:cs typeface="Courier New" panose="02070309020205020404" pitchFamily="49" charset="0"/>
              </a:rPr>
              <a:t>client_random</a:t>
            </a:r>
            <a:endParaRPr lang="en-US" sz="1400" b="1" dirty="0">
              <a:latin typeface="Avenir Next" panose="020B0503020202020204" pitchFamily="34" charset="0"/>
              <a:cs typeface="Courier New" panose="02070309020205020404" pitchFamily="49" charset="0"/>
            </a:endParaRPr>
          </a:p>
          <a:p>
            <a:r>
              <a:rPr lang="en-US" sz="1400" b="1" dirty="0">
                <a:latin typeface="Avenir Next" panose="020B0503020202020204" pitchFamily="34" charset="0"/>
                <a:cs typeface="Courier New" panose="02070309020205020404" pitchFamily="49" charset="0"/>
              </a:rPr>
              <a:t>a0 = seed</a:t>
            </a:r>
          </a:p>
          <a:p>
            <a:r>
              <a:rPr lang="en-US" sz="1400" b="1" dirty="0">
                <a:latin typeface="Avenir Next" panose="020B0503020202020204" pitchFamily="34" charset="0"/>
                <a:cs typeface="Courier New" panose="02070309020205020404" pitchFamily="49" charset="0"/>
              </a:rPr>
              <a:t>a1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data=a0)</a:t>
            </a:r>
          </a:p>
          <a:p>
            <a:r>
              <a:rPr lang="en-US" sz="1400" b="1" dirty="0">
                <a:latin typeface="Avenir Next" panose="020B0503020202020204" pitchFamily="34" charset="0"/>
                <a:cs typeface="Courier New" panose="02070309020205020404" pitchFamily="49" charset="0"/>
              </a:rPr>
              <a:t>a2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data=a1)</a:t>
            </a:r>
          </a:p>
          <a:p>
            <a:r>
              <a:rPr lang="en-US" sz="1400" b="1" dirty="0">
                <a:latin typeface="Avenir Next" panose="020B0503020202020204" pitchFamily="34" charset="0"/>
                <a:cs typeface="Courier New" panose="02070309020205020404" pitchFamily="49" charset="0"/>
              </a:rPr>
              <a:t>a3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data=a2)</a:t>
            </a:r>
          </a:p>
          <a:p>
            <a:r>
              <a:rPr lang="en-US" sz="1400" b="1" dirty="0">
                <a:latin typeface="Avenir Next" panose="020B0503020202020204" pitchFamily="34" charset="0"/>
                <a:cs typeface="Courier New" panose="02070309020205020404" pitchFamily="49" charset="0"/>
              </a:rPr>
              <a:t>a4 = ...</a:t>
            </a:r>
          </a:p>
          <a:p>
            <a:r>
              <a:rPr lang="en-US" sz="1400" b="1" dirty="0">
                <a:latin typeface="Avenir Next" panose="020B0503020202020204" pitchFamily="34" charset="0"/>
                <a:cs typeface="Courier New" panose="02070309020205020404" pitchFamily="49" charset="0"/>
              </a:rPr>
              <a:t>p1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data=a1 + seed)</a:t>
            </a:r>
          </a:p>
          <a:p>
            <a:r>
              <a:rPr lang="en-US" sz="1400" b="1" dirty="0">
                <a:latin typeface="Avenir Next" panose="020B0503020202020204" pitchFamily="34" charset="0"/>
                <a:cs typeface="Courier New" panose="02070309020205020404" pitchFamily="49" charset="0"/>
              </a:rPr>
              <a:t>p2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data=a2 + seed)</a:t>
            </a:r>
          </a:p>
          <a:p>
            <a:r>
              <a:rPr lang="en-US" sz="1400" b="1" dirty="0">
                <a:latin typeface="Avenir Next" panose="020B0503020202020204" pitchFamily="34" charset="0"/>
                <a:cs typeface="Courier New" panose="02070309020205020404" pitchFamily="49" charset="0"/>
              </a:rPr>
              <a:t>p3 = HMAC-SHA256(key=</a:t>
            </a:r>
            <a:r>
              <a:rPr lang="en-US" sz="1400" b="1" dirty="0" err="1">
                <a:latin typeface="Avenir Next" panose="020B0503020202020204" pitchFamily="34" charset="0"/>
                <a:cs typeface="Courier New" panose="02070309020205020404" pitchFamily="49" charset="0"/>
              </a:rPr>
              <a:t>MasterSecret</a:t>
            </a:r>
            <a:r>
              <a:rPr lang="en-US" sz="1400" b="1" dirty="0">
                <a:latin typeface="Avenir Next" panose="020B0503020202020204" pitchFamily="34" charset="0"/>
                <a:cs typeface="Courier New" panose="02070309020205020404" pitchFamily="49" charset="0"/>
              </a:rPr>
              <a:t>, data=a3 + seed)</a:t>
            </a:r>
          </a:p>
          <a:p>
            <a:r>
              <a:rPr lang="en-US" sz="1400" b="1" dirty="0">
                <a:latin typeface="Avenir Next" panose="020B0503020202020204" pitchFamily="34" charset="0"/>
                <a:cs typeface="Courier New" panose="02070309020205020404" pitchFamily="49" charset="0"/>
              </a:rPr>
              <a:t>p4 = ...</a:t>
            </a:r>
          </a:p>
          <a:p>
            <a:r>
              <a:rPr lang="en-US" sz="1400" b="1" dirty="0">
                <a:latin typeface="Avenir Next" panose="020B0503020202020204" pitchFamily="34" charset="0"/>
                <a:cs typeface="Courier New" panose="02070309020205020404" pitchFamily="49" charset="0"/>
              </a:rPr>
              <a:t>p = p1 + p2 + p3 + p4 ...</a:t>
            </a:r>
          </a:p>
          <a:p>
            <a:endParaRPr lang="en-US" sz="1400" b="1" dirty="0">
              <a:latin typeface="Avenir Next" panose="020B0503020202020204" pitchFamily="34" charset="0"/>
              <a:cs typeface="Courier New" panose="02070309020205020404" pitchFamily="49" charset="0"/>
            </a:endParaRPr>
          </a:p>
          <a:p>
            <a:r>
              <a:rPr lang="en-US" sz="1400" b="1" dirty="0">
                <a:latin typeface="Avenir Next" panose="020B0503020202020204" pitchFamily="34" charset="0"/>
                <a:cs typeface="Courier New" panose="02070309020205020404" pitchFamily="49" charset="0"/>
              </a:rPr>
              <a:t>client write mac key = [first 20 bytes of p]</a:t>
            </a:r>
          </a:p>
          <a:p>
            <a:r>
              <a:rPr lang="en-US" sz="1400" b="1" dirty="0">
                <a:latin typeface="Avenir Next" panose="020B0503020202020204" pitchFamily="34" charset="0"/>
                <a:cs typeface="Courier New" panose="02070309020205020404" pitchFamily="49" charset="0"/>
              </a:rPr>
              <a:t>server write mac key = [next 20 bytes of p]</a:t>
            </a:r>
          </a:p>
          <a:p>
            <a:r>
              <a:rPr lang="en-US" sz="1400" b="1" dirty="0">
                <a:latin typeface="Avenir Next" panose="020B0503020202020204" pitchFamily="34" charset="0"/>
                <a:cs typeface="Courier New" panose="02070309020205020404" pitchFamily="49" charset="0"/>
              </a:rPr>
              <a:t>client write key = [next 16 bytes of p]</a:t>
            </a:r>
          </a:p>
          <a:p>
            <a:r>
              <a:rPr lang="en-US" sz="1400" b="1" dirty="0">
                <a:latin typeface="Avenir Next" panose="020B0503020202020204" pitchFamily="34" charset="0"/>
                <a:cs typeface="Courier New" panose="02070309020205020404" pitchFamily="49" charset="0"/>
              </a:rPr>
              <a:t>server write key = [next 16 bytes of p]</a:t>
            </a:r>
          </a:p>
          <a:p>
            <a:r>
              <a:rPr lang="en-US" sz="1400" b="1" dirty="0">
                <a:latin typeface="Avenir Next" panose="020B0503020202020204" pitchFamily="34" charset="0"/>
                <a:cs typeface="Courier New" panose="02070309020205020404" pitchFamily="49" charset="0"/>
              </a:rPr>
              <a:t>client write IV = [next 16 bytes of p]</a:t>
            </a:r>
          </a:p>
          <a:p>
            <a:r>
              <a:rPr lang="en-US" sz="1400" b="1" dirty="0">
                <a:latin typeface="Avenir Next" panose="020B0503020202020204" pitchFamily="34" charset="0"/>
                <a:cs typeface="Courier New" panose="02070309020205020404" pitchFamily="49" charset="0"/>
              </a:rPr>
              <a:t>server write IV = [next 16 bytes of p]</a:t>
            </a:r>
          </a:p>
          <a:p>
            <a:endParaRPr lang="en-US" sz="1400" b="1" dirty="0">
              <a:latin typeface="Avenir Next" panose="020B0503020202020204" pitchFamily="34" charset="0"/>
              <a:cs typeface="Courier New" panose="02070309020205020404" pitchFamily="49" charset="0"/>
            </a:endParaRPr>
          </a:p>
          <a:p>
            <a:endParaRPr lang="en-US" sz="1400" b="1" dirty="0">
              <a:latin typeface="Avenir Next" panose="020B0503020202020204" pitchFamily="34"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1597896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5551623" cy="707886"/>
          </a:xfrm>
          <a:prstGeom prst="rect">
            <a:avLst/>
          </a:prstGeom>
          <a:solidFill>
            <a:srgbClr val="C00000"/>
          </a:solidFill>
        </p:spPr>
        <p:txBody>
          <a:bodyPr wrap="square">
            <a:spAutoFit/>
          </a:bodyPr>
          <a:lstStyle/>
          <a:p>
            <a:pPr algn="ctr"/>
            <a:r>
              <a:rPr lang="en-US" sz="4000" dirty="0" err="1">
                <a:solidFill>
                  <a:schemeClr val="bg1"/>
                </a:solidFill>
                <a:latin typeface="Avenir Next" panose="020B0503020202020204" pitchFamily="34" charset="0"/>
                <a:cs typeface="Courier New" panose="02070309020205020404" pitchFamily="49" charset="0"/>
              </a:rPr>
              <a:t>EarlyCCS</a:t>
            </a:r>
            <a:r>
              <a:rPr lang="en-US" sz="4000" dirty="0">
                <a:solidFill>
                  <a:schemeClr val="bg1"/>
                </a:solidFill>
                <a:latin typeface="Avenir Next" panose="020B0503020202020204" pitchFamily="34" charset="0"/>
                <a:cs typeface="Courier New" panose="02070309020205020404" pitchFamily="49" charset="0"/>
              </a:rPr>
              <a:t> Bug</a:t>
            </a:r>
            <a:endParaRPr lang="en-US" sz="4000" dirty="0">
              <a:solidFill>
                <a:schemeClr val="bg1"/>
              </a:solidFill>
              <a:latin typeface="Avenir Next" panose="020B0503020202020204" pitchFamily="34" charset="0"/>
            </a:endParaRPr>
          </a:p>
        </p:txBody>
      </p:sp>
      <p:sp>
        <p:nvSpPr>
          <p:cNvPr id="4" name="TextBox 3">
            <a:extLst>
              <a:ext uri="{FF2B5EF4-FFF2-40B4-BE49-F238E27FC236}">
                <a16:creationId xmlns:a16="http://schemas.microsoft.com/office/drawing/2014/main" id="{3F8A2CED-0121-0CFB-264D-178CA966DFF3}"/>
              </a:ext>
            </a:extLst>
          </p:cNvPr>
          <p:cNvSpPr txBox="1"/>
          <p:nvPr>
            <p:custDataLst>
              <p:tags r:id="rId3"/>
            </p:custDataLst>
          </p:nvPr>
        </p:nvSpPr>
        <p:spPr>
          <a:xfrm>
            <a:off x="2528506" y="1985528"/>
            <a:ext cx="3184682" cy="293927"/>
          </a:xfrm>
          <a:prstGeom prst="rect">
            <a:avLst/>
          </a:prstGeom>
          <a:noFill/>
        </p:spPr>
        <p:txBody>
          <a:bodyPr wrap="square" rtlCol="0">
            <a:spAutoFit/>
          </a:bodyPr>
          <a:lstStyle/>
          <a:p>
            <a:pPr marL="208021" indent="-208021">
              <a:buFont typeface="Wingdings" panose="05000000000000000000" pitchFamily="2" charset="2"/>
              <a:buChar char="q"/>
            </a:pPr>
            <a:r>
              <a:rPr lang="en-US" sz="1310" b="1" dirty="0">
                <a:effectLst>
                  <a:outerShdw blurRad="38100" dist="38100" dir="2700000" algn="tl">
                    <a:srgbClr val="000000">
                      <a:alpha val="43137"/>
                    </a:srgbClr>
                  </a:outerShdw>
                </a:effectLst>
                <a:latin typeface="Avenir Next" panose="020B0503020202020204" pitchFamily="34" charset="0"/>
              </a:rPr>
              <a:t>How can we exploit this bug ?</a:t>
            </a:r>
          </a:p>
        </p:txBody>
      </p:sp>
      <p:grpSp>
        <p:nvGrpSpPr>
          <p:cNvPr id="47" name="Group 46">
            <a:extLst>
              <a:ext uri="{FF2B5EF4-FFF2-40B4-BE49-F238E27FC236}">
                <a16:creationId xmlns:a16="http://schemas.microsoft.com/office/drawing/2014/main" id="{3EC6AF94-D3C3-9CEA-6773-5D166EA4F02A}"/>
              </a:ext>
            </a:extLst>
          </p:cNvPr>
          <p:cNvGrpSpPr/>
          <p:nvPr>
            <p:custDataLst>
              <p:tags r:id="rId4"/>
            </p:custDataLst>
          </p:nvPr>
        </p:nvGrpSpPr>
        <p:grpSpPr>
          <a:xfrm>
            <a:off x="3061588" y="2977604"/>
            <a:ext cx="5518422" cy="2250772"/>
            <a:chOff x="2290120" y="972216"/>
            <a:chExt cx="7580863" cy="3091969"/>
          </a:xfrm>
        </p:grpSpPr>
        <p:grpSp>
          <p:nvGrpSpPr>
            <p:cNvPr id="48" name="Group 47">
              <a:extLst>
                <a:ext uri="{FF2B5EF4-FFF2-40B4-BE49-F238E27FC236}">
                  <a16:creationId xmlns:a16="http://schemas.microsoft.com/office/drawing/2014/main" id="{3458DB3E-6ED0-7402-C15C-ACA34574FFF7}"/>
                </a:ext>
              </a:extLst>
            </p:cNvPr>
            <p:cNvGrpSpPr/>
            <p:nvPr/>
          </p:nvGrpSpPr>
          <p:grpSpPr>
            <a:xfrm>
              <a:off x="2290120" y="3003237"/>
              <a:ext cx="7580863" cy="1060948"/>
              <a:chOff x="2312779" y="4001294"/>
              <a:chExt cx="7566441" cy="1060948"/>
            </a:xfrm>
          </p:grpSpPr>
          <p:pic>
            <p:nvPicPr>
              <p:cNvPr id="54" name="Picture 53" descr="A picture containing photo, sitting, monitor, table&#10;&#10;Description generated with very high confidence">
                <a:extLst>
                  <a:ext uri="{FF2B5EF4-FFF2-40B4-BE49-F238E27FC236}">
                    <a16:creationId xmlns:a16="http://schemas.microsoft.com/office/drawing/2014/main" id="{42EDD816-3D14-18FF-A57B-977DA2F2D65C}"/>
                  </a:ext>
                </a:extLst>
              </p:cNvPr>
              <p:cNvPicPr>
                <a:picLocks noChangeAspect="1"/>
              </p:cNvPicPr>
              <p:nvPr/>
            </p:nvPicPr>
            <p:blipFill>
              <a:blip r:embed="rId8"/>
              <a:stretch>
                <a:fillRect/>
              </a:stretch>
            </p:blipFill>
            <p:spPr>
              <a:xfrm>
                <a:off x="2313432" y="4001294"/>
                <a:ext cx="630751" cy="692580"/>
              </a:xfrm>
              <a:prstGeom prst="rect">
                <a:avLst/>
              </a:prstGeom>
            </p:spPr>
          </p:pic>
          <p:pic>
            <p:nvPicPr>
              <p:cNvPr id="55" name="Picture 54" descr="A picture containing photo, sitting, monitor, table&#10;&#10;Description generated with very high confidence">
                <a:extLst>
                  <a:ext uri="{FF2B5EF4-FFF2-40B4-BE49-F238E27FC236}">
                    <a16:creationId xmlns:a16="http://schemas.microsoft.com/office/drawing/2014/main" id="{0FEB66B6-A144-1A3B-189D-CAE5C74227BE}"/>
                  </a:ext>
                </a:extLst>
              </p:cNvPr>
              <p:cNvPicPr>
                <a:picLocks noChangeAspect="1"/>
              </p:cNvPicPr>
              <p:nvPr/>
            </p:nvPicPr>
            <p:blipFill>
              <a:blip r:embed="rId8"/>
              <a:stretch>
                <a:fillRect/>
              </a:stretch>
            </p:blipFill>
            <p:spPr>
              <a:xfrm>
                <a:off x="9231722" y="4002966"/>
                <a:ext cx="647498" cy="692581"/>
              </a:xfrm>
              <a:prstGeom prst="rect">
                <a:avLst/>
              </a:prstGeom>
            </p:spPr>
          </p:pic>
          <p:sp>
            <p:nvSpPr>
              <p:cNvPr id="56" name="TextBox 6">
                <a:extLst>
                  <a:ext uri="{FF2B5EF4-FFF2-40B4-BE49-F238E27FC236}">
                    <a16:creationId xmlns:a16="http://schemas.microsoft.com/office/drawing/2014/main" id="{29F4F1D9-D9B8-3E20-A5D1-412E669166B0}"/>
                  </a:ext>
                </a:extLst>
              </p:cNvPr>
              <p:cNvSpPr txBox="1"/>
              <p:nvPr/>
            </p:nvSpPr>
            <p:spPr>
              <a:xfrm>
                <a:off x="2312779" y="4692973"/>
                <a:ext cx="76036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Alice</a:t>
                </a:r>
              </a:p>
            </p:txBody>
          </p:sp>
          <p:sp>
            <p:nvSpPr>
              <p:cNvPr id="57" name="TextBox 7">
                <a:extLst>
                  <a:ext uri="{FF2B5EF4-FFF2-40B4-BE49-F238E27FC236}">
                    <a16:creationId xmlns:a16="http://schemas.microsoft.com/office/drawing/2014/main" id="{C0B33DF0-CED8-F0A5-5498-4BC51BFC205C}"/>
                  </a:ext>
                </a:extLst>
              </p:cNvPr>
              <p:cNvSpPr txBox="1"/>
              <p:nvPr/>
            </p:nvSpPr>
            <p:spPr>
              <a:xfrm>
                <a:off x="9194526" y="4692973"/>
                <a:ext cx="67628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Bob</a:t>
                </a:r>
              </a:p>
            </p:txBody>
          </p:sp>
        </p:grpSp>
        <p:grpSp>
          <p:nvGrpSpPr>
            <p:cNvPr id="49" name="Group 48">
              <a:extLst>
                <a:ext uri="{FF2B5EF4-FFF2-40B4-BE49-F238E27FC236}">
                  <a16:creationId xmlns:a16="http://schemas.microsoft.com/office/drawing/2014/main" id="{FDC87DB2-AC4E-C498-BA6F-B4EF1A850C20}"/>
                </a:ext>
              </a:extLst>
            </p:cNvPr>
            <p:cNvGrpSpPr/>
            <p:nvPr/>
          </p:nvGrpSpPr>
          <p:grpSpPr>
            <a:xfrm>
              <a:off x="5533512" y="972216"/>
              <a:ext cx="1244110" cy="1100568"/>
              <a:chOff x="5541749" y="1970273"/>
              <a:chExt cx="1244110" cy="1100568"/>
            </a:xfrm>
          </p:grpSpPr>
          <p:pic>
            <p:nvPicPr>
              <p:cNvPr id="52" name="Picture 51" descr="A picture containing text&#10;&#10;Description generated with very high confidence">
                <a:extLst>
                  <a:ext uri="{FF2B5EF4-FFF2-40B4-BE49-F238E27FC236}">
                    <a16:creationId xmlns:a16="http://schemas.microsoft.com/office/drawing/2014/main" id="{B55F9D41-EEA7-D52A-4D50-652446985FC7}"/>
                  </a:ext>
                </a:extLst>
              </p:cNvPr>
              <p:cNvPicPr>
                <a:picLocks noChangeAspect="1"/>
              </p:cNvPicPr>
              <p:nvPr/>
            </p:nvPicPr>
            <p:blipFill>
              <a:blip r:embed="rId9"/>
              <a:stretch>
                <a:fillRect/>
              </a:stretch>
            </p:blipFill>
            <p:spPr>
              <a:xfrm>
                <a:off x="5728535" y="2322217"/>
                <a:ext cx="739215" cy="748624"/>
              </a:xfrm>
              <a:prstGeom prst="rect">
                <a:avLst/>
              </a:prstGeom>
            </p:spPr>
          </p:pic>
          <p:sp>
            <p:nvSpPr>
              <p:cNvPr id="53" name="TextBox 52">
                <a:extLst>
                  <a:ext uri="{FF2B5EF4-FFF2-40B4-BE49-F238E27FC236}">
                    <a16:creationId xmlns:a16="http://schemas.microsoft.com/office/drawing/2014/main" id="{0BCC1E66-BE8E-1319-96CD-90E5B11F8F6E}"/>
                  </a:ext>
                </a:extLst>
              </p:cNvPr>
              <p:cNvSpPr txBox="1"/>
              <p:nvPr/>
            </p:nvSpPr>
            <p:spPr>
              <a:xfrm>
                <a:off x="5541749" y="1970273"/>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latin typeface="Avenir Next" panose="020B0503020202020204" pitchFamily="34" charset="0"/>
                    <a:cs typeface="Calibri"/>
                  </a:rPr>
                  <a:t>Attacker</a:t>
                </a:r>
              </a:p>
            </p:txBody>
          </p:sp>
        </p:grpSp>
        <p:cxnSp>
          <p:nvCxnSpPr>
            <p:cNvPr id="50" name="Straight Arrow Connector 49">
              <a:extLst>
                <a:ext uri="{FF2B5EF4-FFF2-40B4-BE49-F238E27FC236}">
                  <a16:creationId xmlns:a16="http://schemas.microsoft.com/office/drawing/2014/main" id="{17DA71F1-B74A-191D-5BA5-83C017AE56C2}"/>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5809967-5831-2BA6-A64F-3D6906B8424E}"/>
                </a:ext>
              </a:extLst>
            </p:cNvPr>
            <p:cNvCxnSpPr/>
            <p:nvPr/>
          </p:nvCxnSpPr>
          <p:spPr>
            <a:xfrm>
              <a:off x="6079715" y="2046371"/>
              <a:ext cx="0" cy="128791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58" name="TextBox 57">
            <a:extLst>
              <a:ext uri="{FF2B5EF4-FFF2-40B4-BE49-F238E27FC236}">
                <a16:creationId xmlns:a16="http://schemas.microsoft.com/office/drawing/2014/main" id="{13C040EC-482F-CEEE-C4E8-5F6012F81334}"/>
              </a:ext>
            </a:extLst>
          </p:cNvPr>
          <p:cNvSpPr txBox="1"/>
          <p:nvPr>
            <p:custDataLst>
              <p:tags r:id="rId5"/>
            </p:custDataLst>
          </p:nvPr>
        </p:nvSpPr>
        <p:spPr>
          <a:xfrm>
            <a:off x="7000616" y="4760313"/>
            <a:ext cx="1144865" cy="293927"/>
          </a:xfrm>
          <a:prstGeom prst="rect">
            <a:avLst/>
          </a:prstGeom>
          <a:noFill/>
        </p:spPr>
        <p:txBody>
          <a:bodyPr wrap="none" rtlCol="0">
            <a:spAutoFit/>
          </a:bodyPr>
          <a:lstStyle/>
          <a:p>
            <a:pPr>
              <a:buSzPts val="100"/>
            </a:pPr>
            <a:r>
              <a:rPr lang="en-US" sz="1310" b="1" dirty="0" err="1">
                <a:noFill/>
                <a:latin typeface="Avenir Next" panose="020B0503020202020204" pitchFamily="34" charset="0"/>
              </a:rPr>
              <a:t>ServerHello</a:t>
            </a:r>
            <a:endParaRPr lang="en-US" sz="1310" b="1" dirty="0">
              <a:noFill/>
              <a:latin typeface="Avenir Next" panose="020B0503020202020204" pitchFamily="34" charset="0"/>
            </a:endParaRPr>
          </a:p>
        </p:txBody>
      </p:sp>
    </p:spTree>
    <p:custDataLst>
      <p:tags r:id="rId1"/>
    </p:custDataLst>
    <p:extLst>
      <p:ext uri="{BB962C8B-B14F-4D97-AF65-F5344CB8AC3E}">
        <p14:creationId xmlns:p14="http://schemas.microsoft.com/office/powerpoint/2010/main" val="2783838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5551623" cy="707886"/>
          </a:xfrm>
          <a:prstGeom prst="rect">
            <a:avLst/>
          </a:prstGeom>
          <a:solidFill>
            <a:srgbClr val="C00000"/>
          </a:solidFill>
        </p:spPr>
        <p:txBody>
          <a:bodyPr wrap="square">
            <a:spAutoFit/>
          </a:bodyPr>
          <a:lstStyle/>
          <a:p>
            <a:pPr algn="ctr"/>
            <a:r>
              <a:rPr lang="en-US" sz="4000" dirty="0" err="1">
                <a:solidFill>
                  <a:schemeClr val="bg1"/>
                </a:solidFill>
                <a:latin typeface="Avenir Next" panose="020B0503020202020204" pitchFamily="34" charset="0"/>
                <a:cs typeface="Courier New" panose="02070309020205020404" pitchFamily="49" charset="0"/>
              </a:rPr>
              <a:t>EarlyCCS</a:t>
            </a:r>
            <a:r>
              <a:rPr lang="en-US" sz="4000" dirty="0">
                <a:solidFill>
                  <a:schemeClr val="bg1"/>
                </a:solidFill>
                <a:latin typeface="Avenir Next" panose="020B0503020202020204" pitchFamily="34" charset="0"/>
                <a:cs typeface="Courier New" panose="02070309020205020404" pitchFamily="49" charset="0"/>
              </a:rPr>
              <a:t> Bug</a:t>
            </a:r>
            <a:endParaRPr lang="en-US" sz="4000" dirty="0">
              <a:solidFill>
                <a:schemeClr val="bg1"/>
              </a:solidFill>
              <a:latin typeface="Avenir Next" panose="020B0503020202020204" pitchFamily="34" charset="0"/>
            </a:endParaRPr>
          </a:p>
        </p:txBody>
      </p:sp>
      <p:sp>
        <p:nvSpPr>
          <p:cNvPr id="4" name="TextBox 3">
            <a:extLst>
              <a:ext uri="{FF2B5EF4-FFF2-40B4-BE49-F238E27FC236}">
                <a16:creationId xmlns:a16="http://schemas.microsoft.com/office/drawing/2014/main" id="{3F8A2CED-0121-0CFB-264D-178CA966DFF3}"/>
              </a:ext>
            </a:extLst>
          </p:cNvPr>
          <p:cNvSpPr txBox="1"/>
          <p:nvPr>
            <p:custDataLst>
              <p:tags r:id="rId3"/>
            </p:custDataLst>
          </p:nvPr>
        </p:nvSpPr>
        <p:spPr>
          <a:xfrm>
            <a:off x="2528506" y="1985528"/>
            <a:ext cx="3184682" cy="293927"/>
          </a:xfrm>
          <a:prstGeom prst="rect">
            <a:avLst/>
          </a:prstGeom>
          <a:noFill/>
        </p:spPr>
        <p:txBody>
          <a:bodyPr wrap="square" rtlCol="0">
            <a:spAutoFit/>
          </a:bodyPr>
          <a:lstStyle/>
          <a:p>
            <a:pPr marL="208021" indent="-208021">
              <a:buFont typeface="Wingdings" panose="05000000000000000000" pitchFamily="2" charset="2"/>
              <a:buChar char="q"/>
            </a:pPr>
            <a:r>
              <a:rPr lang="en-US" sz="1310" b="1" dirty="0">
                <a:effectLst>
                  <a:outerShdw blurRad="38100" dist="38100" dir="2700000" algn="tl">
                    <a:srgbClr val="000000">
                      <a:alpha val="43137"/>
                    </a:srgbClr>
                  </a:outerShdw>
                </a:effectLst>
                <a:latin typeface="Avenir Next" panose="020B0503020202020204" pitchFamily="34" charset="0"/>
              </a:rPr>
              <a:t>How can we exploit this bug ?</a:t>
            </a:r>
          </a:p>
        </p:txBody>
      </p:sp>
      <p:grpSp>
        <p:nvGrpSpPr>
          <p:cNvPr id="47" name="Group 46">
            <a:extLst>
              <a:ext uri="{FF2B5EF4-FFF2-40B4-BE49-F238E27FC236}">
                <a16:creationId xmlns:a16="http://schemas.microsoft.com/office/drawing/2014/main" id="{3EC6AF94-D3C3-9CEA-6773-5D166EA4F02A}"/>
              </a:ext>
            </a:extLst>
          </p:cNvPr>
          <p:cNvGrpSpPr/>
          <p:nvPr>
            <p:custDataLst>
              <p:tags r:id="rId4"/>
            </p:custDataLst>
          </p:nvPr>
        </p:nvGrpSpPr>
        <p:grpSpPr>
          <a:xfrm>
            <a:off x="3061588" y="2977604"/>
            <a:ext cx="5518422" cy="2250772"/>
            <a:chOff x="2290120" y="972216"/>
            <a:chExt cx="7580863" cy="3091969"/>
          </a:xfrm>
        </p:grpSpPr>
        <p:grpSp>
          <p:nvGrpSpPr>
            <p:cNvPr id="48" name="Group 47">
              <a:extLst>
                <a:ext uri="{FF2B5EF4-FFF2-40B4-BE49-F238E27FC236}">
                  <a16:creationId xmlns:a16="http://schemas.microsoft.com/office/drawing/2014/main" id="{3458DB3E-6ED0-7402-C15C-ACA34574FFF7}"/>
                </a:ext>
              </a:extLst>
            </p:cNvPr>
            <p:cNvGrpSpPr/>
            <p:nvPr/>
          </p:nvGrpSpPr>
          <p:grpSpPr>
            <a:xfrm>
              <a:off x="2290120" y="3003237"/>
              <a:ext cx="7580863" cy="1060948"/>
              <a:chOff x="2312779" y="4001294"/>
              <a:chExt cx="7566441" cy="1060948"/>
            </a:xfrm>
          </p:grpSpPr>
          <p:pic>
            <p:nvPicPr>
              <p:cNvPr id="54" name="Picture 53" descr="A picture containing photo, sitting, monitor, table&#10;&#10;Description generated with very high confidence">
                <a:extLst>
                  <a:ext uri="{FF2B5EF4-FFF2-40B4-BE49-F238E27FC236}">
                    <a16:creationId xmlns:a16="http://schemas.microsoft.com/office/drawing/2014/main" id="{42EDD816-3D14-18FF-A57B-977DA2F2D65C}"/>
                  </a:ext>
                </a:extLst>
              </p:cNvPr>
              <p:cNvPicPr>
                <a:picLocks noChangeAspect="1"/>
              </p:cNvPicPr>
              <p:nvPr/>
            </p:nvPicPr>
            <p:blipFill>
              <a:blip r:embed="rId10"/>
              <a:stretch>
                <a:fillRect/>
              </a:stretch>
            </p:blipFill>
            <p:spPr>
              <a:xfrm>
                <a:off x="2313432" y="4001294"/>
                <a:ext cx="630751" cy="692580"/>
              </a:xfrm>
              <a:prstGeom prst="rect">
                <a:avLst/>
              </a:prstGeom>
            </p:spPr>
          </p:pic>
          <p:pic>
            <p:nvPicPr>
              <p:cNvPr id="55" name="Picture 54" descr="A picture containing photo, sitting, monitor, table&#10;&#10;Description generated with very high confidence">
                <a:extLst>
                  <a:ext uri="{FF2B5EF4-FFF2-40B4-BE49-F238E27FC236}">
                    <a16:creationId xmlns:a16="http://schemas.microsoft.com/office/drawing/2014/main" id="{0FEB66B6-A144-1A3B-189D-CAE5C74227BE}"/>
                  </a:ext>
                </a:extLst>
              </p:cNvPr>
              <p:cNvPicPr>
                <a:picLocks noChangeAspect="1"/>
              </p:cNvPicPr>
              <p:nvPr/>
            </p:nvPicPr>
            <p:blipFill>
              <a:blip r:embed="rId10"/>
              <a:stretch>
                <a:fillRect/>
              </a:stretch>
            </p:blipFill>
            <p:spPr>
              <a:xfrm>
                <a:off x="9231722" y="4002966"/>
                <a:ext cx="647498" cy="692581"/>
              </a:xfrm>
              <a:prstGeom prst="rect">
                <a:avLst/>
              </a:prstGeom>
            </p:spPr>
          </p:pic>
          <p:sp>
            <p:nvSpPr>
              <p:cNvPr id="56" name="TextBox 6">
                <a:extLst>
                  <a:ext uri="{FF2B5EF4-FFF2-40B4-BE49-F238E27FC236}">
                    <a16:creationId xmlns:a16="http://schemas.microsoft.com/office/drawing/2014/main" id="{29F4F1D9-D9B8-3E20-A5D1-412E669166B0}"/>
                  </a:ext>
                </a:extLst>
              </p:cNvPr>
              <p:cNvSpPr txBox="1"/>
              <p:nvPr/>
            </p:nvSpPr>
            <p:spPr>
              <a:xfrm>
                <a:off x="2312779" y="4692973"/>
                <a:ext cx="76036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Alice</a:t>
                </a:r>
              </a:p>
            </p:txBody>
          </p:sp>
          <p:sp>
            <p:nvSpPr>
              <p:cNvPr id="57" name="TextBox 7">
                <a:extLst>
                  <a:ext uri="{FF2B5EF4-FFF2-40B4-BE49-F238E27FC236}">
                    <a16:creationId xmlns:a16="http://schemas.microsoft.com/office/drawing/2014/main" id="{C0B33DF0-CED8-F0A5-5498-4BC51BFC205C}"/>
                  </a:ext>
                </a:extLst>
              </p:cNvPr>
              <p:cNvSpPr txBox="1"/>
              <p:nvPr/>
            </p:nvSpPr>
            <p:spPr>
              <a:xfrm>
                <a:off x="9194526" y="4692973"/>
                <a:ext cx="67628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Bob</a:t>
                </a:r>
              </a:p>
            </p:txBody>
          </p:sp>
        </p:grpSp>
        <p:grpSp>
          <p:nvGrpSpPr>
            <p:cNvPr id="49" name="Group 48">
              <a:extLst>
                <a:ext uri="{FF2B5EF4-FFF2-40B4-BE49-F238E27FC236}">
                  <a16:creationId xmlns:a16="http://schemas.microsoft.com/office/drawing/2014/main" id="{FDC87DB2-AC4E-C498-BA6F-B4EF1A850C20}"/>
                </a:ext>
              </a:extLst>
            </p:cNvPr>
            <p:cNvGrpSpPr/>
            <p:nvPr/>
          </p:nvGrpSpPr>
          <p:grpSpPr>
            <a:xfrm>
              <a:off x="5533512" y="972216"/>
              <a:ext cx="1244110" cy="1100568"/>
              <a:chOff x="5541749" y="1970273"/>
              <a:chExt cx="1244110" cy="1100568"/>
            </a:xfrm>
          </p:grpSpPr>
          <p:pic>
            <p:nvPicPr>
              <p:cNvPr id="52" name="Picture 51" descr="A picture containing text&#10;&#10;Description generated with very high confidence">
                <a:extLst>
                  <a:ext uri="{FF2B5EF4-FFF2-40B4-BE49-F238E27FC236}">
                    <a16:creationId xmlns:a16="http://schemas.microsoft.com/office/drawing/2014/main" id="{B55F9D41-EEA7-D52A-4D50-652446985FC7}"/>
                  </a:ext>
                </a:extLst>
              </p:cNvPr>
              <p:cNvPicPr>
                <a:picLocks noChangeAspect="1"/>
              </p:cNvPicPr>
              <p:nvPr/>
            </p:nvPicPr>
            <p:blipFill>
              <a:blip r:embed="rId11"/>
              <a:stretch>
                <a:fillRect/>
              </a:stretch>
            </p:blipFill>
            <p:spPr>
              <a:xfrm>
                <a:off x="5728535" y="2322217"/>
                <a:ext cx="739215" cy="748624"/>
              </a:xfrm>
              <a:prstGeom prst="rect">
                <a:avLst/>
              </a:prstGeom>
            </p:spPr>
          </p:pic>
          <p:sp>
            <p:nvSpPr>
              <p:cNvPr id="53" name="TextBox 52">
                <a:extLst>
                  <a:ext uri="{FF2B5EF4-FFF2-40B4-BE49-F238E27FC236}">
                    <a16:creationId xmlns:a16="http://schemas.microsoft.com/office/drawing/2014/main" id="{0BCC1E66-BE8E-1319-96CD-90E5B11F8F6E}"/>
                  </a:ext>
                </a:extLst>
              </p:cNvPr>
              <p:cNvSpPr txBox="1"/>
              <p:nvPr/>
            </p:nvSpPr>
            <p:spPr>
              <a:xfrm>
                <a:off x="5541749" y="1970273"/>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latin typeface="Avenir Next" panose="020B0503020202020204" pitchFamily="34" charset="0"/>
                    <a:cs typeface="Calibri"/>
                  </a:rPr>
                  <a:t>Attacker</a:t>
                </a:r>
              </a:p>
            </p:txBody>
          </p:sp>
        </p:grpSp>
        <p:cxnSp>
          <p:nvCxnSpPr>
            <p:cNvPr id="50" name="Straight Arrow Connector 49">
              <a:extLst>
                <a:ext uri="{FF2B5EF4-FFF2-40B4-BE49-F238E27FC236}">
                  <a16:creationId xmlns:a16="http://schemas.microsoft.com/office/drawing/2014/main" id="{17DA71F1-B74A-191D-5BA5-83C017AE56C2}"/>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5809967-5831-2BA6-A64F-3D6906B8424E}"/>
                </a:ext>
              </a:extLst>
            </p:cNvPr>
            <p:cNvCxnSpPr/>
            <p:nvPr/>
          </p:nvCxnSpPr>
          <p:spPr>
            <a:xfrm>
              <a:off x="6079715" y="2046371"/>
              <a:ext cx="0" cy="128791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58" name="TextBox 57">
            <a:extLst>
              <a:ext uri="{FF2B5EF4-FFF2-40B4-BE49-F238E27FC236}">
                <a16:creationId xmlns:a16="http://schemas.microsoft.com/office/drawing/2014/main" id="{13C040EC-482F-CEEE-C4E8-5F6012F81334}"/>
              </a:ext>
            </a:extLst>
          </p:cNvPr>
          <p:cNvSpPr txBox="1"/>
          <p:nvPr>
            <p:custDataLst>
              <p:tags r:id="rId5"/>
            </p:custDataLst>
          </p:nvPr>
        </p:nvSpPr>
        <p:spPr>
          <a:xfrm>
            <a:off x="2741341" y="4720605"/>
            <a:ext cx="1144865" cy="293927"/>
          </a:xfrm>
          <a:prstGeom prst="rect">
            <a:avLst/>
          </a:prstGeom>
          <a:noFill/>
        </p:spPr>
        <p:txBody>
          <a:bodyPr wrap="none" rtlCol="0">
            <a:spAutoFit/>
          </a:bodyPr>
          <a:lstStyle/>
          <a:p>
            <a:pPr>
              <a:buSzPts val="100"/>
            </a:pPr>
            <a:r>
              <a:rPr lang="en-US" sz="1310" b="1" dirty="0" err="1">
                <a:noFill/>
                <a:latin typeface="Avenir Next" panose="020B0503020202020204" pitchFamily="34" charset="0"/>
              </a:rPr>
              <a:t>ServerHello</a:t>
            </a:r>
            <a:endParaRPr lang="en-US" sz="1310" b="1" dirty="0">
              <a:noFill/>
              <a:latin typeface="Avenir Next" panose="020B0503020202020204" pitchFamily="34" charset="0"/>
            </a:endParaRPr>
          </a:p>
        </p:txBody>
      </p:sp>
      <p:sp>
        <p:nvSpPr>
          <p:cNvPr id="61" name="TextBox 60">
            <a:extLst>
              <a:ext uri="{FF2B5EF4-FFF2-40B4-BE49-F238E27FC236}">
                <a16:creationId xmlns:a16="http://schemas.microsoft.com/office/drawing/2014/main" id="{2ED74D7D-FDA2-547E-FB1C-438F63BE2E41}"/>
              </a:ext>
            </a:extLst>
          </p:cNvPr>
          <p:cNvSpPr txBox="1"/>
          <p:nvPr>
            <p:custDataLst>
              <p:tags r:id="rId6"/>
            </p:custDataLst>
          </p:nvPr>
        </p:nvSpPr>
        <p:spPr>
          <a:xfrm>
            <a:off x="2528506" y="2376622"/>
            <a:ext cx="4067204" cy="293927"/>
          </a:xfrm>
          <a:prstGeom prst="rect">
            <a:avLst/>
          </a:prstGeom>
          <a:noFill/>
        </p:spPr>
        <p:txBody>
          <a:bodyPr wrap="none" rtlCol="0">
            <a:spAutoFit/>
          </a:bodyPr>
          <a:lstStyle/>
          <a:p>
            <a:r>
              <a:rPr lang="en-US" sz="1310" b="1" dirty="0">
                <a:latin typeface="Avenir Next" panose="020B0503020202020204" pitchFamily="34" charset="0"/>
              </a:rPr>
              <a:t>1. Attacker </a:t>
            </a:r>
            <a:r>
              <a:rPr lang="en-US" sz="1310" b="1" dirty="0">
                <a:solidFill>
                  <a:srgbClr val="C00000"/>
                </a:solidFill>
                <a:latin typeface="Avenir Next" panose="020B0503020202020204" pitchFamily="34" charset="0"/>
              </a:rPr>
              <a:t>injects</a:t>
            </a:r>
            <a:r>
              <a:rPr lang="en-US" sz="1310" b="1" dirty="0">
                <a:latin typeface="Avenir Next" panose="020B0503020202020204" pitchFamily="34" charset="0"/>
              </a:rPr>
              <a:t> </a:t>
            </a:r>
            <a:r>
              <a:rPr lang="en-US" sz="1310" b="1" dirty="0">
                <a:solidFill>
                  <a:srgbClr val="C00000"/>
                </a:solidFill>
                <a:latin typeface="Avenir Next" panose="020B0503020202020204" pitchFamily="34" charset="0"/>
              </a:rPr>
              <a:t>CCS</a:t>
            </a:r>
            <a:r>
              <a:rPr lang="en-US" sz="1310" b="1" dirty="0">
                <a:latin typeface="Avenir Next" panose="020B0503020202020204" pitchFamily="34" charset="0"/>
              </a:rPr>
              <a:t> to both after </a:t>
            </a:r>
            <a:r>
              <a:rPr lang="en-US" sz="1310" b="1" dirty="0" err="1">
                <a:latin typeface="Avenir Next" panose="020B0503020202020204" pitchFamily="34" charset="0"/>
              </a:rPr>
              <a:t>ServerHello</a:t>
            </a:r>
            <a:endParaRPr lang="en-US" sz="1310" b="1" dirty="0">
              <a:latin typeface="Avenir Next" panose="020B0503020202020204" pitchFamily="34" charset="0"/>
            </a:endParaRPr>
          </a:p>
        </p:txBody>
      </p:sp>
      <p:sp>
        <p:nvSpPr>
          <p:cNvPr id="65" name="TextBox 64">
            <a:extLst>
              <a:ext uri="{FF2B5EF4-FFF2-40B4-BE49-F238E27FC236}">
                <a16:creationId xmlns:a16="http://schemas.microsoft.com/office/drawing/2014/main" id="{20F2E507-8F01-7F2C-BF88-8783BAE0E661}"/>
              </a:ext>
            </a:extLst>
          </p:cNvPr>
          <p:cNvSpPr txBox="1"/>
          <p:nvPr>
            <p:custDataLst>
              <p:tags r:id="rId7"/>
            </p:custDataLst>
          </p:nvPr>
        </p:nvSpPr>
        <p:spPr>
          <a:xfrm>
            <a:off x="2528506" y="2676434"/>
            <a:ext cx="7965642" cy="293927"/>
          </a:xfrm>
          <a:prstGeom prst="rect">
            <a:avLst/>
          </a:prstGeom>
          <a:noFill/>
        </p:spPr>
        <p:txBody>
          <a:bodyPr wrap="none" rtlCol="0">
            <a:spAutoFit/>
          </a:bodyPr>
          <a:lstStyle/>
          <a:p>
            <a:r>
              <a:rPr lang="en-US" sz="1310" b="1" dirty="0">
                <a:latin typeface="Avenir Next" panose="020B0503020202020204" pitchFamily="34" charset="0"/>
              </a:rPr>
              <a:t>2. Alice and Bob both generate </a:t>
            </a:r>
            <a:r>
              <a:rPr lang="en-US" sz="1310" b="1" dirty="0">
                <a:solidFill>
                  <a:srgbClr val="C00000"/>
                </a:solidFill>
                <a:latin typeface="Avenir Next" panose="020B0503020202020204" pitchFamily="34" charset="0"/>
              </a:rPr>
              <a:t>predictable</a:t>
            </a:r>
            <a:r>
              <a:rPr lang="en-US" sz="1310" b="1" dirty="0">
                <a:latin typeface="Avenir Next" panose="020B0503020202020204" pitchFamily="34" charset="0"/>
              </a:rPr>
              <a:t> encryption and MAC keys from </a:t>
            </a:r>
            <a:r>
              <a:rPr lang="en-US" sz="1310" b="1" dirty="0">
                <a:solidFill>
                  <a:srgbClr val="C00000"/>
                </a:solidFill>
                <a:latin typeface="Avenir Next" panose="020B0503020202020204" pitchFamily="34" charset="0"/>
              </a:rPr>
              <a:t>empty</a:t>
            </a:r>
            <a:r>
              <a:rPr lang="en-US" sz="1310" b="1" dirty="0">
                <a:latin typeface="Avenir Next" panose="020B0503020202020204" pitchFamily="34" charset="0"/>
              </a:rPr>
              <a:t> shared secret </a:t>
            </a:r>
          </a:p>
        </p:txBody>
      </p:sp>
    </p:spTree>
    <p:custDataLst>
      <p:tags r:id="rId1"/>
    </p:custDataLst>
    <p:extLst>
      <p:ext uri="{BB962C8B-B14F-4D97-AF65-F5344CB8AC3E}">
        <p14:creationId xmlns:p14="http://schemas.microsoft.com/office/powerpoint/2010/main" val="2789728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5551623" cy="707886"/>
          </a:xfrm>
          <a:prstGeom prst="rect">
            <a:avLst/>
          </a:prstGeom>
          <a:solidFill>
            <a:srgbClr val="C00000"/>
          </a:solidFill>
        </p:spPr>
        <p:txBody>
          <a:bodyPr wrap="square">
            <a:spAutoFit/>
          </a:bodyPr>
          <a:lstStyle/>
          <a:p>
            <a:pPr algn="ctr"/>
            <a:r>
              <a:rPr lang="en-US" sz="4000" dirty="0" err="1">
                <a:solidFill>
                  <a:schemeClr val="bg1"/>
                </a:solidFill>
                <a:latin typeface="Avenir Next" panose="020B0503020202020204" pitchFamily="34" charset="0"/>
                <a:cs typeface="Courier New" panose="02070309020205020404" pitchFamily="49" charset="0"/>
              </a:rPr>
              <a:t>EarlyCCS</a:t>
            </a:r>
            <a:r>
              <a:rPr lang="en-US" sz="4000" dirty="0">
                <a:solidFill>
                  <a:schemeClr val="bg1"/>
                </a:solidFill>
                <a:latin typeface="Avenir Next" panose="020B0503020202020204" pitchFamily="34" charset="0"/>
                <a:cs typeface="Courier New" panose="02070309020205020404" pitchFamily="49" charset="0"/>
              </a:rPr>
              <a:t> Bug</a:t>
            </a:r>
            <a:endParaRPr lang="en-US" sz="4000" dirty="0">
              <a:solidFill>
                <a:schemeClr val="bg1"/>
              </a:solidFill>
              <a:latin typeface="Avenir Next" panose="020B0503020202020204" pitchFamily="34" charset="0"/>
            </a:endParaRPr>
          </a:p>
        </p:txBody>
      </p:sp>
      <p:sp>
        <p:nvSpPr>
          <p:cNvPr id="4" name="TextBox 3">
            <a:extLst>
              <a:ext uri="{FF2B5EF4-FFF2-40B4-BE49-F238E27FC236}">
                <a16:creationId xmlns:a16="http://schemas.microsoft.com/office/drawing/2014/main" id="{3F8A2CED-0121-0CFB-264D-178CA966DFF3}"/>
              </a:ext>
            </a:extLst>
          </p:cNvPr>
          <p:cNvSpPr txBox="1"/>
          <p:nvPr>
            <p:custDataLst>
              <p:tags r:id="rId3"/>
            </p:custDataLst>
          </p:nvPr>
        </p:nvSpPr>
        <p:spPr>
          <a:xfrm>
            <a:off x="2528506" y="1985528"/>
            <a:ext cx="3184682" cy="293927"/>
          </a:xfrm>
          <a:prstGeom prst="rect">
            <a:avLst/>
          </a:prstGeom>
          <a:noFill/>
        </p:spPr>
        <p:txBody>
          <a:bodyPr wrap="square" rtlCol="0">
            <a:spAutoFit/>
          </a:bodyPr>
          <a:lstStyle/>
          <a:p>
            <a:pPr marL="208021" indent="-208021">
              <a:buFont typeface="Wingdings" panose="05000000000000000000" pitchFamily="2" charset="2"/>
              <a:buChar char="q"/>
            </a:pPr>
            <a:r>
              <a:rPr lang="en-US" sz="1310" b="1" dirty="0">
                <a:effectLst>
                  <a:outerShdw blurRad="38100" dist="38100" dir="2700000" algn="tl">
                    <a:srgbClr val="000000">
                      <a:alpha val="43137"/>
                    </a:srgbClr>
                  </a:outerShdw>
                </a:effectLst>
                <a:latin typeface="Avenir Next" panose="020B0503020202020204" pitchFamily="34" charset="0"/>
              </a:rPr>
              <a:t>How can we exploit this bug ?</a:t>
            </a:r>
          </a:p>
        </p:txBody>
      </p:sp>
      <p:grpSp>
        <p:nvGrpSpPr>
          <p:cNvPr id="47" name="Group 46">
            <a:extLst>
              <a:ext uri="{FF2B5EF4-FFF2-40B4-BE49-F238E27FC236}">
                <a16:creationId xmlns:a16="http://schemas.microsoft.com/office/drawing/2014/main" id="{3EC6AF94-D3C3-9CEA-6773-5D166EA4F02A}"/>
              </a:ext>
            </a:extLst>
          </p:cNvPr>
          <p:cNvGrpSpPr/>
          <p:nvPr>
            <p:custDataLst>
              <p:tags r:id="rId4"/>
            </p:custDataLst>
          </p:nvPr>
        </p:nvGrpSpPr>
        <p:grpSpPr>
          <a:xfrm>
            <a:off x="3061588" y="2977604"/>
            <a:ext cx="5518422" cy="2250772"/>
            <a:chOff x="2290120" y="972216"/>
            <a:chExt cx="7580863" cy="3091969"/>
          </a:xfrm>
        </p:grpSpPr>
        <p:grpSp>
          <p:nvGrpSpPr>
            <p:cNvPr id="48" name="Group 47">
              <a:extLst>
                <a:ext uri="{FF2B5EF4-FFF2-40B4-BE49-F238E27FC236}">
                  <a16:creationId xmlns:a16="http://schemas.microsoft.com/office/drawing/2014/main" id="{3458DB3E-6ED0-7402-C15C-ACA34574FFF7}"/>
                </a:ext>
              </a:extLst>
            </p:cNvPr>
            <p:cNvGrpSpPr/>
            <p:nvPr/>
          </p:nvGrpSpPr>
          <p:grpSpPr>
            <a:xfrm>
              <a:off x="2290120" y="3003237"/>
              <a:ext cx="7580863" cy="1060948"/>
              <a:chOff x="2312779" y="4001294"/>
              <a:chExt cx="7566441" cy="1060948"/>
            </a:xfrm>
          </p:grpSpPr>
          <p:pic>
            <p:nvPicPr>
              <p:cNvPr id="54" name="Picture 53" descr="A picture containing photo, sitting, monitor, table&#10;&#10;Description generated with very high confidence">
                <a:extLst>
                  <a:ext uri="{FF2B5EF4-FFF2-40B4-BE49-F238E27FC236}">
                    <a16:creationId xmlns:a16="http://schemas.microsoft.com/office/drawing/2014/main" id="{42EDD816-3D14-18FF-A57B-977DA2F2D65C}"/>
                  </a:ext>
                </a:extLst>
              </p:cNvPr>
              <p:cNvPicPr>
                <a:picLocks noChangeAspect="1"/>
              </p:cNvPicPr>
              <p:nvPr/>
            </p:nvPicPr>
            <p:blipFill>
              <a:blip r:embed="rId11"/>
              <a:stretch>
                <a:fillRect/>
              </a:stretch>
            </p:blipFill>
            <p:spPr>
              <a:xfrm>
                <a:off x="2313432" y="4001294"/>
                <a:ext cx="630751" cy="692580"/>
              </a:xfrm>
              <a:prstGeom prst="rect">
                <a:avLst/>
              </a:prstGeom>
            </p:spPr>
          </p:pic>
          <p:pic>
            <p:nvPicPr>
              <p:cNvPr id="55" name="Picture 54" descr="A picture containing photo, sitting, monitor, table&#10;&#10;Description generated with very high confidence">
                <a:extLst>
                  <a:ext uri="{FF2B5EF4-FFF2-40B4-BE49-F238E27FC236}">
                    <a16:creationId xmlns:a16="http://schemas.microsoft.com/office/drawing/2014/main" id="{0FEB66B6-A144-1A3B-189D-CAE5C74227BE}"/>
                  </a:ext>
                </a:extLst>
              </p:cNvPr>
              <p:cNvPicPr>
                <a:picLocks noChangeAspect="1"/>
              </p:cNvPicPr>
              <p:nvPr/>
            </p:nvPicPr>
            <p:blipFill>
              <a:blip r:embed="rId11"/>
              <a:stretch>
                <a:fillRect/>
              </a:stretch>
            </p:blipFill>
            <p:spPr>
              <a:xfrm>
                <a:off x="9231722" y="4002966"/>
                <a:ext cx="647498" cy="692581"/>
              </a:xfrm>
              <a:prstGeom prst="rect">
                <a:avLst/>
              </a:prstGeom>
            </p:spPr>
          </p:pic>
          <p:sp>
            <p:nvSpPr>
              <p:cNvPr id="56" name="TextBox 6">
                <a:extLst>
                  <a:ext uri="{FF2B5EF4-FFF2-40B4-BE49-F238E27FC236}">
                    <a16:creationId xmlns:a16="http://schemas.microsoft.com/office/drawing/2014/main" id="{29F4F1D9-D9B8-3E20-A5D1-412E669166B0}"/>
                  </a:ext>
                </a:extLst>
              </p:cNvPr>
              <p:cNvSpPr txBox="1"/>
              <p:nvPr/>
            </p:nvSpPr>
            <p:spPr>
              <a:xfrm>
                <a:off x="2312779" y="4692973"/>
                <a:ext cx="76036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Alice</a:t>
                </a:r>
              </a:p>
            </p:txBody>
          </p:sp>
          <p:sp>
            <p:nvSpPr>
              <p:cNvPr id="57" name="TextBox 7">
                <a:extLst>
                  <a:ext uri="{FF2B5EF4-FFF2-40B4-BE49-F238E27FC236}">
                    <a16:creationId xmlns:a16="http://schemas.microsoft.com/office/drawing/2014/main" id="{C0B33DF0-CED8-F0A5-5498-4BC51BFC205C}"/>
                  </a:ext>
                </a:extLst>
              </p:cNvPr>
              <p:cNvSpPr txBox="1"/>
              <p:nvPr/>
            </p:nvSpPr>
            <p:spPr>
              <a:xfrm>
                <a:off x="9194526" y="4692973"/>
                <a:ext cx="67628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Bob</a:t>
                </a:r>
              </a:p>
            </p:txBody>
          </p:sp>
        </p:grpSp>
        <p:grpSp>
          <p:nvGrpSpPr>
            <p:cNvPr id="49" name="Group 48">
              <a:extLst>
                <a:ext uri="{FF2B5EF4-FFF2-40B4-BE49-F238E27FC236}">
                  <a16:creationId xmlns:a16="http://schemas.microsoft.com/office/drawing/2014/main" id="{FDC87DB2-AC4E-C498-BA6F-B4EF1A850C20}"/>
                </a:ext>
              </a:extLst>
            </p:cNvPr>
            <p:cNvGrpSpPr/>
            <p:nvPr/>
          </p:nvGrpSpPr>
          <p:grpSpPr>
            <a:xfrm>
              <a:off x="5533512" y="972216"/>
              <a:ext cx="1244110" cy="1100568"/>
              <a:chOff x="5541749" y="1970273"/>
              <a:chExt cx="1244110" cy="1100568"/>
            </a:xfrm>
          </p:grpSpPr>
          <p:pic>
            <p:nvPicPr>
              <p:cNvPr id="52" name="Picture 51" descr="A picture containing text&#10;&#10;Description generated with very high confidence">
                <a:extLst>
                  <a:ext uri="{FF2B5EF4-FFF2-40B4-BE49-F238E27FC236}">
                    <a16:creationId xmlns:a16="http://schemas.microsoft.com/office/drawing/2014/main" id="{B55F9D41-EEA7-D52A-4D50-652446985FC7}"/>
                  </a:ext>
                </a:extLst>
              </p:cNvPr>
              <p:cNvPicPr>
                <a:picLocks noChangeAspect="1"/>
              </p:cNvPicPr>
              <p:nvPr/>
            </p:nvPicPr>
            <p:blipFill>
              <a:blip r:embed="rId12"/>
              <a:stretch>
                <a:fillRect/>
              </a:stretch>
            </p:blipFill>
            <p:spPr>
              <a:xfrm>
                <a:off x="5728535" y="2322217"/>
                <a:ext cx="739215" cy="748624"/>
              </a:xfrm>
              <a:prstGeom prst="rect">
                <a:avLst/>
              </a:prstGeom>
            </p:spPr>
          </p:pic>
          <p:sp>
            <p:nvSpPr>
              <p:cNvPr id="53" name="TextBox 52">
                <a:extLst>
                  <a:ext uri="{FF2B5EF4-FFF2-40B4-BE49-F238E27FC236}">
                    <a16:creationId xmlns:a16="http://schemas.microsoft.com/office/drawing/2014/main" id="{0BCC1E66-BE8E-1319-96CD-90E5B11F8F6E}"/>
                  </a:ext>
                </a:extLst>
              </p:cNvPr>
              <p:cNvSpPr txBox="1"/>
              <p:nvPr/>
            </p:nvSpPr>
            <p:spPr>
              <a:xfrm>
                <a:off x="5541749" y="1970273"/>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latin typeface="Avenir Next" panose="020B0503020202020204" pitchFamily="34" charset="0"/>
                    <a:cs typeface="Calibri"/>
                  </a:rPr>
                  <a:t>Attacker</a:t>
                </a:r>
              </a:p>
            </p:txBody>
          </p:sp>
        </p:grpSp>
        <p:cxnSp>
          <p:nvCxnSpPr>
            <p:cNvPr id="50" name="Straight Arrow Connector 49">
              <a:extLst>
                <a:ext uri="{FF2B5EF4-FFF2-40B4-BE49-F238E27FC236}">
                  <a16:creationId xmlns:a16="http://schemas.microsoft.com/office/drawing/2014/main" id="{17DA71F1-B74A-191D-5BA5-83C017AE56C2}"/>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5809967-5831-2BA6-A64F-3D6906B8424E}"/>
                </a:ext>
              </a:extLst>
            </p:cNvPr>
            <p:cNvCxnSpPr/>
            <p:nvPr/>
          </p:nvCxnSpPr>
          <p:spPr>
            <a:xfrm>
              <a:off x="6079715" y="2046371"/>
              <a:ext cx="0" cy="128791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58" name="TextBox 57">
            <a:extLst>
              <a:ext uri="{FF2B5EF4-FFF2-40B4-BE49-F238E27FC236}">
                <a16:creationId xmlns:a16="http://schemas.microsoft.com/office/drawing/2014/main" id="{13C040EC-482F-CEEE-C4E8-5F6012F81334}"/>
              </a:ext>
            </a:extLst>
          </p:cNvPr>
          <p:cNvSpPr txBox="1"/>
          <p:nvPr>
            <p:custDataLst>
              <p:tags r:id="rId5"/>
            </p:custDataLst>
          </p:nvPr>
        </p:nvSpPr>
        <p:spPr>
          <a:xfrm>
            <a:off x="2741341" y="4720605"/>
            <a:ext cx="1144865" cy="293927"/>
          </a:xfrm>
          <a:prstGeom prst="rect">
            <a:avLst/>
          </a:prstGeom>
          <a:noFill/>
        </p:spPr>
        <p:txBody>
          <a:bodyPr wrap="none" rtlCol="0">
            <a:spAutoFit/>
          </a:bodyPr>
          <a:lstStyle/>
          <a:p>
            <a:pPr>
              <a:buSzPts val="100"/>
            </a:pPr>
            <a:r>
              <a:rPr lang="en-US" sz="1310" b="1" dirty="0" err="1">
                <a:noFill/>
                <a:latin typeface="Avenir Next" panose="020B0503020202020204" pitchFamily="34" charset="0"/>
              </a:rPr>
              <a:t>ServerHello</a:t>
            </a:r>
            <a:endParaRPr lang="en-US" sz="1310" b="1" dirty="0">
              <a:noFill/>
              <a:latin typeface="Avenir Next" panose="020B0503020202020204" pitchFamily="34" charset="0"/>
            </a:endParaRPr>
          </a:p>
        </p:txBody>
      </p:sp>
      <p:sp>
        <p:nvSpPr>
          <p:cNvPr id="61" name="TextBox 60">
            <a:extLst>
              <a:ext uri="{FF2B5EF4-FFF2-40B4-BE49-F238E27FC236}">
                <a16:creationId xmlns:a16="http://schemas.microsoft.com/office/drawing/2014/main" id="{2ED74D7D-FDA2-547E-FB1C-438F63BE2E41}"/>
              </a:ext>
            </a:extLst>
          </p:cNvPr>
          <p:cNvSpPr txBox="1"/>
          <p:nvPr>
            <p:custDataLst>
              <p:tags r:id="rId6"/>
            </p:custDataLst>
          </p:nvPr>
        </p:nvSpPr>
        <p:spPr>
          <a:xfrm>
            <a:off x="2528506" y="2376622"/>
            <a:ext cx="4067204" cy="293927"/>
          </a:xfrm>
          <a:prstGeom prst="rect">
            <a:avLst/>
          </a:prstGeom>
          <a:noFill/>
        </p:spPr>
        <p:txBody>
          <a:bodyPr wrap="none" rtlCol="0">
            <a:spAutoFit/>
          </a:bodyPr>
          <a:lstStyle/>
          <a:p>
            <a:r>
              <a:rPr lang="en-US" sz="1310" b="1" dirty="0">
                <a:latin typeface="Avenir Next" panose="020B0503020202020204" pitchFamily="34" charset="0"/>
              </a:rPr>
              <a:t>1. Attacker </a:t>
            </a:r>
            <a:r>
              <a:rPr lang="en-US" sz="1310" b="1" dirty="0">
                <a:solidFill>
                  <a:srgbClr val="C00000"/>
                </a:solidFill>
                <a:latin typeface="Avenir Next" panose="020B0503020202020204" pitchFamily="34" charset="0"/>
              </a:rPr>
              <a:t>injects</a:t>
            </a:r>
            <a:r>
              <a:rPr lang="en-US" sz="1310" b="1" dirty="0">
                <a:latin typeface="Avenir Next" panose="020B0503020202020204" pitchFamily="34" charset="0"/>
              </a:rPr>
              <a:t> </a:t>
            </a:r>
            <a:r>
              <a:rPr lang="en-US" sz="1310" b="1" dirty="0">
                <a:solidFill>
                  <a:srgbClr val="C00000"/>
                </a:solidFill>
                <a:latin typeface="Avenir Next" panose="020B0503020202020204" pitchFamily="34" charset="0"/>
              </a:rPr>
              <a:t>CCS</a:t>
            </a:r>
            <a:r>
              <a:rPr lang="en-US" sz="1310" b="1" dirty="0">
                <a:latin typeface="Avenir Next" panose="020B0503020202020204" pitchFamily="34" charset="0"/>
              </a:rPr>
              <a:t> to both after </a:t>
            </a:r>
            <a:r>
              <a:rPr lang="en-US" sz="1310" b="1" dirty="0" err="1">
                <a:latin typeface="Avenir Next" panose="020B0503020202020204" pitchFamily="34" charset="0"/>
              </a:rPr>
              <a:t>ServerHello</a:t>
            </a:r>
            <a:endParaRPr lang="en-US" sz="1310" b="1" dirty="0">
              <a:latin typeface="Avenir Next" panose="020B0503020202020204" pitchFamily="34" charset="0"/>
            </a:endParaRPr>
          </a:p>
        </p:txBody>
      </p:sp>
      <p:sp>
        <p:nvSpPr>
          <p:cNvPr id="65" name="TextBox 64">
            <a:extLst>
              <a:ext uri="{FF2B5EF4-FFF2-40B4-BE49-F238E27FC236}">
                <a16:creationId xmlns:a16="http://schemas.microsoft.com/office/drawing/2014/main" id="{20F2E507-8F01-7F2C-BF88-8783BAE0E661}"/>
              </a:ext>
            </a:extLst>
          </p:cNvPr>
          <p:cNvSpPr txBox="1"/>
          <p:nvPr>
            <p:custDataLst>
              <p:tags r:id="rId7"/>
            </p:custDataLst>
          </p:nvPr>
        </p:nvSpPr>
        <p:spPr>
          <a:xfrm>
            <a:off x="2528506" y="2676434"/>
            <a:ext cx="7965642" cy="293927"/>
          </a:xfrm>
          <a:prstGeom prst="rect">
            <a:avLst/>
          </a:prstGeom>
          <a:noFill/>
        </p:spPr>
        <p:txBody>
          <a:bodyPr wrap="none" rtlCol="0">
            <a:spAutoFit/>
          </a:bodyPr>
          <a:lstStyle/>
          <a:p>
            <a:r>
              <a:rPr lang="en-US" sz="1310" b="1" dirty="0">
                <a:latin typeface="Avenir Next" panose="020B0503020202020204" pitchFamily="34" charset="0"/>
              </a:rPr>
              <a:t>2. Alice and Bob both generate </a:t>
            </a:r>
            <a:r>
              <a:rPr lang="en-US" sz="1310" b="1" dirty="0">
                <a:solidFill>
                  <a:srgbClr val="C00000"/>
                </a:solidFill>
                <a:latin typeface="Avenir Next" panose="020B0503020202020204" pitchFamily="34" charset="0"/>
              </a:rPr>
              <a:t>predictable</a:t>
            </a:r>
            <a:r>
              <a:rPr lang="en-US" sz="1310" b="1" dirty="0">
                <a:latin typeface="Avenir Next" panose="020B0503020202020204" pitchFamily="34" charset="0"/>
              </a:rPr>
              <a:t> encryption and MAC keys from </a:t>
            </a:r>
            <a:r>
              <a:rPr lang="en-US" sz="1310" b="1" dirty="0">
                <a:solidFill>
                  <a:srgbClr val="C00000"/>
                </a:solidFill>
                <a:latin typeface="Avenir Next" panose="020B0503020202020204" pitchFamily="34" charset="0"/>
              </a:rPr>
              <a:t>empty</a:t>
            </a:r>
            <a:r>
              <a:rPr lang="en-US" sz="1310" b="1" dirty="0">
                <a:latin typeface="Avenir Next" panose="020B0503020202020204" pitchFamily="34" charset="0"/>
              </a:rPr>
              <a:t> shared secret </a:t>
            </a:r>
          </a:p>
        </p:txBody>
      </p:sp>
      <p:sp>
        <p:nvSpPr>
          <p:cNvPr id="67" name="TextBox 66">
            <a:extLst>
              <a:ext uri="{FF2B5EF4-FFF2-40B4-BE49-F238E27FC236}">
                <a16:creationId xmlns:a16="http://schemas.microsoft.com/office/drawing/2014/main" id="{ACF818FE-235D-9E5B-F73D-83C16D83481E}"/>
              </a:ext>
            </a:extLst>
          </p:cNvPr>
          <p:cNvSpPr txBox="1"/>
          <p:nvPr>
            <p:custDataLst>
              <p:tags r:id="rId8"/>
            </p:custDataLst>
          </p:nvPr>
        </p:nvSpPr>
        <p:spPr>
          <a:xfrm>
            <a:off x="6514843" y="3063683"/>
            <a:ext cx="5372357" cy="495520"/>
          </a:xfrm>
          <a:prstGeom prst="rect">
            <a:avLst/>
          </a:prstGeom>
          <a:noFill/>
        </p:spPr>
        <p:txBody>
          <a:bodyPr wrap="square" rtlCol="0">
            <a:spAutoFit/>
          </a:bodyPr>
          <a:lstStyle/>
          <a:p>
            <a:r>
              <a:rPr lang="en-US" sz="1310" b="1" dirty="0">
                <a:latin typeface="Avenir Next" panose="020B0503020202020204" pitchFamily="34" charset="0"/>
              </a:rPr>
              <a:t>3. Attacker </a:t>
            </a:r>
            <a:r>
              <a:rPr lang="en-US" sz="1310" b="1" dirty="0">
                <a:solidFill>
                  <a:srgbClr val="C00000"/>
                </a:solidFill>
                <a:latin typeface="Avenir Next" panose="020B0503020202020204" pitchFamily="34" charset="0"/>
              </a:rPr>
              <a:t>drops</a:t>
            </a:r>
            <a:r>
              <a:rPr lang="en-US" sz="1310" b="1" dirty="0">
                <a:latin typeface="Avenir Next" panose="020B0503020202020204" pitchFamily="34" charset="0"/>
              </a:rPr>
              <a:t> regular </a:t>
            </a:r>
            <a:r>
              <a:rPr lang="en-US" sz="1310" b="1" dirty="0">
                <a:solidFill>
                  <a:srgbClr val="C00000"/>
                </a:solidFill>
                <a:latin typeface="Avenir Next" panose="020B0503020202020204" pitchFamily="34" charset="0"/>
              </a:rPr>
              <a:t>CCS </a:t>
            </a:r>
            <a:r>
              <a:rPr lang="en-US" sz="1310" b="1" dirty="0">
                <a:latin typeface="Avenir Next" panose="020B0503020202020204" pitchFamily="34" charset="0"/>
              </a:rPr>
              <a:t>messages to prevent generation of </a:t>
            </a:r>
            <a:r>
              <a:rPr lang="en-US" sz="1310" b="1" dirty="0">
                <a:solidFill>
                  <a:srgbClr val="C00000"/>
                </a:solidFill>
                <a:latin typeface="Avenir Next" panose="020B0503020202020204" pitchFamily="34" charset="0"/>
              </a:rPr>
              <a:t>new</a:t>
            </a:r>
            <a:r>
              <a:rPr lang="en-US" sz="1310" b="1" dirty="0">
                <a:latin typeface="Avenir Next" panose="020B0503020202020204" pitchFamily="34" charset="0"/>
              </a:rPr>
              <a:t> encryption and MAC keys</a:t>
            </a:r>
          </a:p>
        </p:txBody>
      </p:sp>
    </p:spTree>
    <p:custDataLst>
      <p:tags r:id="rId1"/>
    </p:custDataLst>
    <p:extLst>
      <p:ext uri="{BB962C8B-B14F-4D97-AF65-F5344CB8AC3E}">
        <p14:creationId xmlns:p14="http://schemas.microsoft.com/office/powerpoint/2010/main" val="1265880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5551623" cy="707886"/>
          </a:xfrm>
          <a:prstGeom prst="rect">
            <a:avLst/>
          </a:prstGeom>
          <a:solidFill>
            <a:srgbClr val="C00000"/>
          </a:solidFill>
        </p:spPr>
        <p:txBody>
          <a:bodyPr wrap="square">
            <a:spAutoFit/>
          </a:bodyPr>
          <a:lstStyle/>
          <a:p>
            <a:pPr algn="ctr"/>
            <a:r>
              <a:rPr lang="en-US" sz="4000" dirty="0" err="1">
                <a:solidFill>
                  <a:schemeClr val="bg1"/>
                </a:solidFill>
                <a:latin typeface="Avenir Next" panose="020B0503020202020204" pitchFamily="34" charset="0"/>
                <a:cs typeface="Courier New" panose="02070309020205020404" pitchFamily="49" charset="0"/>
              </a:rPr>
              <a:t>EarlyCCS</a:t>
            </a:r>
            <a:r>
              <a:rPr lang="en-US" sz="4000" dirty="0">
                <a:solidFill>
                  <a:schemeClr val="bg1"/>
                </a:solidFill>
                <a:latin typeface="Avenir Next" panose="020B0503020202020204" pitchFamily="34" charset="0"/>
                <a:cs typeface="Courier New" panose="02070309020205020404" pitchFamily="49" charset="0"/>
              </a:rPr>
              <a:t> Bug</a:t>
            </a:r>
            <a:endParaRPr lang="en-US" sz="4000" dirty="0">
              <a:solidFill>
                <a:schemeClr val="bg1"/>
              </a:solidFill>
              <a:latin typeface="Avenir Next" panose="020B0503020202020204" pitchFamily="34" charset="0"/>
            </a:endParaRPr>
          </a:p>
        </p:txBody>
      </p:sp>
      <p:sp>
        <p:nvSpPr>
          <p:cNvPr id="4" name="TextBox 3">
            <a:extLst>
              <a:ext uri="{FF2B5EF4-FFF2-40B4-BE49-F238E27FC236}">
                <a16:creationId xmlns:a16="http://schemas.microsoft.com/office/drawing/2014/main" id="{3F8A2CED-0121-0CFB-264D-178CA966DFF3}"/>
              </a:ext>
            </a:extLst>
          </p:cNvPr>
          <p:cNvSpPr txBox="1"/>
          <p:nvPr>
            <p:custDataLst>
              <p:tags r:id="rId3"/>
            </p:custDataLst>
          </p:nvPr>
        </p:nvSpPr>
        <p:spPr>
          <a:xfrm>
            <a:off x="2528506" y="1985528"/>
            <a:ext cx="3184682" cy="293927"/>
          </a:xfrm>
          <a:prstGeom prst="rect">
            <a:avLst/>
          </a:prstGeom>
          <a:noFill/>
        </p:spPr>
        <p:txBody>
          <a:bodyPr wrap="square" rtlCol="0">
            <a:spAutoFit/>
          </a:bodyPr>
          <a:lstStyle/>
          <a:p>
            <a:pPr marL="208021" indent="-208021">
              <a:buFont typeface="Wingdings" panose="05000000000000000000" pitchFamily="2" charset="2"/>
              <a:buChar char="q"/>
            </a:pPr>
            <a:r>
              <a:rPr lang="en-US" sz="1310" b="1" dirty="0">
                <a:effectLst>
                  <a:outerShdw blurRad="38100" dist="38100" dir="2700000" algn="tl">
                    <a:srgbClr val="000000">
                      <a:alpha val="43137"/>
                    </a:srgbClr>
                  </a:outerShdw>
                </a:effectLst>
                <a:latin typeface="Avenir Next" panose="020B0503020202020204" pitchFamily="34" charset="0"/>
              </a:rPr>
              <a:t>How can we exploit this bug ?</a:t>
            </a:r>
          </a:p>
        </p:txBody>
      </p:sp>
      <p:grpSp>
        <p:nvGrpSpPr>
          <p:cNvPr id="47" name="Group 46">
            <a:extLst>
              <a:ext uri="{FF2B5EF4-FFF2-40B4-BE49-F238E27FC236}">
                <a16:creationId xmlns:a16="http://schemas.microsoft.com/office/drawing/2014/main" id="{3EC6AF94-D3C3-9CEA-6773-5D166EA4F02A}"/>
              </a:ext>
            </a:extLst>
          </p:cNvPr>
          <p:cNvGrpSpPr/>
          <p:nvPr>
            <p:custDataLst>
              <p:tags r:id="rId4"/>
            </p:custDataLst>
          </p:nvPr>
        </p:nvGrpSpPr>
        <p:grpSpPr>
          <a:xfrm>
            <a:off x="3061588" y="2977604"/>
            <a:ext cx="5518422" cy="2250772"/>
            <a:chOff x="2290120" y="972216"/>
            <a:chExt cx="7580863" cy="3091969"/>
          </a:xfrm>
        </p:grpSpPr>
        <p:grpSp>
          <p:nvGrpSpPr>
            <p:cNvPr id="48" name="Group 47">
              <a:extLst>
                <a:ext uri="{FF2B5EF4-FFF2-40B4-BE49-F238E27FC236}">
                  <a16:creationId xmlns:a16="http://schemas.microsoft.com/office/drawing/2014/main" id="{3458DB3E-6ED0-7402-C15C-ACA34574FFF7}"/>
                </a:ext>
              </a:extLst>
            </p:cNvPr>
            <p:cNvGrpSpPr/>
            <p:nvPr/>
          </p:nvGrpSpPr>
          <p:grpSpPr>
            <a:xfrm>
              <a:off x="2290120" y="3003237"/>
              <a:ext cx="7580863" cy="1060948"/>
              <a:chOff x="2312779" y="4001294"/>
              <a:chExt cx="7566441" cy="1060948"/>
            </a:xfrm>
          </p:grpSpPr>
          <p:pic>
            <p:nvPicPr>
              <p:cNvPr id="54" name="Picture 53" descr="A picture containing photo, sitting, monitor, table&#10;&#10;Description generated with very high confidence">
                <a:extLst>
                  <a:ext uri="{FF2B5EF4-FFF2-40B4-BE49-F238E27FC236}">
                    <a16:creationId xmlns:a16="http://schemas.microsoft.com/office/drawing/2014/main" id="{42EDD816-3D14-18FF-A57B-977DA2F2D65C}"/>
                  </a:ext>
                </a:extLst>
              </p:cNvPr>
              <p:cNvPicPr>
                <a:picLocks noChangeAspect="1"/>
              </p:cNvPicPr>
              <p:nvPr/>
            </p:nvPicPr>
            <p:blipFill>
              <a:blip r:embed="rId12"/>
              <a:stretch>
                <a:fillRect/>
              </a:stretch>
            </p:blipFill>
            <p:spPr>
              <a:xfrm>
                <a:off x="2313432" y="4001294"/>
                <a:ext cx="630751" cy="692580"/>
              </a:xfrm>
              <a:prstGeom prst="rect">
                <a:avLst/>
              </a:prstGeom>
            </p:spPr>
          </p:pic>
          <p:pic>
            <p:nvPicPr>
              <p:cNvPr id="55" name="Picture 54" descr="A picture containing photo, sitting, monitor, table&#10;&#10;Description generated with very high confidence">
                <a:extLst>
                  <a:ext uri="{FF2B5EF4-FFF2-40B4-BE49-F238E27FC236}">
                    <a16:creationId xmlns:a16="http://schemas.microsoft.com/office/drawing/2014/main" id="{0FEB66B6-A144-1A3B-189D-CAE5C74227BE}"/>
                  </a:ext>
                </a:extLst>
              </p:cNvPr>
              <p:cNvPicPr>
                <a:picLocks noChangeAspect="1"/>
              </p:cNvPicPr>
              <p:nvPr/>
            </p:nvPicPr>
            <p:blipFill>
              <a:blip r:embed="rId12"/>
              <a:stretch>
                <a:fillRect/>
              </a:stretch>
            </p:blipFill>
            <p:spPr>
              <a:xfrm>
                <a:off x="9231722" y="4002966"/>
                <a:ext cx="647498" cy="692581"/>
              </a:xfrm>
              <a:prstGeom prst="rect">
                <a:avLst/>
              </a:prstGeom>
            </p:spPr>
          </p:pic>
          <p:sp>
            <p:nvSpPr>
              <p:cNvPr id="56" name="TextBox 6">
                <a:extLst>
                  <a:ext uri="{FF2B5EF4-FFF2-40B4-BE49-F238E27FC236}">
                    <a16:creationId xmlns:a16="http://schemas.microsoft.com/office/drawing/2014/main" id="{29F4F1D9-D9B8-3E20-A5D1-412E669166B0}"/>
                  </a:ext>
                </a:extLst>
              </p:cNvPr>
              <p:cNvSpPr txBox="1"/>
              <p:nvPr/>
            </p:nvSpPr>
            <p:spPr>
              <a:xfrm>
                <a:off x="2312779" y="4692973"/>
                <a:ext cx="76036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Alice</a:t>
                </a:r>
              </a:p>
            </p:txBody>
          </p:sp>
          <p:sp>
            <p:nvSpPr>
              <p:cNvPr id="57" name="TextBox 7">
                <a:extLst>
                  <a:ext uri="{FF2B5EF4-FFF2-40B4-BE49-F238E27FC236}">
                    <a16:creationId xmlns:a16="http://schemas.microsoft.com/office/drawing/2014/main" id="{C0B33DF0-CED8-F0A5-5498-4BC51BFC205C}"/>
                  </a:ext>
                </a:extLst>
              </p:cNvPr>
              <p:cNvSpPr txBox="1"/>
              <p:nvPr/>
            </p:nvSpPr>
            <p:spPr>
              <a:xfrm>
                <a:off x="9194526" y="4692973"/>
                <a:ext cx="67628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Bob</a:t>
                </a:r>
              </a:p>
            </p:txBody>
          </p:sp>
        </p:grpSp>
        <p:grpSp>
          <p:nvGrpSpPr>
            <p:cNvPr id="49" name="Group 48">
              <a:extLst>
                <a:ext uri="{FF2B5EF4-FFF2-40B4-BE49-F238E27FC236}">
                  <a16:creationId xmlns:a16="http://schemas.microsoft.com/office/drawing/2014/main" id="{FDC87DB2-AC4E-C498-BA6F-B4EF1A850C20}"/>
                </a:ext>
              </a:extLst>
            </p:cNvPr>
            <p:cNvGrpSpPr/>
            <p:nvPr/>
          </p:nvGrpSpPr>
          <p:grpSpPr>
            <a:xfrm>
              <a:off x="5533512" y="972216"/>
              <a:ext cx="1244110" cy="1100568"/>
              <a:chOff x="5541749" y="1970273"/>
              <a:chExt cx="1244110" cy="1100568"/>
            </a:xfrm>
          </p:grpSpPr>
          <p:pic>
            <p:nvPicPr>
              <p:cNvPr id="52" name="Picture 51" descr="A picture containing text&#10;&#10;Description generated with very high confidence">
                <a:extLst>
                  <a:ext uri="{FF2B5EF4-FFF2-40B4-BE49-F238E27FC236}">
                    <a16:creationId xmlns:a16="http://schemas.microsoft.com/office/drawing/2014/main" id="{B55F9D41-EEA7-D52A-4D50-652446985FC7}"/>
                  </a:ext>
                </a:extLst>
              </p:cNvPr>
              <p:cNvPicPr>
                <a:picLocks noChangeAspect="1"/>
              </p:cNvPicPr>
              <p:nvPr/>
            </p:nvPicPr>
            <p:blipFill>
              <a:blip r:embed="rId13"/>
              <a:stretch>
                <a:fillRect/>
              </a:stretch>
            </p:blipFill>
            <p:spPr>
              <a:xfrm>
                <a:off x="5728535" y="2322217"/>
                <a:ext cx="739215" cy="748624"/>
              </a:xfrm>
              <a:prstGeom prst="rect">
                <a:avLst/>
              </a:prstGeom>
            </p:spPr>
          </p:pic>
          <p:sp>
            <p:nvSpPr>
              <p:cNvPr id="53" name="TextBox 52">
                <a:extLst>
                  <a:ext uri="{FF2B5EF4-FFF2-40B4-BE49-F238E27FC236}">
                    <a16:creationId xmlns:a16="http://schemas.microsoft.com/office/drawing/2014/main" id="{0BCC1E66-BE8E-1319-96CD-90E5B11F8F6E}"/>
                  </a:ext>
                </a:extLst>
              </p:cNvPr>
              <p:cNvSpPr txBox="1"/>
              <p:nvPr/>
            </p:nvSpPr>
            <p:spPr>
              <a:xfrm>
                <a:off x="5541749" y="1970273"/>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latin typeface="Avenir Next" panose="020B0503020202020204" pitchFamily="34" charset="0"/>
                    <a:cs typeface="Calibri"/>
                  </a:rPr>
                  <a:t>Attacker</a:t>
                </a:r>
              </a:p>
            </p:txBody>
          </p:sp>
        </p:grpSp>
        <p:cxnSp>
          <p:nvCxnSpPr>
            <p:cNvPr id="50" name="Straight Arrow Connector 49">
              <a:extLst>
                <a:ext uri="{FF2B5EF4-FFF2-40B4-BE49-F238E27FC236}">
                  <a16:creationId xmlns:a16="http://schemas.microsoft.com/office/drawing/2014/main" id="{17DA71F1-B74A-191D-5BA5-83C017AE56C2}"/>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5809967-5831-2BA6-A64F-3D6906B8424E}"/>
                </a:ext>
              </a:extLst>
            </p:cNvPr>
            <p:cNvCxnSpPr/>
            <p:nvPr/>
          </p:nvCxnSpPr>
          <p:spPr>
            <a:xfrm>
              <a:off x="6079715" y="2046371"/>
              <a:ext cx="0" cy="128791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58" name="TextBox 57">
            <a:extLst>
              <a:ext uri="{FF2B5EF4-FFF2-40B4-BE49-F238E27FC236}">
                <a16:creationId xmlns:a16="http://schemas.microsoft.com/office/drawing/2014/main" id="{13C040EC-482F-CEEE-C4E8-5F6012F81334}"/>
              </a:ext>
            </a:extLst>
          </p:cNvPr>
          <p:cNvSpPr txBox="1"/>
          <p:nvPr>
            <p:custDataLst>
              <p:tags r:id="rId5"/>
            </p:custDataLst>
          </p:nvPr>
        </p:nvSpPr>
        <p:spPr>
          <a:xfrm>
            <a:off x="2741341" y="4720605"/>
            <a:ext cx="1144865" cy="293927"/>
          </a:xfrm>
          <a:prstGeom prst="rect">
            <a:avLst/>
          </a:prstGeom>
          <a:noFill/>
        </p:spPr>
        <p:txBody>
          <a:bodyPr wrap="none" rtlCol="0">
            <a:spAutoFit/>
          </a:bodyPr>
          <a:lstStyle/>
          <a:p>
            <a:pPr>
              <a:buSzPts val="100"/>
            </a:pPr>
            <a:r>
              <a:rPr lang="en-US" sz="1310" b="1" dirty="0" err="1">
                <a:noFill/>
                <a:latin typeface="Avenir Next" panose="020B0503020202020204" pitchFamily="34" charset="0"/>
              </a:rPr>
              <a:t>ServerHello</a:t>
            </a:r>
            <a:endParaRPr lang="en-US" sz="1310" b="1" dirty="0">
              <a:noFill/>
              <a:latin typeface="Avenir Next" panose="020B0503020202020204" pitchFamily="34" charset="0"/>
            </a:endParaRPr>
          </a:p>
        </p:txBody>
      </p:sp>
      <p:sp>
        <p:nvSpPr>
          <p:cNvPr id="61" name="TextBox 60">
            <a:extLst>
              <a:ext uri="{FF2B5EF4-FFF2-40B4-BE49-F238E27FC236}">
                <a16:creationId xmlns:a16="http://schemas.microsoft.com/office/drawing/2014/main" id="{2ED74D7D-FDA2-547E-FB1C-438F63BE2E41}"/>
              </a:ext>
            </a:extLst>
          </p:cNvPr>
          <p:cNvSpPr txBox="1"/>
          <p:nvPr>
            <p:custDataLst>
              <p:tags r:id="rId6"/>
            </p:custDataLst>
          </p:nvPr>
        </p:nvSpPr>
        <p:spPr>
          <a:xfrm>
            <a:off x="2528506" y="2376622"/>
            <a:ext cx="4067204" cy="293927"/>
          </a:xfrm>
          <a:prstGeom prst="rect">
            <a:avLst/>
          </a:prstGeom>
          <a:noFill/>
        </p:spPr>
        <p:txBody>
          <a:bodyPr wrap="none" rtlCol="0">
            <a:spAutoFit/>
          </a:bodyPr>
          <a:lstStyle/>
          <a:p>
            <a:r>
              <a:rPr lang="en-US" sz="1310" b="1" dirty="0">
                <a:latin typeface="Avenir Next" panose="020B0503020202020204" pitchFamily="34" charset="0"/>
              </a:rPr>
              <a:t>1. Attacker </a:t>
            </a:r>
            <a:r>
              <a:rPr lang="en-US" sz="1310" b="1" dirty="0">
                <a:solidFill>
                  <a:srgbClr val="C00000"/>
                </a:solidFill>
                <a:latin typeface="Avenir Next" panose="020B0503020202020204" pitchFamily="34" charset="0"/>
              </a:rPr>
              <a:t>injects</a:t>
            </a:r>
            <a:r>
              <a:rPr lang="en-US" sz="1310" b="1" dirty="0">
                <a:latin typeface="Avenir Next" panose="020B0503020202020204" pitchFamily="34" charset="0"/>
              </a:rPr>
              <a:t> </a:t>
            </a:r>
            <a:r>
              <a:rPr lang="en-US" sz="1310" b="1" dirty="0">
                <a:solidFill>
                  <a:srgbClr val="C00000"/>
                </a:solidFill>
                <a:latin typeface="Avenir Next" panose="020B0503020202020204" pitchFamily="34" charset="0"/>
              </a:rPr>
              <a:t>CCS</a:t>
            </a:r>
            <a:r>
              <a:rPr lang="en-US" sz="1310" b="1" dirty="0">
                <a:latin typeface="Avenir Next" panose="020B0503020202020204" pitchFamily="34" charset="0"/>
              </a:rPr>
              <a:t> to both after </a:t>
            </a:r>
            <a:r>
              <a:rPr lang="en-US" sz="1310" b="1" dirty="0" err="1">
                <a:latin typeface="Avenir Next" panose="020B0503020202020204" pitchFamily="34" charset="0"/>
              </a:rPr>
              <a:t>ServerHello</a:t>
            </a:r>
            <a:endParaRPr lang="en-US" sz="1310" b="1" dirty="0">
              <a:latin typeface="Avenir Next" panose="020B0503020202020204" pitchFamily="34" charset="0"/>
            </a:endParaRPr>
          </a:p>
        </p:txBody>
      </p:sp>
      <p:sp>
        <p:nvSpPr>
          <p:cNvPr id="65" name="TextBox 64">
            <a:extLst>
              <a:ext uri="{FF2B5EF4-FFF2-40B4-BE49-F238E27FC236}">
                <a16:creationId xmlns:a16="http://schemas.microsoft.com/office/drawing/2014/main" id="{20F2E507-8F01-7F2C-BF88-8783BAE0E661}"/>
              </a:ext>
            </a:extLst>
          </p:cNvPr>
          <p:cNvSpPr txBox="1"/>
          <p:nvPr>
            <p:custDataLst>
              <p:tags r:id="rId7"/>
            </p:custDataLst>
          </p:nvPr>
        </p:nvSpPr>
        <p:spPr>
          <a:xfrm>
            <a:off x="2528506" y="2676434"/>
            <a:ext cx="7965642" cy="293927"/>
          </a:xfrm>
          <a:prstGeom prst="rect">
            <a:avLst/>
          </a:prstGeom>
          <a:noFill/>
        </p:spPr>
        <p:txBody>
          <a:bodyPr wrap="none" rtlCol="0">
            <a:spAutoFit/>
          </a:bodyPr>
          <a:lstStyle/>
          <a:p>
            <a:r>
              <a:rPr lang="en-US" sz="1310" b="1" dirty="0">
                <a:latin typeface="Avenir Next" panose="020B0503020202020204" pitchFamily="34" charset="0"/>
              </a:rPr>
              <a:t>2. Alice and Bob both generate </a:t>
            </a:r>
            <a:r>
              <a:rPr lang="en-US" sz="1310" b="1" dirty="0">
                <a:solidFill>
                  <a:srgbClr val="C00000"/>
                </a:solidFill>
                <a:latin typeface="Avenir Next" panose="020B0503020202020204" pitchFamily="34" charset="0"/>
              </a:rPr>
              <a:t>predictable</a:t>
            </a:r>
            <a:r>
              <a:rPr lang="en-US" sz="1310" b="1" dirty="0">
                <a:latin typeface="Avenir Next" panose="020B0503020202020204" pitchFamily="34" charset="0"/>
              </a:rPr>
              <a:t> encryption and MAC keys from </a:t>
            </a:r>
            <a:r>
              <a:rPr lang="en-US" sz="1310" b="1" dirty="0">
                <a:solidFill>
                  <a:srgbClr val="C00000"/>
                </a:solidFill>
                <a:latin typeface="Avenir Next" panose="020B0503020202020204" pitchFamily="34" charset="0"/>
              </a:rPr>
              <a:t>empty</a:t>
            </a:r>
            <a:r>
              <a:rPr lang="en-US" sz="1310" b="1" dirty="0">
                <a:latin typeface="Avenir Next" panose="020B0503020202020204" pitchFamily="34" charset="0"/>
              </a:rPr>
              <a:t> shared secret </a:t>
            </a:r>
          </a:p>
        </p:txBody>
      </p:sp>
      <p:sp>
        <p:nvSpPr>
          <p:cNvPr id="66" name="TextBox 65">
            <a:extLst>
              <a:ext uri="{FF2B5EF4-FFF2-40B4-BE49-F238E27FC236}">
                <a16:creationId xmlns:a16="http://schemas.microsoft.com/office/drawing/2014/main" id="{356C9EB1-3DF5-EE2C-D257-BDD6B29EE01A}"/>
              </a:ext>
            </a:extLst>
          </p:cNvPr>
          <p:cNvSpPr txBox="1"/>
          <p:nvPr>
            <p:custDataLst>
              <p:tags r:id="rId8"/>
            </p:custDataLst>
          </p:nvPr>
        </p:nvSpPr>
        <p:spPr>
          <a:xfrm>
            <a:off x="6514843" y="3820497"/>
            <a:ext cx="3824006" cy="495520"/>
          </a:xfrm>
          <a:prstGeom prst="rect">
            <a:avLst/>
          </a:prstGeom>
          <a:noFill/>
        </p:spPr>
        <p:txBody>
          <a:bodyPr wrap="square" rtlCol="0">
            <a:spAutoFit/>
          </a:bodyPr>
          <a:lstStyle/>
          <a:p>
            <a:r>
              <a:rPr lang="en-US" sz="1310" b="1" dirty="0">
                <a:latin typeface="Avenir Next" panose="020B0503020202020204" pitchFamily="34" charset="0"/>
              </a:rPr>
              <a:t>4. Now, Attacker will try to predict the weak 	encryption and MAC keys</a:t>
            </a:r>
          </a:p>
        </p:txBody>
      </p:sp>
      <p:sp>
        <p:nvSpPr>
          <p:cNvPr id="67" name="TextBox 66">
            <a:extLst>
              <a:ext uri="{FF2B5EF4-FFF2-40B4-BE49-F238E27FC236}">
                <a16:creationId xmlns:a16="http://schemas.microsoft.com/office/drawing/2014/main" id="{ACF818FE-235D-9E5B-F73D-83C16D83481E}"/>
              </a:ext>
            </a:extLst>
          </p:cNvPr>
          <p:cNvSpPr txBox="1"/>
          <p:nvPr>
            <p:custDataLst>
              <p:tags r:id="rId9"/>
            </p:custDataLst>
          </p:nvPr>
        </p:nvSpPr>
        <p:spPr>
          <a:xfrm>
            <a:off x="6514843" y="3063683"/>
            <a:ext cx="5372357" cy="495520"/>
          </a:xfrm>
          <a:prstGeom prst="rect">
            <a:avLst/>
          </a:prstGeom>
          <a:noFill/>
        </p:spPr>
        <p:txBody>
          <a:bodyPr wrap="square" rtlCol="0">
            <a:spAutoFit/>
          </a:bodyPr>
          <a:lstStyle/>
          <a:p>
            <a:r>
              <a:rPr lang="en-US" sz="1310" b="1" dirty="0">
                <a:latin typeface="Avenir Next" panose="020B0503020202020204" pitchFamily="34" charset="0"/>
              </a:rPr>
              <a:t>3. Attacker </a:t>
            </a:r>
            <a:r>
              <a:rPr lang="en-US" sz="1310" b="1" dirty="0">
                <a:solidFill>
                  <a:srgbClr val="C00000"/>
                </a:solidFill>
                <a:latin typeface="Avenir Next" panose="020B0503020202020204" pitchFamily="34" charset="0"/>
              </a:rPr>
              <a:t>drops</a:t>
            </a:r>
            <a:r>
              <a:rPr lang="en-US" sz="1310" b="1" dirty="0">
                <a:latin typeface="Avenir Next" panose="020B0503020202020204" pitchFamily="34" charset="0"/>
              </a:rPr>
              <a:t> regular </a:t>
            </a:r>
            <a:r>
              <a:rPr lang="en-US" sz="1310" b="1" dirty="0">
                <a:solidFill>
                  <a:srgbClr val="C00000"/>
                </a:solidFill>
                <a:latin typeface="Avenir Next" panose="020B0503020202020204" pitchFamily="34" charset="0"/>
              </a:rPr>
              <a:t>CCS </a:t>
            </a:r>
            <a:r>
              <a:rPr lang="en-US" sz="1310" b="1" dirty="0">
                <a:latin typeface="Avenir Next" panose="020B0503020202020204" pitchFamily="34" charset="0"/>
              </a:rPr>
              <a:t>messages to prevent generation of </a:t>
            </a:r>
            <a:r>
              <a:rPr lang="en-US" sz="1310" b="1" dirty="0">
                <a:solidFill>
                  <a:srgbClr val="C00000"/>
                </a:solidFill>
                <a:latin typeface="Avenir Next" panose="020B0503020202020204" pitchFamily="34" charset="0"/>
              </a:rPr>
              <a:t>new</a:t>
            </a:r>
            <a:r>
              <a:rPr lang="en-US" sz="1310" b="1" dirty="0">
                <a:latin typeface="Avenir Next" panose="020B0503020202020204" pitchFamily="34" charset="0"/>
              </a:rPr>
              <a:t> encryption and MAC keys</a:t>
            </a:r>
          </a:p>
        </p:txBody>
      </p:sp>
    </p:spTree>
    <p:custDataLst>
      <p:tags r:id="rId1"/>
    </p:custDataLst>
    <p:extLst>
      <p:ext uri="{BB962C8B-B14F-4D97-AF65-F5344CB8AC3E}">
        <p14:creationId xmlns:p14="http://schemas.microsoft.com/office/powerpoint/2010/main" val="1572464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custDataLst>
              <p:tags r:id="rId2"/>
            </p:custDataLst>
          </p:nvPr>
        </p:nvSpPr>
        <p:spPr>
          <a:xfrm>
            <a:off x="-8091" y="-5493"/>
            <a:ext cx="5551623" cy="707886"/>
          </a:xfrm>
          <a:prstGeom prst="rect">
            <a:avLst/>
          </a:prstGeom>
          <a:solidFill>
            <a:srgbClr val="C00000"/>
          </a:solidFill>
        </p:spPr>
        <p:txBody>
          <a:bodyPr wrap="square">
            <a:spAutoFit/>
          </a:bodyPr>
          <a:lstStyle/>
          <a:p>
            <a:pPr algn="ctr"/>
            <a:r>
              <a:rPr lang="en-US" sz="4000" dirty="0" err="1">
                <a:solidFill>
                  <a:schemeClr val="bg1"/>
                </a:solidFill>
                <a:latin typeface="Avenir Next" panose="020B0503020202020204" pitchFamily="34" charset="0"/>
                <a:cs typeface="Courier New" panose="02070309020205020404" pitchFamily="49" charset="0"/>
              </a:rPr>
              <a:t>EarlyCCS</a:t>
            </a:r>
            <a:r>
              <a:rPr lang="en-US" sz="4000" dirty="0">
                <a:solidFill>
                  <a:schemeClr val="bg1"/>
                </a:solidFill>
                <a:latin typeface="Avenir Next" panose="020B0503020202020204" pitchFamily="34" charset="0"/>
                <a:cs typeface="Courier New" panose="02070309020205020404" pitchFamily="49" charset="0"/>
              </a:rPr>
              <a:t> Bug</a:t>
            </a:r>
            <a:endParaRPr lang="en-US" sz="4000" dirty="0">
              <a:solidFill>
                <a:schemeClr val="bg1"/>
              </a:solidFill>
              <a:latin typeface="Avenir Next" panose="020B0503020202020204" pitchFamily="34" charset="0"/>
            </a:endParaRPr>
          </a:p>
        </p:txBody>
      </p:sp>
      <p:sp>
        <p:nvSpPr>
          <p:cNvPr id="4" name="TextBox 3">
            <a:extLst>
              <a:ext uri="{FF2B5EF4-FFF2-40B4-BE49-F238E27FC236}">
                <a16:creationId xmlns:a16="http://schemas.microsoft.com/office/drawing/2014/main" id="{3F8A2CED-0121-0CFB-264D-178CA966DFF3}"/>
              </a:ext>
            </a:extLst>
          </p:cNvPr>
          <p:cNvSpPr txBox="1"/>
          <p:nvPr>
            <p:custDataLst>
              <p:tags r:id="rId3"/>
            </p:custDataLst>
          </p:nvPr>
        </p:nvSpPr>
        <p:spPr>
          <a:xfrm>
            <a:off x="2528506" y="1985528"/>
            <a:ext cx="3184682" cy="293927"/>
          </a:xfrm>
          <a:prstGeom prst="rect">
            <a:avLst/>
          </a:prstGeom>
          <a:noFill/>
        </p:spPr>
        <p:txBody>
          <a:bodyPr wrap="square" rtlCol="0">
            <a:spAutoFit/>
          </a:bodyPr>
          <a:lstStyle/>
          <a:p>
            <a:pPr marL="208021" indent="-208021">
              <a:buFont typeface="Wingdings" panose="05000000000000000000" pitchFamily="2" charset="2"/>
              <a:buChar char="q"/>
            </a:pPr>
            <a:r>
              <a:rPr lang="en-US" sz="1310" b="1" dirty="0">
                <a:effectLst>
                  <a:outerShdw blurRad="38100" dist="38100" dir="2700000" algn="tl">
                    <a:srgbClr val="000000">
                      <a:alpha val="43137"/>
                    </a:srgbClr>
                  </a:outerShdw>
                </a:effectLst>
                <a:latin typeface="Avenir Next" panose="020B0503020202020204" pitchFamily="34" charset="0"/>
              </a:rPr>
              <a:t>How can we exploit this bug ?</a:t>
            </a:r>
          </a:p>
        </p:txBody>
      </p:sp>
      <p:grpSp>
        <p:nvGrpSpPr>
          <p:cNvPr id="47" name="Group 46">
            <a:extLst>
              <a:ext uri="{FF2B5EF4-FFF2-40B4-BE49-F238E27FC236}">
                <a16:creationId xmlns:a16="http://schemas.microsoft.com/office/drawing/2014/main" id="{3EC6AF94-D3C3-9CEA-6773-5D166EA4F02A}"/>
              </a:ext>
            </a:extLst>
          </p:cNvPr>
          <p:cNvGrpSpPr/>
          <p:nvPr>
            <p:custDataLst>
              <p:tags r:id="rId4"/>
            </p:custDataLst>
          </p:nvPr>
        </p:nvGrpSpPr>
        <p:grpSpPr>
          <a:xfrm>
            <a:off x="3061588" y="2977604"/>
            <a:ext cx="5518422" cy="2250772"/>
            <a:chOff x="2290120" y="972216"/>
            <a:chExt cx="7580863" cy="3091969"/>
          </a:xfrm>
        </p:grpSpPr>
        <p:grpSp>
          <p:nvGrpSpPr>
            <p:cNvPr id="48" name="Group 47">
              <a:extLst>
                <a:ext uri="{FF2B5EF4-FFF2-40B4-BE49-F238E27FC236}">
                  <a16:creationId xmlns:a16="http://schemas.microsoft.com/office/drawing/2014/main" id="{3458DB3E-6ED0-7402-C15C-ACA34574FFF7}"/>
                </a:ext>
              </a:extLst>
            </p:cNvPr>
            <p:cNvGrpSpPr/>
            <p:nvPr/>
          </p:nvGrpSpPr>
          <p:grpSpPr>
            <a:xfrm>
              <a:off x="2290120" y="3003237"/>
              <a:ext cx="7580863" cy="1060948"/>
              <a:chOff x="2312779" y="4001294"/>
              <a:chExt cx="7566441" cy="1060948"/>
            </a:xfrm>
          </p:grpSpPr>
          <p:pic>
            <p:nvPicPr>
              <p:cNvPr id="54" name="Picture 53" descr="A picture containing photo, sitting, monitor, table&#10;&#10;Description generated with very high confidence">
                <a:extLst>
                  <a:ext uri="{FF2B5EF4-FFF2-40B4-BE49-F238E27FC236}">
                    <a16:creationId xmlns:a16="http://schemas.microsoft.com/office/drawing/2014/main" id="{42EDD816-3D14-18FF-A57B-977DA2F2D65C}"/>
                  </a:ext>
                </a:extLst>
              </p:cNvPr>
              <p:cNvPicPr>
                <a:picLocks noChangeAspect="1"/>
              </p:cNvPicPr>
              <p:nvPr/>
            </p:nvPicPr>
            <p:blipFill>
              <a:blip r:embed="rId13"/>
              <a:stretch>
                <a:fillRect/>
              </a:stretch>
            </p:blipFill>
            <p:spPr>
              <a:xfrm>
                <a:off x="2313432" y="4001294"/>
                <a:ext cx="630751" cy="692580"/>
              </a:xfrm>
              <a:prstGeom prst="rect">
                <a:avLst/>
              </a:prstGeom>
            </p:spPr>
          </p:pic>
          <p:pic>
            <p:nvPicPr>
              <p:cNvPr id="55" name="Picture 54" descr="A picture containing photo, sitting, monitor, table&#10;&#10;Description generated with very high confidence">
                <a:extLst>
                  <a:ext uri="{FF2B5EF4-FFF2-40B4-BE49-F238E27FC236}">
                    <a16:creationId xmlns:a16="http://schemas.microsoft.com/office/drawing/2014/main" id="{0FEB66B6-A144-1A3B-189D-CAE5C74227BE}"/>
                  </a:ext>
                </a:extLst>
              </p:cNvPr>
              <p:cNvPicPr>
                <a:picLocks noChangeAspect="1"/>
              </p:cNvPicPr>
              <p:nvPr/>
            </p:nvPicPr>
            <p:blipFill>
              <a:blip r:embed="rId13"/>
              <a:stretch>
                <a:fillRect/>
              </a:stretch>
            </p:blipFill>
            <p:spPr>
              <a:xfrm>
                <a:off x="9231722" y="4002966"/>
                <a:ext cx="647498" cy="692581"/>
              </a:xfrm>
              <a:prstGeom prst="rect">
                <a:avLst/>
              </a:prstGeom>
            </p:spPr>
          </p:pic>
          <p:sp>
            <p:nvSpPr>
              <p:cNvPr id="56" name="TextBox 6">
                <a:extLst>
                  <a:ext uri="{FF2B5EF4-FFF2-40B4-BE49-F238E27FC236}">
                    <a16:creationId xmlns:a16="http://schemas.microsoft.com/office/drawing/2014/main" id="{29F4F1D9-D9B8-3E20-A5D1-412E669166B0}"/>
                  </a:ext>
                </a:extLst>
              </p:cNvPr>
              <p:cNvSpPr txBox="1"/>
              <p:nvPr/>
            </p:nvSpPr>
            <p:spPr>
              <a:xfrm>
                <a:off x="2312779" y="4692973"/>
                <a:ext cx="76036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Alice</a:t>
                </a:r>
              </a:p>
            </p:txBody>
          </p:sp>
          <p:sp>
            <p:nvSpPr>
              <p:cNvPr id="57" name="TextBox 7">
                <a:extLst>
                  <a:ext uri="{FF2B5EF4-FFF2-40B4-BE49-F238E27FC236}">
                    <a16:creationId xmlns:a16="http://schemas.microsoft.com/office/drawing/2014/main" id="{C0B33DF0-CED8-F0A5-5498-4BC51BFC205C}"/>
                  </a:ext>
                </a:extLst>
              </p:cNvPr>
              <p:cNvSpPr txBox="1"/>
              <p:nvPr/>
            </p:nvSpPr>
            <p:spPr>
              <a:xfrm>
                <a:off x="9194526" y="4692973"/>
                <a:ext cx="67628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a:latin typeface="Avenir Next" panose="020B0503020202020204" pitchFamily="34" charset="0"/>
                    <a:cs typeface="Calibri"/>
                  </a:rPr>
                  <a:t>Bob</a:t>
                </a:r>
              </a:p>
            </p:txBody>
          </p:sp>
        </p:grpSp>
        <p:grpSp>
          <p:nvGrpSpPr>
            <p:cNvPr id="49" name="Group 48">
              <a:extLst>
                <a:ext uri="{FF2B5EF4-FFF2-40B4-BE49-F238E27FC236}">
                  <a16:creationId xmlns:a16="http://schemas.microsoft.com/office/drawing/2014/main" id="{FDC87DB2-AC4E-C498-BA6F-B4EF1A850C20}"/>
                </a:ext>
              </a:extLst>
            </p:cNvPr>
            <p:cNvGrpSpPr/>
            <p:nvPr/>
          </p:nvGrpSpPr>
          <p:grpSpPr>
            <a:xfrm>
              <a:off x="5533512" y="972216"/>
              <a:ext cx="1244110" cy="1100568"/>
              <a:chOff x="5541749" y="1970273"/>
              <a:chExt cx="1244110" cy="1100568"/>
            </a:xfrm>
          </p:grpSpPr>
          <p:pic>
            <p:nvPicPr>
              <p:cNvPr id="52" name="Picture 51" descr="A picture containing text&#10;&#10;Description generated with very high confidence">
                <a:extLst>
                  <a:ext uri="{FF2B5EF4-FFF2-40B4-BE49-F238E27FC236}">
                    <a16:creationId xmlns:a16="http://schemas.microsoft.com/office/drawing/2014/main" id="{B55F9D41-EEA7-D52A-4D50-652446985FC7}"/>
                  </a:ext>
                </a:extLst>
              </p:cNvPr>
              <p:cNvPicPr>
                <a:picLocks noChangeAspect="1"/>
              </p:cNvPicPr>
              <p:nvPr/>
            </p:nvPicPr>
            <p:blipFill>
              <a:blip r:embed="rId14"/>
              <a:stretch>
                <a:fillRect/>
              </a:stretch>
            </p:blipFill>
            <p:spPr>
              <a:xfrm>
                <a:off x="5728535" y="2322217"/>
                <a:ext cx="739215" cy="748624"/>
              </a:xfrm>
              <a:prstGeom prst="rect">
                <a:avLst/>
              </a:prstGeom>
            </p:spPr>
          </p:pic>
          <p:sp>
            <p:nvSpPr>
              <p:cNvPr id="53" name="TextBox 52">
                <a:extLst>
                  <a:ext uri="{FF2B5EF4-FFF2-40B4-BE49-F238E27FC236}">
                    <a16:creationId xmlns:a16="http://schemas.microsoft.com/office/drawing/2014/main" id="{0BCC1E66-BE8E-1319-96CD-90E5B11F8F6E}"/>
                  </a:ext>
                </a:extLst>
              </p:cNvPr>
              <p:cNvSpPr txBox="1"/>
              <p:nvPr/>
            </p:nvSpPr>
            <p:spPr>
              <a:xfrm>
                <a:off x="5541749" y="1970273"/>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latin typeface="Avenir Next" panose="020B0503020202020204" pitchFamily="34" charset="0"/>
                    <a:cs typeface="Calibri"/>
                  </a:rPr>
                  <a:t>Attacker</a:t>
                </a:r>
              </a:p>
            </p:txBody>
          </p:sp>
        </p:grpSp>
        <p:cxnSp>
          <p:nvCxnSpPr>
            <p:cNvPr id="50" name="Straight Arrow Connector 49">
              <a:extLst>
                <a:ext uri="{FF2B5EF4-FFF2-40B4-BE49-F238E27FC236}">
                  <a16:creationId xmlns:a16="http://schemas.microsoft.com/office/drawing/2014/main" id="{17DA71F1-B74A-191D-5BA5-83C017AE56C2}"/>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05809967-5831-2BA6-A64F-3D6906B8424E}"/>
                </a:ext>
              </a:extLst>
            </p:cNvPr>
            <p:cNvCxnSpPr/>
            <p:nvPr/>
          </p:nvCxnSpPr>
          <p:spPr>
            <a:xfrm>
              <a:off x="6079715" y="2046371"/>
              <a:ext cx="0" cy="128791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58" name="TextBox 57">
            <a:extLst>
              <a:ext uri="{FF2B5EF4-FFF2-40B4-BE49-F238E27FC236}">
                <a16:creationId xmlns:a16="http://schemas.microsoft.com/office/drawing/2014/main" id="{13C040EC-482F-CEEE-C4E8-5F6012F81334}"/>
              </a:ext>
            </a:extLst>
          </p:cNvPr>
          <p:cNvSpPr txBox="1"/>
          <p:nvPr>
            <p:custDataLst>
              <p:tags r:id="rId5"/>
            </p:custDataLst>
          </p:nvPr>
        </p:nvSpPr>
        <p:spPr>
          <a:xfrm>
            <a:off x="2741341" y="4720605"/>
            <a:ext cx="1144865" cy="293927"/>
          </a:xfrm>
          <a:prstGeom prst="rect">
            <a:avLst/>
          </a:prstGeom>
          <a:noFill/>
        </p:spPr>
        <p:txBody>
          <a:bodyPr wrap="none" rtlCol="0">
            <a:spAutoFit/>
          </a:bodyPr>
          <a:lstStyle/>
          <a:p>
            <a:pPr>
              <a:buSzPts val="100"/>
            </a:pPr>
            <a:r>
              <a:rPr lang="en-US" sz="1310" b="1" dirty="0" err="1">
                <a:noFill/>
                <a:latin typeface="Avenir Next" panose="020B0503020202020204" pitchFamily="34" charset="0"/>
              </a:rPr>
              <a:t>ServerHello</a:t>
            </a:r>
            <a:endParaRPr lang="en-US" sz="1310" b="1" dirty="0">
              <a:noFill/>
              <a:latin typeface="Avenir Next" panose="020B0503020202020204" pitchFamily="34" charset="0"/>
            </a:endParaRPr>
          </a:p>
        </p:txBody>
      </p:sp>
      <p:sp>
        <p:nvSpPr>
          <p:cNvPr id="61" name="TextBox 60">
            <a:extLst>
              <a:ext uri="{FF2B5EF4-FFF2-40B4-BE49-F238E27FC236}">
                <a16:creationId xmlns:a16="http://schemas.microsoft.com/office/drawing/2014/main" id="{2ED74D7D-FDA2-547E-FB1C-438F63BE2E41}"/>
              </a:ext>
            </a:extLst>
          </p:cNvPr>
          <p:cNvSpPr txBox="1"/>
          <p:nvPr>
            <p:custDataLst>
              <p:tags r:id="rId6"/>
            </p:custDataLst>
          </p:nvPr>
        </p:nvSpPr>
        <p:spPr>
          <a:xfrm>
            <a:off x="2528506" y="2376622"/>
            <a:ext cx="4067204" cy="293927"/>
          </a:xfrm>
          <a:prstGeom prst="rect">
            <a:avLst/>
          </a:prstGeom>
          <a:noFill/>
        </p:spPr>
        <p:txBody>
          <a:bodyPr wrap="none" rtlCol="0">
            <a:spAutoFit/>
          </a:bodyPr>
          <a:lstStyle/>
          <a:p>
            <a:r>
              <a:rPr lang="en-US" sz="1310" b="1" dirty="0">
                <a:latin typeface="Avenir Next" panose="020B0503020202020204" pitchFamily="34" charset="0"/>
              </a:rPr>
              <a:t>1. Attacker </a:t>
            </a:r>
            <a:r>
              <a:rPr lang="en-US" sz="1310" b="1" dirty="0">
                <a:solidFill>
                  <a:srgbClr val="C00000"/>
                </a:solidFill>
                <a:latin typeface="Avenir Next" panose="020B0503020202020204" pitchFamily="34" charset="0"/>
              </a:rPr>
              <a:t>injects</a:t>
            </a:r>
            <a:r>
              <a:rPr lang="en-US" sz="1310" b="1" dirty="0">
                <a:latin typeface="Avenir Next" panose="020B0503020202020204" pitchFamily="34" charset="0"/>
              </a:rPr>
              <a:t> </a:t>
            </a:r>
            <a:r>
              <a:rPr lang="en-US" sz="1310" b="1" dirty="0">
                <a:solidFill>
                  <a:srgbClr val="C00000"/>
                </a:solidFill>
                <a:latin typeface="Avenir Next" panose="020B0503020202020204" pitchFamily="34" charset="0"/>
              </a:rPr>
              <a:t>CCS</a:t>
            </a:r>
            <a:r>
              <a:rPr lang="en-US" sz="1310" b="1" dirty="0">
                <a:latin typeface="Avenir Next" panose="020B0503020202020204" pitchFamily="34" charset="0"/>
              </a:rPr>
              <a:t> to both after </a:t>
            </a:r>
            <a:r>
              <a:rPr lang="en-US" sz="1310" b="1" dirty="0" err="1">
                <a:latin typeface="Avenir Next" panose="020B0503020202020204" pitchFamily="34" charset="0"/>
              </a:rPr>
              <a:t>ServerHello</a:t>
            </a:r>
            <a:endParaRPr lang="en-US" sz="1310" b="1" dirty="0">
              <a:latin typeface="Avenir Next" panose="020B0503020202020204" pitchFamily="34" charset="0"/>
            </a:endParaRPr>
          </a:p>
        </p:txBody>
      </p:sp>
      <p:sp>
        <p:nvSpPr>
          <p:cNvPr id="64" name="TextBox 63">
            <a:extLst>
              <a:ext uri="{FF2B5EF4-FFF2-40B4-BE49-F238E27FC236}">
                <a16:creationId xmlns:a16="http://schemas.microsoft.com/office/drawing/2014/main" id="{3D7A6F20-5BDE-3076-568A-A94C12A9CA8E}"/>
              </a:ext>
            </a:extLst>
          </p:cNvPr>
          <p:cNvSpPr txBox="1"/>
          <p:nvPr>
            <p:custDataLst>
              <p:tags r:id="rId7"/>
            </p:custDataLst>
          </p:nvPr>
        </p:nvSpPr>
        <p:spPr>
          <a:xfrm>
            <a:off x="1817607" y="5324050"/>
            <a:ext cx="8556788" cy="293927"/>
          </a:xfrm>
          <a:prstGeom prst="rect">
            <a:avLst/>
          </a:prstGeom>
          <a:solidFill>
            <a:schemeClr val="accent2">
              <a:lumMod val="60000"/>
              <a:lumOff val="40000"/>
            </a:schemeClr>
          </a:solidFill>
          <a:ln w="28575">
            <a:solidFill>
              <a:srgbClr val="C00000"/>
            </a:solidFill>
          </a:ln>
        </p:spPr>
        <p:txBody>
          <a:bodyPr wrap="square" rtlCol="0">
            <a:spAutoFit/>
          </a:bodyPr>
          <a:lstStyle/>
          <a:p>
            <a:pPr algn="ctr"/>
            <a:r>
              <a:rPr lang="en-US" sz="1310" b="1" dirty="0">
                <a:latin typeface="Avenir Next" panose="020B0503020202020204" pitchFamily="34" charset="0"/>
              </a:rPr>
              <a:t>CCS </a:t>
            </a:r>
            <a:r>
              <a:rPr lang="en-US" sz="1310" b="1" dirty="0" err="1">
                <a:latin typeface="Avenir Next" panose="020B0503020202020204" pitchFamily="34" charset="0"/>
              </a:rPr>
              <a:t>messgaes</a:t>
            </a:r>
            <a:r>
              <a:rPr lang="en-US" sz="1310" b="1" dirty="0">
                <a:latin typeface="Avenir Next" panose="020B0503020202020204" pitchFamily="34" charset="0"/>
              </a:rPr>
              <a:t> are not included in Finished messages for handshake integrity check</a:t>
            </a:r>
          </a:p>
        </p:txBody>
      </p:sp>
      <p:sp>
        <p:nvSpPr>
          <p:cNvPr id="65" name="TextBox 64">
            <a:extLst>
              <a:ext uri="{FF2B5EF4-FFF2-40B4-BE49-F238E27FC236}">
                <a16:creationId xmlns:a16="http://schemas.microsoft.com/office/drawing/2014/main" id="{20F2E507-8F01-7F2C-BF88-8783BAE0E661}"/>
              </a:ext>
            </a:extLst>
          </p:cNvPr>
          <p:cNvSpPr txBox="1"/>
          <p:nvPr>
            <p:custDataLst>
              <p:tags r:id="rId8"/>
            </p:custDataLst>
          </p:nvPr>
        </p:nvSpPr>
        <p:spPr>
          <a:xfrm>
            <a:off x="2528506" y="2676434"/>
            <a:ext cx="7965642" cy="293927"/>
          </a:xfrm>
          <a:prstGeom prst="rect">
            <a:avLst/>
          </a:prstGeom>
          <a:noFill/>
        </p:spPr>
        <p:txBody>
          <a:bodyPr wrap="none" rtlCol="0">
            <a:spAutoFit/>
          </a:bodyPr>
          <a:lstStyle/>
          <a:p>
            <a:r>
              <a:rPr lang="en-US" sz="1310" b="1" dirty="0">
                <a:latin typeface="Avenir Next" panose="020B0503020202020204" pitchFamily="34" charset="0"/>
              </a:rPr>
              <a:t>2. Alice and Bob both generate </a:t>
            </a:r>
            <a:r>
              <a:rPr lang="en-US" sz="1310" b="1" dirty="0">
                <a:solidFill>
                  <a:srgbClr val="C00000"/>
                </a:solidFill>
                <a:latin typeface="Avenir Next" panose="020B0503020202020204" pitchFamily="34" charset="0"/>
              </a:rPr>
              <a:t>predictable</a:t>
            </a:r>
            <a:r>
              <a:rPr lang="en-US" sz="1310" b="1" dirty="0">
                <a:latin typeface="Avenir Next" panose="020B0503020202020204" pitchFamily="34" charset="0"/>
              </a:rPr>
              <a:t> encryption and MAC keys from </a:t>
            </a:r>
            <a:r>
              <a:rPr lang="en-US" sz="1310" b="1" dirty="0">
                <a:solidFill>
                  <a:srgbClr val="C00000"/>
                </a:solidFill>
                <a:latin typeface="Avenir Next" panose="020B0503020202020204" pitchFamily="34" charset="0"/>
              </a:rPr>
              <a:t>empty</a:t>
            </a:r>
            <a:r>
              <a:rPr lang="en-US" sz="1310" b="1" dirty="0">
                <a:latin typeface="Avenir Next" panose="020B0503020202020204" pitchFamily="34" charset="0"/>
              </a:rPr>
              <a:t> shared secret </a:t>
            </a:r>
          </a:p>
        </p:txBody>
      </p:sp>
      <p:sp>
        <p:nvSpPr>
          <p:cNvPr id="66" name="TextBox 65">
            <a:extLst>
              <a:ext uri="{FF2B5EF4-FFF2-40B4-BE49-F238E27FC236}">
                <a16:creationId xmlns:a16="http://schemas.microsoft.com/office/drawing/2014/main" id="{356C9EB1-3DF5-EE2C-D257-BDD6B29EE01A}"/>
              </a:ext>
            </a:extLst>
          </p:cNvPr>
          <p:cNvSpPr txBox="1"/>
          <p:nvPr>
            <p:custDataLst>
              <p:tags r:id="rId9"/>
            </p:custDataLst>
          </p:nvPr>
        </p:nvSpPr>
        <p:spPr>
          <a:xfrm>
            <a:off x="6514843" y="3820497"/>
            <a:ext cx="3824006" cy="495520"/>
          </a:xfrm>
          <a:prstGeom prst="rect">
            <a:avLst/>
          </a:prstGeom>
          <a:noFill/>
        </p:spPr>
        <p:txBody>
          <a:bodyPr wrap="square" rtlCol="0">
            <a:spAutoFit/>
          </a:bodyPr>
          <a:lstStyle/>
          <a:p>
            <a:r>
              <a:rPr lang="en-US" sz="1310" b="1" dirty="0">
                <a:latin typeface="Avenir Next" panose="020B0503020202020204" pitchFamily="34" charset="0"/>
              </a:rPr>
              <a:t>4. Now, Attacker will try to predict the weak 	encryption and MAC keys</a:t>
            </a:r>
          </a:p>
        </p:txBody>
      </p:sp>
      <p:sp>
        <p:nvSpPr>
          <p:cNvPr id="67" name="TextBox 66">
            <a:extLst>
              <a:ext uri="{FF2B5EF4-FFF2-40B4-BE49-F238E27FC236}">
                <a16:creationId xmlns:a16="http://schemas.microsoft.com/office/drawing/2014/main" id="{ACF818FE-235D-9E5B-F73D-83C16D83481E}"/>
              </a:ext>
            </a:extLst>
          </p:cNvPr>
          <p:cNvSpPr txBox="1"/>
          <p:nvPr>
            <p:custDataLst>
              <p:tags r:id="rId10"/>
            </p:custDataLst>
          </p:nvPr>
        </p:nvSpPr>
        <p:spPr>
          <a:xfrm>
            <a:off x="6514843" y="3063683"/>
            <a:ext cx="5372357" cy="495520"/>
          </a:xfrm>
          <a:prstGeom prst="rect">
            <a:avLst/>
          </a:prstGeom>
          <a:noFill/>
        </p:spPr>
        <p:txBody>
          <a:bodyPr wrap="square" rtlCol="0">
            <a:spAutoFit/>
          </a:bodyPr>
          <a:lstStyle/>
          <a:p>
            <a:r>
              <a:rPr lang="en-US" sz="1310" b="1" dirty="0">
                <a:latin typeface="Avenir Next" panose="020B0503020202020204" pitchFamily="34" charset="0"/>
              </a:rPr>
              <a:t>3. Attacker </a:t>
            </a:r>
            <a:r>
              <a:rPr lang="en-US" sz="1310" b="1" dirty="0">
                <a:solidFill>
                  <a:srgbClr val="C00000"/>
                </a:solidFill>
                <a:latin typeface="Avenir Next" panose="020B0503020202020204" pitchFamily="34" charset="0"/>
              </a:rPr>
              <a:t>drops</a:t>
            </a:r>
            <a:r>
              <a:rPr lang="en-US" sz="1310" b="1" dirty="0">
                <a:latin typeface="Avenir Next" panose="020B0503020202020204" pitchFamily="34" charset="0"/>
              </a:rPr>
              <a:t> regular </a:t>
            </a:r>
            <a:r>
              <a:rPr lang="en-US" sz="1310" b="1" dirty="0">
                <a:solidFill>
                  <a:srgbClr val="C00000"/>
                </a:solidFill>
                <a:latin typeface="Avenir Next" panose="020B0503020202020204" pitchFamily="34" charset="0"/>
              </a:rPr>
              <a:t>CCS </a:t>
            </a:r>
            <a:r>
              <a:rPr lang="en-US" sz="1310" b="1" dirty="0">
                <a:latin typeface="Avenir Next" panose="020B0503020202020204" pitchFamily="34" charset="0"/>
              </a:rPr>
              <a:t>messages to prevent generation of </a:t>
            </a:r>
            <a:r>
              <a:rPr lang="en-US" sz="1310" b="1" dirty="0">
                <a:solidFill>
                  <a:srgbClr val="C00000"/>
                </a:solidFill>
                <a:latin typeface="Avenir Next" panose="020B0503020202020204" pitchFamily="34" charset="0"/>
              </a:rPr>
              <a:t>new</a:t>
            </a:r>
            <a:r>
              <a:rPr lang="en-US" sz="1310" b="1" dirty="0">
                <a:latin typeface="Avenir Next" panose="020B0503020202020204" pitchFamily="34" charset="0"/>
              </a:rPr>
              <a:t> encryption and MAC keys</a:t>
            </a:r>
          </a:p>
        </p:txBody>
      </p:sp>
    </p:spTree>
    <p:custDataLst>
      <p:tags r:id="rId1"/>
    </p:custDataLst>
    <p:extLst>
      <p:ext uri="{BB962C8B-B14F-4D97-AF65-F5344CB8AC3E}">
        <p14:creationId xmlns:p14="http://schemas.microsoft.com/office/powerpoint/2010/main" val="2155316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753532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Certificate Authentication</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89488490-CA93-65BA-01AF-3DD05E98B424}"/>
              </a:ext>
            </a:extLst>
          </p:cNvPr>
          <p:cNvSpPr>
            <a:spLocks noGrp="1"/>
          </p:cNvSpPr>
          <p:nvPr>
            <p:ph idx="1"/>
          </p:nvPr>
        </p:nvSpPr>
        <p:spPr>
          <a:xfrm>
            <a:off x="0" y="769913"/>
            <a:ext cx="12200091" cy="6023113"/>
          </a:xfrm>
        </p:spPr>
        <p:txBody>
          <a:bodyPr>
            <a:normAutofit fontScale="92500"/>
          </a:bodyPr>
          <a:lstStyle/>
          <a:p>
            <a:pPr marL="246543" marR="4483" indent="-235336">
              <a:lnSpc>
                <a:spcPct val="110000"/>
              </a:lnSpc>
              <a:tabLst>
                <a:tab pos="1438912" algn="l"/>
              </a:tabLst>
            </a:pPr>
            <a:r>
              <a:rPr lang="en-US" sz="3200" dirty="0">
                <a:latin typeface="Avenir Next" panose="020B0503020202020204" pitchFamily="34" charset="0"/>
                <a:ea typeface="Roboto Medium" panose="02000000000000000000" pitchFamily="2" charset="0"/>
                <a:cs typeface="Gill Sans MT"/>
              </a:rPr>
              <a:t>During</a:t>
            </a:r>
            <a:r>
              <a:rPr lang="en-US" sz="3200" spc="-4"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the</a:t>
            </a:r>
            <a:r>
              <a:rPr lang="en-US" sz="3200" spc="-291"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TLS</a:t>
            </a:r>
            <a:r>
              <a:rPr lang="en-US" sz="3200" spc="-9" dirty="0">
                <a:latin typeface="Avenir Next" panose="020B0503020202020204" pitchFamily="34" charset="0"/>
                <a:ea typeface="Roboto Medium" panose="02000000000000000000" pitchFamily="2" charset="0"/>
                <a:cs typeface="Gill Sans MT"/>
              </a:rPr>
              <a:t> </a:t>
            </a:r>
            <a:r>
              <a:rPr lang="en-US" sz="3200" spc="-4" dirty="0">
                <a:latin typeface="Avenir Next" panose="020B0503020202020204" pitchFamily="34" charset="0"/>
                <a:ea typeface="Roboto Medium" panose="02000000000000000000" pitchFamily="2" charset="0"/>
                <a:cs typeface="Gill Sans MT"/>
              </a:rPr>
              <a:t>handshake,</a:t>
            </a:r>
            <a:r>
              <a:rPr lang="en-US" sz="3200" spc="-238"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the</a:t>
            </a:r>
            <a:r>
              <a:rPr lang="en-US" sz="3200" spc="-4"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client</a:t>
            </a:r>
            <a:r>
              <a:rPr lang="en-US" sz="3200" spc="-4" dirty="0">
                <a:latin typeface="Avenir Next" panose="020B0503020202020204" pitchFamily="34" charset="0"/>
                <a:ea typeface="Roboto Medium" panose="02000000000000000000" pitchFamily="2" charset="0"/>
                <a:cs typeface="Gill Sans MT"/>
              </a:rPr>
              <a:t> </a:t>
            </a:r>
            <a:r>
              <a:rPr lang="en-US" sz="3200" spc="-13" dirty="0">
                <a:latin typeface="Avenir Next" panose="020B0503020202020204" pitchFamily="34" charset="0"/>
                <a:ea typeface="Roboto Medium" panose="02000000000000000000" pitchFamily="2" charset="0"/>
                <a:cs typeface="Gill Sans MT"/>
              </a:rPr>
              <a:t>receives</a:t>
            </a:r>
            <a:r>
              <a:rPr lang="en-US" sz="3200" spc="-4"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a</a:t>
            </a:r>
            <a:r>
              <a:rPr lang="en-US" sz="3200" spc="-4" dirty="0">
                <a:latin typeface="Avenir Next" panose="020B0503020202020204" pitchFamily="34" charset="0"/>
                <a:ea typeface="Roboto Medium" panose="02000000000000000000" pitchFamily="2" charset="0"/>
                <a:cs typeface="Gill Sans MT"/>
              </a:rPr>
              <a:t> </a:t>
            </a:r>
            <a:r>
              <a:rPr lang="en-US" sz="3200" dirty="0">
                <a:solidFill>
                  <a:srgbClr val="727CA3"/>
                </a:solidFill>
                <a:latin typeface="Avenir Next" panose="020B0503020202020204" pitchFamily="34" charset="0"/>
                <a:ea typeface="Roboto Medium" panose="02000000000000000000" pitchFamily="2" charset="0"/>
                <a:cs typeface="Gill Sans MT"/>
              </a:rPr>
              <a:t>certificate  chain,</a:t>
            </a:r>
            <a:r>
              <a:rPr lang="en-US" sz="3200" spc="-234" dirty="0">
                <a:solidFill>
                  <a:srgbClr val="727CA3"/>
                </a:solidFill>
                <a:latin typeface="Avenir Next" panose="020B0503020202020204" pitchFamily="34" charset="0"/>
                <a:ea typeface="Roboto Medium" panose="02000000000000000000" pitchFamily="2" charset="0"/>
                <a:cs typeface="Gill Sans MT"/>
              </a:rPr>
              <a:t> </a:t>
            </a:r>
            <a:r>
              <a:rPr lang="en-US" sz="3200" spc="9" dirty="0">
                <a:latin typeface="Avenir Next" panose="020B0503020202020204" pitchFamily="34" charset="0"/>
                <a:ea typeface="Roboto Medium" panose="02000000000000000000" pitchFamily="2" charset="0"/>
                <a:cs typeface="Gill Sans MT"/>
              </a:rPr>
              <a:t>i.e.	</a:t>
            </a:r>
            <a:r>
              <a:rPr lang="en-US" sz="3200" dirty="0">
                <a:latin typeface="Avenir Next" panose="020B0503020202020204" pitchFamily="34" charset="0"/>
                <a:ea typeface="Roboto Medium" panose="02000000000000000000" pitchFamily="2" charset="0"/>
                <a:cs typeface="Gill Sans MT"/>
              </a:rPr>
              <a:t>the </a:t>
            </a:r>
            <a:r>
              <a:rPr lang="en-US" sz="3200" spc="-22" dirty="0">
                <a:latin typeface="Avenir Next" panose="020B0503020202020204" pitchFamily="34" charset="0"/>
                <a:ea typeface="Roboto Medium" panose="02000000000000000000" pitchFamily="2" charset="0"/>
                <a:cs typeface="Gill Sans MT"/>
              </a:rPr>
              <a:t>server’s </a:t>
            </a:r>
            <a:r>
              <a:rPr lang="en-US" sz="3200" spc="9" dirty="0">
                <a:latin typeface="Avenir Next" panose="020B0503020202020204" pitchFamily="34" charset="0"/>
                <a:ea typeface="Roboto Medium" panose="02000000000000000000" pitchFamily="2" charset="0"/>
                <a:cs typeface="Gill Sans MT"/>
              </a:rPr>
              <a:t>cert, </a:t>
            </a:r>
            <a:r>
              <a:rPr lang="en-US" sz="3200" dirty="0">
                <a:latin typeface="Avenir Next" panose="020B0503020202020204" pitchFamily="34" charset="0"/>
                <a:ea typeface="Roboto Medium" panose="02000000000000000000" pitchFamily="2" charset="0"/>
                <a:cs typeface="Gill Sans MT"/>
              </a:rPr>
              <a:t>as </a:t>
            </a:r>
            <a:r>
              <a:rPr lang="en-US" sz="3200" spc="-13" dirty="0">
                <a:latin typeface="Avenir Next" panose="020B0503020202020204" pitchFamily="34" charset="0"/>
                <a:ea typeface="Roboto Medium" panose="02000000000000000000" pitchFamily="2" charset="0"/>
                <a:cs typeface="Gill Sans MT"/>
              </a:rPr>
              <a:t>well </a:t>
            </a:r>
            <a:r>
              <a:rPr lang="en-US" sz="3200" dirty="0">
                <a:latin typeface="Avenir Next" panose="020B0503020202020204" pitchFamily="34" charset="0"/>
                <a:ea typeface="Roboto Medium" panose="02000000000000000000" pitchFamily="2" charset="0"/>
                <a:cs typeface="Gill Sans MT"/>
              </a:rPr>
              <a:t>as the </a:t>
            </a:r>
            <a:r>
              <a:rPr lang="en-US" sz="3200" spc="9" dirty="0">
                <a:latin typeface="Avenir Next" panose="020B0503020202020204" pitchFamily="34" charset="0"/>
                <a:ea typeface="Roboto Medium" panose="02000000000000000000" pitchFamily="2" charset="0"/>
                <a:cs typeface="Gill Sans MT"/>
              </a:rPr>
              <a:t>certs</a:t>
            </a:r>
            <a:r>
              <a:rPr lang="en-US" sz="3200" spc="-278"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of</a:t>
            </a:r>
            <a:r>
              <a:rPr lang="en-US" sz="3200" spc="-9"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the  signing</a:t>
            </a:r>
            <a:r>
              <a:rPr lang="en-US" sz="3200" spc="-84" dirty="0">
                <a:latin typeface="Avenir Next" panose="020B0503020202020204" pitchFamily="34" charset="0"/>
                <a:ea typeface="Roboto Medium" panose="02000000000000000000" pitchFamily="2" charset="0"/>
                <a:cs typeface="Gill Sans MT"/>
              </a:rPr>
              <a:t> </a:t>
            </a:r>
            <a:r>
              <a:rPr lang="en-US" sz="3200" spc="9" dirty="0">
                <a:latin typeface="Avenir Next" panose="020B0503020202020204" pitchFamily="34" charset="0"/>
                <a:ea typeface="Roboto Medium" panose="02000000000000000000" pitchFamily="2" charset="0"/>
                <a:cs typeface="Gill Sans MT"/>
              </a:rPr>
              <a:t>CA(s)</a:t>
            </a:r>
            <a:endParaRPr lang="en-US" sz="3200" dirty="0">
              <a:latin typeface="Avenir Next" panose="020B0503020202020204" pitchFamily="34" charset="0"/>
              <a:ea typeface="Roboto Medium" panose="02000000000000000000" pitchFamily="2" charset="0"/>
              <a:cs typeface="Gill Sans MT"/>
            </a:endParaRPr>
          </a:p>
          <a:p>
            <a:pPr marL="246543" marR="154649" indent="-235336">
              <a:lnSpc>
                <a:spcPct val="110000"/>
              </a:lnSpc>
              <a:spcBef>
                <a:spcPts val="529"/>
              </a:spcBef>
            </a:pPr>
            <a:r>
              <a:rPr lang="en-US" sz="3200" dirty="0">
                <a:latin typeface="Avenir Next" panose="020B0503020202020204" pitchFamily="34" charset="0"/>
                <a:ea typeface="Roboto Medium" panose="02000000000000000000" pitchFamily="2" charset="0"/>
                <a:cs typeface="Gill Sans MT"/>
              </a:rPr>
              <a:t>The client </a:t>
            </a:r>
            <a:r>
              <a:rPr lang="en-US" sz="3200" spc="-9" dirty="0">
                <a:latin typeface="Avenir Next" panose="020B0503020202020204" pitchFamily="34" charset="0"/>
                <a:ea typeface="Roboto Medium" panose="02000000000000000000" pitchFamily="2" charset="0"/>
                <a:cs typeface="Gill Sans MT"/>
              </a:rPr>
              <a:t>must </a:t>
            </a:r>
            <a:r>
              <a:rPr lang="en-US" sz="3200" dirty="0">
                <a:solidFill>
                  <a:srgbClr val="727CA3"/>
                </a:solidFill>
                <a:latin typeface="Avenir Next" panose="020B0503020202020204" pitchFamily="34" charset="0"/>
                <a:ea typeface="Roboto Medium" panose="02000000000000000000" pitchFamily="2" charset="0"/>
                <a:cs typeface="Gill Sans MT"/>
              </a:rPr>
              <a:t>validate </a:t>
            </a:r>
            <a:r>
              <a:rPr lang="en-US" sz="3200" dirty="0">
                <a:latin typeface="Avenir Next" panose="020B0503020202020204" pitchFamily="34" charset="0"/>
                <a:ea typeface="Roboto Medium" panose="02000000000000000000" pitchFamily="2" charset="0"/>
                <a:cs typeface="Gill Sans MT"/>
              </a:rPr>
              <a:t>the certificate chain to establish  trust</a:t>
            </a:r>
          </a:p>
          <a:p>
            <a:pPr marL="703743" marR="154649" lvl="1" indent="-235336">
              <a:lnSpc>
                <a:spcPct val="110000"/>
              </a:lnSpc>
              <a:spcBef>
                <a:spcPts val="529"/>
              </a:spcBef>
            </a:pPr>
            <a:r>
              <a:rPr lang="en-US" sz="2800" b="1" dirty="0">
                <a:solidFill>
                  <a:srgbClr val="C00000"/>
                </a:solidFill>
                <a:latin typeface="Avenir Next" panose="020B0503020202020204" pitchFamily="34" charset="0"/>
                <a:ea typeface="Roboto Medium" panose="02000000000000000000" pitchFamily="2" charset="0"/>
                <a:cs typeface="Gill Sans MT"/>
              </a:rPr>
              <a:t>Does the </a:t>
            </a:r>
            <a:r>
              <a:rPr lang="en-US" sz="2800" b="1" spc="-18" dirty="0">
                <a:solidFill>
                  <a:srgbClr val="C00000"/>
                </a:solidFill>
                <a:latin typeface="Avenir Next" panose="020B0503020202020204" pitchFamily="34" charset="0"/>
                <a:ea typeface="Roboto Medium" panose="02000000000000000000" pitchFamily="2" charset="0"/>
                <a:cs typeface="Gill Sans MT"/>
              </a:rPr>
              <a:t>server’s </a:t>
            </a:r>
            <a:r>
              <a:rPr lang="en-US" sz="2800" b="1" dirty="0">
                <a:solidFill>
                  <a:srgbClr val="C00000"/>
                </a:solidFill>
                <a:latin typeface="Avenir Next" panose="020B0503020202020204" pitchFamily="34" charset="0"/>
                <a:ea typeface="Roboto Medium" panose="02000000000000000000" pitchFamily="2" charset="0"/>
                <a:cs typeface="Gill Sans MT"/>
              </a:rPr>
              <a:t>DNS name match the common name in the</a:t>
            </a:r>
            <a:r>
              <a:rPr lang="en-US" sz="2800" b="1" spc="-44" dirty="0">
                <a:solidFill>
                  <a:srgbClr val="C00000"/>
                </a:solidFill>
                <a:latin typeface="Avenir Next" panose="020B0503020202020204" pitchFamily="34" charset="0"/>
                <a:ea typeface="Roboto Medium" panose="02000000000000000000" pitchFamily="2" charset="0"/>
                <a:cs typeface="Gill Sans MT"/>
              </a:rPr>
              <a:t> </a:t>
            </a:r>
            <a:r>
              <a:rPr lang="en-US" sz="2800" b="1" spc="4" dirty="0">
                <a:solidFill>
                  <a:srgbClr val="C00000"/>
                </a:solidFill>
                <a:latin typeface="Avenir Next" panose="020B0503020202020204" pitchFamily="34" charset="0"/>
                <a:ea typeface="Roboto Medium" panose="02000000000000000000" pitchFamily="2" charset="0"/>
                <a:cs typeface="Gill Sans MT"/>
              </a:rPr>
              <a:t>cert?</a:t>
            </a:r>
          </a:p>
          <a:p>
            <a:pPr marL="703743" marR="154649" lvl="1" indent="-235336">
              <a:lnSpc>
                <a:spcPct val="110000"/>
              </a:lnSpc>
              <a:spcBef>
                <a:spcPts val="529"/>
              </a:spcBef>
            </a:pPr>
            <a:r>
              <a:rPr lang="en-US" sz="3200" dirty="0">
                <a:latin typeface="Avenir Next" panose="020B0503020202020204" pitchFamily="34" charset="0"/>
                <a:ea typeface="Roboto Medium" panose="02000000000000000000" pitchFamily="2" charset="0"/>
                <a:cs typeface="Gill Sans MT"/>
              </a:rPr>
              <a:t>E.g., </a:t>
            </a:r>
            <a:r>
              <a:rPr lang="en-US" sz="3200" i="1" spc="4" dirty="0" err="1">
                <a:latin typeface="Courier New" panose="02070309020205020404" pitchFamily="49" charset="0"/>
                <a:ea typeface="Roboto Black" panose="02000000000000000000" pitchFamily="2" charset="0"/>
                <a:cs typeface="Courier New" panose="02070309020205020404" pitchFamily="49" charset="0"/>
              </a:rPr>
              <a:t>example.com</a:t>
            </a:r>
            <a:r>
              <a:rPr lang="en-US" sz="3200" i="1" spc="4" dirty="0">
                <a:latin typeface="Avenir Next" panose="020B0503020202020204" pitchFamily="34" charset="0"/>
                <a:ea typeface="Roboto Black"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cannot serve a </a:t>
            </a:r>
            <a:r>
              <a:rPr lang="en-US" sz="3200" spc="9" dirty="0">
                <a:latin typeface="Avenir Next" panose="020B0503020202020204" pitchFamily="34" charset="0"/>
                <a:ea typeface="Roboto Medium" panose="02000000000000000000" pitchFamily="2" charset="0"/>
                <a:cs typeface="Gill Sans MT"/>
              </a:rPr>
              <a:t>cert </a:t>
            </a:r>
            <a:r>
              <a:rPr lang="en-US" sz="3200" dirty="0">
                <a:latin typeface="Avenir Next" panose="020B0503020202020204" pitchFamily="34" charset="0"/>
                <a:ea typeface="Roboto Medium" panose="02000000000000000000" pitchFamily="2" charset="0"/>
                <a:cs typeface="Gill Sans MT"/>
              </a:rPr>
              <a:t>with common</a:t>
            </a:r>
            <a:r>
              <a:rPr lang="en-US" sz="3200" spc="-265" dirty="0">
                <a:latin typeface="Avenir Next" panose="020B0503020202020204" pitchFamily="34" charset="0"/>
                <a:ea typeface="Roboto Medium" panose="02000000000000000000" pitchFamily="2" charset="0"/>
                <a:cs typeface="Gill Sans MT"/>
              </a:rPr>
              <a:t> </a:t>
            </a:r>
            <a:r>
              <a:rPr lang="en-US" sz="3200" dirty="0">
                <a:latin typeface="Avenir Next" panose="020B0503020202020204" pitchFamily="34" charset="0"/>
                <a:ea typeface="Roboto Medium" panose="02000000000000000000" pitchFamily="2" charset="0"/>
                <a:cs typeface="Gill Sans MT"/>
              </a:rPr>
              <a:t>name </a:t>
            </a:r>
            <a:r>
              <a:rPr lang="en-US" sz="3200" i="1" dirty="0" err="1">
                <a:latin typeface="Courier New" panose="02070309020205020404" pitchFamily="49" charset="0"/>
                <a:ea typeface="Roboto Black" panose="02000000000000000000" pitchFamily="2" charset="0"/>
                <a:cs typeface="Courier New" panose="02070309020205020404" pitchFamily="49" charset="0"/>
              </a:rPr>
              <a:t>google.com</a:t>
            </a:r>
            <a:endParaRPr lang="en-US" sz="3200" dirty="0">
              <a:latin typeface="Courier New" panose="02070309020205020404" pitchFamily="49" charset="0"/>
              <a:ea typeface="Roboto Medium" panose="02000000000000000000" pitchFamily="2" charset="0"/>
              <a:cs typeface="Courier New" panose="02070309020205020404" pitchFamily="49" charset="0"/>
            </a:endParaRPr>
          </a:p>
          <a:p>
            <a:pPr marL="246543">
              <a:lnSpc>
                <a:spcPct val="110000"/>
              </a:lnSpc>
              <a:spcBef>
                <a:spcPts val="424"/>
              </a:spcBef>
            </a:pPr>
            <a:r>
              <a:rPr lang="en-US" sz="3200" spc="-13" dirty="0">
                <a:solidFill>
                  <a:srgbClr val="464653"/>
                </a:solidFill>
                <a:latin typeface="Avenir Next" panose="020B0503020202020204" pitchFamily="34" charset="0"/>
                <a:ea typeface="Roboto Medium" panose="02000000000000000000" pitchFamily="2" charset="0"/>
                <a:cs typeface="Gill Sans MT"/>
              </a:rPr>
              <a:t>Are any </a:t>
            </a:r>
            <a:r>
              <a:rPr lang="en-US" sz="3200" spc="4" dirty="0">
                <a:solidFill>
                  <a:srgbClr val="464653"/>
                </a:solidFill>
                <a:latin typeface="Avenir Next" panose="020B0503020202020204" pitchFamily="34" charset="0"/>
                <a:ea typeface="Roboto Medium" panose="02000000000000000000" pitchFamily="2" charset="0"/>
                <a:cs typeface="Gill Sans MT"/>
              </a:rPr>
              <a:t>certs </a:t>
            </a:r>
            <a:r>
              <a:rPr lang="en-US" sz="3200" dirty="0">
                <a:solidFill>
                  <a:srgbClr val="464653"/>
                </a:solidFill>
                <a:latin typeface="Avenir Next" panose="020B0503020202020204" pitchFamily="34" charset="0"/>
                <a:ea typeface="Roboto Medium" panose="02000000000000000000" pitchFamily="2" charset="0"/>
                <a:cs typeface="Gill Sans MT"/>
              </a:rPr>
              <a:t>in the chain</a:t>
            </a:r>
            <a:r>
              <a:rPr lang="en-US" sz="3200" spc="-13" dirty="0">
                <a:solidFill>
                  <a:srgbClr val="464653"/>
                </a:solidFill>
                <a:latin typeface="Avenir Next" panose="020B0503020202020204" pitchFamily="34" charset="0"/>
                <a:ea typeface="Roboto Medium" panose="02000000000000000000" pitchFamily="2" charset="0"/>
                <a:cs typeface="Gill Sans MT"/>
              </a:rPr>
              <a:t> </a:t>
            </a:r>
            <a:r>
              <a:rPr lang="en-US" sz="3200" b="1" spc="-9" dirty="0">
                <a:solidFill>
                  <a:srgbClr val="C00000"/>
                </a:solidFill>
                <a:latin typeface="Avenir Next" panose="020B0503020202020204" pitchFamily="34" charset="0"/>
                <a:ea typeface="Roboto Medium" panose="02000000000000000000" pitchFamily="2" charset="0"/>
                <a:cs typeface="Gill Sans MT"/>
              </a:rPr>
              <a:t>expired</a:t>
            </a:r>
            <a:r>
              <a:rPr lang="en-US" sz="3200" spc="-9" dirty="0">
                <a:solidFill>
                  <a:srgbClr val="464653"/>
                </a:solidFill>
                <a:latin typeface="Avenir Next" panose="020B0503020202020204" pitchFamily="34" charset="0"/>
                <a:ea typeface="Roboto Medium" panose="02000000000000000000" pitchFamily="2" charset="0"/>
                <a:cs typeface="Gill Sans MT"/>
              </a:rPr>
              <a:t>?</a:t>
            </a:r>
            <a:endParaRPr lang="en-US" sz="3200" dirty="0">
              <a:latin typeface="Avenir Next" panose="020B0503020202020204" pitchFamily="34" charset="0"/>
              <a:ea typeface="Roboto Medium" panose="02000000000000000000" pitchFamily="2" charset="0"/>
              <a:cs typeface="Gill Sans MT"/>
            </a:endParaRPr>
          </a:p>
          <a:p>
            <a:pPr marL="246543">
              <a:lnSpc>
                <a:spcPct val="110000"/>
              </a:lnSpc>
              <a:spcBef>
                <a:spcPts val="424"/>
              </a:spcBef>
            </a:pPr>
            <a:r>
              <a:rPr lang="en-US" sz="3200" dirty="0">
                <a:solidFill>
                  <a:srgbClr val="464653"/>
                </a:solidFill>
                <a:latin typeface="Avenir Next" panose="020B0503020202020204" pitchFamily="34" charset="0"/>
                <a:ea typeface="Roboto Medium" panose="02000000000000000000" pitchFamily="2" charset="0"/>
                <a:cs typeface="Gill Sans MT"/>
              </a:rPr>
              <a:t>Is the </a:t>
            </a:r>
            <a:r>
              <a:rPr lang="en-US" sz="3200" spc="-26" dirty="0">
                <a:solidFill>
                  <a:srgbClr val="464653"/>
                </a:solidFill>
                <a:latin typeface="Avenir Next" panose="020B0503020202020204" pitchFamily="34" charset="0"/>
                <a:ea typeface="Roboto Medium" panose="02000000000000000000" pitchFamily="2" charset="0"/>
                <a:cs typeface="Gill Sans MT"/>
              </a:rPr>
              <a:t>CA’s </a:t>
            </a:r>
            <a:r>
              <a:rPr lang="en-US" sz="3200" spc="-4" dirty="0">
                <a:solidFill>
                  <a:srgbClr val="464653"/>
                </a:solidFill>
                <a:latin typeface="Avenir Next" panose="020B0503020202020204" pitchFamily="34" charset="0"/>
                <a:ea typeface="Roboto Medium" panose="02000000000000000000" pitchFamily="2" charset="0"/>
                <a:cs typeface="Gill Sans MT"/>
              </a:rPr>
              <a:t>signature </a:t>
            </a:r>
            <a:r>
              <a:rPr lang="en-US" sz="3200" dirty="0">
                <a:solidFill>
                  <a:srgbClr val="464653"/>
                </a:solidFill>
                <a:latin typeface="Avenir Next" panose="020B0503020202020204" pitchFamily="34" charset="0"/>
                <a:ea typeface="Roboto Medium" panose="02000000000000000000" pitchFamily="2" charset="0"/>
                <a:cs typeface="Gill Sans MT"/>
              </a:rPr>
              <a:t>cryptographically</a:t>
            </a:r>
            <a:r>
              <a:rPr lang="en-US" sz="3200" spc="-31" dirty="0">
                <a:solidFill>
                  <a:srgbClr val="464653"/>
                </a:solidFill>
                <a:latin typeface="Avenir Next" panose="020B0503020202020204" pitchFamily="34" charset="0"/>
                <a:ea typeface="Roboto Medium" panose="02000000000000000000" pitchFamily="2" charset="0"/>
                <a:cs typeface="Gill Sans MT"/>
              </a:rPr>
              <a:t> </a:t>
            </a:r>
            <a:r>
              <a:rPr lang="en-US" sz="3200" dirty="0">
                <a:solidFill>
                  <a:srgbClr val="464653"/>
                </a:solidFill>
                <a:latin typeface="Avenir Next" panose="020B0503020202020204" pitchFamily="34" charset="0"/>
                <a:ea typeface="Roboto Medium" panose="02000000000000000000" pitchFamily="2" charset="0"/>
                <a:cs typeface="Gill Sans MT"/>
              </a:rPr>
              <a:t>valid?</a:t>
            </a:r>
          </a:p>
          <a:p>
            <a:pPr marL="246543">
              <a:lnSpc>
                <a:spcPct val="110000"/>
              </a:lnSpc>
              <a:spcBef>
                <a:spcPts val="424"/>
              </a:spcBef>
            </a:pPr>
            <a:r>
              <a:rPr lang="en-US" sz="3200" dirty="0">
                <a:solidFill>
                  <a:srgbClr val="464653"/>
                </a:solidFill>
                <a:latin typeface="Avenir Next" panose="020B0503020202020204" pitchFamily="34" charset="0"/>
                <a:ea typeface="Roboto Medium" panose="02000000000000000000" pitchFamily="2" charset="0"/>
                <a:cs typeface="Gill Sans MT"/>
              </a:rPr>
              <a:t>Is the </a:t>
            </a:r>
            <a:r>
              <a:rPr lang="en-US" sz="3200" spc="9" dirty="0">
                <a:solidFill>
                  <a:srgbClr val="464653"/>
                </a:solidFill>
                <a:latin typeface="Avenir Next" panose="020B0503020202020204" pitchFamily="34" charset="0"/>
                <a:ea typeface="Roboto Medium" panose="02000000000000000000" pitchFamily="2" charset="0"/>
                <a:cs typeface="Gill Sans MT"/>
              </a:rPr>
              <a:t>cert </a:t>
            </a:r>
            <a:r>
              <a:rPr lang="en-US" sz="3200" dirty="0">
                <a:solidFill>
                  <a:srgbClr val="464653"/>
                </a:solidFill>
                <a:latin typeface="Avenir Next" panose="020B0503020202020204" pitchFamily="34" charset="0"/>
                <a:ea typeface="Roboto Medium" panose="02000000000000000000" pitchFamily="2" charset="0"/>
                <a:cs typeface="Gill Sans MT"/>
              </a:rPr>
              <a:t>of the </a:t>
            </a:r>
            <a:r>
              <a:rPr lang="en-US" sz="3200" spc="-13" dirty="0">
                <a:solidFill>
                  <a:srgbClr val="464653"/>
                </a:solidFill>
                <a:latin typeface="Avenir Next" panose="020B0503020202020204" pitchFamily="34" charset="0"/>
                <a:ea typeface="Roboto Medium" panose="02000000000000000000" pitchFamily="2" charset="0"/>
                <a:cs typeface="Gill Sans MT"/>
              </a:rPr>
              <a:t>root </a:t>
            </a:r>
            <a:r>
              <a:rPr lang="en-US" sz="3200" spc="22" dirty="0">
                <a:solidFill>
                  <a:srgbClr val="464653"/>
                </a:solidFill>
                <a:latin typeface="Avenir Next" panose="020B0503020202020204" pitchFamily="34" charset="0"/>
                <a:ea typeface="Roboto Medium" panose="02000000000000000000" pitchFamily="2" charset="0"/>
                <a:cs typeface="Gill Sans MT"/>
              </a:rPr>
              <a:t>CA </a:t>
            </a:r>
            <a:r>
              <a:rPr lang="en-US" sz="3200" dirty="0">
                <a:solidFill>
                  <a:srgbClr val="464653"/>
                </a:solidFill>
                <a:latin typeface="Avenir Next" panose="020B0503020202020204" pitchFamily="34" charset="0"/>
                <a:ea typeface="Roboto Medium" panose="02000000000000000000" pitchFamily="2" charset="0"/>
                <a:cs typeface="Gill Sans MT"/>
              </a:rPr>
              <a:t>in the chain </a:t>
            </a:r>
            <a:r>
              <a:rPr lang="en-US" sz="3200" spc="-9" dirty="0">
                <a:solidFill>
                  <a:srgbClr val="464653"/>
                </a:solidFill>
                <a:latin typeface="Avenir Next" panose="020B0503020202020204" pitchFamily="34" charset="0"/>
                <a:ea typeface="Roboto Medium" panose="02000000000000000000" pitchFamily="2" charset="0"/>
                <a:cs typeface="Gill Sans MT"/>
              </a:rPr>
              <a:t>present </a:t>
            </a:r>
            <a:r>
              <a:rPr lang="en-US" sz="3200" dirty="0">
                <a:solidFill>
                  <a:srgbClr val="464653"/>
                </a:solidFill>
                <a:latin typeface="Avenir Next" panose="020B0503020202020204" pitchFamily="34" charset="0"/>
                <a:ea typeface="Roboto Medium" panose="02000000000000000000" pitchFamily="2" charset="0"/>
                <a:cs typeface="Gill Sans MT"/>
              </a:rPr>
              <a:t>in the </a:t>
            </a:r>
            <a:r>
              <a:rPr lang="en-US" sz="3200" spc="-22" dirty="0">
                <a:solidFill>
                  <a:srgbClr val="464653"/>
                </a:solidFill>
                <a:latin typeface="Avenir Next" panose="020B0503020202020204" pitchFamily="34" charset="0"/>
                <a:ea typeface="Roboto Medium" panose="02000000000000000000" pitchFamily="2" charset="0"/>
                <a:cs typeface="Gill Sans MT"/>
              </a:rPr>
              <a:t>client’s </a:t>
            </a:r>
            <a:r>
              <a:rPr lang="en-US" sz="3200" dirty="0">
                <a:solidFill>
                  <a:srgbClr val="464653"/>
                </a:solidFill>
                <a:latin typeface="Avenir Next" panose="020B0503020202020204" pitchFamily="34" charset="0"/>
                <a:ea typeface="Roboto Medium" panose="02000000000000000000" pitchFamily="2" charset="0"/>
                <a:cs typeface="Gill Sans MT"/>
              </a:rPr>
              <a:t>trusted  </a:t>
            </a:r>
            <a:r>
              <a:rPr lang="en-US" sz="3200" spc="-31" dirty="0">
                <a:solidFill>
                  <a:srgbClr val="464653"/>
                </a:solidFill>
                <a:latin typeface="Avenir Next" panose="020B0503020202020204" pitchFamily="34" charset="0"/>
                <a:ea typeface="Roboto Medium" panose="02000000000000000000" pitchFamily="2" charset="0"/>
                <a:cs typeface="Gill Sans MT"/>
              </a:rPr>
              <a:t>key</a:t>
            </a:r>
            <a:r>
              <a:rPr lang="en-US" sz="3200" spc="-71" dirty="0">
                <a:solidFill>
                  <a:srgbClr val="464653"/>
                </a:solidFill>
                <a:latin typeface="Avenir Next" panose="020B0503020202020204" pitchFamily="34" charset="0"/>
                <a:ea typeface="Roboto Medium" panose="02000000000000000000" pitchFamily="2" charset="0"/>
                <a:cs typeface="Gill Sans MT"/>
              </a:rPr>
              <a:t> </a:t>
            </a:r>
            <a:r>
              <a:rPr lang="en-US" sz="3200" spc="-9" dirty="0">
                <a:solidFill>
                  <a:srgbClr val="464653"/>
                </a:solidFill>
                <a:latin typeface="Avenir Next" panose="020B0503020202020204" pitchFamily="34" charset="0"/>
                <a:ea typeface="Roboto Medium" panose="02000000000000000000" pitchFamily="2" charset="0"/>
                <a:cs typeface="Gill Sans MT"/>
              </a:rPr>
              <a:t>store?</a:t>
            </a:r>
            <a:endParaRPr lang="en-US" sz="3200" dirty="0">
              <a:latin typeface="Avenir Next" panose="020B0503020202020204" pitchFamily="34" charset="0"/>
              <a:ea typeface="Roboto Medium" panose="02000000000000000000" pitchFamily="2" charset="0"/>
              <a:cs typeface="Gill Sans MT"/>
            </a:endParaRPr>
          </a:p>
          <a:p>
            <a:pPr marL="246543">
              <a:lnSpc>
                <a:spcPct val="110000"/>
              </a:lnSpc>
              <a:spcBef>
                <a:spcPts val="353"/>
              </a:spcBef>
            </a:pPr>
            <a:r>
              <a:rPr lang="en-US" sz="3200" dirty="0">
                <a:solidFill>
                  <a:srgbClr val="464653"/>
                </a:solidFill>
                <a:latin typeface="Avenir Next" panose="020B0503020202020204" pitchFamily="34" charset="0"/>
                <a:ea typeface="Roboto Medium" panose="02000000000000000000" pitchFamily="2" charset="0"/>
                <a:cs typeface="Gill Sans MT"/>
              </a:rPr>
              <a:t>Is </a:t>
            </a:r>
            <a:r>
              <a:rPr lang="en-US" sz="3200" spc="-13" dirty="0">
                <a:solidFill>
                  <a:srgbClr val="464653"/>
                </a:solidFill>
                <a:latin typeface="Avenir Next" panose="020B0503020202020204" pitchFamily="34" charset="0"/>
                <a:ea typeface="Roboto Medium" panose="02000000000000000000" pitchFamily="2" charset="0"/>
                <a:cs typeface="Gill Sans MT"/>
              </a:rPr>
              <a:t>any </a:t>
            </a:r>
            <a:r>
              <a:rPr lang="en-US" sz="3200" spc="9" dirty="0">
                <a:solidFill>
                  <a:srgbClr val="464653"/>
                </a:solidFill>
                <a:latin typeface="Avenir Next" panose="020B0503020202020204" pitchFamily="34" charset="0"/>
                <a:ea typeface="Roboto Medium" panose="02000000000000000000" pitchFamily="2" charset="0"/>
                <a:cs typeface="Gill Sans MT"/>
              </a:rPr>
              <a:t>cert </a:t>
            </a:r>
            <a:r>
              <a:rPr lang="en-US" sz="3200" dirty="0">
                <a:solidFill>
                  <a:srgbClr val="464653"/>
                </a:solidFill>
                <a:latin typeface="Avenir Next" panose="020B0503020202020204" pitchFamily="34" charset="0"/>
                <a:ea typeface="Roboto Medium" panose="02000000000000000000" pitchFamily="2" charset="0"/>
                <a:cs typeface="Gill Sans MT"/>
              </a:rPr>
              <a:t>in the chain </a:t>
            </a:r>
            <a:r>
              <a:rPr lang="en-US" sz="3200" b="1" spc="-22" dirty="0">
                <a:solidFill>
                  <a:srgbClr val="C00000"/>
                </a:solidFill>
                <a:latin typeface="Avenir Next" panose="020B0503020202020204" pitchFamily="34" charset="0"/>
                <a:ea typeface="Roboto Medium" panose="02000000000000000000" pitchFamily="2" charset="0"/>
                <a:cs typeface="Gill Sans MT"/>
              </a:rPr>
              <a:t>revoked</a:t>
            </a:r>
            <a:r>
              <a:rPr lang="en-US" sz="3200" spc="-22" dirty="0">
                <a:solidFill>
                  <a:srgbClr val="464653"/>
                </a:solidFill>
                <a:latin typeface="Avenir Next" panose="020B0503020202020204" pitchFamily="34" charset="0"/>
                <a:ea typeface="Roboto Medium" panose="02000000000000000000" pitchFamily="2" charset="0"/>
                <a:cs typeface="Gill Sans MT"/>
              </a:rPr>
              <a:t>?</a:t>
            </a:r>
            <a:endParaRPr lang="en-US" sz="32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517848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0" y="-5493"/>
            <a:ext cx="4606594" cy="1323439"/>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1.3 Handshake Protocol</a:t>
            </a:r>
            <a:endParaRPr lang="en-US" sz="4000" dirty="0">
              <a:solidFill>
                <a:schemeClr val="bg1"/>
              </a:solidFill>
              <a:latin typeface="Playfair Display Medium" pitchFamily="2" charset="77"/>
            </a:endParaRPr>
          </a:p>
        </p:txBody>
      </p:sp>
      <p:pic>
        <p:nvPicPr>
          <p:cNvPr id="4098" name="Picture 2" descr="Message Flow for Full TLS Handshake">
            <a:extLst>
              <a:ext uri="{FF2B5EF4-FFF2-40B4-BE49-F238E27FC236}">
                <a16:creationId xmlns:a16="http://schemas.microsoft.com/office/drawing/2014/main" id="{62AB9BC6-8ED0-3E1D-58E6-5D153CEC8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0713" y="-5493"/>
            <a:ext cx="7761287"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010E34E-63B0-1DC1-2C8F-AB33691658B9}"/>
              </a:ext>
            </a:extLst>
          </p:cNvPr>
          <p:cNvSpPr txBox="1"/>
          <p:nvPr/>
        </p:nvSpPr>
        <p:spPr>
          <a:xfrm>
            <a:off x="145775" y="1823069"/>
            <a:ext cx="4969564" cy="3970318"/>
          </a:xfrm>
          <a:prstGeom prst="rect">
            <a:avLst/>
          </a:prstGeom>
          <a:noFill/>
        </p:spPr>
        <p:txBody>
          <a:bodyPr wrap="square" rtlCol="0">
            <a:spAutoFit/>
          </a:bodyPr>
          <a:lstStyle/>
          <a:p>
            <a:pPr algn="l"/>
            <a:r>
              <a:rPr lang="en-US" b="1" i="0" dirty="0">
                <a:solidFill>
                  <a:srgbClr val="4A4A4A"/>
                </a:solidFill>
                <a:effectLst/>
                <a:latin typeface="Avenir Next" panose="020B0503020202020204" pitchFamily="34" charset="0"/>
                <a:cs typeface="Courier New" panose="02070309020205020404" pitchFamily="49" charset="0"/>
              </a:rPr>
              <a:t>+</a:t>
            </a:r>
            <a:r>
              <a:rPr lang="en-US" b="0" i="0" dirty="0">
                <a:solidFill>
                  <a:srgbClr val="4A4A4A"/>
                </a:solidFill>
                <a:effectLst/>
                <a:latin typeface="Avenir Next" panose="020B0503020202020204" pitchFamily="34" charset="0"/>
                <a:cs typeface="Courier New" panose="02070309020205020404" pitchFamily="49" charset="0"/>
              </a:rPr>
              <a:t> Indicates noteworthy extensions sent in the previously noted message.</a:t>
            </a:r>
          </a:p>
          <a:p>
            <a:pPr algn="l"/>
            <a:br>
              <a:rPr lang="en-US" b="0" i="0" dirty="0">
                <a:solidFill>
                  <a:srgbClr val="4A4A4A"/>
                </a:solidFill>
                <a:effectLst/>
                <a:latin typeface="Avenir Next" panose="020B0503020202020204" pitchFamily="34" charset="0"/>
                <a:cs typeface="Courier New" panose="02070309020205020404" pitchFamily="49" charset="0"/>
              </a:rPr>
            </a:br>
            <a:r>
              <a:rPr lang="en-US" b="1" i="0" dirty="0">
                <a:solidFill>
                  <a:srgbClr val="4A4A4A"/>
                </a:solidFill>
                <a:effectLst/>
                <a:latin typeface="Avenir Next" panose="020B0503020202020204" pitchFamily="34" charset="0"/>
                <a:cs typeface="Courier New" panose="02070309020205020404" pitchFamily="49" charset="0"/>
              </a:rPr>
              <a:t>*</a:t>
            </a:r>
            <a:r>
              <a:rPr lang="en-US" b="0" i="0" dirty="0">
                <a:solidFill>
                  <a:srgbClr val="4A4A4A"/>
                </a:solidFill>
                <a:effectLst/>
                <a:latin typeface="Avenir Next" panose="020B0503020202020204" pitchFamily="34" charset="0"/>
                <a:cs typeface="Courier New" panose="02070309020205020404" pitchFamily="49" charset="0"/>
              </a:rPr>
              <a:t> Indicates optional or situation-dependent messages/extensions that are not always sent.</a:t>
            </a:r>
          </a:p>
          <a:p>
            <a:pPr algn="l"/>
            <a:br>
              <a:rPr lang="en-US" b="0" i="0" dirty="0">
                <a:solidFill>
                  <a:srgbClr val="4A4A4A"/>
                </a:solidFill>
                <a:effectLst/>
                <a:latin typeface="Avenir Next" panose="020B0503020202020204" pitchFamily="34" charset="0"/>
                <a:cs typeface="Courier New" panose="02070309020205020404" pitchFamily="49" charset="0"/>
              </a:rPr>
            </a:br>
            <a:r>
              <a:rPr lang="en-US" b="1" i="0" dirty="0">
                <a:solidFill>
                  <a:srgbClr val="4A4A4A"/>
                </a:solidFill>
                <a:effectLst/>
                <a:latin typeface="Avenir Next" panose="020B0503020202020204" pitchFamily="34" charset="0"/>
                <a:cs typeface="Courier New" panose="02070309020205020404" pitchFamily="49" charset="0"/>
              </a:rPr>
              <a:t>{}</a:t>
            </a:r>
            <a:r>
              <a:rPr lang="en-US" b="0" i="0" dirty="0">
                <a:solidFill>
                  <a:srgbClr val="4A4A4A"/>
                </a:solidFill>
                <a:effectLst/>
                <a:latin typeface="Avenir Next" panose="020B0503020202020204" pitchFamily="34" charset="0"/>
                <a:cs typeface="Courier New" panose="02070309020205020404" pitchFamily="49" charset="0"/>
              </a:rPr>
              <a:t> Indicates messages protected using keys derived from a [sender]_</a:t>
            </a:r>
            <a:r>
              <a:rPr lang="en-US" b="0" i="0" dirty="0" err="1">
                <a:solidFill>
                  <a:srgbClr val="4A4A4A"/>
                </a:solidFill>
                <a:effectLst/>
                <a:latin typeface="Avenir Next" panose="020B0503020202020204" pitchFamily="34" charset="0"/>
                <a:cs typeface="Courier New" panose="02070309020205020404" pitchFamily="49" charset="0"/>
              </a:rPr>
              <a:t>handshake_traffic_secret</a:t>
            </a:r>
            <a:r>
              <a:rPr lang="en-US" b="0" i="0" dirty="0">
                <a:solidFill>
                  <a:srgbClr val="4A4A4A"/>
                </a:solidFill>
                <a:effectLst/>
                <a:latin typeface="Avenir Next" panose="020B0503020202020204" pitchFamily="34" charset="0"/>
                <a:cs typeface="Courier New" panose="02070309020205020404" pitchFamily="49" charset="0"/>
              </a:rPr>
              <a:t>.</a:t>
            </a:r>
          </a:p>
          <a:p>
            <a:pPr algn="l"/>
            <a:endParaRPr lang="en-US" dirty="0">
              <a:solidFill>
                <a:srgbClr val="4A4A4A"/>
              </a:solidFill>
              <a:latin typeface="Avenir Next" panose="020B0503020202020204" pitchFamily="34" charset="0"/>
              <a:cs typeface="Courier New" panose="02070309020205020404" pitchFamily="49" charset="0"/>
            </a:endParaRPr>
          </a:p>
          <a:p>
            <a:pPr algn="l"/>
            <a:r>
              <a:rPr lang="en-US" b="1" i="0" dirty="0">
                <a:solidFill>
                  <a:srgbClr val="4A4A4A"/>
                </a:solidFill>
                <a:effectLst/>
                <a:latin typeface="Avenir Next" panose="020B0503020202020204" pitchFamily="34" charset="0"/>
                <a:cs typeface="Courier New" panose="02070309020205020404" pitchFamily="49" charset="0"/>
              </a:rPr>
              <a:t>[]</a:t>
            </a:r>
            <a:r>
              <a:rPr lang="en-US" b="0" i="0" dirty="0">
                <a:solidFill>
                  <a:srgbClr val="4A4A4A"/>
                </a:solidFill>
                <a:effectLst/>
                <a:latin typeface="Avenir Next" panose="020B0503020202020204" pitchFamily="34" charset="0"/>
                <a:cs typeface="Courier New" panose="02070309020205020404" pitchFamily="49" charset="0"/>
              </a:rPr>
              <a:t> Indicates messages protected using keys derived from [sender]_</a:t>
            </a:r>
            <a:r>
              <a:rPr lang="en-US" b="0" i="0" dirty="0" err="1">
                <a:solidFill>
                  <a:srgbClr val="4A4A4A"/>
                </a:solidFill>
                <a:effectLst/>
                <a:latin typeface="Avenir Next" panose="020B0503020202020204" pitchFamily="34" charset="0"/>
                <a:cs typeface="Courier New" panose="02070309020205020404" pitchFamily="49" charset="0"/>
              </a:rPr>
              <a:t>application_traffic_secret_N</a:t>
            </a:r>
            <a:r>
              <a:rPr lang="en-US" b="0" i="0" dirty="0">
                <a:solidFill>
                  <a:srgbClr val="4A4A4A"/>
                </a:solidFill>
                <a:effectLst/>
                <a:latin typeface="Avenir Next" panose="020B0503020202020204" pitchFamily="34" charset="0"/>
                <a:cs typeface="Courier New" panose="02070309020205020404" pitchFamily="49" charset="0"/>
              </a:rPr>
              <a:t>.</a:t>
            </a:r>
          </a:p>
          <a:p>
            <a:endParaRPr lang="en-US" dirty="0">
              <a:latin typeface="Avenir Next" panose="020B0503020202020204" pitchFamily="34" charset="0"/>
              <a:cs typeface="Courier New" panose="02070309020205020404" pitchFamily="49" charset="0"/>
            </a:endParaRPr>
          </a:p>
        </p:txBody>
      </p:sp>
      <p:sp>
        <p:nvSpPr>
          <p:cNvPr id="41" name="TextBox 40">
            <a:extLst>
              <a:ext uri="{FF2B5EF4-FFF2-40B4-BE49-F238E27FC236}">
                <a16:creationId xmlns:a16="http://schemas.microsoft.com/office/drawing/2014/main" id="{85CA28AF-53C2-872B-52FF-76FB2884EC4D}"/>
              </a:ext>
            </a:extLst>
          </p:cNvPr>
          <p:cNvSpPr txBox="1"/>
          <p:nvPr/>
        </p:nvSpPr>
        <p:spPr>
          <a:xfrm>
            <a:off x="125704" y="6483175"/>
            <a:ext cx="5009705" cy="369332"/>
          </a:xfrm>
          <a:prstGeom prst="rect">
            <a:avLst/>
          </a:prstGeom>
          <a:noFill/>
        </p:spPr>
        <p:txBody>
          <a:bodyPr wrap="none" rtlCol="0">
            <a:spAutoFit/>
          </a:bodyPr>
          <a:lstStyle/>
          <a:p>
            <a:r>
              <a:rPr lang="en-US" b="1" dirty="0">
                <a:latin typeface="Courier New" panose="02070309020205020404" pitchFamily="49" charset="0"/>
                <a:cs typeface="Courier New" panose="02070309020205020404" pitchFamily="49" charset="0"/>
              </a:rPr>
              <a:t>Source:</a:t>
            </a:r>
            <a:r>
              <a:rPr lang="en-US" dirty="0">
                <a:latin typeface="Courier New" panose="02070309020205020404" pitchFamily="49" charset="0"/>
                <a:cs typeface="Courier New" panose="02070309020205020404" pitchFamily="49" charset="0"/>
              </a:rPr>
              <a:t> https://</a:t>
            </a:r>
            <a:r>
              <a:rPr lang="en-US" dirty="0" err="1">
                <a:latin typeface="Courier New" panose="02070309020205020404" pitchFamily="49" charset="0"/>
                <a:cs typeface="Courier New" panose="02070309020205020404" pitchFamily="49" charset="0"/>
              </a:rPr>
              <a:t>davidwong.fr</a:t>
            </a:r>
            <a:r>
              <a:rPr lang="en-US" dirty="0">
                <a:latin typeface="Courier New" panose="02070309020205020404" pitchFamily="49" charset="0"/>
                <a:cs typeface="Courier New" panose="02070309020205020404" pitchFamily="49" charset="0"/>
              </a:rPr>
              <a:t>/tls13/</a:t>
            </a:r>
          </a:p>
        </p:txBody>
      </p:sp>
    </p:spTree>
    <p:custDataLst>
      <p:tags r:id="rId1"/>
    </p:custDataLst>
    <p:extLst>
      <p:ext uri="{BB962C8B-B14F-4D97-AF65-F5344CB8AC3E}">
        <p14:creationId xmlns:p14="http://schemas.microsoft.com/office/powerpoint/2010/main" val="2270167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981200" y="1149351"/>
            <a:ext cx="8229600" cy="1753074"/>
          </a:xfrm>
        </p:spPr>
        <p:txBody>
          <a:bodyPr/>
          <a:lstStyle/>
          <a:p>
            <a:r>
              <a:rPr lang="en-US" sz="2400" dirty="0"/>
              <a:t>No RSA: only DH + signature by server</a:t>
            </a:r>
          </a:p>
          <a:p>
            <a:r>
              <a:rPr lang="en-US" sz="2400" dirty="0"/>
              <a:t>1-RTT: client sends key-share in Hello !</a:t>
            </a:r>
          </a:p>
          <a:p>
            <a:pPr lvl="1"/>
            <a:r>
              <a:rPr lang="en-US" sz="2000" dirty="0"/>
              <a:t>So: a key-share per each cipher-suite option sent by client </a:t>
            </a:r>
          </a:p>
        </p:txBody>
      </p:sp>
      <p:sp>
        <p:nvSpPr>
          <p:cNvPr id="4" name="מציין מיקום של תאריך 3"/>
          <p:cNvSpPr>
            <a:spLocks noGrp="1"/>
          </p:cNvSpPr>
          <p:nvPr>
            <p:ph type="dt" sz="half" idx="10"/>
          </p:nvPr>
        </p:nvSpPr>
        <p:spPr/>
        <p:txBody>
          <a:bodyPr/>
          <a:lstStyle/>
          <a:p>
            <a:pPr>
              <a:defRPr/>
            </a:pPr>
            <a:r>
              <a:rPr lang="en-US" altLang="en-US"/>
              <a:t>2/27/25</a:t>
            </a:r>
          </a:p>
        </p:txBody>
      </p:sp>
      <p:sp>
        <p:nvSpPr>
          <p:cNvPr id="5" name="מציין מיקום של מספר שקופית 4"/>
          <p:cNvSpPr>
            <a:spLocks noGrp="1"/>
          </p:cNvSpPr>
          <p:nvPr>
            <p:ph type="sldNum" sz="quarter" idx="11"/>
          </p:nvPr>
        </p:nvSpPr>
        <p:spPr/>
        <p:txBody>
          <a:bodyPr/>
          <a:lstStyle/>
          <a:p>
            <a:r>
              <a:rPr lang="he-IL" altLang="en-US"/>
              <a:t>26</a:t>
            </a:r>
            <a:endParaRPr lang="en-US" altLang="en-US"/>
          </a:p>
        </p:txBody>
      </p:sp>
      <p:sp>
        <p:nvSpPr>
          <p:cNvPr id="6" name="Freeform 3"/>
          <p:cNvSpPr>
            <a:spLocks noEditPoints="1"/>
          </p:cNvSpPr>
          <p:nvPr/>
        </p:nvSpPr>
        <p:spPr bwMode="auto">
          <a:xfrm>
            <a:off x="2651518" y="3538594"/>
            <a:ext cx="6578600" cy="69850"/>
          </a:xfrm>
          <a:custGeom>
            <a:avLst/>
            <a:gdLst>
              <a:gd name="T0" fmla="*/ 2 w 2277"/>
              <a:gd name="T1" fmla="*/ 11 h 25"/>
              <a:gd name="T2" fmla="*/ 2256 w 2277"/>
              <a:gd name="T3" fmla="*/ 11 h 25"/>
              <a:gd name="T4" fmla="*/ 2258 w 2277"/>
              <a:gd name="T5" fmla="*/ 12 h 25"/>
              <a:gd name="T6" fmla="*/ 2256 w 2277"/>
              <a:gd name="T7" fmla="*/ 14 h 25"/>
              <a:gd name="T8" fmla="*/ 2 w 2277"/>
              <a:gd name="T9" fmla="*/ 14 h 25"/>
              <a:gd name="T10" fmla="*/ 0 w 2277"/>
              <a:gd name="T11" fmla="*/ 12 h 25"/>
              <a:gd name="T12" fmla="*/ 2 w 2277"/>
              <a:gd name="T13" fmla="*/ 11 h 25"/>
              <a:gd name="T14" fmla="*/ 2252 w 2277"/>
              <a:gd name="T15" fmla="*/ 0 h 25"/>
              <a:gd name="T16" fmla="*/ 2277 w 2277"/>
              <a:gd name="T17" fmla="*/ 12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8" y="11"/>
                  <a:pt x="2258" y="12"/>
                </a:cubicBezTo>
                <a:cubicBezTo>
                  <a:pt x="2258" y="13"/>
                  <a:pt x="2257" y="14"/>
                  <a:pt x="2256" y="14"/>
                </a:cubicBezTo>
                <a:lnTo>
                  <a:pt x="2" y="14"/>
                </a:lnTo>
                <a:cubicBezTo>
                  <a:pt x="1" y="14"/>
                  <a:pt x="0" y="13"/>
                  <a:pt x="0" y="12"/>
                </a:cubicBezTo>
                <a:cubicBezTo>
                  <a:pt x="0" y="11"/>
                  <a:pt x="1" y="11"/>
                  <a:pt x="2" y="11"/>
                </a:cubicBezTo>
                <a:close/>
                <a:moveTo>
                  <a:pt x="2252" y="0"/>
                </a:moveTo>
                <a:lnTo>
                  <a:pt x="2277" y="12"/>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7" name="Rectangle 4"/>
          <p:cNvSpPr>
            <a:spLocks noChangeArrowheads="1"/>
          </p:cNvSpPr>
          <p:nvPr/>
        </p:nvSpPr>
        <p:spPr bwMode="auto">
          <a:xfrm>
            <a:off x="2092329" y="2933757"/>
            <a:ext cx="73738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Client</a:t>
            </a:r>
            <a:endParaRPr lang="en-US" altLang="he-IL" sz="2400"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a:off x="9032584" y="3009957"/>
            <a:ext cx="7982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a:solidFill>
                  <a:srgbClr val="000000"/>
                </a:solidFill>
                <a:latin typeface="Times New Roman" panose="02020603050405020304" pitchFamily="18" charset="0"/>
                <a:cs typeface="Times New Roman" panose="02020603050405020304" pitchFamily="18" charset="0"/>
              </a:rPr>
              <a:t>Server</a:t>
            </a:r>
            <a:endParaRPr lang="en-US" altLang="he-IL" sz="24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6"/>
              <p:cNvSpPr>
                <a:spLocks noChangeArrowheads="1"/>
              </p:cNvSpPr>
              <p:nvPr/>
            </p:nvSpPr>
            <p:spPr bwMode="auto">
              <a:xfrm>
                <a:off x="2650347" y="3238557"/>
                <a:ext cx="6480941"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ClientHello </a:t>
                </a:r>
                <a:r>
                  <a:rPr lang="en-US" altLang="he-IL" dirty="0">
                    <a:solidFill>
                      <a:srgbClr val="000000"/>
                    </a:solidFill>
                    <a:latin typeface="Times New Roman" panose="02020603050405020304" pitchFamily="18" charset="0"/>
                    <a:cs typeface="Times New Roman" panose="02020603050405020304" pitchFamily="18" charset="0"/>
                  </a:rPr>
                  <a:t>(cipher-suites, </a:t>
                </a:r>
                <a14:m>
                  <m:oMath xmlns:m="http://schemas.openxmlformats.org/officeDocument/2006/math">
                    <m:d>
                      <m:dPr>
                        <m:begChr m:val="{"/>
                        <m:endChr m:val="}"/>
                        <m:ctrlPr>
                          <a:rPr lang="en-US" altLang="he-IL" i="1">
                            <a:solidFill>
                              <a:srgbClr val="FF00FF"/>
                            </a:solidFill>
                            <a:latin typeface="Cambria Math" panose="02040503050406030204" pitchFamily="18" charset="0"/>
                            <a:cs typeface="Times New Roman" panose="02020603050405020304" pitchFamily="18" charset="0"/>
                          </a:rPr>
                        </m:ctrlPr>
                      </m:dPr>
                      <m:e>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sSub>
                              <m:sSubPr>
                                <m:ctrlPr>
                                  <a:rPr lang="en-US" altLang="he-IL" i="1">
                                    <a:solidFill>
                                      <a:srgbClr val="FF00FF"/>
                                    </a:solidFill>
                                    <a:latin typeface="Cambria Math" panose="02040503050406030204" pitchFamily="18" charset="0"/>
                                    <a:cs typeface="Times New Roman" panose="02020603050405020304" pitchFamily="18" charset="0"/>
                                  </a:rPr>
                                </m:ctrlPr>
                              </m:sSubPr>
                              <m:e>
                                <m:r>
                                  <a:rPr lang="en-US" altLang="he-IL" b="1"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𝟏</m:t>
                                </m:r>
                              </m:sub>
                            </m:sSub>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𝟏</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𝟏</m:t>
                            </m:r>
                          </m:sup>
                        </m:sSubSup>
                        <m:r>
                          <a:rPr lang="en-US" altLang="he-IL" b="1" i="1">
                            <a:solidFill>
                              <a:srgbClr val="FF00FF"/>
                            </a:solidFill>
                            <a:latin typeface="Cambria Math" panose="02040503050406030204" pitchFamily="18" charset="0"/>
                            <a:cs typeface="Times New Roman" panose="02020603050405020304" pitchFamily="18" charset="0"/>
                          </a:rPr>
                          <m:t>,</m:t>
                        </m:r>
                        <m:sSub>
                          <m:sSubPr>
                            <m:ctrlPr>
                              <a:rPr lang="en-US" altLang="he-IL" i="1">
                                <a:solidFill>
                                  <a:srgbClr val="FF00FF"/>
                                </a:solidFill>
                                <a:latin typeface="Cambria Math" panose="02040503050406030204" pitchFamily="18" charset="0"/>
                                <a:cs typeface="Times New Roman" panose="02020603050405020304" pitchFamily="18" charset="0"/>
                              </a:rPr>
                            </m:ctrlPr>
                          </m:sSub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𝟐</m:t>
                            </m:r>
                          </m:sub>
                        </m:sSub>
                        <m:r>
                          <a:rPr lang="en-US" altLang="he-IL" i="1">
                            <a:solidFill>
                              <a:srgbClr val="FF00FF"/>
                            </a:solidFill>
                            <a:latin typeface="Cambria Math" panose="02040503050406030204" pitchFamily="18" charset="0"/>
                            <a:cs typeface="Times New Roman" panose="02020603050405020304" pitchFamily="18" charset="0"/>
                          </a:rPr>
                          <m:t>,</m:t>
                        </m:r>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𝟐</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𝟐</m:t>
                            </m:r>
                          </m:sup>
                        </m:sSubSup>
                        <m:r>
                          <a:rPr lang="en-US" altLang="he-IL" b="1" i="1">
                            <a:solidFill>
                              <a:srgbClr val="FF00FF"/>
                            </a:solidFill>
                            <a:latin typeface="Cambria Math" panose="02040503050406030204" pitchFamily="18" charset="0"/>
                            <a:cs typeface="Times New Roman" panose="02020603050405020304" pitchFamily="18" charset="0"/>
                          </a:rPr>
                          <m:t>…</m:t>
                        </m:r>
                      </m:e>
                    </m:d>
                  </m:oMath>
                </a14:m>
                <a:r>
                  <a:rPr lang="en-US" altLang="he-IL" dirty="0">
                    <a:solidFill>
                      <a:srgbClr val="FF00FF"/>
                    </a:solidFill>
                    <a:latin typeface="Times New Roman" panose="02020603050405020304" pitchFamily="18" charset="0"/>
                    <a:cs typeface="Times New Roman" panose="02020603050405020304" pitchFamily="18" charset="0"/>
                  </a:rPr>
                  <a:t>,</a:t>
                </a:r>
                <a:r>
                  <a:rPr lang="en-US" altLang="he-IL"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Client_random</a:t>
                </a:r>
                <a:r>
                  <a:rPr lang="en-US" altLang="he-IL" dirty="0">
                    <a:solidFill>
                      <a:srgbClr val="000000"/>
                    </a:solidFill>
                    <a:latin typeface="Times New Roman" panose="02020603050405020304" pitchFamily="18" charset="0"/>
                    <a:cs typeface="Times New Roman" panose="02020603050405020304" pitchFamily="18" charset="0"/>
                  </a:rPr>
                  <a:t>)</a:t>
                </a:r>
                <a:endParaRPr lang="en-US" altLang="he-IL" dirty="0">
                  <a:latin typeface="Times New Roman" panose="02020603050405020304" pitchFamily="18" charset="0"/>
                  <a:cs typeface="Times New Roman" panose="02020603050405020304" pitchFamily="18" charset="0"/>
                </a:endParaRPr>
              </a:p>
            </p:txBody>
          </p:sp>
        </mc:Choice>
        <mc:Fallback xmlns="">
          <p:sp>
            <p:nvSpPr>
              <p:cNvPr id="9" name="Rectangle 6"/>
              <p:cNvSpPr>
                <a:spLocks noRot="1" noChangeAspect="1" noMove="1" noResize="1" noEditPoints="1" noAdjustHandles="1" noChangeArrowheads="1" noChangeShapeType="1" noTextEdit="1"/>
              </p:cNvSpPr>
              <p:nvPr/>
            </p:nvSpPr>
            <p:spPr bwMode="auto">
              <a:xfrm>
                <a:off x="2650347" y="3238557"/>
                <a:ext cx="6480941" cy="338554"/>
              </a:xfrm>
              <a:prstGeom prst="rect">
                <a:avLst/>
              </a:prstGeom>
              <a:blipFill>
                <a:blip r:embed="rId4"/>
                <a:stretch>
                  <a:fillRect l="-781" t="-21429" r="-195" b="-464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Freeform 7"/>
          <p:cNvSpPr>
            <a:spLocks noEditPoints="1"/>
          </p:cNvSpPr>
          <p:nvPr/>
        </p:nvSpPr>
        <p:spPr bwMode="auto">
          <a:xfrm>
            <a:off x="2608655" y="5808720"/>
            <a:ext cx="6580188" cy="68263"/>
          </a:xfrm>
          <a:custGeom>
            <a:avLst/>
            <a:gdLst>
              <a:gd name="T0" fmla="*/ 2 w 2277"/>
              <a:gd name="T1" fmla="*/ 11 h 25"/>
              <a:gd name="T2" fmla="*/ 2256 w 2277"/>
              <a:gd name="T3" fmla="*/ 11 h 25"/>
              <a:gd name="T4" fmla="*/ 2257 w 2277"/>
              <a:gd name="T5" fmla="*/ 13 h 25"/>
              <a:gd name="T6" fmla="*/ 2256 w 2277"/>
              <a:gd name="T7" fmla="*/ 14 h 25"/>
              <a:gd name="T8" fmla="*/ 2 w 2277"/>
              <a:gd name="T9" fmla="*/ 14 h 25"/>
              <a:gd name="T10" fmla="*/ 0 w 2277"/>
              <a:gd name="T11" fmla="*/ 13 h 25"/>
              <a:gd name="T12" fmla="*/ 2 w 2277"/>
              <a:gd name="T13" fmla="*/ 11 h 25"/>
              <a:gd name="T14" fmla="*/ 2252 w 2277"/>
              <a:gd name="T15" fmla="*/ 0 h 25"/>
              <a:gd name="T16" fmla="*/ 2277 w 2277"/>
              <a:gd name="T17" fmla="*/ 13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7" y="12"/>
                  <a:pt x="2257" y="13"/>
                </a:cubicBezTo>
                <a:cubicBezTo>
                  <a:pt x="2257" y="14"/>
                  <a:pt x="2257" y="14"/>
                  <a:pt x="2256" y="14"/>
                </a:cubicBezTo>
                <a:lnTo>
                  <a:pt x="2" y="14"/>
                </a:lnTo>
                <a:cubicBezTo>
                  <a:pt x="1" y="14"/>
                  <a:pt x="0" y="14"/>
                  <a:pt x="0" y="13"/>
                </a:cubicBezTo>
                <a:cubicBezTo>
                  <a:pt x="0" y="12"/>
                  <a:pt x="1" y="11"/>
                  <a:pt x="2" y="11"/>
                </a:cubicBezTo>
                <a:close/>
                <a:moveTo>
                  <a:pt x="2252" y="0"/>
                </a:moveTo>
                <a:lnTo>
                  <a:pt x="2277" y="13"/>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11" name="Rectangle 8"/>
          <p:cNvSpPr>
            <a:spLocks noChangeArrowheads="1"/>
          </p:cNvSpPr>
          <p:nvPr/>
        </p:nvSpPr>
        <p:spPr bwMode="auto">
          <a:xfrm>
            <a:off x="4647498" y="5422957"/>
            <a:ext cx="31819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Application data (protected)</a:t>
            </a:r>
            <a:endParaRPr lang="en-US" altLang="he-IL" sz="2000" dirty="0">
              <a:solidFill>
                <a:srgbClr val="000000"/>
              </a:solidFill>
              <a:latin typeface="Times New Roman" panose="02020603050405020304" pitchFamily="18" charset="0"/>
              <a:cs typeface="Times New Roman" panose="02020603050405020304" pitchFamily="18" charset="0"/>
            </a:endParaRPr>
          </a:p>
        </p:txBody>
      </p:sp>
      <p:sp>
        <p:nvSpPr>
          <p:cNvPr id="12" name="Freeform 9"/>
          <p:cNvSpPr>
            <a:spLocks noEditPoints="1"/>
          </p:cNvSpPr>
          <p:nvPr/>
        </p:nvSpPr>
        <p:spPr bwMode="auto">
          <a:xfrm>
            <a:off x="2545156" y="4722870"/>
            <a:ext cx="6577013" cy="68263"/>
          </a:xfrm>
          <a:custGeom>
            <a:avLst/>
            <a:gdLst>
              <a:gd name="T0" fmla="*/ 2275 w 2276"/>
              <a:gd name="T1" fmla="*/ 14 h 25"/>
              <a:gd name="T2" fmla="*/ 21 w 2276"/>
              <a:gd name="T3" fmla="*/ 14 h 25"/>
              <a:gd name="T4" fmla="*/ 19 w 2276"/>
              <a:gd name="T5" fmla="*/ 13 h 25"/>
              <a:gd name="T6" fmla="*/ 21 w 2276"/>
              <a:gd name="T7" fmla="*/ 11 h 25"/>
              <a:gd name="T8" fmla="*/ 2275 w 2276"/>
              <a:gd name="T9" fmla="*/ 11 h 25"/>
              <a:gd name="T10" fmla="*/ 2276 w 2276"/>
              <a:gd name="T11" fmla="*/ 13 h 25"/>
              <a:gd name="T12" fmla="*/ 2275 w 2276"/>
              <a:gd name="T13" fmla="*/ 14 h 25"/>
              <a:gd name="T14" fmla="*/ 25 w 2276"/>
              <a:gd name="T15" fmla="*/ 25 h 25"/>
              <a:gd name="T16" fmla="*/ 0 w 2276"/>
              <a:gd name="T17" fmla="*/ 13 h 25"/>
              <a:gd name="T18" fmla="*/ 25 w 2276"/>
              <a:gd name="T19" fmla="*/ 0 h 25"/>
              <a:gd name="T20" fmla="*/ 25 w 2276"/>
              <a:gd name="T2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6" h="25">
                <a:moveTo>
                  <a:pt x="2275" y="14"/>
                </a:moveTo>
                <a:lnTo>
                  <a:pt x="21" y="14"/>
                </a:lnTo>
                <a:cubicBezTo>
                  <a:pt x="20" y="14"/>
                  <a:pt x="19" y="14"/>
                  <a:pt x="19" y="13"/>
                </a:cubicBezTo>
                <a:cubicBezTo>
                  <a:pt x="19" y="12"/>
                  <a:pt x="20" y="11"/>
                  <a:pt x="21" y="11"/>
                </a:cubicBezTo>
                <a:lnTo>
                  <a:pt x="2275" y="11"/>
                </a:lnTo>
                <a:cubicBezTo>
                  <a:pt x="2276" y="11"/>
                  <a:pt x="2276" y="12"/>
                  <a:pt x="2276" y="13"/>
                </a:cubicBezTo>
                <a:cubicBezTo>
                  <a:pt x="2276" y="14"/>
                  <a:pt x="2276" y="14"/>
                  <a:pt x="2275" y="14"/>
                </a:cubicBezTo>
                <a:close/>
                <a:moveTo>
                  <a:pt x="25" y="25"/>
                </a:moveTo>
                <a:lnTo>
                  <a:pt x="0" y="13"/>
                </a:lnTo>
                <a:lnTo>
                  <a:pt x="25" y="0"/>
                </a:lnTo>
                <a:lnTo>
                  <a:pt x="25" y="25"/>
                </a:lnTo>
                <a:close/>
              </a:path>
            </a:pathLst>
          </a:custGeom>
          <a:solidFill>
            <a:srgbClr val="000000"/>
          </a:solidFill>
          <a:ln w="22225">
            <a:solidFill>
              <a:srgbClr val="000000"/>
            </a:solidFill>
            <a:prstDash val="solid"/>
            <a:round/>
            <a:headEnd/>
            <a:tailEnd/>
          </a:ln>
        </p:spPr>
        <p:txBody>
          <a:bodyPr/>
          <a:lstStyle/>
          <a:p>
            <a:endParaRPr lang="he-IL"/>
          </a:p>
        </p:txBody>
      </p:sp>
      <p:sp>
        <p:nvSpPr>
          <p:cNvPr id="13" name="Rectangle 10"/>
          <p:cNvSpPr>
            <a:spLocks noChangeArrowheads="1"/>
          </p:cNvSpPr>
          <p:nvPr/>
        </p:nvSpPr>
        <p:spPr bwMode="auto">
          <a:xfrm>
            <a:off x="3347474" y="4381557"/>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a:solidFill>
                  <a:srgbClr val="000000"/>
                </a:solidFill>
                <a:latin typeface="Times New Roman" panose="02020603050405020304" pitchFamily="18" charset="0"/>
                <a:cs typeface="Times New Roman" panose="02020603050405020304" pitchFamily="18" charset="0"/>
              </a:rPr>
              <a:t>Finished </a:t>
            </a:r>
            <a:r>
              <a:rPr lang="en-US" altLang="he-IL" sz="2000">
                <a:solidFill>
                  <a:srgbClr val="000000"/>
                </a:solidFill>
                <a:latin typeface="Times New Roman" panose="02020603050405020304" pitchFamily="18" charset="0"/>
                <a:cs typeface="Times New Roman" panose="02020603050405020304" pitchFamily="18" charset="0"/>
              </a:rPr>
              <a:t>(Confirmation -MAC of handshake messages)</a:t>
            </a:r>
          </a:p>
        </p:txBody>
      </p:sp>
      <mc:AlternateContent xmlns:mc="http://schemas.openxmlformats.org/markup-compatibility/2006" xmlns:a14="http://schemas.microsoft.com/office/drawing/2010/main">
        <mc:Choice Requires="a14">
          <p:sp>
            <p:nvSpPr>
              <p:cNvPr id="14" name="Rectangle 12"/>
              <p:cNvSpPr>
                <a:spLocks noChangeArrowheads="1"/>
              </p:cNvSpPr>
              <p:nvPr/>
            </p:nvSpPr>
            <p:spPr bwMode="auto">
              <a:xfrm>
                <a:off x="1664360" y="4041833"/>
                <a:ext cx="8844472" cy="6155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0" tIns="0" rIns="0" bIns="0">
                <a:spAutoFit/>
              </a:bodyPr>
              <a:lstStyle/>
              <a:p>
                <a:pPr algn="ctr"/>
                <a:r>
                  <a:rPr lang="en-US" altLang="he-IL" sz="2200" dirty="0" err="1">
                    <a:solidFill>
                      <a:srgbClr val="000000"/>
                    </a:solidFill>
                    <a:latin typeface="Times New Roman" panose="02020603050405020304" pitchFamily="18" charset="0"/>
                    <a:cs typeface="Times New Roman" panose="02020603050405020304" pitchFamily="18" charset="0"/>
                  </a:rPr>
                  <a:t>ServerHello</a:t>
                </a:r>
                <a:r>
                  <a:rPr lang="en-US" altLang="he-IL" sz="2200"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Server_random</a:t>
                </a:r>
                <a:r>
                  <a:rPr lang="en-US" altLang="he-IL" i="1" dirty="0">
                    <a:solidFill>
                      <a:srgbClr val="000000"/>
                    </a:solidFill>
                    <a:latin typeface="Times New Roman" panose="02020603050405020304" pitchFamily="18" charset="0"/>
                    <a:cs typeface="Times New Roman" panose="02020603050405020304" pitchFamily="18" charset="0"/>
                  </a:rPr>
                  <a:t>, cipher-suite,</a:t>
                </a:r>
                <a14:m>
                  <m:oMath xmlns:m="http://schemas.openxmlformats.org/officeDocument/2006/math">
                    <m:sSub>
                      <m:sSubPr>
                        <m:ctrlPr>
                          <a:rPr lang="en-US" altLang="he-IL" i="1">
                            <a:solidFill>
                              <a:srgbClr val="FF00FF"/>
                            </a:solidFill>
                            <a:latin typeface="Cambria Math" panose="02040503050406030204" pitchFamily="18" charset="0"/>
                            <a:cs typeface="Times New Roman" panose="02020603050405020304" pitchFamily="18" charset="0"/>
                          </a:rPr>
                        </m:ctrlPr>
                      </m:sSub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i="1">
                            <a:solidFill>
                              <a:srgbClr val="FF00FF"/>
                            </a:solidFill>
                            <a:latin typeface="Cambria Math" panose="02040503050406030204" pitchFamily="18" charset="0"/>
                            <a:cs typeface="Times New Roman" panose="02020603050405020304" pitchFamily="18" charset="0"/>
                          </a:rPr>
                          <m:t>𝟏</m:t>
                        </m:r>
                      </m:sub>
                    </m:sSub>
                  </m:oMath>
                </a14:m>
                <a:r>
                  <a:rPr lang="en-US" altLang="he-IL" i="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𝒊</m:t>
                        </m:r>
                      </m:sub>
                      <m:sup>
                        <m:r>
                          <a:rPr lang="en-US" altLang="he-IL" b="1" i="1">
                            <a:solidFill>
                              <a:srgbClr val="FF00FF"/>
                            </a:solidFill>
                            <a:latin typeface="Cambria Math" panose="02040503050406030204" pitchFamily="18" charset="0"/>
                            <a:cs typeface="Times New Roman" panose="02020603050405020304" pitchFamily="18" charset="0"/>
                          </a:rPr>
                          <m:t>𝒃</m:t>
                        </m:r>
                      </m:sup>
                    </m:sSubSup>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𝑬</m:t>
                    </m:r>
                    <m:d>
                      <m:dPr>
                        <m:ctrlPr>
                          <a:rPr lang="en-US" altLang="he-IL" b="1" i="1">
                            <a:solidFill>
                              <a:srgbClr val="FF00FF"/>
                            </a:solidFill>
                            <a:latin typeface="Cambria Math" panose="02040503050406030204" pitchFamily="18" charset="0"/>
                            <a:cs typeface="Times New Roman" panose="02020603050405020304" pitchFamily="18" charset="0"/>
                          </a:rPr>
                        </m:ctrlPr>
                      </m:dPr>
                      <m:e>
                        <m:r>
                          <a:rPr lang="en-US" altLang="he-IL" b="1" i="1">
                            <a:solidFill>
                              <a:srgbClr val="FF00FF"/>
                            </a:solidFill>
                            <a:latin typeface="Cambria Math" panose="02040503050406030204" pitchFamily="18" charset="0"/>
                            <a:cs typeface="Times New Roman" panose="02020603050405020304" pitchFamily="18" charset="0"/>
                          </a:rPr>
                          <m:t>𝒆𝒙𝒕𝒆𝒏𝒔𝒊𝒐𝒏𝒔</m:t>
                        </m:r>
                      </m:e>
                    </m:d>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𝒄𝒆𝒓𝒕</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𝑺𝒊𝒈𝒏</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𝑯𝒆𝒍𝒍𝒐</m:t>
                    </m:r>
                    <m:r>
                      <a:rPr lang="en-US" altLang="he-IL" b="1" i="1">
                        <a:solidFill>
                          <a:srgbClr val="FF00FF"/>
                        </a:solidFill>
                        <a:latin typeface="Cambria Math" panose="02040503050406030204" pitchFamily="18" charset="0"/>
                        <a:cs typeface="Times New Roman" panose="02020603050405020304" pitchFamily="18" charset="0"/>
                      </a:rPr>
                      <m:t>)</m:t>
                    </m:r>
                  </m:oMath>
                </a14:m>
                <a:r>
                  <a:rPr lang="en-US" altLang="he-IL" dirty="0">
                    <a:solidFill>
                      <a:srgbClr val="000000"/>
                    </a:solidFill>
                    <a:latin typeface="Times New Roman" panose="02020603050405020304" pitchFamily="18" charset="0"/>
                    <a:cs typeface="Times New Roman" panose="02020603050405020304" pitchFamily="18" charset="0"/>
                  </a:rPr>
                  <a:t> )</a:t>
                </a:r>
                <a:endParaRPr lang="en-US" altLang="he-IL" dirty="0">
                  <a:latin typeface="Times New Roman" panose="02020603050405020304" pitchFamily="18" charset="0"/>
                  <a:cs typeface="Times New Roman" panose="02020603050405020304" pitchFamily="18" charset="0"/>
                </a:endParaRPr>
              </a:p>
              <a:p>
                <a:pPr algn="ctr"/>
                <a:endParaRPr lang="en-US" altLang="he-IL" dirty="0">
                  <a:latin typeface="Times New Roman" panose="02020603050405020304" pitchFamily="18" charset="0"/>
                  <a:cs typeface="Times New Roman" panose="02020603050405020304" pitchFamily="18" charset="0"/>
                </a:endParaRPr>
              </a:p>
            </p:txBody>
          </p:sp>
        </mc:Choice>
        <mc:Fallback xmlns="">
          <p:sp>
            <p:nvSpPr>
              <p:cNvPr id="14" name="Rectangle 12"/>
              <p:cNvSpPr>
                <a:spLocks noRot="1" noChangeAspect="1" noMove="1" noResize="1" noEditPoints="1" noAdjustHandles="1" noChangeArrowheads="1" noChangeShapeType="1" noTextEdit="1"/>
              </p:cNvSpPr>
              <p:nvPr/>
            </p:nvSpPr>
            <p:spPr bwMode="auto">
              <a:xfrm>
                <a:off x="1664360" y="4041833"/>
                <a:ext cx="8844472" cy="615553"/>
              </a:xfrm>
              <a:prstGeom prst="rect">
                <a:avLst/>
              </a:prstGeom>
              <a:blipFill>
                <a:blip r:embed="rId5"/>
                <a:stretch>
                  <a:fillRect l="-287" t="-1428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Rectangle 8"/>
          <p:cNvSpPr>
            <a:spLocks noChangeArrowheads="1"/>
          </p:cNvSpPr>
          <p:nvPr/>
        </p:nvSpPr>
        <p:spPr bwMode="auto">
          <a:xfrm>
            <a:off x="3347473" y="5090773"/>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Finished </a:t>
            </a:r>
            <a:r>
              <a:rPr lang="en-US" altLang="he-IL" sz="2000" dirty="0">
                <a:solidFill>
                  <a:srgbClr val="000000"/>
                </a:solidFill>
                <a:latin typeface="Times New Roman" panose="02020603050405020304" pitchFamily="18" charset="0"/>
                <a:cs typeface="Times New Roman" panose="02020603050405020304" pitchFamily="18" charset="0"/>
              </a:rPr>
              <a:t>(Confirmation -MAC of handshake messages)</a:t>
            </a:r>
          </a:p>
        </p:txBody>
      </p:sp>
      <p:sp>
        <p:nvSpPr>
          <p:cNvPr id="16" name="TextBox 15">
            <a:extLst>
              <a:ext uri="{FF2B5EF4-FFF2-40B4-BE49-F238E27FC236}">
                <a16:creationId xmlns:a16="http://schemas.microsoft.com/office/drawing/2014/main" id="{266D5AE7-FA30-C066-4901-863F2464149C}"/>
              </a:ext>
            </a:extLst>
          </p:cNvPr>
          <p:cNvSpPr txBox="1"/>
          <p:nvPr/>
        </p:nvSpPr>
        <p:spPr>
          <a:xfrm>
            <a:off x="-8091" y="-5493"/>
            <a:ext cx="8538774" cy="707886"/>
          </a:xfrm>
          <a:prstGeom prst="rect">
            <a:avLst/>
          </a:prstGeom>
          <a:solidFill>
            <a:srgbClr val="C00000"/>
          </a:solidFill>
        </p:spPr>
        <p:txBody>
          <a:bodyPr wrap="square">
            <a:spAutoFit/>
          </a:bodyPr>
          <a:lstStyle/>
          <a:p>
            <a:pPr algn="ctr"/>
            <a:r>
              <a:rPr lang="en-US" altLang="he-IL" sz="4000" dirty="0">
                <a:solidFill>
                  <a:schemeClr val="bg1"/>
                </a:solidFill>
                <a:latin typeface="Playfair Display Medium" pitchFamily="2" charset="77"/>
              </a:rPr>
              <a:t>TLS 1.3 ‘Full handshake’: 1-RTT</a:t>
            </a:r>
            <a:endParaRPr lang="en-US" sz="1600" dirty="0">
              <a:solidFill>
                <a:schemeClr val="bg1"/>
              </a:solidFill>
              <a:latin typeface="Playfair Display Medium" pitchFamily="2" charset="77"/>
            </a:endParaRPr>
          </a:p>
        </p:txBody>
      </p:sp>
    </p:spTree>
    <p:custDataLst>
      <p:tags r:id="rId1"/>
    </p:custDataLst>
    <p:extLst>
      <p:ext uri="{BB962C8B-B14F-4D97-AF65-F5344CB8AC3E}">
        <p14:creationId xmlns:p14="http://schemas.microsoft.com/office/powerpoint/2010/main" val="1214219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24F7-113F-92D8-0F97-56E26F8700A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D4E4BA-5B30-24D5-9890-149F8E8B4BF6}"/>
              </a:ext>
            </a:extLst>
          </p:cNvPr>
          <p:cNvSpPr txBox="1"/>
          <p:nvPr/>
        </p:nvSpPr>
        <p:spPr>
          <a:xfrm>
            <a:off x="-8091" y="-5493"/>
            <a:ext cx="753532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1.3 Key Derivation</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FD8CC657-9679-7BE1-8623-F62EAC86FCA1}"/>
              </a:ext>
            </a:extLst>
          </p:cNvPr>
          <p:cNvSpPr>
            <a:spLocks noGrp="1"/>
          </p:cNvSpPr>
          <p:nvPr>
            <p:ph idx="1"/>
          </p:nvPr>
        </p:nvSpPr>
        <p:spPr>
          <a:xfrm>
            <a:off x="0" y="769913"/>
            <a:ext cx="12200091" cy="6023113"/>
          </a:xfrm>
        </p:spPr>
        <p:txBody>
          <a:bodyPr>
            <a:normAutofit fontScale="92500" lnSpcReduction="10000"/>
          </a:bodyPr>
          <a:lstStyle/>
          <a:p>
            <a:pPr marL="246543" marR="4483" indent="-235336">
              <a:lnSpc>
                <a:spcPct val="110000"/>
              </a:lnSpc>
              <a:tabLst>
                <a:tab pos="1438912" algn="l"/>
              </a:tabLst>
            </a:pPr>
            <a:r>
              <a:rPr lang="en-US" sz="3200" dirty="0">
                <a:latin typeface="Avenir Next" panose="020B0503020202020204" pitchFamily="34" charset="0"/>
                <a:ea typeface="Roboto Medium" panose="02000000000000000000" pitchFamily="2" charset="0"/>
                <a:cs typeface="Gill Sans MT"/>
              </a:rPr>
              <a:t>Uses a HKDF which is a HMAC based key derivation function</a:t>
            </a:r>
          </a:p>
          <a:p>
            <a:pPr marL="246543" marR="4483" indent="-235336">
              <a:lnSpc>
                <a:spcPct val="110000"/>
              </a:lnSpc>
              <a:tabLst>
                <a:tab pos="1438912" algn="l"/>
              </a:tabLst>
            </a:pPr>
            <a:r>
              <a:rPr lang="en-US" sz="3200" b="1" dirty="0">
                <a:latin typeface="Avenir Next" panose="020B0503020202020204" pitchFamily="34" charset="0"/>
                <a:ea typeface="Roboto Medium" panose="02000000000000000000" pitchFamily="2" charset="0"/>
                <a:cs typeface="Gill Sans MT"/>
              </a:rPr>
              <a:t>HKDF</a:t>
            </a:r>
            <a:r>
              <a:rPr lang="en-US" sz="3200" dirty="0">
                <a:latin typeface="Avenir Next" panose="020B0503020202020204" pitchFamily="34" charset="0"/>
                <a:ea typeface="Roboto Medium" panose="02000000000000000000" pitchFamily="2" charset="0"/>
                <a:cs typeface="Gill Sans MT"/>
              </a:rPr>
              <a:t> has two modules: </a:t>
            </a:r>
          </a:p>
          <a:p>
            <a:pPr marL="246543" marR="4483" indent="-235336">
              <a:lnSpc>
                <a:spcPct val="110000"/>
              </a:lnSpc>
              <a:tabLst>
                <a:tab pos="1438912" algn="l"/>
              </a:tabLst>
            </a:pPr>
            <a:r>
              <a:rPr lang="en-US" sz="3200" b="1" dirty="0">
                <a:latin typeface="Avenir Next" panose="020B0503020202020204" pitchFamily="34" charset="0"/>
                <a:ea typeface="Roboto Medium" panose="02000000000000000000" pitchFamily="2" charset="0"/>
                <a:cs typeface="Gill Sans MT"/>
              </a:rPr>
              <a:t>HKDF-Extract:</a:t>
            </a:r>
          </a:p>
          <a:p>
            <a:pPr marL="703743" marR="4483" lvl="1"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Inputs are a “input key material” (IKM) such as  DH shared secret and an optional “salt”</a:t>
            </a:r>
          </a:p>
          <a:p>
            <a:pPr marL="703743" marR="4483" lvl="1"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Output is a cryptographic key called the PRK (pseudorandom key) </a:t>
            </a:r>
          </a:p>
          <a:p>
            <a:pPr marL="246543" marR="4483" indent="-235336">
              <a:lnSpc>
                <a:spcPct val="110000"/>
              </a:lnSpc>
              <a:tabLst>
                <a:tab pos="1438912" algn="l"/>
              </a:tabLst>
            </a:pPr>
            <a:r>
              <a:rPr lang="en-US" sz="3200" b="1" dirty="0">
                <a:latin typeface="Avenir Next" panose="020B0503020202020204" pitchFamily="34" charset="0"/>
                <a:ea typeface="Roboto Medium" panose="02000000000000000000" pitchFamily="2" charset="0"/>
                <a:cs typeface="Gill Sans MT"/>
              </a:rPr>
              <a:t>HKDF-Expand:</a:t>
            </a:r>
          </a:p>
          <a:p>
            <a:pPr marL="703743" marR="4483" lvl="1"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Inputs are PRK, some information </a:t>
            </a:r>
            <a:r>
              <a:rPr lang="en-US" sz="2800" dirty="0">
                <a:latin typeface="Charmonman" pitchFamily="2" charset="-34"/>
                <a:ea typeface="Roboto Medium" panose="02000000000000000000" pitchFamily="2" charset="0"/>
                <a:cs typeface="Charmonman" pitchFamily="2" charset="-34"/>
              </a:rPr>
              <a:t>info</a:t>
            </a:r>
            <a:r>
              <a:rPr lang="en-US" sz="2800" dirty="0">
                <a:latin typeface="Avenir Next" panose="020B0503020202020204" pitchFamily="34" charset="0"/>
                <a:ea typeface="Roboto Medium" panose="02000000000000000000" pitchFamily="2" charset="0"/>
                <a:cs typeface="Gill Sans MT"/>
              </a:rPr>
              <a:t>, and a length </a:t>
            </a:r>
            <a:r>
              <a:rPr lang="en-US" sz="2800" dirty="0">
                <a:latin typeface="Charmonman" pitchFamily="2" charset="-34"/>
                <a:ea typeface="Roboto Medium" panose="02000000000000000000" pitchFamily="2" charset="0"/>
                <a:cs typeface="Charmonman" pitchFamily="2" charset="-34"/>
              </a:rPr>
              <a:t>l</a:t>
            </a:r>
          </a:p>
          <a:p>
            <a:pPr marL="703743" marR="4483" lvl="1"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Outputs a pseudorandom value of length </a:t>
            </a:r>
            <a:r>
              <a:rPr lang="en-US" sz="2800" dirty="0">
                <a:latin typeface="Charmonman" pitchFamily="2" charset="-34"/>
                <a:ea typeface="Roboto Medium" panose="02000000000000000000" pitchFamily="2" charset="0"/>
                <a:cs typeface="Charmonman" pitchFamily="2" charset="-34"/>
              </a:rPr>
              <a:t>l</a:t>
            </a:r>
            <a:endParaRPr lang="en-US" sz="2800" dirty="0">
              <a:latin typeface="Avenir Next" panose="020B0503020202020204" pitchFamily="34" charset="0"/>
              <a:ea typeface="Roboto Medium" panose="02000000000000000000" pitchFamily="2" charset="0"/>
              <a:cs typeface="Gill Sans MT"/>
            </a:endParaRPr>
          </a:p>
          <a:p>
            <a:pPr marL="703743" marR="4483" lvl="1"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Using different values in the </a:t>
            </a:r>
            <a:r>
              <a:rPr lang="en-US" sz="2800" dirty="0">
                <a:latin typeface="Charmonman" pitchFamily="2" charset="-34"/>
                <a:ea typeface="Roboto Medium" panose="02000000000000000000" pitchFamily="2" charset="0"/>
                <a:cs typeface="Charmonman" pitchFamily="2" charset="-34"/>
              </a:rPr>
              <a:t>info </a:t>
            </a:r>
            <a:r>
              <a:rPr lang="en-US" sz="2800" dirty="0">
                <a:latin typeface="Avenir Next" panose="020B0503020202020204" pitchFamily="34" charset="0"/>
                <a:ea typeface="Roboto Medium" panose="02000000000000000000" pitchFamily="2" charset="0"/>
                <a:cs typeface="Gill Sans MT"/>
              </a:rPr>
              <a:t>field generate different pseudorandom values</a:t>
            </a:r>
            <a:br>
              <a:rPr lang="en-US" sz="2800" dirty="0">
                <a:latin typeface="Avenir Next" panose="020B0503020202020204" pitchFamily="34" charset="0"/>
                <a:ea typeface="Roboto Medium" panose="02000000000000000000" pitchFamily="2" charset="0"/>
                <a:cs typeface="Gill Sans MT"/>
              </a:rPr>
            </a:br>
            <a:endParaRPr lang="en-US" sz="28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3381029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242E5-2E00-046E-24B5-2ED50D9F06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DD2504D-1242-59BA-94FA-F7EB0B37DAE9}"/>
              </a:ext>
            </a:extLst>
          </p:cNvPr>
          <p:cNvSpPr txBox="1"/>
          <p:nvPr/>
        </p:nvSpPr>
        <p:spPr>
          <a:xfrm>
            <a:off x="-8091" y="-5493"/>
            <a:ext cx="7535326"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1.3 Key Derivation</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63BDF738-A599-899A-EE10-4FC6809D7D6A}"/>
              </a:ext>
            </a:extLst>
          </p:cNvPr>
          <p:cNvSpPr>
            <a:spLocks noGrp="1"/>
          </p:cNvSpPr>
          <p:nvPr>
            <p:ph idx="1"/>
          </p:nvPr>
        </p:nvSpPr>
        <p:spPr>
          <a:xfrm>
            <a:off x="0" y="769913"/>
            <a:ext cx="12200091" cy="6023113"/>
          </a:xfrm>
        </p:spPr>
        <p:txBody>
          <a:bodyPr>
            <a:normAutofit fontScale="55000" lnSpcReduction="20000"/>
          </a:bodyPr>
          <a:lstStyle/>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Shared secret (SS) :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SS := Diffie-Hellman Shared secret</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Early secret (ES):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ES := HKDF-Extract(0, SS)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Derived secret (DS):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DS := HKDF-Expand(ES, “derived”, “”)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Handshake secret (HS):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HS := HKDF-Extract(DS, SS)</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Client Handshake Traffic Key (CHTK):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CHTK := HKDF-Expand(HS, “c </a:t>
            </a:r>
            <a:r>
              <a:rPr lang="en-US" dirty="0" err="1">
                <a:latin typeface="Avenir Next" panose="020B0503020202020204" pitchFamily="34" charset="0"/>
                <a:ea typeface="Roboto Medium" panose="02000000000000000000" pitchFamily="2" charset="0"/>
                <a:cs typeface="Gill Sans MT"/>
              </a:rPr>
              <a:t>hs</a:t>
            </a:r>
            <a:r>
              <a:rPr lang="en-US" dirty="0">
                <a:latin typeface="Avenir Next" panose="020B0503020202020204" pitchFamily="34" charset="0"/>
                <a:ea typeface="Roboto Medium" panose="02000000000000000000" pitchFamily="2" charset="0"/>
                <a:cs typeface="Gill Sans MT"/>
              </a:rPr>
              <a:t> traffic”, Transcript Hash)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Server Handshake Traffic Key (SHTK):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SHTK := HKDF-Expand(HS, “s </a:t>
            </a:r>
            <a:r>
              <a:rPr lang="en-US" dirty="0" err="1">
                <a:latin typeface="Avenir Next" panose="020B0503020202020204" pitchFamily="34" charset="0"/>
                <a:ea typeface="Roboto Medium" panose="02000000000000000000" pitchFamily="2" charset="0"/>
                <a:cs typeface="Gill Sans MT"/>
              </a:rPr>
              <a:t>hs</a:t>
            </a:r>
            <a:r>
              <a:rPr lang="en-US" dirty="0">
                <a:latin typeface="Avenir Next" panose="020B0503020202020204" pitchFamily="34" charset="0"/>
                <a:ea typeface="Roboto Medium" panose="02000000000000000000" pitchFamily="2" charset="0"/>
                <a:cs typeface="Gill Sans MT"/>
              </a:rPr>
              <a:t> traffic”, Transcript Hash) </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Finished Key (FK)</a:t>
            </a:r>
            <a:r>
              <a:rPr lang="en-US" dirty="0">
                <a:latin typeface="Avenir Next" panose="020B0503020202020204" pitchFamily="34" charset="0"/>
                <a:ea typeface="Roboto Medium" panose="02000000000000000000" pitchFamily="2" charset="0"/>
                <a:cs typeface="Gill Sans MT"/>
              </a:rPr>
              <a:t>: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FK := HKDF-Expand(HS, “finished”, Transcript Hash) </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Master Secret </a:t>
            </a:r>
            <a:r>
              <a:rPr lang="en-US" dirty="0">
                <a:latin typeface="Avenir Next" panose="020B0503020202020204" pitchFamily="34" charset="0"/>
                <a:ea typeface="Roboto Medium" panose="02000000000000000000" pitchFamily="2" charset="0"/>
                <a:cs typeface="Gill Sans MT"/>
              </a:rPr>
              <a:t>(MS):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MS = HKDF-Extract (HS, SS) </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Client Application Traffic Key (CATK):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CATK := HKDF-Expand(MS, “c ap traffic”, Transcript Hash)</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Server Application Traffic Key (SATK): </a:t>
            </a:r>
          </a:p>
          <a:p>
            <a:pPr marL="703743" marR="4483" lvl="1"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SATK := HKDF-Expand(MS, “s ap traffic”, Transcript Hash)</a:t>
            </a:r>
          </a:p>
          <a:p>
            <a:pPr marL="246543" marR="4483" indent="-235336">
              <a:lnSpc>
                <a:spcPct val="110000"/>
              </a:lnSpc>
              <a:tabLst>
                <a:tab pos="1438912" algn="l"/>
              </a:tabLst>
            </a:pPr>
            <a:endParaRPr lang="en-US" sz="28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230983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E3EA3-BBAF-B272-DB6F-D2085C4BB9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356D85-A3D4-517B-8AF5-B821E85BC59B}"/>
              </a:ext>
            </a:extLst>
          </p:cNvPr>
          <p:cNvSpPr txBox="1"/>
          <p:nvPr/>
        </p:nvSpPr>
        <p:spPr>
          <a:xfrm>
            <a:off x="-8091" y="-5493"/>
            <a:ext cx="12208182"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1.3 Key Derivation and Protocol Flow</a:t>
            </a:r>
            <a:endParaRPr lang="en-US" sz="4000" dirty="0">
              <a:solidFill>
                <a:schemeClr val="bg1"/>
              </a:solidFill>
              <a:latin typeface="Playfair Display Medium" pitchFamily="2" charset="77"/>
            </a:endParaRPr>
          </a:p>
        </p:txBody>
      </p:sp>
      <p:sp>
        <p:nvSpPr>
          <p:cNvPr id="4" name="Content Placeholder 2">
            <a:extLst>
              <a:ext uri="{FF2B5EF4-FFF2-40B4-BE49-F238E27FC236}">
                <a16:creationId xmlns:a16="http://schemas.microsoft.com/office/drawing/2014/main" id="{A518B1F1-C3AB-B81B-E6FB-4DD3124BB2F1}"/>
              </a:ext>
            </a:extLst>
          </p:cNvPr>
          <p:cNvSpPr>
            <a:spLocks noGrp="1"/>
          </p:cNvSpPr>
          <p:nvPr>
            <p:ph idx="1"/>
          </p:nvPr>
        </p:nvSpPr>
        <p:spPr>
          <a:xfrm>
            <a:off x="0" y="769913"/>
            <a:ext cx="12200091" cy="6023113"/>
          </a:xfrm>
        </p:spPr>
        <p:txBody>
          <a:bodyPr>
            <a:normAutofit fontScale="85000" lnSpcReduction="20000"/>
          </a:bodyPr>
          <a:lstStyle/>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rPr>
              <a:t>Step 1: </a:t>
            </a:r>
            <a:r>
              <a:rPr lang="en-US" sz="2800" dirty="0" err="1">
                <a:latin typeface="Avenir Next" panose="020B0503020202020204" pitchFamily="34" charset="0"/>
                <a:ea typeface="Roboto Medium" panose="02000000000000000000" pitchFamily="2" charset="0"/>
                <a:cs typeface="Gill Sans MT"/>
              </a:rPr>
              <a:t>ClientHello</a:t>
            </a:r>
            <a:r>
              <a:rPr lang="en-US" sz="2800" dirty="0">
                <a:latin typeface="Avenir Next" panose="020B0503020202020204" pitchFamily="34" charset="0"/>
                <a:ea typeface="Roboto Medium" panose="02000000000000000000" pitchFamily="2" charset="0"/>
                <a:cs typeface="Gill Sans MT"/>
              </a:rPr>
              <a:t> (Client </a:t>
            </a:r>
            <a:r>
              <a:rPr lang="en-US" sz="2800" dirty="0">
                <a:latin typeface="Avenir Next" panose="020B0503020202020204" pitchFamily="34" charset="0"/>
                <a:ea typeface="Roboto Medium" panose="02000000000000000000" pitchFamily="2" charset="0"/>
                <a:cs typeface="Gill Sans MT"/>
                <a:sym typeface="Wingdings" pitchFamily="2" charset="2"/>
              </a:rPr>
              <a:t></a:t>
            </a:r>
            <a:r>
              <a:rPr lang="en-US" sz="2800" dirty="0">
                <a:latin typeface="Avenir Next" panose="020B0503020202020204" pitchFamily="34" charset="0"/>
                <a:ea typeface="Roboto Medium" panose="02000000000000000000" pitchFamily="2" charset="0"/>
                <a:cs typeface="Gill Sans MT"/>
              </a:rPr>
              <a:t> Server) [</a:t>
            </a:r>
            <a:r>
              <a:rPr lang="en-US" sz="2800" b="1" dirty="0">
                <a:latin typeface="Avenir Next" panose="020B0503020202020204" pitchFamily="34" charset="0"/>
                <a:ea typeface="Roboto Medium" panose="02000000000000000000" pitchFamily="2" charset="0"/>
                <a:cs typeface="Gill Sans MT"/>
              </a:rPr>
              <a:t>Plaintext</a:t>
            </a:r>
            <a:r>
              <a:rPr lang="en-US" sz="2800" dirty="0">
                <a:latin typeface="Avenir Next" panose="020B0503020202020204" pitchFamily="34" charset="0"/>
                <a:ea typeface="Roboto Medium" panose="02000000000000000000" pitchFamily="2" charset="0"/>
                <a:cs typeface="Gill Sans MT"/>
              </a:rPr>
              <a:t>] – TLS version, Supported </a:t>
            </a:r>
            <a:r>
              <a:rPr lang="en-US" sz="2800" dirty="0" err="1">
                <a:latin typeface="Avenir Next" panose="020B0503020202020204" pitchFamily="34" charset="0"/>
                <a:ea typeface="Roboto Medium" panose="02000000000000000000" pitchFamily="2" charset="0"/>
                <a:cs typeface="Gill Sans MT"/>
              </a:rPr>
              <a:t>Ciphersuites</a:t>
            </a:r>
            <a:r>
              <a:rPr lang="en-US" sz="2800" dirty="0">
                <a:latin typeface="Avenir Next" panose="020B0503020202020204" pitchFamily="34" charset="0"/>
                <a:ea typeface="Roboto Medium" panose="02000000000000000000" pitchFamily="2" charset="0"/>
                <a:cs typeface="Gill Sans MT"/>
              </a:rPr>
              <a:t>, Client random, supported extensions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Step 2: </a:t>
            </a:r>
            <a:r>
              <a:rPr lang="en-US" dirty="0" err="1">
                <a:latin typeface="Avenir Next" panose="020B0503020202020204" pitchFamily="34" charset="0"/>
                <a:ea typeface="Roboto Medium" panose="02000000000000000000" pitchFamily="2" charset="0"/>
                <a:cs typeface="Gill Sans MT"/>
              </a:rPr>
              <a:t>ServerHello</a:t>
            </a:r>
            <a:r>
              <a:rPr lang="en-US" dirty="0">
                <a:latin typeface="Avenir Next" panose="020B0503020202020204" pitchFamily="34" charset="0"/>
                <a:ea typeface="Roboto Medium" panose="02000000000000000000" pitchFamily="2" charset="0"/>
                <a:cs typeface="Gill Sans MT"/>
              </a:rPr>
              <a:t> (Server </a:t>
            </a:r>
            <a:r>
              <a:rPr lang="en-US" sz="2800" dirty="0">
                <a:latin typeface="Avenir Next" panose="020B0503020202020204" pitchFamily="34" charset="0"/>
                <a:ea typeface="Roboto Medium" panose="02000000000000000000" pitchFamily="2" charset="0"/>
                <a:cs typeface="Gill Sans MT"/>
                <a:sym typeface="Wingdings" pitchFamily="2" charset="2"/>
              </a:rPr>
              <a:t> Client) [</a:t>
            </a:r>
            <a:r>
              <a:rPr lang="en-US" sz="2800" b="1" dirty="0">
                <a:latin typeface="Avenir Next" panose="020B0503020202020204" pitchFamily="34" charset="0"/>
                <a:ea typeface="Roboto Medium" panose="02000000000000000000" pitchFamily="2" charset="0"/>
                <a:cs typeface="Gill Sans MT"/>
                <a:sym typeface="Wingdings" pitchFamily="2" charset="2"/>
              </a:rPr>
              <a:t>Plaintext</a:t>
            </a:r>
            <a:r>
              <a:rPr lang="en-US" sz="2800" dirty="0">
                <a:latin typeface="Avenir Next" panose="020B0503020202020204" pitchFamily="34" charset="0"/>
                <a:ea typeface="Roboto Medium" panose="02000000000000000000" pitchFamily="2" charset="0"/>
                <a:cs typeface="Gill Sans MT"/>
                <a:sym typeface="Wingdings" pitchFamily="2" charset="2"/>
              </a:rPr>
              <a:t>] - </a:t>
            </a:r>
            <a:r>
              <a:rPr lang="en-US" sz="2800" dirty="0">
                <a:latin typeface="Avenir Next" panose="020B0503020202020204" pitchFamily="34" charset="0"/>
                <a:ea typeface="Roboto Medium" panose="02000000000000000000" pitchFamily="2" charset="0"/>
                <a:cs typeface="Gill Sans MT"/>
              </a:rPr>
              <a:t> selected TLS version, selected </a:t>
            </a:r>
            <a:r>
              <a:rPr lang="en-US" sz="2800" dirty="0" err="1">
                <a:latin typeface="Avenir Next" panose="020B0503020202020204" pitchFamily="34" charset="0"/>
                <a:ea typeface="Roboto Medium" panose="02000000000000000000" pitchFamily="2" charset="0"/>
                <a:cs typeface="Gill Sans MT"/>
              </a:rPr>
              <a:t>ciphersuites</a:t>
            </a:r>
            <a:r>
              <a:rPr lang="en-US" sz="2800" dirty="0">
                <a:latin typeface="Avenir Next" panose="020B0503020202020204" pitchFamily="34" charset="0"/>
                <a:ea typeface="Roboto Medium" panose="02000000000000000000" pitchFamily="2" charset="0"/>
                <a:cs typeface="Gill Sans MT"/>
              </a:rPr>
              <a:t>, Server random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rPr>
              <a:t>Both parties set up SS </a:t>
            </a:r>
            <a:r>
              <a:rPr lang="en-US" dirty="0">
                <a:latin typeface="Avenir Next" panose="020B0503020202020204" pitchFamily="34" charset="0"/>
                <a:ea typeface="Roboto Medium" panose="02000000000000000000" pitchFamily="2" charset="0"/>
                <a:cs typeface="Gill Sans MT"/>
                <a:sym typeface="Wingdings" pitchFamily="2" charset="2"/>
              </a:rPr>
              <a:t> </a:t>
            </a:r>
            <a:r>
              <a:rPr lang="en-US" dirty="0">
                <a:latin typeface="Avenir Next" panose="020B0503020202020204" pitchFamily="34" charset="0"/>
                <a:ea typeface="Roboto Medium" panose="02000000000000000000" pitchFamily="2" charset="0"/>
                <a:cs typeface="Gill Sans MT"/>
              </a:rPr>
              <a:t>ES </a:t>
            </a:r>
            <a:r>
              <a:rPr lang="en-US" dirty="0">
                <a:latin typeface="Avenir Next" panose="020B0503020202020204" pitchFamily="34" charset="0"/>
                <a:ea typeface="Roboto Medium" panose="02000000000000000000" pitchFamily="2" charset="0"/>
                <a:cs typeface="Gill Sans MT"/>
                <a:sym typeface="Wingdings" pitchFamily="2" charset="2"/>
              </a:rPr>
              <a:t> DS  HS  </a:t>
            </a:r>
            <a:r>
              <a:rPr lang="en-US" b="1" dirty="0">
                <a:latin typeface="Avenir Next" panose="020B0503020202020204" pitchFamily="34" charset="0"/>
                <a:ea typeface="Roboto Medium" panose="02000000000000000000" pitchFamily="2" charset="0"/>
                <a:cs typeface="Gill Sans MT"/>
                <a:sym typeface="Wingdings" pitchFamily="2" charset="2"/>
              </a:rPr>
              <a:t>CHTK</a:t>
            </a:r>
            <a:r>
              <a:rPr lang="en-US" dirty="0">
                <a:latin typeface="Avenir Next" panose="020B0503020202020204" pitchFamily="34" charset="0"/>
                <a:ea typeface="Roboto Medium" panose="02000000000000000000" pitchFamily="2" charset="0"/>
                <a:cs typeface="Gill Sans MT"/>
                <a:sym typeface="Wingdings" pitchFamily="2" charset="2"/>
              </a:rPr>
              <a:t> and </a:t>
            </a:r>
            <a:r>
              <a:rPr lang="en-US" b="1" dirty="0">
                <a:latin typeface="Avenir Next" panose="020B0503020202020204" pitchFamily="34" charset="0"/>
                <a:ea typeface="Roboto Medium" panose="02000000000000000000" pitchFamily="2" charset="0"/>
                <a:cs typeface="Gill Sans MT"/>
                <a:sym typeface="Wingdings" pitchFamily="2" charset="2"/>
              </a:rPr>
              <a:t>SHTK</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sym typeface="Wingdings" pitchFamily="2" charset="2"/>
              </a:rPr>
              <a:t>Step 3: Encrypted Extensions (Server  Client): Encrypted with SHTK </a:t>
            </a:r>
          </a:p>
          <a:p>
            <a:pPr marL="246543" marR="4483" indent="-235336">
              <a:lnSpc>
                <a:spcPct val="110000"/>
              </a:lnSpc>
              <a:tabLst>
                <a:tab pos="1438912" algn="l"/>
              </a:tabLst>
            </a:pPr>
            <a:r>
              <a:rPr lang="en-US" dirty="0">
                <a:latin typeface="Avenir Next" panose="020B0503020202020204" pitchFamily="34" charset="0"/>
                <a:ea typeface="Roboto Medium" panose="02000000000000000000" pitchFamily="2" charset="0"/>
                <a:cs typeface="Gill Sans MT"/>
                <a:sym typeface="Wingdings" pitchFamily="2" charset="2"/>
              </a:rPr>
              <a:t>Step 4: Server Certificate (Server  Client): Encrypted with SHTK </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sym typeface="Wingdings" pitchFamily="2" charset="2"/>
              </a:rPr>
              <a:t>Step 5</a:t>
            </a:r>
            <a:r>
              <a:rPr lang="en-US" dirty="0">
                <a:latin typeface="Avenir Next" panose="020B0503020202020204" pitchFamily="34" charset="0"/>
                <a:ea typeface="Roboto Medium" panose="02000000000000000000" pitchFamily="2" charset="0"/>
                <a:cs typeface="Gill Sans MT"/>
                <a:sym typeface="Wingdings" pitchFamily="2" charset="2"/>
              </a:rPr>
              <a:t>: Certificate Verify (Server  Client): Server signs the transcript hash with private key encrypted using SHTK</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sym typeface="Wingdings" pitchFamily="2" charset="2"/>
              </a:rPr>
              <a:t>Step 6: Server Finished (Server  Client): </a:t>
            </a:r>
            <a:r>
              <a:rPr lang="en-US" sz="2800" dirty="0" err="1">
                <a:latin typeface="Avenir Next" panose="020B0503020202020204" pitchFamily="34" charset="0"/>
                <a:ea typeface="Roboto Medium" panose="02000000000000000000" pitchFamily="2" charset="0"/>
                <a:cs typeface="Gill Sans MT"/>
                <a:sym typeface="Wingdings" pitchFamily="2" charset="2"/>
              </a:rPr>
              <a:t>Finished_Hash</a:t>
            </a:r>
            <a:r>
              <a:rPr lang="en-US" sz="2800" dirty="0">
                <a:latin typeface="Avenir Next" panose="020B0503020202020204" pitchFamily="34" charset="0"/>
                <a:ea typeface="Roboto Medium" panose="02000000000000000000" pitchFamily="2" charset="0"/>
                <a:cs typeface="Gill Sans MT"/>
                <a:sym typeface="Wingdings" pitchFamily="2" charset="2"/>
              </a:rPr>
              <a:t> := HMAC(FK, Transcript Hash) where </a:t>
            </a:r>
            <a:r>
              <a:rPr lang="en-US" sz="2800" dirty="0" err="1">
                <a:latin typeface="Avenir Next" panose="020B0503020202020204" pitchFamily="34" charset="0"/>
                <a:ea typeface="Roboto Medium" panose="02000000000000000000" pitchFamily="2" charset="0"/>
                <a:cs typeface="Gill Sans MT"/>
                <a:sym typeface="Wingdings" pitchFamily="2" charset="2"/>
              </a:rPr>
              <a:t>Finished_</a:t>
            </a:r>
            <a:r>
              <a:rPr lang="en-US" dirty="0" err="1">
                <a:latin typeface="Avenir Next" panose="020B0503020202020204" pitchFamily="34" charset="0"/>
                <a:ea typeface="Roboto Medium" panose="02000000000000000000" pitchFamily="2" charset="0"/>
                <a:cs typeface="Gill Sans MT"/>
                <a:sym typeface="Wingdings" pitchFamily="2" charset="2"/>
              </a:rPr>
              <a:t>Hash</a:t>
            </a:r>
            <a:r>
              <a:rPr lang="en-US" dirty="0">
                <a:latin typeface="Avenir Next" panose="020B0503020202020204" pitchFamily="34" charset="0"/>
                <a:ea typeface="Roboto Medium" panose="02000000000000000000" pitchFamily="2" charset="0"/>
                <a:cs typeface="Gill Sans MT"/>
                <a:sym typeface="Wingdings" pitchFamily="2" charset="2"/>
              </a:rPr>
              <a:t> is encrypted with SHTK</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sym typeface="Wingdings" pitchFamily="2" charset="2"/>
              </a:rPr>
              <a:t>Step 7: Client Finished (Client  Server):  </a:t>
            </a:r>
            <a:r>
              <a:rPr lang="en-US" sz="2800" dirty="0" err="1">
                <a:latin typeface="Avenir Next" panose="020B0503020202020204" pitchFamily="34" charset="0"/>
                <a:ea typeface="Roboto Medium" panose="02000000000000000000" pitchFamily="2" charset="0"/>
                <a:cs typeface="Gill Sans MT"/>
                <a:sym typeface="Wingdings" pitchFamily="2" charset="2"/>
              </a:rPr>
              <a:t>Finished_Hash</a:t>
            </a:r>
            <a:r>
              <a:rPr lang="en-US" sz="2800" dirty="0">
                <a:latin typeface="Avenir Next" panose="020B0503020202020204" pitchFamily="34" charset="0"/>
                <a:ea typeface="Roboto Medium" panose="02000000000000000000" pitchFamily="2" charset="0"/>
                <a:cs typeface="Gill Sans MT"/>
                <a:sym typeface="Wingdings" pitchFamily="2" charset="2"/>
              </a:rPr>
              <a:t> := HMAC(FK, Transcript Hash) where </a:t>
            </a:r>
            <a:r>
              <a:rPr lang="en-US" sz="2800" dirty="0" err="1">
                <a:latin typeface="Avenir Next" panose="020B0503020202020204" pitchFamily="34" charset="0"/>
                <a:ea typeface="Roboto Medium" panose="02000000000000000000" pitchFamily="2" charset="0"/>
                <a:cs typeface="Gill Sans MT"/>
                <a:sym typeface="Wingdings" pitchFamily="2" charset="2"/>
              </a:rPr>
              <a:t>Finished_</a:t>
            </a:r>
            <a:r>
              <a:rPr lang="en-US" dirty="0" err="1">
                <a:latin typeface="Avenir Next" panose="020B0503020202020204" pitchFamily="34" charset="0"/>
                <a:ea typeface="Roboto Medium" panose="02000000000000000000" pitchFamily="2" charset="0"/>
                <a:cs typeface="Gill Sans MT"/>
                <a:sym typeface="Wingdings" pitchFamily="2" charset="2"/>
              </a:rPr>
              <a:t>Hash</a:t>
            </a:r>
            <a:r>
              <a:rPr lang="en-US" dirty="0">
                <a:latin typeface="Avenir Next" panose="020B0503020202020204" pitchFamily="34" charset="0"/>
                <a:ea typeface="Roboto Medium" panose="02000000000000000000" pitchFamily="2" charset="0"/>
                <a:cs typeface="Gill Sans MT"/>
                <a:sym typeface="Wingdings" pitchFamily="2" charset="2"/>
              </a:rPr>
              <a:t> is encrypted with CHTK</a:t>
            </a:r>
          </a:p>
          <a:p>
            <a:pPr marL="246543" marR="4483" indent="-235336">
              <a:lnSpc>
                <a:spcPct val="110000"/>
              </a:lnSpc>
              <a:tabLst>
                <a:tab pos="1438912" algn="l"/>
              </a:tabLst>
            </a:pPr>
            <a:r>
              <a:rPr lang="en-US" sz="2800" dirty="0">
                <a:latin typeface="Avenir Next" panose="020B0503020202020204" pitchFamily="34" charset="0"/>
                <a:ea typeface="Roboto Medium" panose="02000000000000000000" pitchFamily="2" charset="0"/>
                <a:cs typeface="Gill Sans MT"/>
                <a:sym typeface="Wingdings" pitchFamily="2" charset="2"/>
              </a:rPr>
              <a:t>Both parties derive MS --&gt; </a:t>
            </a:r>
            <a:r>
              <a:rPr lang="en-US" sz="2800" b="1" dirty="0">
                <a:latin typeface="Avenir Next" panose="020B0503020202020204" pitchFamily="34" charset="0"/>
                <a:ea typeface="Roboto Medium" panose="02000000000000000000" pitchFamily="2" charset="0"/>
                <a:cs typeface="Gill Sans MT"/>
                <a:sym typeface="Wingdings" pitchFamily="2" charset="2"/>
              </a:rPr>
              <a:t>CATK</a:t>
            </a:r>
            <a:r>
              <a:rPr lang="en-US" sz="2800" dirty="0">
                <a:latin typeface="Avenir Next" panose="020B0503020202020204" pitchFamily="34" charset="0"/>
                <a:ea typeface="Roboto Medium" panose="02000000000000000000" pitchFamily="2" charset="0"/>
                <a:cs typeface="Gill Sans MT"/>
                <a:sym typeface="Wingdings" pitchFamily="2" charset="2"/>
              </a:rPr>
              <a:t> and </a:t>
            </a:r>
            <a:r>
              <a:rPr lang="en-US" sz="2800" b="1" dirty="0">
                <a:latin typeface="Avenir Next" panose="020B0503020202020204" pitchFamily="34" charset="0"/>
                <a:ea typeface="Roboto Medium" panose="02000000000000000000" pitchFamily="2" charset="0"/>
                <a:cs typeface="Gill Sans MT"/>
                <a:sym typeface="Wingdings" pitchFamily="2" charset="2"/>
              </a:rPr>
              <a:t>SATK</a:t>
            </a:r>
            <a:endParaRPr lang="en-US" sz="2800" b="1"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32351676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מציין מיקום של תאריך 3"/>
          <p:cNvSpPr>
            <a:spLocks noGrp="1"/>
          </p:cNvSpPr>
          <p:nvPr>
            <p:ph type="dt" sz="half" idx="10"/>
          </p:nvPr>
        </p:nvSpPr>
        <p:spPr/>
        <p:txBody>
          <a:bodyPr/>
          <a:lstStyle/>
          <a:p>
            <a:r>
              <a:rPr lang="en-US" altLang="he-IL"/>
              <a:t>2/27/25</a:t>
            </a:r>
            <a:endParaRPr lang="en-US" altLang="en-US"/>
          </a:p>
        </p:txBody>
      </p:sp>
      <p:sp>
        <p:nvSpPr>
          <p:cNvPr id="47" name="מציין מיקום של מספר שקופית 5"/>
          <p:cNvSpPr>
            <a:spLocks noGrp="1"/>
          </p:cNvSpPr>
          <p:nvPr>
            <p:ph type="sldNum" sz="quarter" idx="4294967295"/>
          </p:nvPr>
        </p:nvSpPr>
        <p:spPr>
          <a:xfrm>
            <a:off x="8077200" y="6243638"/>
            <a:ext cx="2133600" cy="457200"/>
          </a:xfrm>
          <a:prstGeom prst="rect">
            <a:avLst/>
          </a:prstGeom>
        </p:spPr>
        <p:txBody>
          <a:bodyPr/>
          <a:lstStyle/>
          <a:p>
            <a:r>
              <a:rPr lang="he-IL" altLang="en-US"/>
              <a:t>30</a:t>
            </a:r>
            <a:endParaRPr lang="en-US" altLang="en-US"/>
          </a:p>
        </p:txBody>
      </p:sp>
      <p:sp>
        <p:nvSpPr>
          <p:cNvPr id="345134" name="Rectangle 46"/>
          <p:cNvSpPr>
            <a:spLocks noGrp="1" noChangeArrowheads="1"/>
          </p:cNvSpPr>
          <p:nvPr>
            <p:ph type="body" idx="1"/>
          </p:nvPr>
        </p:nvSpPr>
        <p:spPr>
          <a:xfrm>
            <a:off x="1912938" y="957263"/>
            <a:ext cx="8229600" cy="4981575"/>
          </a:xfrm>
        </p:spPr>
        <p:txBody>
          <a:bodyPr/>
          <a:lstStyle/>
          <a:p>
            <a:r>
              <a:rPr lang="en-US" altLang="he-IL" sz="2400" dirty="0"/>
              <a:t>AEAD: Authenticated Encryption with Additional Data</a:t>
            </a:r>
          </a:p>
          <a:p>
            <a:pPr lvl="1"/>
            <a:r>
              <a:rPr lang="en-US" altLang="he-IL" sz="2000" dirty="0"/>
              <a:t>After fragmentation – but </a:t>
            </a:r>
            <a:r>
              <a:rPr lang="en-US" altLang="he-IL" sz="2000" b="1" dirty="0"/>
              <a:t>no compression</a:t>
            </a:r>
            <a:endParaRPr lang="en-US" altLang="he-IL" sz="2000" dirty="0"/>
          </a:p>
        </p:txBody>
      </p:sp>
      <p:sp>
        <p:nvSpPr>
          <p:cNvPr id="345092" name="Rectangle 4"/>
          <p:cNvSpPr>
            <a:spLocks noChangeArrowheads="1"/>
          </p:cNvSpPr>
          <p:nvPr/>
        </p:nvSpPr>
        <p:spPr bwMode="auto">
          <a:xfrm>
            <a:off x="3847321" y="2036608"/>
            <a:ext cx="5287999" cy="369332"/>
          </a:xfrm>
          <a:prstGeom prst="rect">
            <a:avLst/>
          </a:prstGeom>
          <a:solidFill>
            <a:srgbClr val="99FF33"/>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eaLnBrk="0" hangingPunct="0"/>
            <a:r>
              <a:rPr lang="en-US" altLang="he-IL" dirty="0">
                <a:latin typeface="Times New Roman" panose="02020603050405020304" pitchFamily="18" charset="0"/>
                <a:cs typeface="Times New Roman" panose="02020603050405020304" pitchFamily="18" charset="0"/>
              </a:rPr>
              <a:t>Message sent by the application, e.g., HTTP request</a:t>
            </a:r>
          </a:p>
        </p:txBody>
      </p:sp>
      <p:sp>
        <p:nvSpPr>
          <p:cNvPr id="345093" name="Rectangle 5"/>
          <p:cNvSpPr>
            <a:spLocks noChangeArrowheads="1"/>
          </p:cNvSpPr>
          <p:nvPr/>
        </p:nvSpPr>
        <p:spPr bwMode="auto">
          <a:xfrm>
            <a:off x="3658445" y="2794879"/>
            <a:ext cx="1946275" cy="382588"/>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a:latin typeface="Times New Roman" panose="02020603050405020304" pitchFamily="18" charset="0"/>
                <a:cs typeface="Times New Roman" panose="02020603050405020304" pitchFamily="18" charset="0"/>
              </a:rPr>
              <a:t>Message sent by th</a:t>
            </a:r>
          </a:p>
        </p:txBody>
      </p:sp>
      <p:sp>
        <p:nvSpPr>
          <p:cNvPr id="345094" name="Rectangle 6"/>
          <p:cNvSpPr>
            <a:spLocks noChangeArrowheads="1"/>
          </p:cNvSpPr>
          <p:nvPr/>
        </p:nvSpPr>
        <p:spPr bwMode="auto">
          <a:xfrm>
            <a:off x="6056974" y="2797838"/>
            <a:ext cx="1933575" cy="382587"/>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a:latin typeface="Times New Roman" panose="02020603050405020304" pitchFamily="18" charset="0"/>
                <a:cs typeface="Times New Roman" panose="02020603050405020304" pitchFamily="18" charset="0"/>
              </a:rPr>
              <a:t>he application, e.g.</a:t>
            </a:r>
          </a:p>
        </p:txBody>
      </p:sp>
      <p:sp>
        <p:nvSpPr>
          <p:cNvPr id="345095" name="Rectangle 7"/>
          <p:cNvSpPr>
            <a:spLocks noChangeArrowheads="1"/>
          </p:cNvSpPr>
          <p:nvPr/>
        </p:nvSpPr>
        <p:spPr bwMode="auto">
          <a:xfrm>
            <a:off x="8379670" y="2797837"/>
            <a:ext cx="1489075" cy="382587"/>
          </a:xfrm>
          <a:prstGeom prst="rect">
            <a:avLst/>
          </a:prstGeom>
          <a:solidFill>
            <a:srgbClr val="CCFF66"/>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he-IL" dirty="0">
                <a:latin typeface="Times New Roman" panose="02020603050405020304" pitchFamily="18" charset="0"/>
                <a:cs typeface="Times New Roman" panose="02020603050405020304" pitchFamily="18" charset="0"/>
              </a:rPr>
              <a:t>HTTP request</a:t>
            </a:r>
          </a:p>
        </p:txBody>
      </p:sp>
      <p:sp>
        <p:nvSpPr>
          <p:cNvPr id="345096" name="Line 8"/>
          <p:cNvSpPr>
            <a:spLocks noChangeShapeType="1"/>
          </p:cNvSpPr>
          <p:nvPr/>
        </p:nvSpPr>
        <p:spPr bwMode="auto">
          <a:xfrm flipV="1">
            <a:off x="3642570" y="2398004"/>
            <a:ext cx="204751" cy="39370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345097" name="Line 9"/>
          <p:cNvSpPr>
            <a:spLocks noChangeShapeType="1"/>
          </p:cNvSpPr>
          <p:nvPr/>
        </p:nvSpPr>
        <p:spPr bwMode="auto">
          <a:xfrm flipV="1">
            <a:off x="5590432" y="2399592"/>
            <a:ext cx="404813"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he-IL"/>
          </a:p>
        </p:txBody>
      </p:sp>
      <p:sp>
        <p:nvSpPr>
          <p:cNvPr id="345098" name="Line 10"/>
          <p:cNvSpPr>
            <a:spLocks noChangeShapeType="1"/>
          </p:cNvSpPr>
          <p:nvPr/>
        </p:nvSpPr>
        <p:spPr bwMode="auto">
          <a:xfrm>
            <a:off x="5995244" y="2399592"/>
            <a:ext cx="71622" cy="423645"/>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345099" name="Line 11"/>
          <p:cNvSpPr>
            <a:spLocks noChangeShapeType="1"/>
          </p:cNvSpPr>
          <p:nvPr/>
        </p:nvSpPr>
        <p:spPr bwMode="auto">
          <a:xfrm flipH="1" flipV="1">
            <a:off x="7703393" y="2399592"/>
            <a:ext cx="287154" cy="3825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345100" name="Line 12"/>
          <p:cNvSpPr>
            <a:spLocks noChangeShapeType="1"/>
          </p:cNvSpPr>
          <p:nvPr/>
        </p:nvSpPr>
        <p:spPr bwMode="auto">
          <a:xfrm>
            <a:off x="7703393" y="2399592"/>
            <a:ext cx="676276" cy="39211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345101" name="Line 13"/>
          <p:cNvSpPr>
            <a:spLocks noChangeShapeType="1"/>
          </p:cNvSpPr>
          <p:nvPr/>
        </p:nvSpPr>
        <p:spPr bwMode="auto">
          <a:xfrm flipH="1" flipV="1">
            <a:off x="9143255" y="2399592"/>
            <a:ext cx="676276" cy="392111"/>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345102" name="Text Box 14"/>
          <p:cNvSpPr txBox="1">
            <a:spLocks noChangeArrowheads="1"/>
          </p:cNvSpPr>
          <p:nvPr/>
        </p:nvSpPr>
        <p:spPr bwMode="auto">
          <a:xfrm>
            <a:off x="4353770" y="2399592"/>
            <a:ext cx="858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345103" name="Text Box 15"/>
          <p:cNvSpPr txBox="1">
            <a:spLocks noChangeArrowheads="1"/>
          </p:cNvSpPr>
          <p:nvPr/>
        </p:nvSpPr>
        <p:spPr bwMode="auto">
          <a:xfrm>
            <a:off x="6428631" y="2399592"/>
            <a:ext cx="858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345104" name="Text Box 16"/>
          <p:cNvSpPr txBox="1">
            <a:spLocks noChangeArrowheads="1"/>
          </p:cNvSpPr>
          <p:nvPr/>
        </p:nvSpPr>
        <p:spPr bwMode="auto">
          <a:xfrm>
            <a:off x="8062170" y="2399592"/>
            <a:ext cx="858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a:latin typeface="Times New Roman" panose="02020603050405020304" pitchFamily="18" charset="0"/>
                <a:cs typeface="Times New Roman" panose="02020603050405020304" pitchFamily="18" charset="0"/>
              </a:rPr>
              <a:t>&lt;16KB</a:t>
            </a:r>
          </a:p>
        </p:txBody>
      </p:sp>
      <p:sp>
        <p:nvSpPr>
          <p:cNvPr id="345130" name="Rectangle 42"/>
          <p:cNvSpPr>
            <a:spLocks noChangeArrowheads="1"/>
          </p:cNvSpPr>
          <p:nvPr/>
        </p:nvSpPr>
        <p:spPr bwMode="auto">
          <a:xfrm>
            <a:off x="4096206" y="4151843"/>
            <a:ext cx="1204100" cy="382588"/>
          </a:xfrm>
          <a:prstGeom prst="rect">
            <a:avLst/>
          </a:prstGeom>
          <a:solidFill>
            <a:schemeClr val="accent5">
              <a:lumMod val="20000"/>
              <a:lumOff val="80000"/>
            </a:schemeClr>
          </a:solidFill>
          <a:ln w="19050">
            <a:solidFill>
              <a:schemeClr val="tx1"/>
            </a:solidFill>
            <a:miter lim="800000"/>
            <a:headEnd/>
            <a:tailEnd/>
          </a:ln>
          <a:effectLst/>
        </p:spPr>
        <p:txBody>
          <a:bodyPr wrap="square" anchor="ctr">
            <a:spAutoFit/>
          </a:bodyPr>
          <a:lstStyle/>
          <a:p>
            <a:pPr algn="ctr"/>
            <a:r>
              <a:rPr lang="en-US" dirty="0"/>
              <a:t>AEAD</a:t>
            </a:r>
            <a:endParaRPr lang="he-IL" dirty="0"/>
          </a:p>
        </p:txBody>
      </p:sp>
      <p:sp>
        <p:nvSpPr>
          <p:cNvPr id="48" name="Text Box 17"/>
          <p:cNvSpPr txBox="1">
            <a:spLocks noChangeArrowheads="1"/>
          </p:cNvSpPr>
          <p:nvPr/>
        </p:nvSpPr>
        <p:spPr bwMode="auto">
          <a:xfrm>
            <a:off x="2138320" y="2732601"/>
            <a:ext cx="1468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dirty="0">
                <a:latin typeface="Tahoma" panose="020B0604030504040204" pitchFamily="34" charset="0"/>
                <a:cs typeface="Tahoma" panose="020B0604030504040204" pitchFamily="34" charset="0"/>
              </a:rPr>
              <a:t>Fragment</a:t>
            </a:r>
          </a:p>
        </p:txBody>
      </p:sp>
      <p:sp>
        <p:nvSpPr>
          <p:cNvPr id="51" name="Text Box 43"/>
          <p:cNvSpPr txBox="1">
            <a:spLocks noChangeArrowheads="1"/>
          </p:cNvSpPr>
          <p:nvPr/>
        </p:nvSpPr>
        <p:spPr bwMode="auto">
          <a:xfrm>
            <a:off x="3839565" y="3490004"/>
            <a:ext cx="5132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000" dirty="0">
                <a:latin typeface="Tahoma" panose="020B0604030504040204" pitchFamily="34" charset="0"/>
                <a:cs typeface="Tahoma" panose="020B0604030504040204" pitchFamily="34" charset="0"/>
              </a:rPr>
              <a:t>AD</a:t>
            </a:r>
          </a:p>
        </p:txBody>
      </p:sp>
      <p:sp>
        <p:nvSpPr>
          <p:cNvPr id="62" name="Rectangle 40">
            <a:extLst>
              <a:ext uri="{FF2B5EF4-FFF2-40B4-BE49-F238E27FC236}">
                <a16:creationId xmlns:a16="http://schemas.microsoft.com/office/drawing/2014/main" id="{512C0D1A-BBFB-408F-A4D4-CC5498EAD28E}"/>
              </a:ext>
            </a:extLst>
          </p:cNvPr>
          <p:cNvSpPr>
            <a:spLocks noChangeArrowheads="1"/>
          </p:cNvSpPr>
          <p:nvPr/>
        </p:nvSpPr>
        <p:spPr bwMode="auto">
          <a:xfrm>
            <a:off x="8379670" y="5025632"/>
            <a:ext cx="1603375" cy="369332"/>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dirty="0">
                <a:solidFill>
                  <a:srgbClr val="FFFF00"/>
                </a:solidFill>
              </a:rPr>
              <a:t>Ciphertext</a:t>
            </a:r>
            <a:endParaRPr lang="he-IL" dirty="0"/>
          </a:p>
        </p:txBody>
      </p:sp>
      <p:sp>
        <p:nvSpPr>
          <p:cNvPr id="63" name="Rectangle 41">
            <a:extLst>
              <a:ext uri="{FF2B5EF4-FFF2-40B4-BE49-F238E27FC236}">
                <a16:creationId xmlns:a16="http://schemas.microsoft.com/office/drawing/2014/main" id="{B69EA215-4D98-4ED2-8326-DB4FCADF4014}"/>
              </a:ext>
            </a:extLst>
          </p:cNvPr>
          <p:cNvSpPr>
            <a:spLocks noChangeArrowheads="1"/>
          </p:cNvSpPr>
          <p:nvPr/>
        </p:nvSpPr>
        <p:spPr bwMode="auto">
          <a:xfrm>
            <a:off x="6056974" y="5025632"/>
            <a:ext cx="2082727" cy="369332"/>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dirty="0">
                <a:solidFill>
                  <a:srgbClr val="FFFF00"/>
                </a:solidFill>
              </a:rPr>
              <a:t>Ciphertext</a:t>
            </a:r>
            <a:endParaRPr lang="he-IL" dirty="0"/>
          </a:p>
        </p:txBody>
      </p:sp>
      <p:sp>
        <p:nvSpPr>
          <p:cNvPr id="64" name="Rectangle 42">
            <a:extLst>
              <a:ext uri="{FF2B5EF4-FFF2-40B4-BE49-F238E27FC236}">
                <a16:creationId xmlns:a16="http://schemas.microsoft.com/office/drawing/2014/main" id="{26FA1884-17BA-4FE2-975A-6A5122B5F432}"/>
              </a:ext>
            </a:extLst>
          </p:cNvPr>
          <p:cNvSpPr>
            <a:spLocks noChangeArrowheads="1"/>
          </p:cNvSpPr>
          <p:nvPr/>
        </p:nvSpPr>
        <p:spPr bwMode="auto">
          <a:xfrm>
            <a:off x="3642568" y="5030656"/>
            <a:ext cx="2079199" cy="369332"/>
          </a:xfrm>
          <a:prstGeom prst="rect">
            <a:avLst/>
          </a:prstGeom>
          <a:solidFill>
            <a:schemeClr val="tx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dirty="0">
                <a:solidFill>
                  <a:srgbClr val="FFFF00"/>
                </a:solidFill>
              </a:rPr>
              <a:t>Ciphertext</a:t>
            </a:r>
            <a:endParaRPr lang="he-IL" dirty="0">
              <a:solidFill>
                <a:srgbClr val="FFFF00"/>
              </a:solidFill>
            </a:endParaRPr>
          </a:p>
        </p:txBody>
      </p:sp>
      <p:sp>
        <p:nvSpPr>
          <p:cNvPr id="65" name="Rectangle 45">
            <a:extLst>
              <a:ext uri="{FF2B5EF4-FFF2-40B4-BE49-F238E27FC236}">
                <a16:creationId xmlns:a16="http://schemas.microsoft.com/office/drawing/2014/main" id="{361A431D-71A8-48DF-A5A0-A6B3590B4D18}"/>
              </a:ext>
            </a:extLst>
          </p:cNvPr>
          <p:cNvSpPr>
            <a:spLocks noChangeArrowheads="1"/>
          </p:cNvSpPr>
          <p:nvPr/>
        </p:nvSpPr>
        <p:spPr bwMode="auto">
          <a:xfrm>
            <a:off x="3509780" y="3308437"/>
            <a:ext cx="148665" cy="509588"/>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68" name="Text Box 43">
            <a:extLst>
              <a:ext uri="{FF2B5EF4-FFF2-40B4-BE49-F238E27FC236}">
                <a16:creationId xmlns:a16="http://schemas.microsoft.com/office/drawing/2014/main" id="{E255CE62-A1AC-4908-BCFC-E6195ADE219E}"/>
              </a:ext>
            </a:extLst>
          </p:cNvPr>
          <p:cNvSpPr txBox="1">
            <a:spLocks noChangeArrowheads="1"/>
          </p:cNvSpPr>
          <p:nvPr/>
        </p:nvSpPr>
        <p:spPr bwMode="auto">
          <a:xfrm>
            <a:off x="2136468" y="3309921"/>
            <a:ext cx="12971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400" dirty="0">
                <a:solidFill>
                  <a:srgbClr val="6600FF"/>
                </a:solidFill>
                <a:latin typeface="Tahoma" panose="020B0604030504040204" pitchFamily="34" charset="0"/>
                <a:cs typeface="Tahoma" panose="020B0604030504040204" pitchFamily="34" charset="0"/>
              </a:rPr>
              <a:t>Headers</a:t>
            </a:r>
          </a:p>
        </p:txBody>
      </p:sp>
      <p:sp>
        <p:nvSpPr>
          <p:cNvPr id="70" name="Line 13">
            <a:extLst>
              <a:ext uri="{FF2B5EF4-FFF2-40B4-BE49-F238E27FC236}">
                <a16:creationId xmlns:a16="http://schemas.microsoft.com/office/drawing/2014/main" id="{5215A20D-201D-4F36-8696-66EA44687BC6}"/>
              </a:ext>
            </a:extLst>
          </p:cNvPr>
          <p:cNvSpPr>
            <a:spLocks noChangeShapeType="1"/>
          </p:cNvSpPr>
          <p:nvPr/>
        </p:nvSpPr>
        <p:spPr bwMode="auto">
          <a:xfrm flipH="1" flipV="1">
            <a:off x="3658444" y="3599183"/>
            <a:ext cx="608749" cy="509588"/>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71" name="Line 13">
            <a:extLst>
              <a:ext uri="{FF2B5EF4-FFF2-40B4-BE49-F238E27FC236}">
                <a16:creationId xmlns:a16="http://schemas.microsoft.com/office/drawing/2014/main" id="{1179F000-94B3-48FB-9CE5-5BE6AB7E62F3}"/>
              </a:ext>
            </a:extLst>
          </p:cNvPr>
          <p:cNvSpPr>
            <a:spLocks noChangeShapeType="1"/>
          </p:cNvSpPr>
          <p:nvPr/>
        </p:nvSpPr>
        <p:spPr bwMode="auto">
          <a:xfrm flipH="1" flipV="1">
            <a:off x="4584486" y="3189801"/>
            <a:ext cx="1" cy="982314"/>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72" name="Rectangle 45">
            <a:extLst>
              <a:ext uri="{FF2B5EF4-FFF2-40B4-BE49-F238E27FC236}">
                <a16:creationId xmlns:a16="http://schemas.microsoft.com/office/drawing/2014/main" id="{C69F08CA-63D5-4EF7-88C9-496C61BF412D}"/>
              </a:ext>
            </a:extLst>
          </p:cNvPr>
          <p:cNvSpPr>
            <a:spLocks noChangeArrowheads="1"/>
          </p:cNvSpPr>
          <p:nvPr/>
        </p:nvSpPr>
        <p:spPr bwMode="auto">
          <a:xfrm>
            <a:off x="5888679" y="3290339"/>
            <a:ext cx="148665" cy="509588"/>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73" name="Rectangle 45">
            <a:extLst>
              <a:ext uri="{FF2B5EF4-FFF2-40B4-BE49-F238E27FC236}">
                <a16:creationId xmlns:a16="http://schemas.microsoft.com/office/drawing/2014/main" id="{3AC22300-7417-416C-B4DB-6C6965A24B76}"/>
              </a:ext>
            </a:extLst>
          </p:cNvPr>
          <p:cNvSpPr>
            <a:spLocks noChangeArrowheads="1"/>
          </p:cNvSpPr>
          <p:nvPr/>
        </p:nvSpPr>
        <p:spPr bwMode="auto">
          <a:xfrm>
            <a:off x="8231005" y="3285959"/>
            <a:ext cx="148665" cy="509588"/>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74" name="Rectangle 45">
            <a:extLst>
              <a:ext uri="{FF2B5EF4-FFF2-40B4-BE49-F238E27FC236}">
                <a16:creationId xmlns:a16="http://schemas.microsoft.com/office/drawing/2014/main" id="{F7DB1A40-C3C7-4BD3-B8D2-8B7CE4100108}"/>
              </a:ext>
            </a:extLst>
          </p:cNvPr>
          <p:cNvSpPr>
            <a:spLocks noChangeArrowheads="1"/>
          </p:cNvSpPr>
          <p:nvPr/>
        </p:nvSpPr>
        <p:spPr bwMode="auto">
          <a:xfrm>
            <a:off x="3493903" y="5025632"/>
            <a:ext cx="148665" cy="369332"/>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75" name="Rectangle 45">
            <a:extLst>
              <a:ext uri="{FF2B5EF4-FFF2-40B4-BE49-F238E27FC236}">
                <a16:creationId xmlns:a16="http://schemas.microsoft.com/office/drawing/2014/main" id="{2636A1EA-B996-4B8F-A019-06EDE0ADF90C}"/>
              </a:ext>
            </a:extLst>
          </p:cNvPr>
          <p:cNvSpPr>
            <a:spLocks noChangeArrowheads="1"/>
          </p:cNvSpPr>
          <p:nvPr/>
        </p:nvSpPr>
        <p:spPr bwMode="auto">
          <a:xfrm>
            <a:off x="5895456" y="5025633"/>
            <a:ext cx="148665" cy="423645"/>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76" name="Rectangle 45">
            <a:extLst>
              <a:ext uri="{FF2B5EF4-FFF2-40B4-BE49-F238E27FC236}">
                <a16:creationId xmlns:a16="http://schemas.microsoft.com/office/drawing/2014/main" id="{F30B983E-19B5-4E5F-8BD2-052A034C27DF}"/>
              </a:ext>
            </a:extLst>
          </p:cNvPr>
          <p:cNvSpPr>
            <a:spLocks noChangeArrowheads="1"/>
          </p:cNvSpPr>
          <p:nvPr/>
        </p:nvSpPr>
        <p:spPr bwMode="auto">
          <a:xfrm>
            <a:off x="8233144" y="4997302"/>
            <a:ext cx="138196" cy="384372"/>
          </a:xfrm>
          <a:prstGeom prst="rect">
            <a:avLst/>
          </a:prstGeom>
          <a:solidFill>
            <a:srgbClr val="6600FF"/>
          </a:solidFill>
          <a:ln w="15840">
            <a:solidFill>
              <a:srgbClr val="000000"/>
            </a:solidFill>
            <a:miter lim="800000"/>
            <a:headEnd/>
            <a:tailEnd/>
          </a:ln>
          <a:effectLst/>
        </p:spPr>
        <p:txBody>
          <a:bodyPr wrap="none" anchor="ctr"/>
          <a:lstStyle/>
          <a:p>
            <a:pPr>
              <a:buClr>
                <a:srgbClr val="000000"/>
              </a:buClr>
              <a:buSzPct val="100000"/>
              <a:buFont typeface="Times New Roman" panose="02020603050405020304" pitchFamily="18" charset="0"/>
              <a:buNone/>
            </a:pPr>
            <a:endParaRPr lang="he-IL" altLang="en-US"/>
          </a:p>
        </p:txBody>
      </p:sp>
      <p:sp>
        <p:nvSpPr>
          <p:cNvPr id="77" name="Rectangle 42">
            <a:extLst>
              <a:ext uri="{FF2B5EF4-FFF2-40B4-BE49-F238E27FC236}">
                <a16:creationId xmlns:a16="http://schemas.microsoft.com/office/drawing/2014/main" id="{CA380ED1-6925-478F-B88B-E1142CFB3F52}"/>
              </a:ext>
            </a:extLst>
          </p:cNvPr>
          <p:cNvSpPr>
            <a:spLocks noChangeArrowheads="1"/>
          </p:cNvSpPr>
          <p:nvPr/>
        </p:nvSpPr>
        <p:spPr bwMode="auto">
          <a:xfrm>
            <a:off x="6488512" y="4108771"/>
            <a:ext cx="1204100" cy="382588"/>
          </a:xfrm>
          <a:prstGeom prst="rect">
            <a:avLst/>
          </a:prstGeom>
          <a:solidFill>
            <a:schemeClr val="accent5">
              <a:lumMod val="20000"/>
              <a:lumOff val="80000"/>
            </a:schemeClr>
          </a:solidFill>
          <a:ln w="19050">
            <a:solidFill>
              <a:schemeClr val="tx1"/>
            </a:solidFill>
            <a:miter lim="800000"/>
            <a:headEnd/>
            <a:tailEnd/>
          </a:ln>
          <a:effectLst/>
        </p:spPr>
        <p:txBody>
          <a:bodyPr wrap="square" anchor="ctr">
            <a:spAutoFit/>
          </a:bodyPr>
          <a:lstStyle/>
          <a:p>
            <a:pPr algn="ctr"/>
            <a:r>
              <a:rPr lang="en-US" dirty="0"/>
              <a:t>AEAD</a:t>
            </a:r>
            <a:endParaRPr lang="he-IL" dirty="0"/>
          </a:p>
        </p:txBody>
      </p:sp>
      <p:sp>
        <p:nvSpPr>
          <p:cNvPr id="78" name="Text Box 43">
            <a:extLst>
              <a:ext uri="{FF2B5EF4-FFF2-40B4-BE49-F238E27FC236}">
                <a16:creationId xmlns:a16="http://schemas.microsoft.com/office/drawing/2014/main" id="{9B56B4CE-D3FF-4FB6-B954-4AC81B404FAE}"/>
              </a:ext>
            </a:extLst>
          </p:cNvPr>
          <p:cNvSpPr txBox="1">
            <a:spLocks noChangeArrowheads="1"/>
          </p:cNvSpPr>
          <p:nvPr/>
        </p:nvSpPr>
        <p:spPr bwMode="auto">
          <a:xfrm>
            <a:off x="6231871" y="3446932"/>
            <a:ext cx="5132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en-US" altLang="he-IL" sz="2000" dirty="0">
                <a:latin typeface="Tahoma" panose="020B0604030504040204" pitchFamily="34" charset="0"/>
                <a:cs typeface="Tahoma" panose="020B0604030504040204" pitchFamily="34" charset="0"/>
              </a:rPr>
              <a:t>AD</a:t>
            </a:r>
          </a:p>
        </p:txBody>
      </p:sp>
      <p:sp>
        <p:nvSpPr>
          <p:cNvPr id="79" name="Line 13">
            <a:extLst>
              <a:ext uri="{FF2B5EF4-FFF2-40B4-BE49-F238E27FC236}">
                <a16:creationId xmlns:a16="http://schemas.microsoft.com/office/drawing/2014/main" id="{3DE2FECE-332F-4F95-9AF3-030BF9D9FD2D}"/>
              </a:ext>
            </a:extLst>
          </p:cNvPr>
          <p:cNvSpPr>
            <a:spLocks noChangeShapeType="1"/>
          </p:cNvSpPr>
          <p:nvPr/>
        </p:nvSpPr>
        <p:spPr bwMode="auto">
          <a:xfrm flipH="1" flipV="1">
            <a:off x="6050750" y="3556111"/>
            <a:ext cx="608749" cy="509588"/>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80" name="Line 13">
            <a:extLst>
              <a:ext uri="{FF2B5EF4-FFF2-40B4-BE49-F238E27FC236}">
                <a16:creationId xmlns:a16="http://schemas.microsoft.com/office/drawing/2014/main" id="{8D661319-0508-4974-AE19-A618FBEEBDE4}"/>
              </a:ext>
            </a:extLst>
          </p:cNvPr>
          <p:cNvSpPr>
            <a:spLocks noChangeShapeType="1"/>
          </p:cNvSpPr>
          <p:nvPr/>
        </p:nvSpPr>
        <p:spPr bwMode="auto">
          <a:xfrm flipH="1" flipV="1">
            <a:off x="6938162" y="3189801"/>
            <a:ext cx="51123" cy="918970"/>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85" name="Rectangle 42">
            <a:extLst>
              <a:ext uri="{FF2B5EF4-FFF2-40B4-BE49-F238E27FC236}">
                <a16:creationId xmlns:a16="http://schemas.microsoft.com/office/drawing/2014/main" id="{D6E6C530-928B-4EC6-9A41-DD198ED9C5D5}"/>
              </a:ext>
            </a:extLst>
          </p:cNvPr>
          <p:cNvSpPr>
            <a:spLocks noChangeArrowheads="1"/>
          </p:cNvSpPr>
          <p:nvPr/>
        </p:nvSpPr>
        <p:spPr bwMode="auto">
          <a:xfrm>
            <a:off x="8699136" y="4145363"/>
            <a:ext cx="1204100" cy="382588"/>
          </a:xfrm>
          <a:prstGeom prst="rect">
            <a:avLst/>
          </a:prstGeom>
          <a:solidFill>
            <a:schemeClr val="accent5">
              <a:lumMod val="20000"/>
              <a:lumOff val="80000"/>
            </a:schemeClr>
          </a:solidFill>
          <a:ln w="19050">
            <a:solidFill>
              <a:schemeClr val="tx1"/>
            </a:solidFill>
            <a:miter lim="800000"/>
            <a:headEnd/>
            <a:tailEnd/>
          </a:ln>
          <a:effectLst/>
        </p:spPr>
        <p:txBody>
          <a:bodyPr wrap="square" anchor="ctr">
            <a:spAutoFit/>
          </a:bodyPr>
          <a:lstStyle/>
          <a:p>
            <a:pPr algn="ctr"/>
            <a:r>
              <a:rPr lang="en-US" dirty="0"/>
              <a:t>AEAD</a:t>
            </a:r>
            <a:endParaRPr lang="he-IL" dirty="0"/>
          </a:p>
        </p:txBody>
      </p:sp>
      <p:sp>
        <p:nvSpPr>
          <p:cNvPr id="86" name="Text Box 43">
            <a:extLst>
              <a:ext uri="{FF2B5EF4-FFF2-40B4-BE49-F238E27FC236}">
                <a16:creationId xmlns:a16="http://schemas.microsoft.com/office/drawing/2014/main" id="{F11E1103-9FA5-4563-9426-10967F08933E}"/>
              </a:ext>
            </a:extLst>
          </p:cNvPr>
          <p:cNvSpPr txBox="1">
            <a:spLocks noChangeArrowheads="1"/>
          </p:cNvSpPr>
          <p:nvPr/>
        </p:nvSpPr>
        <p:spPr bwMode="auto">
          <a:xfrm>
            <a:off x="8460010" y="3524949"/>
            <a:ext cx="5132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he-IL" sz="2000" dirty="0">
                <a:latin typeface="Tahoma" panose="020B0604030504040204" pitchFamily="34" charset="0"/>
                <a:cs typeface="Tahoma" panose="020B0604030504040204" pitchFamily="34" charset="0"/>
              </a:rPr>
              <a:t>AD</a:t>
            </a:r>
          </a:p>
        </p:txBody>
      </p:sp>
      <p:sp>
        <p:nvSpPr>
          <p:cNvPr id="87" name="Line 13">
            <a:extLst>
              <a:ext uri="{FF2B5EF4-FFF2-40B4-BE49-F238E27FC236}">
                <a16:creationId xmlns:a16="http://schemas.microsoft.com/office/drawing/2014/main" id="{F679026B-4B1A-4AB8-A49E-2CB05A3320B2}"/>
              </a:ext>
            </a:extLst>
          </p:cNvPr>
          <p:cNvSpPr>
            <a:spLocks noChangeShapeType="1"/>
          </p:cNvSpPr>
          <p:nvPr/>
        </p:nvSpPr>
        <p:spPr bwMode="auto">
          <a:xfrm flipH="1" flipV="1">
            <a:off x="8278889" y="3634128"/>
            <a:ext cx="608749" cy="509588"/>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88" name="Line 13">
            <a:extLst>
              <a:ext uri="{FF2B5EF4-FFF2-40B4-BE49-F238E27FC236}">
                <a16:creationId xmlns:a16="http://schemas.microsoft.com/office/drawing/2014/main" id="{7B46A19C-2945-4B46-AE21-F664E1069A35}"/>
              </a:ext>
            </a:extLst>
          </p:cNvPr>
          <p:cNvSpPr>
            <a:spLocks noChangeShapeType="1"/>
          </p:cNvSpPr>
          <p:nvPr/>
        </p:nvSpPr>
        <p:spPr bwMode="auto">
          <a:xfrm flipH="1" flipV="1">
            <a:off x="9217424" y="3204474"/>
            <a:ext cx="1" cy="982314"/>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89" name="Line 13">
            <a:extLst>
              <a:ext uri="{FF2B5EF4-FFF2-40B4-BE49-F238E27FC236}">
                <a16:creationId xmlns:a16="http://schemas.microsoft.com/office/drawing/2014/main" id="{694A588E-44A4-43C2-AFED-08C0F508DBBD}"/>
              </a:ext>
            </a:extLst>
          </p:cNvPr>
          <p:cNvSpPr>
            <a:spLocks noChangeShapeType="1"/>
          </p:cNvSpPr>
          <p:nvPr/>
        </p:nvSpPr>
        <p:spPr bwMode="auto">
          <a:xfrm flipV="1">
            <a:off x="4584482" y="4491360"/>
            <a:ext cx="2" cy="534273"/>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90" name="Line 13">
            <a:extLst>
              <a:ext uri="{FF2B5EF4-FFF2-40B4-BE49-F238E27FC236}">
                <a16:creationId xmlns:a16="http://schemas.microsoft.com/office/drawing/2014/main" id="{6AB0540F-5AAF-4848-B73F-FA230AF71D02}"/>
              </a:ext>
            </a:extLst>
          </p:cNvPr>
          <p:cNvSpPr>
            <a:spLocks noChangeShapeType="1"/>
          </p:cNvSpPr>
          <p:nvPr/>
        </p:nvSpPr>
        <p:spPr bwMode="auto">
          <a:xfrm flipV="1">
            <a:off x="6999720" y="4481760"/>
            <a:ext cx="2" cy="534273"/>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91" name="Line 13">
            <a:extLst>
              <a:ext uri="{FF2B5EF4-FFF2-40B4-BE49-F238E27FC236}">
                <a16:creationId xmlns:a16="http://schemas.microsoft.com/office/drawing/2014/main" id="{44729E80-0274-442B-86B6-B1A70CF0924E}"/>
              </a:ext>
            </a:extLst>
          </p:cNvPr>
          <p:cNvSpPr>
            <a:spLocks noChangeShapeType="1"/>
          </p:cNvSpPr>
          <p:nvPr/>
        </p:nvSpPr>
        <p:spPr bwMode="auto">
          <a:xfrm flipH="1" flipV="1">
            <a:off x="9249285" y="4530368"/>
            <a:ext cx="33498" cy="485664"/>
          </a:xfrm>
          <a:prstGeom prst="line">
            <a:avLst/>
          </a:prstGeom>
          <a:noFill/>
          <a:ln w="28575">
            <a:solidFill>
              <a:schemeClr val="tx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he-IL"/>
          </a:p>
        </p:txBody>
      </p:sp>
      <p:sp>
        <p:nvSpPr>
          <p:cNvPr id="6" name="TextBox 5">
            <a:extLst>
              <a:ext uri="{FF2B5EF4-FFF2-40B4-BE49-F238E27FC236}">
                <a16:creationId xmlns:a16="http://schemas.microsoft.com/office/drawing/2014/main" id="{1995A3A2-4220-D1F4-D309-3705A8E621D2}"/>
              </a:ext>
            </a:extLst>
          </p:cNvPr>
          <p:cNvSpPr txBox="1"/>
          <p:nvPr/>
        </p:nvSpPr>
        <p:spPr>
          <a:xfrm>
            <a:off x="-8091" y="-5493"/>
            <a:ext cx="8538774" cy="707886"/>
          </a:xfrm>
          <a:prstGeom prst="rect">
            <a:avLst/>
          </a:prstGeom>
          <a:solidFill>
            <a:srgbClr val="C00000"/>
          </a:solidFill>
        </p:spPr>
        <p:txBody>
          <a:bodyPr wrap="square">
            <a:spAutoFit/>
          </a:bodyPr>
          <a:lstStyle/>
          <a:p>
            <a:pPr algn="ctr"/>
            <a:r>
              <a:rPr lang="en-US" altLang="he-IL" sz="4000" dirty="0">
                <a:solidFill>
                  <a:schemeClr val="bg1"/>
                </a:solidFill>
                <a:latin typeface="Playfair Display Medium" pitchFamily="2" charset="77"/>
              </a:rPr>
              <a:t>TLS 1.3 Record Layer</a:t>
            </a:r>
            <a:endParaRPr lang="en-US" sz="1600" dirty="0">
              <a:solidFill>
                <a:schemeClr val="bg1"/>
              </a:solidFill>
              <a:latin typeface="Playfair Display Medium" pitchFamily="2" charset="77"/>
            </a:endParaRPr>
          </a:p>
        </p:txBody>
      </p:sp>
    </p:spTree>
    <p:custDataLst>
      <p:tags r:id="rId1"/>
    </p:custDataLst>
    <p:extLst>
      <p:ext uri="{BB962C8B-B14F-4D97-AF65-F5344CB8AC3E}">
        <p14:creationId xmlns:p14="http://schemas.microsoft.com/office/powerpoint/2010/main" val="897209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243796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ndamentally about transmitting information between two devices…">
            <a:extLst>
              <a:ext uri="{FF2B5EF4-FFF2-40B4-BE49-F238E27FC236}">
                <a16:creationId xmlns:a16="http://schemas.microsoft.com/office/drawing/2014/main" id="{E99F4337-2B9E-15A0-7BAA-8FA5C5A56E27}"/>
              </a:ext>
            </a:extLst>
          </p:cNvPr>
          <p:cNvSpPr txBox="1">
            <a:spLocks/>
          </p:cNvSpPr>
          <p:nvPr>
            <p:custDataLst>
              <p:tags r:id="rId2"/>
            </p:custDataLst>
          </p:nvPr>
        </p:nvSpPr>
        <p:spPr>
          <a:xfrm>
            <a:off x="0" y="2206016"/>
            <a:ext cx="12192000" cy="2445968"/>
          </a:xfrm>
          <a:prstGeom prst="rect">
            <a:avLst/>
          </a:prstGeom>
          <a:solidFill>
            <a:srgbClr val="C00000"/>
          </a:solidFill>
          <a:ln>
            <a:no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None/>
              <a:defRPr sz="4700"/>
            </a:pPr>
            <a:r>
              <a:rPr lang="en-US" sz="4800" b="1" dirty="0">
                <a:solidFill>
                  <a:schemeClr val="bg1"/>
                </a:solidFill>
                <a:latin typeface="Avenir Next" panose="020B0503020202020204" pitchFamily="34" charset="0"/>
              </a:rPr>
              <a:t>Historical problems with TLS</a:t>
            </a:r>
          </a:p>
        </p:txBody>
      </p:sp>
    </p:spTree>
    <p:custDataLst>
      <p:tags r:id="rId1"/>
    </p:custDataLst>
    <p:extLst>
      <p:ext uri="{BB962C8B-B14F-4D97-AF65-F5344CB8AC3E}">
        <p14:creationId xmlns:p14="http://schemas.microsoft.com/office/powerpoint/2010/main" val="3316568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4262039"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Problems!</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4483" indent="-235336">
              <a:lnSpc>
                <a:spcPct val="110000"/>
              </a:lnSpc>
            </a:pPr>
            <a:r>
              <a:rPr lang="en-US" sz="4800" dirty="0">
                <a:latin typeface="Avenir Next" panose="020B0503020202020204" pitchFamily="34" charset="0"/>
                <a:ea typeface="Roboto Medium" panose="02000000000000000000" pitchFamily="2" charset="0"/>
                <a:cs typeface="Gill Sans MT"/>
              </a:rPr>
              <a:t>TLS is a </a:t>
            </a:r>
            <a:r>
              <a:rPr lang="en-US" sz="4800" spc="-4" dirty="0">
                <a:latin typeface="Avenir Next" panose="020B0503020202020204" pitchFamily="34" charset="0"/>
                <a:ea typeface="Roboto Medium" panose="02000000000000000000" pitchFamily="2" charset="0"/>
                <a:cs typeface="Gill Sans MT"/>
              </a:rPr>
              <a:t>widely </a:t>
            </a:r>
            <a:r>
              <a:rPr lang="en-US" sz="4800" spc="-13" dirty="0">
                <a:latin typeface="Avenir Next" panose="020B0503020202020204" pitchFamily="34" charset="0"/>
                <a:ea typeface="Roboto Medium" panose="02000000000000000000" pitchFamily="2" charset="0"/>
                <a:cs typeface="Gill Sans MT"/>
              </a:rPr>
              <a:t>deployed </a:t>
            </a:r>
            <a:r>
              <a:rPr lang="en-US" sz="4800" dirty="0">
                <a:latin typeface="Avenir Next" panose="020B0503020202020204" pitchFamily="34" charset="0"/>
                <a:ea typeface="Roboto Medium" panose="02000000000000000000" pitchFamily="2" charset="0"/>
                <a:cs typeface="Gill Sans MT"/>
              </a:rPr>
              <a:t>and </a:t>
            </a:r>
            <a:r>
              <a:rPr lang="en-US" sz="4800" spc="-9" dirty="0">
                <a:latin typeface="Avenir Next" panose="020B0503020202020204" pitchFamily="34" charset="0"/>
                <a:ea typeface="Roboto Medium" panose="02000000000000000000" pitchFamily="2" charset="0"/>
                <a:cs typeface="Gill Sans MT"/>
              </a:rPr>
              <a:t>extremely </a:t>
            </a:r>
            <a:r>
              <a:rPr lang="en-US" sz="4800" dirty="0">
                <a:latin typeface="Avenir Next" panose="020B0503020202020204" pitchFamily="34" charset="0"/>
                <a:ea typeface="Roboto Medium" panose="02000000000000000000" pitchFamily="2" charset="0"/>
                <a:cs typeface="Gill Sans MT"/>
              </a:rPr>
              <a:t>successful  </a:t>
            </a:r>
            <a:r>
              <a:rPr lang="en-US" sz="4800" spc="-9" dirty="0">
                <a:latin typeface="Avenir Next" panose="020B0503020202020204" pitchFamily="34" charset="0"/>
                <a:ea typeface="Roboto Medium" panose="02000000000000000000" pitchFamily="2" charset="0"/>
                <a:cs typeface="Gill Sans MT"/>
              </a:rPr>
              <a:t>protocol</a:t>
            </a:r>
            <a:endParaRPr lang="en-US" sz="4800" dirty="0">
              <a:latin typeface="Avenir Next" panose="020B0503020202020204" pitchFamily="34" charset="0"/>
              <a:ea typeface="Roboto Medium" panose="02000000000000000000" pitchFamily="2" charset="0"/>
              <a:cs typeface="Gill Sans MT"/>
            </a:endParaRPr>
          </a:p>
          <a:p>
            <a:pPr marL="11206">
              <a:lnSpc>
                <a:spcPct val="110000"/>
              </a:lnSpc>
              <a:spcBef>
                <a:spcPts val="424"/>
              </a:spcBef>
            </a:pPr>
            <a:r>
              <a:rPr lang="en-US" sz="4800" dirty="0">
                <a:latin typeface="Avenir Next" panose="020B0503020202020204" pitchFamily="34" charset="0"/>
                <a:ea typeface="Roboto Medium" panose="02000000000000000000" pitchFamily="2" charset="0"/>
                <a:cs typeface="Gill Sans MT"/>
              </a:rPr>
              <a:t>… but its not</a:t>
            </a:r>
            <a:r>
              <a:rPr lang="en-US" sz="4800" spc="-75" dirty="0">
                <a:latin typeface="Avenir Next" panose="020B0503020202020204" pitchFamily="34" charset="0"/>
                <a:ea typeface="Roboto Medium" panose="02000000000000000000" pitchFamily="2" charset="0"/>
                <a:cs typeface="Gill Sans MT"/>
              </a:rPr>
              <a:t> </a:t>
            </a:r>
            <a:r>
              <a:rPr lang="en-US" sz="4800" spc="-4" dirty="0">
                <a:latin typeface="Avenir Next" panose="020B0503020202020204" pitchFamily="34" charset="0"/>
                <a:ea typeface="Roboto Medium" panose="02000000000000000000" pitchFamily="2" charset="0"/>
                <a:cs typeface="Gill Sans MT"/>
              </a:rPr>
              <a:t>perfect</a:t>
            </a:r>
            <a:endParaRPr lang="en-US" sz="4800" dirty="0">
              <a:latin typeface="Avenir Next" panose="020B0503020202020204" pitchFamily="34" charset="0"/>
              <a:ea typeface="Roboto Medium" panose="02000000000000000000" pitchFamily="2" charset="0"/>
              <a:cs typeface="Gill Sans MT"/>
            </a:endParaRPr>
          </a:p>
          <a:p>
            <a:pPr marL="11206">
              <a:lnSpc>
                <a:spcPct val="110000"/>
              </a:lnSpc>
              <a:spcBef>
                <a:spcPts val="512"/>
              </a:spcBef>
            </a:pPr>
            <a:r>
              <a:rPr lang="en-US" sz="4800" spc="-9" dirty="0">
                <a:latin typeface="Avenir Next" panose="020B0503020202020204" pitchFamily="34" charset="0"/>
                <a:ea typeface="Roboto Medium" panose="02000000000000000000" pitchFamily="2" charset="0"/>
                <a:cs typeface="Gill Sans MT"/>
              </a:rPr>
              <a:t>Problems </a:t>
            </a:r>
            <a:r>
              <a:rPr lang="en-US" sz="4800" dirty="0">
                <a:latin typeface="Avenir Next" panose="020B0503020202020204" pitchFamily="34" charset="0"/>
                <a:ea typeface="Roboto Medium" panose="02000000000000000000" pitchFamily="2" charset="0"/>
                <a:cs typeface="Gill Sans MT"/>
              </a:rPr>
              <a:t>with</a:t>
            </a:r>
            <a:r>
              <a:rPr lang="en-US" sz="4800" spc="-322" dirty="0">
                <a:latin typeface="Avenir Next" panose="020B0503020202020204" pitchFamily="34" charset="0"/>
                <a:ea typeface="Roboto Medium" panose="02000000000000000000" pitchFamily="2" charset="0"/>
                <a:cs typeface="Gill Sans MT"/>
              </a:rPr>
              <a:t> </a:t>
            </a:r>
            <a:r>
              <a:rPr lang="en-US" sz="4800" dirty="0">
                <a:latin typeface="Avenir Next" panose="020B0503020202020204" pitchFamily="34" charset="0"/>
                <a:ea typeface="Roboto Medium" panose="02000000000000000000" pitchFamily="2" charset="0"/>
                <a:cs typeface="Gill Sans MT"/>
              </a:rPr>
              <a:t>TLS:</a:t>
            </a:r>
          </a:p>
          <a:p>
            <a:pPr marL="818073" indent="-403433">
              <a:lnSpc>
                <a:spcPct val="110000"/>
              </a:lnSpc>
              <a:spcBef>
                <a:spcPts val="424"/>
              </a:spcBef>
              <a:buClr>
                <a:srgbClr val="9FB8CD"/>
              </a:buClr>
              <a:buSzPct val="76086"/>
              <a:buAutoNum type="arabicPeriod"/>
              <a:tabLst>
                <a:tab pos="817513" algn="l"/>
                <a:tab pos="818073" algn="l"/>
              </a:tabLst>
            </a:pPr>
            <a:r>
              <a:rPr lang="en-US" sz="4800" b="1" spc="22" dirty="0">
                <a:solidFill>
                  <a:srgbClr val="464653"/>
                </a:solidFill>
                <a:latin typeface="Avenir Next" panose="020B0503020202020204" pitchFamily="34" charset="0"/>
                <a:ea typeface="Roboto Medium" panose="02000000000000000000" pitchFamily="2" charset="0"/>
                <a:cs typeface="Gill Sans MT"/>
              </a:rPr>
              <a:t>CA</a:t>
            </a:r>
            <a:r>
              <a:rPr lang="en-US" sz="4800" b="1" spc="-22" dirty="0">
                <a:solidFill>
                  <a:srgbClr val="464653"/>
                </a:solidFill>
                <a:latin typeface="Avenir Next" panose="020B0503020202020204" pitchFamily="34" charset="0"/>
                <a:ea typeface="Roboto Medium" panose="02000000000000000000" pitchFamily="2" charset="0"/>
                <a:cs typeface="Gill Sans MT"/>
              </a:rPr>
              <a:t> </a:t>
            </a:r>
            <a:r>
              <a:rPr lang="en-US" sz="4800" b="1" spc="-4" dirty="0">
                <a:solidFill>
                  <a:srgbClr val="464653"/>
                </a:solidFill>
                <a:latin typeface="Avenir Next" panose="020B0503020202020204" pitchFamily="34" charset="0"/>
                <a:ea typeface="Roboto Medium" panose="02000000000000000000" pitchFamily="2" charset="0"/>
                <a:cs typeface="Gill Sans MT"/>
              </a:rPr>
              <a:t>trustworthiness</a:t>
            </a:r>
            <a:endParaRPr lang="en-US" sz="4800" b="1" dirty="0">
              <a:latin typeface="Avenir Next" panose="020B0503020202020204" pitchFamily="34" charset="0"/>
              <a:ea typeface="Roboto Medium" panose="02000000000000000000" pitchFamily="2" charset="0"/>
              <a:cs typeface="Gill Sans MT"/>
            </a:endParaRPr>
          </a:p>
          <a:p>
            <a:pPr marL="818073" indent="-403433">
              <a:lnSpc>
                <a:spcPct val="110000"/>
              </a:lnSpc>
              <a:spcBef>
                <a:spcPts val="476"/>
              </a:spcBef>
              <a:buClr>
                <a:srgbClr val="9FB8CD"/>
              </a:buClr>
              <a:buSzPct val="76086"/>
              <a:buAutoNum type="arabicPeriod"/>
              <a:tabLst>
                <a:tab pos="817513" algn="l"/>
                <a:tab pos="818073" algn="l"/>
              </a:tabLst>
            </a:pPr>
            <a:r>
              <a:rPr lang="en-US" sz="4800" spc="-49" dirty="0">
                <a:solidFill>
                  <a:srgbClr val="464653"/>
                </a:solidFill>
                <a:latin typeface="Avenir Next" panose="020B0503020202020204" pitchFamily="34" charset="0"/>
                <a:ea typeface="Roboto Medium" panose="02000000000000000000" pitchFamily="2" charset="0"/>
                <a:cs typeface="Gill Sans MT"/>
              </a:rPr>
              <a:t>Weak </a:t>
            </a:r>
            <a:r>
              <a:rPr lang="en-US" sz="4800" dirty="0">
                <a:solidFill>
                  <a:srgbClr val="464653"/>
                </a:solidFill>
                <a:latin typeface="Avenir Next" panose="020B0503020202020204" pitchFamily="34" charset="0"/>
                <a:ea typeface="Roboto Medium" panose="02000000000000000000" pitchFamily="2" charset="0"/>
                <a:cs typeface="Gill Sans MT"/>
              </a:rPr>
              <a:t>ciphers and</a:t>
            </a:r>
            <a:r>
              <a:rPr lang="en-US" sz="4800" spc="-22" dirty="0">
                <a:solidFill>
                  <a:srgbClr val="464653"/>
                </a:solidFill>
                <a:latin typeface="Avenir Next" panose="020B0503020202020204" pitchFamily="34" charset="0"/>
                <a:ea typeface="Roboto Medium" panose="02000000000000000000" pitchFamily="2" charset="0"/>
                <a:cs typeface="Gill Sans MT"/>
              </a:rPr>
              <a:t> </a:t>
            </a:r>
            <a:r>
              <a:rPr lang="en-US" sz="4800" spc="-26" dirty="0">
                <a:solidFill>
                  <a:srgbClr val="464653"/>
                </a:solidFill>
                <a:latin typeface="Avenir Next" panose="020B0503020202020204" pitchFamily="34" charset="0"/>
                <a:ea typeface="Roboto Medium" panose="02000000000000000000" pitchFamily="2" charset="0"/>
                <a:cs typeface="Gill Sans MT"/>
              </a:rPr>
              <a:t>keys</a:t>
            </a:r>
            <a:endParaRPr lang="en-US" sz="4800" dirty="0">
              <a:latin typeface="Avenir Next" panose="020B0503020202020204" pitchFamily="34" charset="0"/>
              <a:ea typeface="Roboto Medium" panose="02000000000000000000" pitchFamily="2" charset="0"/>
              <a:cs typeface="Gill Sans MT"/>
            </a:endParaRPr>
          </a:p>
          <a:p>
            <a:pPr marL="818073" indent="-403433">
              <a:lnSpc>
                <a:spcPct val="110000"/>
              </a:lnSpc>
              <a:spcBef>
                <a:spcPts val="476"/>
              </a:spcBef>
              <a:buClr>
                <a:srgbClr val="9FB8CD"/>
              </a:buClr>
              <a:buSzPct val="76086"/>
              <a:buAutoNum type="arabicPeriod"/>
              <a:tabLst>
                <a:tab pos="817513" algn="l"/>
                <a:tab pos="818073" algn="l"/>
              </a:tabLst>
            </a:pPr>
            <a:r>
              <a:rPr lang="en-US" sz="4800" spc="-9" dirty="0">
                <a:solidFill>
                  <a:srgbClr val="464653"/>
                </a:solidFill>
                <a:latin typeface="Avenir Next" panose="020B0503020202020204" pitchFamily="34" charset="0"/>
                <a:ea typeface="Roboto Medium" panose="02000000000000000000" pitchFamily="2" charset="0"/>
                <a:cs typeface="Gill Sans MT"/>
              </a:rPr>
              <a:t>Protocol</a:t>
            </a:r>
            <a:r>
              <a:rPr lang="en-US" sz="4800" spc="-75" dirty="0">
                <a:solidFill>
                  <a:srgbClr val="464653"/>
                </a:solidFill>
                <a:latin typeface="Avenir Next" panose="020B0503020202020204" pitchFamily="34" charset="0"/>
                <a:ea typeface="Roboto Medium" panose="02000000000000000000" pitchFamily="2" charset="0"/>
                <a:cs typeface="Gill Sans MT"/>
              </a:rPr>
              <a:t> </a:t>
            </a:r>
            <a:r>
              <a:rPr lang="en-US" sz="4800" dirty="0">
                <a:solidFill>
                  <a:srgbClr val="464653"/>
                </a:solidFill>
                <a:latin typeface="Avenir Next" panose="020B0503020202020204" pitchFamily="34" charset="0"/>
                <a:ea typeface="Roboto Medium" panose="02000000000000000000" pitchFamily="2" charset="0"/>
                <a:cs typeface="Gill Sans MT"/>
              </a:rPr>
              <a:t>attacks</a:t>
            </a:r>
            <a:endParaRPr lang="en-US" sz="4800" dirty="0">
              <a:latin typeface="Avenir Next" panose="020B0503020202020204" pitchFamily="34" charset="0"/>
              <a:ea typeface="Roboto Medium" panose="02000000000000000000" pitchFamily="2" charset="0"/>
              <a:cs typeface="Gill Sans MT"/>
            </a:endParaRPr>
          </a:p>
          <a:p>
            <a:pPr marL="818073" indent="-403433">
              <a:lnSpc>
                <a:spcPct val="110000"/>
              </a:lnSpc>
              <a:spcBef>
                <a:spcPts val="388"/>
              </a:spcBef>
              <a:buClr>
                <a:srgbClr val="9FB8CD"/>
              </a:buClr>
              <a:buSzPct val="76086"/>
              <a:buAutoNum type="arabicPeriod"/>
              <a:tabLst>
                <a:tab pos="817513" algn="l"/>
                <a:tab pos="818073" algn="l"/>
              </a:tabLst>
            </a:pPr>
            <a:r>
              <a:rPr lang="en-US" sz="4800" spc="-4" dirty="0">
                <a:solidFill>
                  <a:srgbClr val="464653"/>
                </a:solidFill>
                <a:latin typeface="Avenir Next" panose="020B0503020202020204" pitchFamily="34" charset="0"/>
                <a:ea typeface="Roboto Medium" panose="02000000000000000000" pitchFamily="2" charset="0"/>
                <a:cs typeface="Gill Sans MT"/>
              </a:rPr>
              <a:t>Man-in-the-middle</a:t>
            </a:r>
            <a:r>
              <a:rPr lang="en-US" sz="4800" spc="-35" dirty="0">
                <a:solidFill>
                  <a:srgbClr val="464653"/>
                </a:solidFill>
                <a:latin typeface="Avenir Next" panose="020B0503020202020204" pitchFamily="34" charset="0"/>
                <a:ea typeface="Roboto Medium" panose="02000000000000000000" pitchFamily="2" charset="0"/>
                <a:cs typeface="Gill Sans MT"/>
              </a:rPr>
              <a:t> </a:t>
            </a:r>
            <a:r>
              <a:rPr lang="en-US" sz="4800" dirty="0">
                <a:solidFill>
                  <a:srgbClr val="464653"/>
                </a:solidFill>
                <a:latin typeface="Avenir Next" panose="020B0503020202020204" pitchFamily="34" charset="0"/>
                <a:ea typeface="Roboto Medium" panose="02000000000000000000" pitchFamily="2" charset="0"/>
                <a:cs typeface="Gill Sans MT"/>
              </a:rPr>
              <a:t>attacks</a:t>
            </a:r>
            <a:endParaRPr lang="en-US" sz="4800" dirty="0">
              <a:latin typeface="Avenir Next" panose="020B0503020202020204" pitchFamily="34" charset="0"/>
              <a:ea typeface="Roboto Medium" panose="02000000000000000000" pitchFamily="2" charset="0"/>
              <a:cs typeface="Gill Sans MT"/>
            </a:endParaRPr>
          </a:p>
          <a:p>
            <a:pPr marL="818073" indent="-403433">
              <a:lnSpc>
                <a:spcPct val="110000"/>
              </a:lnSpc>
              <a:spcBef>
                <a:spcPts val="476"/>
              </a:spcBef>
              <a:buClr>
                <a:srgbClr val="9FB8CD"/>
              </a:buClr>
              <a:buSzPct val="76086"/>
              <a:buAutoNum type="arabicPeriod"/>
              <a:tabLst>
                <a:tab pos="817513" algn="l"/>
                <a:tab pos="818073" algn="l"/>
              </a:tabLst>
            </a:pPr>
            <a:r>
              <a:rPr lang="en-US" sz="4800" spc="-9" dirty="0">
                <a:solidFill>
                  <a:srgbClr val="464653"/>
                </a:solidFill>
                <a:latin typeface="Avenir Next" panose="020B0503020202020204" pitchFamily="34" charset="0"/>
                <a:ea typeface="Roboto Medium" panose="02000000000000000000" pitchFamily="2" charset="0"/>
                <a:cs typeface="Gill Sans MT"/>
              </a:rPr>
              <a:t>Secret </a:t>
            </a:r>
            <a:r>
              <a:rPr lang="en-US" sz="4800" spc="-31" dirty="0">
                <a:solidFill>
                  <a:srgbClr val="464653"/>
                </a:solidFill>
                <a:latin typeface="Avenir Next" panose="020B0503020202020204" pitchFamily="34" charset="0"/>
                <a:ea typeface="Roboto Medium" panose="02000000000000000000" pitchFamily="2" charset="0"/>
                <a:cs typeface="Gill Sans MT"/>
              </a:rPr>
              <a:t>key</a:t>
            </a:r>
            <a:r>
              <a:rPr lang="en-US" sz="4800" spc="-35" dirty="0">
                <a:solidFill>
                  <a:srgbClr val="464653"/>
                </a:solidFill>
                <a:latin typeface="Avenir Next" panose="020B0503020202020204" pitchFamily="34" charset="0"/>
                <a:ea typeface="Roboto Medium" panose="02000000000000000000" pitchFamily="2" charset="0"/>
                <a:cs typeface="Gill Sans MT"/>
              </a:rPr>
              <a:t> </a:t>
            </a:r>
            <a:r>
              <a:rPr lang="en-US" sz="4800" spc="-9" dirty="0">
                <a:solidFill>
                  <a:srgbClr val="464653"/>
                </a:solidFill>
                <a:latin typeface="Avenir Next" panose="020B0503020202020204" pitchFamily="34" charset="0"/>
                <a:ea typeface="Roboto Medium" panose="02000000000000000000" pitchFamily="2" charset="0"/>
                <a:cs typeface="Gill Sans MT"/>
              </a:rPr>
              <a:t>compromise</a:t>
            </a:r>
            <a:endParaRPr lang="en-US" sz="4800" dirty="0">
              <a:latin typeface="Avenir Next" panose="020B0503020202020204" pitchFamily="34" charset="0"/>
              <a:ea typeface="Roboto Medium" panose="02000000000000000000" pitchFamily="2" charset="0"/>
              <a:cs typeface="Gill Sans MT"/>
            </a:endParaRPr>
          </a:p>
          <a:p>
            <a:pPr marL="818073" indent="-403433">
              <a:lnSpc>
                <a:spcPct val="110000"/>
              </a:lnSpc>
              <a:spcBef>
                <a:spcPts val="388"/>
              </a:spcBef>
              <a:buClr>
                <a:srgbClr val="9FB8CD"/>
              </a:buClr>
              <a:buSzPct val="76086"/>
              <a:buAutoNum type="arabicPeriod"/>
              <a:tabLst>
                <a:tab pos="817513" algn="l"/>
                <a:tab pos="818073" algn="l"/>
              </a:tabLst>
            </a:pPr>
            <a:r>
              <a:rPr lang="en-US" sz="4800" dirty="0">
                <a:solidFill>
                  <a:srgbClr val="464653"/>
                </a:solidFill>
                <a:latin typeface="Avenir Next" panose="020B0503020202020204" pitchFamily="34" charset="0"/>
                <a:ea typeface="Roboto Medium" panose="02000000000000000000" pitchFamily="2" charset="0"/>
                <a:cs typeface="Gill Sans MT"/>
              </a:rPr>
              <a:t>Implementation</a:t>
            </a:r>
            <a:r>
              <a:rPr lang="en-US" sz="4800" spc="-88" dirty="0">
                <a:solidFill>
                  <a:srgbClr val="464653"/>
                </a:solidFill>
                <a:latin typeface="Avenir Next" panose="020B0503020202020204" pitchFamily="34" charset="0"/>
                <a:ea typeface="Roboto Medium" panose="02000000000000000000" pitchFamily="2" charset="0"/>
                <a:cs typeface="Gill Sans MT"/>
              </a:rPr>
              <a:t> </a:t>
            </a:r>
            <a:r>
              <a:rPr lang="en-US" sz="4800" dirty="0">
                <a:solidFill>
                  <a:srgbClr val="464653"/>
                </a:solidFill>
                <a:latin typeface="Avenir Next" panose="020B0503020202020204" pitchFamily="34" charset="0"/>
                <a:ea typeface="Roboto Medium" panose="02000000000000000000" pitchFamily="2" charset="0"/>
                <a:cs typeface="Gill Sans MT"/>
              </a:rPr>
              <a:t>bugs</a:t>
            </a:r>
            <a:endParaRPr lang="en-US" sz="4800" dirty="0">
              <a:latin typeface="Avenir Next" panose="020B0503020202020204" pitchFamily="34" charset="0"/>
              <a:ea typeface="Roboto Medium" panose="02000000000000000000" pitchFamily="2" charset="0"/>
              <a:cs typeface="Gill Sans MT"/>
            </a:endParaRPr>
          </a:p>
        </p:txBody>
      </p:sp>
    </p:spTree>
    <p:custDataLst>
      <p:tags r:id="rId1"/>
    </p:custDataLst>
    <p:extLst>
      <p:ext uri="{BB962C8B-B14F-4D97-AF65-F5344CB8AC3E}">
        <p14:creationId xmlns:p14="http://schemas.microsoft.com/office/powerpoint/2010/main" val="1326151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5600508"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Weak Cipher Suites</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1" y="927652"/>
            <a:ext cx="6096000" cy="593034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4483" indent="-235336">
              <a:lnSpc>
                <a:spcPct val="110000"/>
              </a:lnSpc>
            </a:pPr>
            <a:r>
              <a:rPr lang="en-US" sz="4800" dirty="0">
                <a:latin typeface="Avenir Next" panose="020B0503020202020204" pitchFamily="34" charset="0"/>
                <a:ea typeface="Roboto Medium" panose="02000000000000000000" pitchFamily="2" charset="0"/>
                <a:cs typeface="Gill Sans MT"/>
              </a:rPr>
              <a:t>TLS allows, for interoperability, the use of different cryptographic algorithms</a:t>
            </a:r>
          </a:p>
          <a:p>
            <a:pPr marL="246543" marR="4483" indent="-235336">
              <a:lnSpc>
                <a:spcPct val="110000"/>
              </a:lnSpc>
            </a:pPr>
            <a:r>
              <a:rPr lang="en-US" sz="4800" dirty="0">
                <a:latin typeface="Avenir Next" panose="020B0503020202020204" pitchFamily="34" charset="0"/>
                <a:ea typeface="Roboto Medium" panose="02000000000000000000" pitchFamily="2" charset="0"/>
                <a:cs typeface="Gill Sans MT"/>
              </a:rPr>
              <a:t> It allowed encryption and hash algorithms with known weaknesses (e.g., RC4, MD5)</a:t>
            </a:r>
          </a:p>
        </p:txBody>
      </p:sp>
      <p:graphicFrame>
        <p:nvGraphicFramePr>
          <p:cNvPr id="2" name="object 3">
            <a:extLst>
              <a:ext uri="{FF2B5EF4-FFF2-40B4-BE49-F238E27FC236}">
                <a16:creationId xmlns:a16="http://schemas.microsoft.com/office/drawing/2014/main" id="{A69F03D3-3854-90B4-5443-C0CC7F8ADB9D}"/>
              </a:ext>
            </a:extLst>
          </p:cNvPr>
          <p:cNvGraphicFramePr>
            <a:graphicFrameLocks noGrp="1"/>
          </p:cNvGraphicFramePr>
          <p:nvPr>
            <p:extLst>
              <p:ext uri="{D42A27DB-BD31-4B8C-83A1-F6EECF244321}">
                <p14:modId xmlns:p14="http://schemas.microsoft.com/office/powerpoint/2010/main" val="1887549790"/>
              </p:ext>
            </p:extLst>
          </p:nvPr>
        </p:nvGraphicFramePr>
        <p:xfrm>
          <a:off x="6294398" y="1676643"/>
          <a:ext cx="5765080" cy="4061547"/>
        </p:xfrm>
        <a:graphic>
          <a:graphicData uri="http://schemas.openxmlformats.org/drawingml/2006/table">
            <a:tbl>
              <a:tblPr firstRow="1" bandRow="1">
                <a:tableStyleId>{2D5ABB26-0587-4C30-8999-92F81FD0307C}</a:tableStyleId>
              </a:tblPr>
              <a:tblGrid>
                <a:gridCol w="2880565">
                  <a:extLst>
                    <a:ext uri="{9D8B030D-6E8A-4147-A177-3AD203B41FA5}">
                      <a16:colId xmlns:a16="http://schemas.microsoft.com/office/drawing/2014/main" val="20000"/>
                    </a:ext>
                  </a:extLst>
                </a:gridCol>
                <a:gridCol w="2884515">
                  <a:extLst>
                    <a:ext uri="{9D8B030D-6E8A-4147-A177-3AD203B41FA5}">
                      <a16:colId xmlns:a16="http://schemas.microsoft.com/office/drawing/2014/main" val="20001"/>
                    </a:ext>
                  </a:extLst>
                </a:gridCol>
              </a:tblGrid>
              <a:tr h="891559">
                <a:tc>
                  <a:txBody>
                    <a:bodyPr/>
                    <a:lstStyle/>
                    <a:p>
                      <a:pPr marL="61594" marR="386080" algn="ctr">
                        <a:lnSpc>
                          <a:spcPts val="2800"/>
                        </a:lnSpc>
                        <a:spcBef>
                          <a:spcPts val="470"/>
                        </a:spcBef>
                      </a:pPr>
                      <a:r>
                        <a:rPr sz="2100" b="1" dirty="0">
                          <a:solidFill>
                            <a:srgbClr val="FFFFFF"/>
                          </a:solidFill>
                          <a:latin typeface="Avenir Next" panose="020B0503020202020204" pitchFamily="34" charset="0"/>
                          <a:ea typeface="Roboto Black" panose="02000000000000000000" pitchFamily="2" charset="0"/>
                          <a:cs typeface="Gill Sans MT"/>
                        </a:rPr>
                        <a:t>Cipher  Suite</a:t>
                      </a:r>
                      <a:endParaRPr sz="2100" dirty="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590B2"/>
                    </a:solidFill>
                  </a:tcPr>
                </a:tc>
                <a:tc>
                  <a:txBody>
                    <a:bodyPr/>
                    <a:lstStyle/>
                    <a:p>
                      <a:pPr marL="61594" marR="513080" algn="ctr">
                        <a:lnSpc>
                          <a:spcPts val="2800"/>
                        </a:lnSpc>
                        <a:spcBef>
                          <a:spcPts val="470"/>
                        </a:spcBef>
                      </a:pPr>
                      <a:r>
                        <a:rPr sz="2100" b="1" spc="-20" dirty="0">
                          <a:solidFill>
                            <a:srgbClr val="FFFFFF"/>
                          </a:solidFill>
                          <a:latin typeface="Avenir Next" panose="020B0503020202020204" pitchFamily="34" charset="0"/>
                          <a:ea typeface="Roboto Black" panose="02000000000000000000" pitchFamily="2" charset="0"/>
                          <a:cs typeface="Gill Sans MT"/>
                        </a:rPr>
                        <a:t>Usage </a:t>
                      </a:r>
                      <a:r>
                        <a:rPr sz="2100" b="1" dirty="0">
                          <a:solidFill>
                            <a:srgbClr val="FFFFFF"/>
                          </a:solidFill>
                          <a:latin typeface="Avenir Next" panose="020B0503020202020204" pitchFamily="34" charset="0"/>
                          <a:ea typeface="Roboto Black" panose="02000000000000000000" pitchFamily="2" charset="0"/>
                          <a:cs typeface="Gill Sans MT"/>
                        </a:rPr>
                        <a:t>in</a:t>
                      </a:r>
                      <a:r>
                        <a:rPr sz="2100" b="1" spc="-50" dirty="0">
                          <a:solidFill>
                            <a:srgbClr val="FFFFFF"/>
                          </a:solidFill>
                          <a:latin typeface="Avenir Next" panose="020B0503020202020204" pitchFamily="34" charset="0"/>
                          <a:ea typeface="Roboto Black" panose="02000000000000000000" pitchFamily="2" charset="0"/>
                          <a:cs typeface="Gill Sans MT"/>
                        </a:rPr>
                        <a:t> </a:t>
                      </a:r>
                      <a:r>
                        <a:rPr sz="2100" b="1" spc="5" dirty="0">
                          <a:solidFill>
                            <a:srgbClr val="FFFFFF"/>
                          </a:solidFill>
                          <a:latin typeface="Avenir Next" panose="020B0503020202020204" pitchFamily="34" charset="0"/>
                          <a:ea typeface="Roboto Black" panose="02000000000000000000" pitchFamily="2" charset="0"/>
                          <a:cs typeface="Gill Sans MT"/>
                        </a:rPr>
                        <a:t>Certs  </a:t>
                      </a:r>
                      <a:r>
                        <a:rPr sz="2100" b="1" dirty="0">
                          <a:solidFill>
                            <a:srgbClr val="FFFFFF"/>
                          </a:solidFill>
                          <a:latin typeface="Avenir Next" panose="020B0503020202020204" pitchFamily="34" charset="0"/>
                          <a:ea typeface="Roboto Black" panose="02000000000000000000" pitchFamily="2" charset="0"/>
                          <a:cs typeface="Gill Sans MT"/>
                        </a:rPr>
                        <a:t>(as </a:t>
                      </a:r>
                      <a:r>
                        <a:rPr sz="2100" b="1" spc="-5" dirty="0">
                          <a:solidFill>
                            <a:srgbClr val="FFFFFF"/>
                          </a:solidFill>
                          <a:latin typeface="Avenir Next" panose="020B0503020202020204" pitchFamily="34" charset="0"/>
                          <a:ea typeface="Roboto Black" panose="02000000000000000000" pitchFamily="2" charset="0"/>
                          <a:cs typeface="Gill Sans MT"/>
                        </a:rPr>
                        <a:t>of</a:t>
                      </a:r>
                      <a:r>
                        <a:rPr sz="2100" b="1" spc="-100" dirty="0">
                          <a:solidFill>
                            <a:srgbClr val="FFFFFF"/>
                          </a:solidFill>
                          <a:latin typeface="Avenir Next" panose="020B0503020202020204" pitchFamily="34" charset="0"/>
                          <a:ea typeface="Roboto Black" panose="02000000000000000000" pitchFamily="2" charset="0"/>
                          <a:cs typeface="Gill Sans MT"/>
                        </a:rPr>
                        <a:t> </a:t>
                      </a:r>
                      <a:r>
                        <a:rPr sz="2100" b="1" dirty="0">
                          <a:solidFill>
                            <a:srgbClr val="FFFFFF"/>
                          </a:solidFill>
                          <a:latin typeface="Avenir Next" panose="020B0503020202020204" pitchFamily="34" charset="0"/>
                          <a:ea typeface="Roboto Black" panose="02000000000000000000" pitchFamily="2" charset="0"/>
                          <a:cs typeface="Gill Sans MT"/>
                        </a:rPr>
                        <a:t>2013)</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8590B2"/>
                    </a:solidFill>
                  </a:tcPr>
                </a:tc>
                <a:extLst>
                  <a:ext uri="{0D108BD9-81ED-4DB2-BD59-A6C34878D82A}">
                    <a16:rowId xmlns:a16="http://schemas.microsoft.com/office/drawing/2014/main" val="10000"/>
                  </a:ext>
                </a:extLst>
              </a:tr>
              <a:tr h="495311">
                <a:tc>
                  <a:txBody>
                    <a:bodyPr/>
                    <a:lstStyle/>
                    <a:p>
                      <a:pPr marL="61594" algn="ctr">
                        <a:lnSpc>
                          <a:spcPct val="100000"/>
                        </a:lnSpc>
                        <a:spcBef>
                          <a:spcPts val="209"/>
                        </a:spcBef>
                      </a:pPr>
                      <a:r>
                        <a:rPr sz="2100" spc="-5" dirty="0">
                          <a:latin typeface="Avenir Next" panose="020B0503020202020204" pitchFamily="34" charset="0"/>
                          <a:ea typeface="Roboto Medium" panose="02000000000000000000" pitchFamily="2" charset="0"/>
                          <a:cs typeface="Gill Sans MT"/>
                        </a:rPr>
                        <a:t>RC4-MD5</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tc>
                  <a:txBody>
                    <a:bodyPr/>
                    <a:lstStyle/>
                    <a:p>
                      <a:pPr marL="61594" algn="ctr">
                        <a:lnSpc>
                          <a:spcPct val="100000"/>
                        </a:lnSpc>
                        <a:spcBef>
                          <a:spcPts val="209"/>
                        </a:spcBef>
                      </a:pPr>
                      <a:r>
                        <a:rPr sz="2100" dirty="0">
                          <a:latin typeface="Avenir Next" panose="020B0503020202020204" pitchFamily="34" charset="0"/>
                          <a:ea typeface="Roboto Medium" panose="02000000000000000000" pitchFamily="2" charset="0"/>
                          <a:cs typeface="Gill Sans MT"/>
                        </a:rPr>
                        <a:t>2.8%</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DFE6"/>
                    </a:solidFill>
                  </a:tcPr>
                </a:tc>
                <a:extLst>
                  <a:ext uri="{0D108BD9-81ED-4DB2-BD59-A6C34878D82A}">
                    <a16:rowId xmlns:a16="http://schemas.microsoft.com/office/drawing/2014/main" val="10001"/>
                  </a:ext>
                </a:extLst>
              </a:tr>
              <a:tr h="891559">
                <a:tc>
                  <a:txBody>
                    <a:bodyPr/>
                    <a:lstStyle/>
                    <a:p>
                      <a:pPr marL="61594" marR="646430" algn="ctr">
                        <a:lnSpc>
                          <a:spcPts val="2800"/>
                        </a:lnSpc>
                        <a:spcBef>
                          <a:spcPts val="470"/>
                        </a:spcBef>
                      </a:pPr>
                      <a:r>
                        <a:rPr sz="2100" dirty="0">
                          <a:latin typeface="Avenir Next" panose="020B0503020202020204" pitchFamily="34" charset="0"/>
                          <a:ea typeface="Roboto Medium" panose="02000000000000000000" pitchFamily="2" charset="0"/>
                          <a:cs typeface="Gill Sans MT"/>
                        </a:rPr>
                        <a:t>RC4-  SHA1</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marL="61594" algn="ctr">
                        <a:lnSpc>
                          <a:spcPct val="100000"/>
                        </a:lnSpc>
                        <a:spcBef>
                          <a:spcPts val="309"/>
                        </a:spcBef>
                      </a:pPr>
                      <a:r>
                        <a:rPr sz="2100" dirty="0">
                          <a:latin typeface="Avenir Next" panose="020B0503020202020204" pitchFamily="34" charset="0"/>
                          <a:ea typeface="Roboto Medium" panose="02000000000000000000" pitchFamily="2" charset="0"/>
                          <a:cs typeface="Gill Sans MT"/>
                        </a:rPr>
                        <a:t>48.9%</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extLst>
                  <a:ext uri="{0D108BD9-81ED-4DB2-BD59-A6C34878D82A}">
                    <a16:rowId xmlns:a16="http://schemas.microsoft.com/office/drawing/2014/main" val="10002"/>
                  </a:ext>
                </a:extLst>
              </a:tr>
              <a:tr h="891559">
                <a:tc>
                  <a:txBody>
                    <a:bodyPr/>
                    <a:lstStyle/>
                    <a:p>
                      <a:pPr marL="61594" marR="313055" algn="ctr">
                        <a:lnSpc>
                          <a:spcPts val="2800"/>
                        </a:lnSpc>
                        <a:spcBef>
                          <a:spcPts val="470"/>
                        </a:spcBef>
                      </a:pPr>
                      <a:r>
                        <a:rPr sz="2100" dirty="0">
                          <a:latin typeface="Avenir Next" panose="020B0503020202020204" pitchFamily="34" charset="0"/>
                          <a:ea typeface="Roboto Medium" panose="02000000000000000000" pitchFamily="2" charset="0"/>
                          <a:cs typeface="Gill Sans MT"/>
                        </a:rPr>
                        <a:t>AES128-  SHA1</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tc>
                  <a:txBody>
                    <a:bodyPr/>
                    <a:lstStyle/>
                    <a:p>
                      <a:pPr marL="61594" algn="ctr">
                        <a:lnSpc>
                          <a:spcPct val="100000"/>
                        </a:lnSpc>
                        <a:spcBef>
                          <a:spcPts val="309"/>
                        </a:spcBef>
                      </a:pPr>
                      <a:r>
                        <a:rPr sz="2100" dirty="0">
                          <a:latin typeface="Avenir Next" panose="020B0503020202020204" pitchFamily="34" charset="0"/>
                          <a:ea typeface="Roboto Medium" panose="02000000000000000000" pitchFamily="2" charset="0"/>
                          <a:cs typeface="Gill Sans MT"/>
                        </a:rPr>
                        <a:t>1.2%</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DDFE6"/>
                    </a:solidFill>
                  </a:tcPr>
                </a:tc>
                <a:extLst>
                  <a:ext uri="{0D108BD9-81ED-4DB2-BD59-A6C34878D82A}">
                    <a16:rowId xmlns:a16="http://schemas.microsoft.com/office/drawing/2014/main" val="10003"/>
                  </a:ext>
                </a:extLst>
              </a:tr>
              <a:tr h="891559">
                <a:tc>
                  <a:txBody>
                    <a:bodyPr/>
                    <a:lstStyle/>
                    <a:p>
                      <a:pPr marL="61594" marR="313055" algn="ctr">
                        <a:lnSpc>
                          <a:spcPts val="2800"/>
                        </a:lnSpc>
                        <a:spcBef>
                          <a:spcPts val="470"/>
                        </a:spcBef>
                      </a:pPr>
                      <a:r>
                        <a:rPr sz="2100" dirty="0">
                          <a:latin typeface="Avenir Next" panose="020B0503020202020204" pitchFamily="34" charset="0"/>
                          <a:ea typeface="Roboto Medium" panose="02000000000000000000" pitchFamily="2" charset="0"/>
                          <a:cs typeface="Gill Sans MT"/>
                        </a:rPr>
                        <a:t>AES256-  SHA1</a:t>
                      </a:r>
                      <a:endParaRPr sz="2100">
                        <a:latin typeface="Avenir Next" panose="020B0503020202020204" pitchFamily="34" charset="0"/>
                        <a:ea typeface="Roboto Medium" panose="02000000000000000000" pitchFamily="2" charset="0"/>
                        <a:cs typeface="Gill Sans M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tc>
                  <a:txBody>
                    <a:bodyPr/>
                    <a:lstStyle/>
                    <a:p>
                      <a:pPr marL="61594" algn="ctr">
                        <a:lnSpc>
                          <a:spcPct val="100000"/>
                        </a:lnSpc>
                        <a:spcBef>
                          <a:spcPts val="309"/>
                        </a:spcBef>
                      </a:pPr>
                      <a:r>
                        <a:rPr sz="2100" dirty="0">
                          <a:latin typeface="Avenir Next" panose="020B0503020202020204" pitchFamily="34" charset="0"/>
                          <a:ea typeface="Roboto Medium" panose="02000000000000000000" pitchFamily="2" charset="0"/>
                          <a:cs typeface="Gill Sans MT"/>
                        </a:rPr>
                        <a:t>46.3%</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FF0F3"/>
                    </a:solid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926116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4262039"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Weak Keys</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3781" marR="252706" indent="-235336">
              <a:lnSpc>
                <a:spcPct val="120000"/>
              </a:lnSpc>
            </a:pPr>
            <a:r>
              <a:rPr lang="en-US" sz="4800" dirty="0">
                <a:latin typeface="Avenir Next" panose="020B0503020202020204" pitchFamily="34" charset="0"/>
              </a:rPr>
              <a:t>The </a:t>
            </a:r>
            <a:r>
              <a:rPr lang="en-US" sz="4800" spc="-9" dirty="0" err="1">
                <a:latin typeface="Avenir Next" panose="020B0503020202020204" pitchFamily="34" charset="0"/>
              </a:rPr>
              <a:t>ZMap</a:t>
            </a:r>
            <a:r>
              <a:rPr lang="en-US" sz="4800" spc="-9" dirty="0">
                <a:latin typeface="Avenir Next" panose="020B0503020202020204" pitchFamily="34" charset="0"/>
              </a:rPr>
              <a:t> </a:t>
            </a:r>
            <a:r>
              <a:rPr lang="en-US" sz="4800" dirty="0">
                <a:latin typeface="Avenir Next" panose="020B0503020202020204" pitchFamily="34" charset="0"/>
              </a:rPr>
              <a:t>team </a:t>
            </a:r>
            <a:r>
              <a:rPr lang="en-US" sz="4800" spc="-4" dirty="0">
                <a:latin typeface="Avenir Next" panose="020B0503020202020204" pitchFamily="34" charset="0"/>
              </a:rPr>
              <a:t>constantly </a:t>
            </a:r>
            <a:r>
              <a:rPr lang="en-US" sz="4800" dirty="0">
                <a:latin typeface="Avenir Next" panose="020B0503020202020204" pitchFamily="34" charset="0"/>
              </a:rPr>
              <a:t>collects all TLS</a:t>
            </a:r>
            <a:r>
              <a:rPr lang="en-US" sz="4800" spc="-304" dirty="0">
                <a:latin typeface="Avenir Next" panose="020B0503020202020204" pitchFamily="34" charset="0"/>
              </a:rPr>
              <a:t> </a:t>
            </a:r>
            <a:r>
              <a:rPr lang="en-US" sz="4800" dirty="0">
                <a:latin typeface="Avenir Next" panose="020B0503020202020204" pitchFamily="34" charset="0"/>
              </a:rPr>
              <a:t>certificates  visible in the IPv4 </a:t>
            </a:r>
            <a:r>
              <a:rPr lang="en-US" sz="4800" spc="-13" dirty="0">
                <a:latin typeface="Avenir Next" panose="020B0503020202020204" pitchFamily="34" charset="0"/>
              </a:rPr>
              <a:t>address</a:t>
            </a:r>
            <a:r>
              <a:rPr lang="en-US" sz="4800" spc="-75" dirty="0">
                <a:latin typeface="Avenir Next" panose="020B0503020202020204" pitchFamily="34" charset="0"/>
              </a:rPr>
              <a:t> </a:t>
            </a:r>
            <a:r>
              <a:rPr lang="en-US" sz="4800" dirty="0">
                <a:latin typeface="Avenir Next" panose="020B0503020202020204" pitchFamily="34" charset="0"/>
              </a:rPr>
              <a:t>space</a:t>
            </a:r>
          </a:p>
          <a:p>
            <a:pPr marL="770981" marR="252706" lvl="1" indent="-235336">
              <a:lnSpc>
                <a:spcPct val="120000"/>
              </a:lnSpc>
            </a:pPr>
            <a:r>
              <a:rPr lang="en-US" sz="4000" u="sng" spc="-9" dirty="0">
                <a:solidFill>
                  <a:srgbClr val="B292CA"/>
                </a:solidFill>
                <a:latin typeface="Avenir Next" panose="020B0503020202020204" pitchFamily="34" charset="0"/>
                <a:hlinkClick r:id="rId4"/>
              </a:rPr>
              <a:t>http://zmap.io/ </a:t>
            </a:r>
            <a:r>
              <a:rPr lang="en-US" sz="4000" dirty="0">
                <a:solidFill>
                  <a:srgbClr val="464653"/>
                </a:solidFill>
                <a:latin typeface="Avenir Next" panose="020B0503020202020204" pitchFamily="34" charset="0"/>
              </a:rPr>
              <a:t>(data at</a:t>
            </a:r>
            <a:r>
              <a:rPr lang="en-US" sz="4000" spc="26" dirty="0">
                <a:solidFill>
                  <a:srgbClr val="464653"/>
                </a:solidFill>
                <a:latin typeface="Avenir Next" panose="020B0503020202020204" pitchFamily="34" charset="0"/>
              </a:rPr>
              <a:t> </a:t>
            </a:r>
            <a:r>
              <a:rPr lang="en-US" sz="4000" u="sng" spc="-4" dirty="0">
                <a:solidFill>
                  <a:srgbClr val="B292CA"/>
                </a:solidFill>
                <a:latin typeface="Avenir Next" panose="020B0503020202020204" pitchFamily="34" charset="0"/>
                <a:hlinkClick r:id="rId5"/>
              </a:rPr>
              <a:t>https://scans.io/</a:t>
            </a:r>
            <a:r>
              <a:rPr lang="en-US" sz="4000" spc="-4" dirty="0">
                <a:solidFill>
                  <a:srgbClr val="464653"/>
                </a:solidFill>
                <a:latin typeface="Avenir Next" panose="020B0503020202020204" pitchFamily="34" charset="0"/>
              </a:rPr>
              <a:t>)</a:t>
            </a:r>
          </a:p>
          <a:p>
            <a:pPr marL="770981" marR="252706" lvl="1" indent="-235336">
              <a:lnSpc>
                <a:spcPct val="120000"/>
              </a:lnSpc>
            </a:pPr>
            <a:r>
              <a:rPr lang="en-US" sz="4400" spc="-26" dirty="0">
                <a:solidFill>
                  <a:srgbClr val="464653"/>
                </a:solidFill>
                <a:latin typeface="Avenir Next" panose="020B0503020202020204" pitchFamily="34" charset="0"/>
              </a:rPr>
              <a:t>Currently, </a:t>
            </a:r>
            <a:r>
              <a:rPr lang="en-US" sz="4400" spc="-9" dirty="0">
                <a:solidFill>
                  <a:srgbClr val="464653"/>
                </a:solidFill>
                <a:latin typeface="Avenir Next" panose="020B0503020202020204" pitchFamily="34" charset="0"/>
              </a:rPr>
              <a:t>around </a:t>
            </a:r>
            <a:r>
              <a:rPr lang="en-US" sz="4400" dirty="0">
                <a:solidFill>
                  <a:srgbClr val="464653"/>
                </a:solidFill>
                <a:latin typeface="Avenir Next" panose="020B0503020202020204" pitchFamily="34" charset="0"/>
              </a:rPr>
              <a:t>8.3 million </a:t>
            </a:r>
            <a:r>
              <a:rPr lang="en-US" sz="4400" spc="4" dirty="0">
                <a:solidFill>
                  <a:srgbClr val="464653"/>
                </a:solidFill>
                <a:latin typeface="Avenir Next" panose="020B0503020202020204" pitchFamily="34" charset="0"/>
              </a:rPr>
              <a:t>certs </a:t>
            </a:r>
            <a:r>
              <a:rPr lang="en-US" sz="4400" dirty="0">
                <a:solidFill>
                  <a:srgbClr val="464653"/>
                </a:solidFill>
                <a:latin typeface="Avenir Next" panose="020B0503020202020204" pitchFamily="34" charset="0"/>
              </a:rPr>
              <a:t>being served on the  Internet</a:t>
            </a:r>
            <a:endParaRPr lang="en-US" sz="4400" dirty="0">
              <a:latin typeface="Avenir Next" panose="020B0503020202020204" pitchFamily="34" charset="0"/>
              <a:cs typeface="Times New Roman"/>
            </a:endParaRPr>
          </a:p>
          <a:p>
            <a:pPr marL="78445">
              <a:lnSpc>
                <a:spcPct val="120000"/>
              </a:lnSpc>
              <a:spcBef>
                <a:spcPts val="494"/>
              </a:spcBef>
            </a:pPr>
            <a:r>
              <a:rPr lang="en-US" sz="4800" b="1" dirty="0">
                <a:latin typeface="Avenir Next" panose="020B0503020202020204" pitchFamily="34" charset="0"/>
              </a:rPr>
              <a:t>Observed </a:t>
            </a:r>
            <a:r>
              <a:rPr lang="en-US" sz="4800" b="1" spc="-9" dirty="0">
                <a:latin typeface="Avenir Next" panose="020B0503020202020204" pitchFamily="34" charset="0"/>
              </a:rPr>
              <a:t>repeated </a:t>
            </a:r>
            <a:r>
              <a:rPr lang="en-US" sz="4800" b="1" spc="-26" dirty="0">
                <a:latin typeface="Avenir Next" panose="020B0503020202020204" pitchFamily="34" charset="0"/>
              </a:rPr>
              <a:t>keys </a:t>
            </a:r>
            <a:r>
              <a:rPr lang="en-US" sz="4800" b="1" spc="-4" dirty="0">
                <a:latin typeface="Avenir Next" panose="020B0503020202020204" pitchFamily="34" charset="0"/>
              </a:rPr>
              <a:t>in-the-wild </a:t>
            </a:r>
            <a:r>
              <a:rPr lang="en-US" sz="4800" b="1" dirty="0">
                <a:latin typeface="Avenir Next" panose="020B0503020202020204" pitchFamily="34" charset="0"/>
              </a:rPr>
              <a:t>due to </a:t>
            </a:r>
            <a:r>
              <a:rPr lang="en-US" sz="4800" b="1" spc="-9" dirty="0">
                <a:latin typeface="Avenir Next" panose="020B0503020202020204" pitchFamily="34" charset="0"/>
              </a:rPr>
              <a:t>low</a:t>
            </a:r>
            <a:r>
              <a:rPr lang="en-US" sz="4800" b="1" spc="40" dirty="0">
                <a:latin typeface="Avenir Next" panose="020B0503020202020204" pitchFamily="34" charset="0"/>
              </a:rPr>
              <a:t> </a:t>
            </a:r>
            <a:r>
              <a:rPr lang="en-US" sz="4800" b="1" spc="-22" dirty="0">
                <a:latin typeface="Avenir Next" panose="020B0503020202020204" pitchFamily="34" charset="0"/>
              </a:rPr>
              <a:t>entropy</a:t>
            </a:r>
          </a:p>
          <a:p>
            <a:pPr marL="535645" lvl="1">
              <a:lnSpc>
                <a:spcPct val="120000"/>
              </a:lnSpc>
              <a:spcBef>
                <a:spcPts val="494"/>
              </a:spcBef>
            </a:pPr>
            <a:r>
              <a:rPr lang="en-US" sz="4000" dirty="0">
                <a:solidFill>
                  <a:srgbClr val="464653"/>
                </a:solidFill>
                <a:latin typeface="Avenir Next" panose="020B0503020202020204" pitchFamily="34" charset="0"/>
              </a:rPr>
              <a:t>Some systems auto-generate TLS </a:t>
            </a:r>
            <a:r>
              <a:rPr lang="en-US" sz="4000" spc="-26" dirty="0">
                <a:solidFill>
                  <a:srgbClr val="464653"/>
                </a:solidFill>
                <a:latin typeface="Avenir Next" panose="020B0503020202020204" pitchFamily="34" charset="0"/>
              </a:rPr>
              <a:t>keys </a:t>
            </a:r>
            <a:r>
              <a:rPr lang="en-US" sz="4000" dirty="0">
                <a:solidFill>
                  <a:srgbClr val="464653"/>
                </a:solidFill>
                <a:latin typeface="Avenir Next" panose="020B0503020202020204" pitchFamily="34" charset="0"/>
              </a:rPr>
              <a:t>at</a:t>
            </a:r>
            <a:r>
              <a:rPr lang="en-US" sz="4000" spc="-291" dirty="0">
                <a:solidFill>
                  <a:srgbClr val="464653"/>
                </a:solidFill>
                <a:latin typeface="Avenir Next" panose="020B0503020202020204" pitchFamily="34" charset="0"/>
              </a:rPr>
              <a:t> </a:t>
            </a:r>
            <a:r>
              <a:rPr lang="en-US" sz="4000" dirty="0">
                <a:solidFill>
                  <a:srgbClr val="464653"/>
                </a:solidFill>
                <a:latin typeface="Avenir Next" panose="020B0503020202020204" pitchFamily="34" charset="0"/>
              </a:rPr>
              <a:t>boot</a:t>
            </a:r>
            <a:endParaRPr lang="en-US" sz="4000" dirty="0">
              <a:latin typeface="Avenir Next" panose="020B0503020202020204" pitchFamily="34" charset="0"/>
              <a:cs typeface="Times New Roman"/>
            </a:endParaRPr>
          </a:p>
          <a:p>
            <a:pPr marL="535645" lvl="1">
              <a:lnSpc>
                <a:spcPct val="120000"/>
              </a:lnSpc>
              <a:spcBef>
                <a:spcPts val="494"/>
              </a:spcBef>
            </a:pPr>
            <a:r>
              <a:rPr lang="en-US" sz="4400" spc="-9" dirty="0">
                <a:solidFill>
                  <a:srgbClr val="464653"/>
                </a:solidFill>
                <a:latin typeface="Avenir Next" panose="020B0503020202020204" pitchFamily="34" charset="0"/>
              </a:rPr>
              <a:t>Low </a:t>
            </a:r>
            <a:r>
              <a:rPr lang="en-US" sz="4400" dirty="0">
                <a:solidFill>
                  <a:srgbClr val="464653"/>
                </a:solidFill>
                <a:latin typeface="Avenir Next" panose="020B0503020202020204" pitchFamily="34" charset="0"/>
              </a:rPr>
              <a:t>boot-time </a:t>
            </a:r>
            <a:r>
              <a:rPr lang="en-US" sz="4400" spc="-22" dirty="0">
                <a:solidFill>
                  <a:srgbClr val="464653"/>
                </a:solidFill>
                <a:latin typeface="Avenir Next" panose="020B0503020202020204" pitchFamily="34" charset="0"/>
              </a:rPr>
              <a:t>entropy </a:t>
            </a:r>
            <a:r>
              <a:rPr lang="en-US" sz="4400" spc="-9" dirty="0">
                <a:solidFill>
                  <a:srgbClr val="464653"/>
                </a:solidFill>
                <a:latin typeface="Avenir Next" panose="020B0503020202020204" pitchFamily="34" charset="0"/>
              </a:rPr>
              <a:t>results </a:t>
            </a:r>
            <a:r>
              <a:rPr lang="en-US" sz="4400" dirty="0">
                <a:solidFill>
                  <a:srgbClr val="464653"/>
                </a:solidFill>
                <a:latin typeface="Avenir Next" panose="020B0503020202020204" pitchFamily="34" charset="0"/>
              </a:rPr>
              <a:t>in duplicate</a:t>
            </a:r>
            <a:r>
              <a:rPr lang="en-US" sz="4400" spc="13" dirty="0">
                <a:solidFill>
                  <a:srgbClr val="464653"/>
                </a:solidFill>
                <a:latin typeface="Avenir Next" panose="020B0503020202020204" pitchFamily="34" charset="0"/>
              </a:rPr>
              <a:t> </a:t>
            </a:r>
            <a:r>
              <a:rPr lang="en-US" sz="4400" spc="-26" dirty="0">
                <a:solidFill>
                  <a:srgbClr val="464653"/>
                </a:solidFill>
                <a:latin typeface="Avenir Next" panose="020B0503020202020204" pitchFamily="34" charset="0"/>
              </a:rPr>
              <a:t>keys</a:t>
            </a:r>
            <a:endParaRPr lang="en-US" sz="4400" dirty="0">
              <a:latin typeface="Avenir Next" panose="020B0503020202020204" pitchFamily="34" charset="0"/>
              <a:cs typeface="Times New Roman"/>
            </a:endParaRPr>
          </a:p>
          <a:p>
            <a:pPr marL="78445">
              <a:lnSpc>
                <a:spcPct val="120000"/>
              </a:lnSpc>
              <a:spcBef>
                <a:spcPts val="476"/>
              </a:spcBef>
            </a:pPr>
            <a:r>
              <a:rPr lang="en-US" sz="4800" b="1" dirty="0">
                <a:latin typeface="Avenir Next" panose="020B0503020202020204" pitchFamily="34" charset="0"/>
              </a:rPr>
              <a:t>Default TLS </a:t>
            </a:r>
            <a:r>
              <a:rPr lang="en-US" sz="4800" b="1" spc="-26" dirty="0">
                <a:latin typeface="Avenir Next" panose="020B0503020202020204" pitchFamily="34" charset="0"/>
              </a:rPr>
              <a:t>keys </a:t>
            </a:r>
            <a:r>
              <a:rPr lang="en-US" sz="4800" b="1" dirty="0">
                <a:latin typeface="Avenir Next" panose="020B0503020202020204" pitchFamily="34" charset="0"/>
              </a:rPr>
              <a:t>often shipped in </a:t>
            </a:r>
            <a:r>
              <a:rPr lang="en-US" sz="4800" b="1" spc="-9" dirty="0">
                <a:latin typeface="Avenir Next" panose="020B0503020202020204" pitchFamily="34" charset="0"/>
              </a:rPr>
              <a:t>network</a:t>
            </a:r>
            <a:r>
              <a:rPr lang="en-US" sz="4800" b="1" spc="-322" dirty="0">
                <a:latin typeface="Avenir Next" panose="020B0503020202020204" pitchFamily="34" charset="0"/>
              </a:rPr>
              <a:t> </a:t>
            </a:r>
            <a:r>
              <a:rPr lang="en-US" sz="4800" b="1" spc="-9" dirty="0">
                <a:latin typeface="Avenir Next" panose="020B0503020202020204" pitchFamily="34" charset="0"/>
              </a:rPr>
              <a:t>devices</a:t>
            </a:r>
            <a:endParaRPr lang="en-US" sz="3600" b="1" dirty="0">
              <a:latin typeface="Avenir Next" panose="020B0503020202020204" pitchFamily="34" charset="0"/>
              <a:cs typeface="Times New Roman"/>
            </a:endParaRPr>
          </a:p>
          <a:p>
            <a:pPr marL="535645" lvl="1">
              <a:lnSpc>
                <a:spcPct val="120000"/>
              </a:lnSpc>
              <a:spcBef>
                <a:spcPts val="476"/>
              </a:spcBef>
            </a:pPr>
            <a:r>
              <a:rPr lang="en-US" sz="4000" spc="-9" dirty="0">
                <a:solidFill>
                  <a:srgbClr val="464653"/>
                </a:solidFill>
                <a:latin typeface="Avenir Next" panose="020B0503020202020204" pitchFamily="34" charset="0"/>
              </a:rPr>
              <a:t>Attackers </a:t>
            </a:r>
            <a:r>
              <a:rPr lang="en-US" sz="4000" dirty="0">
                <a:solidFill>
                  <a:srgbClr val="464653"/>
                </a:solidFill>
                <a:latin typeface="Avenir Next" panose="020B0503020202020204" pitchFamily="34" charset="0"/>
              </a:rPr>
              <a:t>can extract private </a:t>
            </a:r>
            <a:r>
              <a:rPr lang="en-US" sz="4000" spc="-26" dirty="0">
                <a:solidFill>
                  <a:srgbClr val="464653"/>
                </a:solidFill>
                <a:latin typeface="Avenir Next" panose="020B0503020202020204" pitchFamily="34" charset="0"/>
              </a:rPr>
              <a:t>keys </a:t>
            </a:r>
            <a:r>
              <a:rPr lang="en-US" sz="4000" spc="-13" dirty="0">
                <a:solidFill>
                  <a:srgbClr val="464653"/>
                </a:solidFill>
                <a:latin typeface="Avenir Next" panose="020B0503020202020204" pitchFamily="34" charset="0"/>
              </a:rPr>
              <a:t>from</a:t>
            </a:r>
            <a:r>
              <a:rPr lang="en-US" sz="4000" spc="13" dirty="0">
                <a:solidFill>
                  <a:srgbClr val="464653"/>
                </a:solidFill>
                <a:latin typeface="Avenir Next" panose="020B0503020202020204" pitchFamily="34" charset="0"/>
              </a:rPr>
              <a:t> </a:t>
            </a:r>
            <a:r>
              <a:rPr lang="en-US" sz="4000" spc="-9" dirty="0">
                <a:solidFill>
                  <a:srgbClr val="464653"/>
                </a:solidFill>
                <a:latin typeface="Avenir Next" panose="020B0503020202020204" pitchFamily="34" charset="0"/>
              </a:rPr>
              <a:t>firmware!</a:t>
            </a:r>
            <a:endParaRPr lang="en-US" sz="40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1008170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4262039"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Protocol Attacks</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20000"/>
              </a:lnSpc>
            </a:pPr>
            <a:r>
              <a:rPr lang="en-US" sz="4800" b="1" spc="-4" dirty="0">
                <a:latin typeface="Avenir Next" panose="020B0503020202020204" pitchFamily="34" charset="0"/>
              </a:rPr>
              <a:t>Renegotiation</a:t>
            </a:r>
            <a:r>
              <a:rPr lang="en-US" sz="4800" b="1" spc="-26" dirty="0">
                <a:latin typeface="Avenir Next" panose="020B0503020202020204" pitchFamily="34" charset="0"/>
              </a:rPr>
              <a:t> </a:t>
            </a:r>
            <a:r>
              <a:rPr lang="en-US" sz="4800" b="1" dirty="0">
                <a:latin typeface="Avenir Next" panose="020B0503020202020204" pitchFamily="34" charset="0"/>
              </a:rPr>
              <a:t>attacks</a:t>
            </a:r>
            <a:endParaRPr lang="en-US" sz="4000" b="1" dirty="0">
              <a:latin typeface="Avenir Next" panose="020B0503020202020204" pitchFamily="34" charset="0"/>
              <a:cs typeface="Times New Roman"/>
            </a:endParaRPr>
          </a:p>
          <a:p>
            <a:pPr marL="560324" marR="271757" indent="-246543">
              <a:lnSpc>
                <a:spcPct val="120000"/>
              </a:lnSpc>
              <a:spcBef>
                <a:spcPts val="405"/>
              </a:spcBef>
            </a:pPr>
            <a:r>
              <a:rPr lang="en-US" sz="4800" spc="-4" dirty="0">
                <a:solidFill>
                  <a:srgbClr val="464653"/>
                </a:solidFill>
                <a:latin typeface="Avenir Next" panose="020B0503020202020204" pitchFamily="34" charset="0"/>
              </a:rPr>
              <a:t>Allows </a:t>
            </a:r>
            <a:r>
              <a:rPr lang="en-US" sz="4800" spc="-9" dirty="0">
                <a:solidFill>
                  <a:srgbClr val="464653"/>
                </a:solidFill>
                <a:latin typeface="Avenir Next" panose="020B0503020202020204" pitchFamily="34" charset="0"/>
              </a:rPr>
              <a:t>attacker </a:t>
            </a:r>
            <a:r>
              <a:rPr lang="en-US" sz="4800" dirty="0">
                <a:solidFill>
                  <a:srgbClr val="464653"/>
                </a:solidFill>
                <a:latin typeface="Avenir Next" panose="020B0503020202020204" pitchFamily="34" charset="0"/>
              </a:rPr>
              <a:t>to </a:t>
            </a:r>
            <a:r>
              <a:rPr lang="en-US" sz="4800" spc="-9" dirty="0">
                <a:solidFill>
                  <a:srgbClr val="FF0000"/>
                </a:solidFill>
                <a:latin typeface="Avenir Next" panose="020B0503020202020204" pitchFamily="34" charset="0"/>
              </a:rPr>
              <a:t>renegotiate </a:t>
            </a:r>
            <a:r>
              <a:rPr lang="en-US" sz="4800" dirty="0">
                <a:solidFill>
                  <a:srgbClr val="464653"/>
                </a:solidFill>
                <a:latin typeface="Avenir Next" panose="020B0503020202020204" pitchFamily="34" charset="0"/>
              </a:rPr>
              <a:t>a connection to the NULL  </a:t>
            </a:r>
            <a:r>
              <a:rPr lang="en-US" sz="4800" spc="-4" dirty="0">
                <a:solidFill>
                  <a:srgbClr val="464653"/>
                </a:solidFill>
                <a:latin typeface="Avenir Next" panose="020B0503020202020204" pitchFamily="34" charset="0"/>
              </a:rPr>
              <a:t>algorithm </a:t>
            </a:r>
            <a:r>
              <a:rPr lang="en-US" sz="4800" dirty="0">
                <a:solidFill>
                  <a:srgbClr val="464653"/>
                </a:solidFill>
                <a:latin typeface="Avenir Next" panose="020B0503020202020204" pitchFamily="34" charset="0"/>
              </a:rPr>
              <a:t>and inject plaintext</a:t>
            </a:r>
            <a:r>
              <a:rPr lang="en-US" sz="4800" spc="-71" dirty="0">
                <a:solidFill>
                  <a:srgbClr val="464653"/>
                </a:solidFill>
                <a:latin typeface="Avenir Next" panose="020B0503020202020204" pitchFamily="34" charset="0"/>
              </a:rPr>
              <a:t> </a:t>
            </a:r>
            <a:r>
              <a:rPr lang="en-US" sz="4800" dirty="0">
                <a:solidFill>
                  <a:srgbClr val="464653"/>
                </a:solidFill>
                <a:latin typeface="Avenir Next" panose="020B0503020202020204" pitchFamily="34" charset="0"/>
              </a:rPr>
              <a:t>data</a:t>
            </a:r>
            <a:endParaRPr lang="en-US" sz="4800" dirty="0">
              <a:latin typeface="Avenir Next" panose="020B0503020202020204" pitchFamily="34" charset="0"/>
              <a:cs typeface="Times New Roman"/>
            </a:endParaRPr>
          </a:p>
          <a:p>
            <a:pPr marL="560324" marR="4483" indent="-246543">
              <a:lnSpc>
                <a:spcPct val="120000"/>
              </a:lnSpc>
              <a:spcBef>
                <a:spcPts val="353"/>
              </a:spcBef>
            </a:pPr>
            <a:r>
              <a:rPr lang="en-US" sz="4800" spc="-13" dirty="0">
                <a:solidFill>
                  <a:srgbClr val="464653"/>
                </a:solidFill>
                <a:latin typeface="Avenir Next" panose="020B0503020202020204" pitchFamily="34" charset="0"/>
              </a:rPr>
              <a:t>Fixed by </a:t>
            </a:r>
            <a:r>
              <a:rPr lang="en-US" sz="4800" spc="-9" dirty="0">
                <a:solidFill>
                  <a:srgbClr val="464653"/>
                </a:solidFill>
                <a:latin typeface="Avenir Next" panose="020B0503020202020204" pitchFamily="34" charset="0"/>
              </a:rPr>
              <a:t>requiring </a:t>
            </a:r>
            <a:r>
              <a:rPr lang="en-US" sz="4800" dirty="0">
                <a:solidFill>
                  <a:srgbClr val="464653"/>
                </a:solidFill>
                <a:latin typeface="Avenir Next" panose="020B0503020202020204" pitchFamily="34" charset="0"/>
              </a:rPr>
              <a:t>cryptographic </a:t>
            </a:r>
            <a:r>
              <a:rPr lang="en-US" sz="4800" spc="-4" dirty="0">
                <a:solidFill>
                  <a:srgbClr val="464653"/>
                </a:solidFill>
                <a:latin typeface="Avenir Next" panose="020B0503020202020204" pitchFamily="34" charset="0"/>
              </a:rPr>
              <a:t>verification </a:t>
            </a:r>
            <a:r>
              <a:rPr lang="en-US" sz="4800" dirty="0">
                <a:solidFill>
                  <a:srgbClr val="464653"/>
                </a:solidFill>
                <a:latin typeface="Avenir Next" panose="020B0503020202020204" pitchFamily="34" charset="0"/>
              </a:rPr>
              <a:t>of </a:t>
            </a:r>
            <a:r>
              <a:rPr lang="en-US" sz="4800" spc="-13" dirty="0">
                <a:solidFill>
                  <a:srgbClr val="464653"/>
                </a:solidFill>
                <a:latin typeface="Avenir Next" panose="020B0503020202020204" pitchFamily="34" charset="0"/>
              </a:rPr>
              <a:t>previous </a:t>
            </a:r>
            <a:r>
              <a:rPr lang="en-US" sz="4800" dirty="0">
                <a:solidFill>
                  <a:srgbClr val="464653"/>
                </a:solidFill>
                <a:latin typeface="Avenir Next" panose="020B0503020202020204" pitchFamily="34" charset="0"/>
              </a:rPr>
              <a:t>TLS  </a:t>
            </a:r>
            <a:r>
              <a:rPr lang="en-US" sz="4800" spc="-9" dirty="0">
                <a:solidFill>
                  <a:srgbClr val="464653"/>
                </a:solidFill>
                <a:latin typeface="Avenir Next" panose="020B0503020202020204" pitchFamily="34" charset="0"/>
              </a:rPr>
              <a:t>handshakes</a:t>
            </a:r>
            <a:endParaRPr lang="en-US" sz="4800" dirty="0">
              <a:latin typeface="Avenir Next" panose="020B0503020202020204" pitchFamily="34" charset="0"/>
              <a:cs typeface="Times New Roman"/>
            </a:endParaRPr>
          </a:p>
          <a:p>
            <a:pPr marL="78445">
              <a:lnSpc>
                <a:spcPct val="120000"/>
              </a:lnSpc>
              <a:spcBef>
                <a:spcPts val="547"/>
              </a:spcBef>
            </a:pPr>
            <a:r>
              <a:rPr lang="en-US" sz="4800" b="1" spc="-35" dirty="0">
                <a:latin typeface="Avenir Next" panose="020B0503020202020204" pitchFamily="34" charset="0"/>
              </a:rPr>
              <a:t>Version </a:t>
            </a:r>
            <a:r>
              <a:rPr lang="en-US" sz="4800" b="1" spc="-4" dirty="0">
                <a:latin typeface="Avenir Next" panose="020B0503020202020204" pitchFamily="34" charset="0"/>
              </a:rPr>
              <a:t>downgrade </a:t>
            </a:r>
            <a:r>
              <a:rPr lang="en-US" sz="4800" b="1" dirty="0">
                <a:latin typeface="Avenir Next" panose="020B0503020202020204" pitchFamily="34" charset="0"/>
              </a:rPr>
              <a:t>attacks</a:t>
            </a:r>
            <a:endParaRPr lang="en-US" sz="4000" b="1" dirty="0">
              <a:latin typeface="Avenir Next" panose="020B0503020202020204" pitchFamily="34" charset="0"/>
              <a:cs typeface="Times New Roman"/>
            </a:endParaRPr>
          </a:p>
          <a:p>
            <a:pPr marL="560324" marR="72282" indent="-246543">
              <a:lnSpc>
                <a:spcPct val="120000"/>
              </a:lnSpc>
              <a:spcBef>
                <a:spcPts val="405"/>
              </a:spcBef>
            </a:pPr>
            <a:r>
              <a:rPr lang="en-US" sz="4800" dirty="0">
                <a:solidFill>
                  <a:srgbClr val="464653"/>
                </a:solidFill>
                <a:latin typeface="Avenir Next" panose="020B0503020202020204" pitchFamily="34" charset="0"/>
              </a:rPr>
              <a:t>False </a:t>
            </a:r>
            <a:r>
              <a:rPr lang="en-US" sz="4800" spc="4" dirty="0">
                <a:solidFill>
                  <a:srgbClr val="464653"/>
                </a:solidFill>
                <a:latin typeface="Avenir Next" panose="020B0503020202020204" pitchFamily="34" charset="0"/>
              </a:rPr>
              <a:t>Start </a:t>
            </a:r>
            <a:r>
              <a:rPr lang="en-US" sz="4800" dirty="0">
                <a:solidFill>
                  <a:srgbClr val="464653"/>
                </a:solidFill>
                <a:latin typeface="Avenir Next" panose="020B0503020202020204" pitchFamily="34" charset="0"/>
              </a:rPr>
              <a:t>TLS extension </a:t>
            </a:r>
            <a:r>
              <a:rPr lang="en-US" sz="4800" spc="-4" dirty="0">
                <a:solidFill>
                  <a:srgbClr val="464653"/>
                </a:solidFill>
                <a:latin typeface="Avenir Next" panose="020B0503020202020204" pitchFamily="34" charset="0"/>
              </a:rPr>
              <a:t>allows </a:t>
            </a:r>
            <a:r>
              <a:rPr lang="en-US" sz="4800" spc="-9" dirty="0">
                <a:solidFill>
                  <a:srgbClr val="464653"/>
                </a:solidFill>
                <a:latin typeface="Avenir Next" panose="020B0503020202020204" pitchFamily="34" charset="0"/>
              </a:rPr>
              <a:t>attackers </a:t>
            </a:r>
            <a:r>
              <a:rPr lang="en-US" sz="4800" dirty="0">
                <a:solidFill>
                  <a:srgbClr val="464653"/>
                </a:solidFill>
                <a:latin typeface="Avenir Next" panose="020B0503020202020204" pitchFamily="34" charset="0"/>
              </a:rPr>
              <a:t>to modify the  cipher suite list the client sends to server during</a:t>
            </a:r>
            <a:r>
              <a:rPr lang="en-US" sz="4800" spc="-57" dirty="0">
                <a:solidFill>
                  <a:srgbClr val="464653"/>
                </a:solidFill>
                <a:latin typeface="Avenir Next" panose="020B0503020202020204" pitchFamily="34" charset="0"/>
              </a:rPr>
              <a:t> </a:t>
            </a:r>
            <a:r>
              <a:rPr lang="en-US" sz="4800" spc="-9" dirty="0">
                <a:solidFill>
                  <a:srgbClr val="464653"/>
                </a:solidFill>
                <a:latin typeface="Avenir Next" panose="020B0503020202020204" pitchFamily="34" charset="0"/>
              </a:rPr>
              <a:t>handshake</a:t>
            </a:r>
            <a:endParaRPr lang="en-US" sz="4800" spc="-9" dirty="0">
              <a:latin typeface="Avenir Next" panose="020B0503020202020204" pitchFamily="34" charset="0"/>
              <a:cs typeface="Times New Roman"/>
            </a:endParaRPr>
          </a:p>
          <a:p>
            <a:pPr marL="560324" marR="72282" indent="-246543">
              <a:lnSpc>
                <a:spcPct val="120000"/>
              </a:lnSpc>
              <a:spcBef>
                <a:spcPts val="405"/>
              </a:spcBef>
            </a:pPr>
            <a:r>
              <a:rPr lang="en-US" sz="4800" dirty="0">
                <a:solidFill>
                  <a:srgbClr val="464653"/>
                </a:solidFill>
                <a:latin typeface="Avenir Next" panose="020B0503020202020204" pitchFamily="34" charset="0"/>
              </a:rPr>
              <a:t>Can </a:t>
            </a:r>
            <a:r>
              <a:rPr lang="en-US" sz="4800" spc="-18" dirty="0">
                <a:solidFill>
                  <a:srgbClr val="464653"/>
                </a:solidFill>
                <a:latin typeface="Avenir Next" panose="020B0503020202020204" pitchFamily="34" charset="0"/>
              </a:rPr>
              <a:t>force </a:t>
            </a:r>
            <a:r>
              <a:rPr lang="en-US" sz="4800" dirty="0">
                <a:solidFill>
                  <a:srgbClr val="464653"/>
                </a:solidFill>
                <a:latin typeface="Avenir Next" panose="020B0503020202020204" pitchFamily="34" charset="0"/>
              </a:rPr>
              <a:t>the usage of a </a:t>
            </a:r>
            <a:r>
              <a:rPr lang="en-US" sz="4800" spc="-4" dirty="0">
                <a:solidFill>
                  <a:srgbClr val="464653"/>
                </a:solidFill>
                <a:latin typeface="Avenir Next" panose="020B0503020202020204" pitchFamily="34" charset="0"/>
              </a:rPr>
              <a:t>known </a:t>
            </a:r>
            <a:r>
              <a:rPr lang="en-US" sz="4800" spc="-9" dirty="0">
                <a:solidFill>
                  <a:srgbClr val="464653"/>
                </a:solidFill>
                <a:latin typeface="Avenir Next" panose="020B0503020202020204" pitchFamily="34" charset="0"/>
              </a:rPr>
              <a:t>insecure</a:t>
            </a:r>
            <a:r>
              <a:rPr lang="en-US" sz="4800" spc="-18" dirty="0">
                <a:solidFill>
                  <a:srgbClr val="464653"/>
                </a:solidFill>
                <a:latin typeface="Avenir Next" panose="020B0503020202020204" pitchFamily="34" charset="0"/>
              </a:rPr>
              <a:t> </a:t>
            </a:r>
            <a:r>
              <a:rPr lang="en-US" sz="4800" dirty="0">
                <a:solidFill>
                  <a:srgbClr val="464653"/>
                </a:solidFill>
                <a:latin typeface="Avenir Next" panose="020B0503020202020204" pitchFamily="34" charset="0"/>
              </a:rPr>
              <a:t>cipher</a:t>
            </a:r>
            <a:endParaRPr lang="en-US" sz="48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409316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504391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Protocol Attacks (2)</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13781" marR="645493" indent="-235336">
              <a:lnSpc>
                <a:spcPct val="100000"/>
              </a:lnSpc>
            </a:pPr>
            <a:r>
              <a:rPr lang="en-US" sz="4800" b="1" spc="-4" dirty="0">
                <a:latin typeface="Avenir Next" panose="020B0503020202020204" pitchFamily="34" charset="0"/>
              </a:rPr>
              <a:t>Padding Oracle On Downgraded </a:t>
            </a:r>
            <a:r>
              <a:rPr lang="en-US" sz="4800" b="1" dirty="0">
                <a:latin typeface="Avenir Next" panose="020B0503020202020204" pitchFamily="34" charset="0"/>
              </a:rPr>
              <a:t>Legacy </a:t>
            </a:r>
            <a:r>
              <a:rPr lang="en-US" sz="4800" b="1" spc="4" dirty="0">
                <a:latin typeface="Avenir Next" panose="020B0503020202020204" pitchFamily="34" charset="0"/>
              </a:rPr>
              <a:t>Encryption  </a:t>
            </a:r>
            <a:r>
              <a:rPr lang="en-US" sz="4800" b="1" spc="-4" dirty="0">
                <a:latin typeface="Avenir Next" panose="020B0503020202020204" pitchFamily="34" charset="0"/>
              </a:rPr>
              <a:t>(POODLE)</a:t>
            </a:r>
            <a:endParaRPr lang="en-US" sz="3600" b="1" spc="-4" dirty="0">
              <a:latin typeface="Avenir Next" panose="020B0503020202020204" pitchFamily="34" charset="0"/>
              <a:cs typeface="Times New Roman"/>
            </a:endParaRPr>
          </a:p>
          <a:p>
            <a:pPr marL="770981" marR="645493" lvl="1" indent="-235336">
              <a:lnSpc>
                <a:spcPct val="100000"/>
              </a:lnSpc>
            </a:pPr>
            <a:r>
              <a:rPr lang="en-US" sz="4400" b="1" spc="-4" dirty="0">
                <a:solidFill>
                  <a:srgbClr val="464653"/>
                </a:solidFill>
                <a:latin typeface="Avenir Next" panose="020B0503020202020204" pitchFamily="34" charset="0"/>
                <a:cs typeface="Times New Roman"/>
              </a:rPr>
              <a:t> </a:t>
            </a:r>
            <a:r>
              <a:rPr lang="en-US" sz="4400" dirty="0">
                <a:solidFill>
                  <a:srgbClr val="464653"/>
                </a:solidFill>
                <a:latin typeface="Avenir Next" panose="020B0503020202020204" pitchFamily="34" charset="0"/>
              </a:rPr>
              <a:t>Cryptographic attack against CBC-mode cyphers when  used with SSL</a:t>
            </a:r>
            <a:r>
              <a:rPr lang="en-US" sz="4400" spc="-93" dirty="0">
                <a:solidFill>
                  <a:srgbClr val="464653"/>
                </a:solidFill>
                <a:latin typeface="Avenir Next" panose="020B0503020202020204" pitchFamily="34" charset="0"/>
              </a:rPr>
              <a:t> </a:t>
            </a:r>
            <a:r>
              <a:rPr lang="en-US" sz="4400" dirty="0">
                <a:solidFill>
                  <a:srgbClr val="464653"/>
                </a:solidFill>
                <a:latin typeface="Avenir Next" panose="020B0503020202020204" pitchFamily="34" charset="0"/>
              </a:rPr>
              <a:t>3.0</a:t>
            </a:r>
          </a:p>
          <a:p>
            <a:pPr marL="770981" marR="645493" lvl="1" indent="-235336">
              <a:lnSpc>
                <a:spcPct val="100000"/>
              </a:lnSpc>
            </a:pPr>
            <a:r>
              <a:rPr lang="en-US" sz="4400" spc="-9" dirty="0">
                <a:solidFill>
                  <a:srgbClr val="464653"/>
                </a:solidFill>
                <a:latin typeface="Avenir Next" panose="020B0503020202020204" pitchFamily="34" charset="0"/>
              </a:rPr>
              <a:t>Attacker </a:t>
            </a:r>
            <a:r>
              <a:rPr lang="en-US" sz="4400" dirty="0">
                <a:solidFill>
                  <a:srgbClr val="464653"/>
                </a:solidFill>
                <a:latin typeface="Avenir Next" panose="020B0503020202020204" pitchFamily="34" charset="0"/>
              </a:rPr>
              <a:t>can use a </a:t>
            </a:r>
            <a:r>
              <a:rPr lang="en-US" sz="4400" spc="-4" dirty="0">
                <a:solidFill>
                  <a:srgbClr val="464653"/>
                </a:solidFill>
                <a:latin typeface="Avenir Next" panose="020B0503020202020204" pitchFamily="34" charset="0"/>
              </a:rPr>
              <a:t>downgrade </a:t>
            </a:r>
            <a:r>
              <a:rPr lang="en-US" sz="4400" dirty="0">
                <a:solidFill>
                  <a:srgbClr val="464653"/>
                </a:solidFill>
                <a:latin typeface="Avenir Next" panose="020B0503020202020204" pitchFamily="34" charset="0"/>
              </a:rPr>
              <a:t>attack to </a:t>
            </a:r>
            <a:r>
              <a:rPr lang="en-US" sz="4400" spc="-18" dirty="0">
                <a:solidFill>
                  <a:srgbClr val="464653"/>
                </a:solidFill>
                <a:latin typeface="Avenir Next" panose="020B0503020202020204" pitchFamily="34" charset="0"/>
              </a:rPr>
              <a:t>force</a:t>
            </a:r>
            <a:r>
              <a:rPr lang="en-US" sz="4400" spc="-344" dirty="0">
                <a:solidFill>
                  <a:srgbClr val="464653"/>
                </a:solidFill>
                <a:latin typeface="Avenir Next" panose="020B0503020202020204" pitchFamily="34" charset="0"/>
              </a:rPr>
              <a:t> </a:t>
            </a:r>
            <a:r>
              <a:rPr lang="en-US" sz="4400" dirty="0">
                <a:solidFill>
                  <a:srgbClr val="464653"/>
                </a:solidFill>
                <a:latin typeface="Avenir Next" panose="020B0503020202020204" pitchFamily="34" charset="0"/>
              </a:rPr>
              <a:t>TLS  connections into SSL</a:t>
            </a:r>
            <a:r>
              <a:rPr lang="en-US" sz="4400" spc="-93" dirty="0">
                <a:solidFill>
                  <a:srgbClr val="464653"/>
                </a:solidFill>
                <a:latin typeface="Avenir Next" panose="020B0503020202020204" pitchFamily="34" charset="0"/>
              </a:rPr>
              <a:t> </a:t>
            </a:r>
            <a:r>
              <a:rPr lang="en-US" sz="4400" dirty="0">
                <a:solidFill>
                  <a:srgbClr val="464653"/>
                </a:solidFill>
                <a:latin typeface="Avenir Next" panose="020B0503020202020204" pitchFamily="34" charset="0"/>
              </a:rPr>
              <a:t>3.0</a:t>
            </a:r>
          </a:p>
          <a:p>
            <a:pPr marL="770981" marR="645493" lvl="1" indent="-235336">
              <a:lnSpc>
                <a:spcPct val="100000"/>
              </a:lnSpc>
            </a:pPr>
            <a:r>
              <a:rPr lang="en-US" sz="4800" spc="-4" dirty="0">
                <a:solidFill>
                  <a:srgbClr val="464653"/>
                </a:solidFill>
                <a:latin typeface="Avenir Next" panose="020B0503020202020204" pitchFamily="34" charset="0"/>
              </a:rPr>
              <a:t> </a:t>
            </a:r>
            <a:r>
              <a:rPr lang="en-US" sz="4400" spc="-4" dirty="0">
                <a:solidFill>
                  <a:srgbClr val="464653"/>
                </a:solidFill>
                <a:latin typeface="Avenir Next" panose="020B0503020202020204" pitchFamily="34" charset="0"/>
              </a:rPr>
              <a:t>Allowing </a:t>
            </a:r>
            <a:r>
              <a:rPr lang="en-US" sz="4400" dirty="0">
                <a:solidFill>
                  <a:srgbClr val="464653"/>
                </a:solidFill>
                <a:latin typeface="Avenir Next" panose="020B0503020202020204" pitchFamily="34" charset="0"/>
              </a:rPr>
              <a:t>security degradation </a:t>
            </a:r>
            <a:r>
              <a:rPr lang="en-US" sz="4400" spc="-9" dirty="0">
                <a:solidFill>
                  <a:srgbClr val="464653"/>
                </a:solidFill>
                <a:latin typeface="Avenir Next" panose="020B0503020202020204" pitchFamily="34" charset="0"/>
              </a:rPr>
              <a:t>for </a:t>
            </a:r>
            <a:r>
              <a:rPr lang="en-US" sz="4400" dirty="0">
                <a:solidFill>
                  <a:srgbClr val="464653"/>
                </a:solidFill>
                <a:latin typeface="Avenir Next" panose="020B0503020202020204" pitchFamily="34" charset="0"/>
              </a:rPr>
              <a:t>the </a:t>
            </a:r>
            <a:r>
              <a:rPr lang="en-US" sz="4400" spc="-18" dirty="0">
                <a:solidFill>
                  <a:srgbClr val="464653"/>
                </a:solidFill>
                <a:latin typeface="Avenir Next" panose="020B0503020202020204" pitchFamily="34" charset="0"/>
              </a:rPr>
              <a:t>sake </a:t>
            </a:r>
            <a:r>
              <a:rPr lang="en-US" sz="4400" dirty="0">
                <a:solidFill>
                  <a:srgbClr val="464653"/>
                </a:solidFill>
                <a:latin typeface="Avenir Next" panose="020B0503020202020204" pitchFamily="34" charset="0"/>
              </a:rPr>
              <a:t>of  </a:t>
            </a:r>
            <a:r>
              <a:rPr lang="en-US" sz="4400" spc="-4" dirty="0">
                <a:solidFill>
                  <a:srgbClr val="464653"/>
                </a:solidFill>
                <a:latin typeface="Avenir Next" panose="020B0503020202020204" pitchFamily="34" charset="0"/>
              </a:rPr>
              <a:t>interoperability </a:t>
            </a:r>
            <a:r>
              <a:rPr lang="en-US" sz="4400" dirty="0">
                <a:solidFill>
                  <a:srgbClr val="464653"/>
                </a:solidFill>
                <a:latin typeface="Avenir Next" panose="020B0503020202020204" pitchFamily="34" charset="0"/>
              </a:rPr>
              <a:t>is</a:t>
            </a:r>
            <a:r>
              <a:rPr lang="en-US" sz="4400" spc="-49" dirty="0">
                <a:solidFill>
                  <a:srgbClr val="464653"/>
                </a:solidFill>
                <a:latin typeface="Avenir Next" panose="020B0503020202020204" pitchFamily="34" charset="0"/>
              </a:rPr>
              <a:t> </a:t>
            </a:r>
            <a:r>
              <a:rPr lang="en-US" sz="4400" spc="-9" dirty="0">
                <a:solidFill>
                  <a:srgbClr val="FF0000"/>
                </a:solidFill>
                <a:latin typeface="Avenir Next" panose="020B0503020202020204" pitchFamily="34" charset="0"/>
              </a:rPr>
              <a:t>dangerous</a:t>
            </a:r>
            <a:endParaRPr lang="en-US" sz="44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2558128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504391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MITM</a:t>
            </a:r>
            <a:endParaRPr lang="en-US" sz="4000" dirty="0">
              <a:solidFill>
                <a:schemeClr val="bg1"/>
              </a:solidFill>
              <a:latin typeface="Playfair Display Medium" pitchFamily="2" charset="77"/>
            </a:endParaRPr>
          </a:p>
        </p:txBody>
      </p:sp>
      <p:sp>
        <p:nvSpPr>
          <p:cNvPr id="2" name="object 3">
            <a:extLst>
              <a:ext uri="{FF2B5EF4-FFF2-40B4-BE49-F238E27FC236}">
                <a16:creationId xmlns:a16="http://schemas.microsoft.com/office/drawing/2014/main" id="{E3CA1251-03B4-D42C-C485-47A25CDBCEE5}"/>
              </a:ext>
            </a:extLst>
          </p:cNvPr>
          <p:cNvSpPr txBox="1"/>
          <p:nvPr/>
        </p:nvSpPr>
        <p:spPr>
          <a:xfrm>
            <a:off x="2921373" y="5827687"/>
            <a:ext cx="5152465" cy="298672"/>
          </a:xfrm>
          <a:prstGeom prst="rect">
            <a:avLst/>
          </a:prstGeom>
        </p:spPr>
        <p:txBody>
          <a:bodyPr vert="horz" wrap="square" lIns="0" tIns="0" rIns="0" bIns="0" rtlCol="0">
            <a:spAutoFit/>
          </a:bodyPr>
          <a:lstStyle/>
          <a:p>
            <a:pPr marL="11206"/>
            <a:r>
              <a:rPr sz="1941" spc="-9" dirty="0">
                <a:latin typeface="Gill Sans MT"/>
                <a:cs typeface="Gill Sans MT"/>
              </a:rPr>
              <a:t>only </a:t>
            </a:r>
            <a:r>
              <a:rPr sz="1941" spc="-4" dirty="0">
                <a:latin typeface="Gill Sans MT"/>
                <a:cs typeface="Gill Sans MT"/>
              </a:rPr>
              <a:t>defense </a:t>
            </a:r>
            <a:r>
              <a:rPr sz="1941" dirty="0">
                <a:latin typeface="Gill Sans MT"/>
                <a:cs typeface="Gill Sans MT"/>
              </a:rPr>
              <a:t>against this attack is </a:t>
            </a:r>
            <a:r>
              <a:rPr sz="1941" dirty="0">
                <a:solidFill>
                  <a:srgbClr val="727CA3"/>
                </a:solidFill>
                <a:latin typeface="Gill Sans MT"/>
                <a:cs typeface="Gill Sans MT"/>
              </a:rPr>
              <a:t>certificate</a:t>
            </a:r>
            <a:r>
              <a:rPr sz="1941" spc="-26" dirty="0">
                <a:solidFill>
                  <a:srgbClr val="727CA3"/>
                </a:solidFill>
                <a:latin typeface="Gill Sans MT"/>
                <a:cs typeface="Gill Sans MT"/>
              </a:rPr>
              <a:t> </a:t>
            </a:r>
            <a:r>
              <a:rPr sz="1941" dirty="0">
                <a:solidFill>
                  <a:srgbClr val="727CA3"/>
                </a:solidFill>
                <a:latin typeface="Gill Sans MT"/>
                <a:cs typeface="Gill Sans MT"/>
              </a:rPr>
              <a:t>pinning</a:t>
            </a:r>
            <a:endParaRPr sz="1941" dirty="0">
              <a:latin typeface="Gill Sans MT"/>
              <a:cs typeface="Gill Sans MT"/>
            </a:endParaRPr>
          </a:p>
        </p:txBody>
      </p:sp>
      <p:sp>
        <p:nvSpPr>
          <p:cNvPr id="3" name="object 4">
            <a:extLst>
              <a:ext uri="{FF2B5EF4-FFF2-40B4-BE49-F238E27FC236}">
                <a16:creationId xmlns:a16="http://schemas.microsoft.com/office/drawing/2014/main" id="{B7AD37D0-0207-7873-D223-5139224EAF69}"/>
              </a:ext>
            </a:extLst>
          </p:cNvPr>
          <p:cNvSpPr/>
          <p:nvPr/>
        </p:nvSpPr>
        <p:spPr>
          <a:xfrm>
            <a:off x="2646726" y="1648622"/>
            <a:ext cx="581719" cy="775624"/>
          </a:xfrm>
          <a:prstGeom prst="rect">
            <a:avLst/>
          </a:prstGeom>
          <a:blipFill>
            <a:blip r:embed="rId4" cstate="print"/>
            <a:stretch>
              <a:fillRect/>
            </a:stretch>
          </a:blipFill>
        </p:spPr>
        <p:txBody>
          <a:bodyPr wrap="square" lIns="0" tIns="0" rIns="0" bIns="0" rtlCol="0"/>
          <a:lstStyle/>
          <a:p>
            <a:endParaRPr sz="1588"/>
          </a:p>
        </p:txBody>
      </p:sp>
      <p:sp>
        <p:nvSpPr>
          <p:cNvPr id="4" name="object 5">
            <a:extLst>
              <a:ext uri="{FF2B5EF4-FFF2-40B4-BE49-F238E27FC236}">
                <a16:creationId xmlns:a16="http://schemas.microsoft.com/office/drawing/2014/main" id="{09323D70-D577-A1A7-A404-493CCC2526B6}"/>
              </a:ext>
            </a:extLst>
          </p:cNvPr>
          <p:cNvSpPr/>
          <p:nvPr/>
        </p:nvSpPr>
        <p:spPr>
          <a:xfrm>
            <a:off x="5204158" y="1514435"/>
            <a:ext cx="761126" cy="1014834"/>
          </a:xfrm>
          <a:prstGeom prst="rect">
            <a:avLst/>
          </a:prstGeom>
          <a:blipFill>
            <a:blip r:embed="rId5" cstate="print"/>
            <a:stretch>
              <a:fillRect/>
            </a:stretch>
          </a:blipFill>
        </p:spPr>
        <p:txBody>
          <a:bodyPr wrap="square" lIns="0" tIns="0" rIns="0" bIns="0" rtlCol="0"/>
          <a:lstStyle/>
          <a:p>
            <a:endParaRPr sz="1588"/>
          </a:p>
        </p:txBody>
      </p:sp>
      <p:sp>
        <p:nvSpPr>
          <p:cNvPr id="7" name="object 6">
            <a:extLst>
              <a:ext uri="{FF2B5EF4-FFF2-40B4-BE49-F238E27FC236}">
                <a16:creationId xmlns:a16="http://schemas.microsoft.com/office/drawing/2014/main" id="{76781270-1447-47FD-2523-75ECA75D17F0}"/>
              </a:ext>
            </a:extLst>
          </p:cNvPr>
          <p:cNvSpPr/>
          <p:nvPr/>
        </p:nvSpPr>
        <p:spPr>
          <a:xfrm>
            <a:off x="3022361" y="2077451"/>
            <a:ext cx="424833" cy="566442"/>
          </a:xfrm>
          <a:prstGeom prst="rect">
            <a:avLst/>
          </a:prstGeom>
          <a:blipFill>
            <a:blip r:embed="rId6"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FBBFB1FF-36A9-0B96-C573-CCA67D4FF438}"/>
              </a:ext>
            </a:extLst>
          </p:cNvPr>
          <p:cNvSpPr/>
          <p:nvPr/>
        </p:nvSpPr>
        <p:spPr>
          <a:xfrm>
            <a:off x="8293932" y="1664107"/>
            <a:ext cx="649112" cy="865486"/>
          </a:xfrm>
          <a:prstGeom prst="rect">
            <a:avLst/>
          </a:prstGeom>
          <a:blipFill>
            <a:blip r:embed="rId7"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B78A2DE3-659C-B678-511B-A5A8CC237EDD}"/>
              </a:ext>
            </a:extLst>
          </p:cNvPr>
          <p:cNvSpPr/>
          <p:nvPr/>
        </p:nvSpPr>
        <p:spPr>
          <a:xfrm>
            <a:off x="8013730" y="1339838"/>
            <a:ext cx="1312623" cy="216984"/>
          </a:xfrm>
          <a:prstGeom prst="rect">
            <a:avLst/>
          </a:prstGeom>
          <a:blipFill>
            <a:blip r:embed="rId8" cstate="print"/>
            <a:stretch>
              <a:fillRect/>
            </a:stretch>
          </a:blipFill>
        </p:spPr>
        <p:txBody>
          <a:bodyPr wrap="square" lIns="0" tIns="0" rIns="0" bIns="0" rtlCol="0"/>
          <a:lstStyle/>
          <a:p>
            <a:endParaRPr sz="1588"/>
          </a:p>
        </p:txBody>
      </p:sp>
      <p:sp>
        <p:nvSpPr>
          <p:cNvPr id="10" name="object 9">
            <a:extLst>
              <a:ext uri="{FF2B5EF4-FFF2-40B4-BE49-F238E27FC236}">
                <a16:creationId xmlns:a16="http://schemas.microsoft.com/office/drawing/2014/main" id="{8557328C-83B7-3C00-5FF1-7FDBD97B34CA}"/>
              </a:ext>
            </a:extLst>
          </p:cNvPr>
          <p:cNvSpPr/>
          <p:nvPr/>
        </p:nvSpPr>
        <p:spPr>
          <a:xfrm>
            <a:off x="8992317" y="2217341"/>
            <a:ext cx="412947" cy="550601"/>
          </a:xfrm>
          <a:prstGeom prst="rect">
            <a:avLst/>
          </a:prstGeom>
          <a:blipFill>
            <a:blip r:embed="rId9" cstate="print"/>
            <a:stretch>
              <a:fillRect/>
            </a:stretch>
          </a:blipFill>
        </p:spPr>
        <p:txBody>
          <a:bodyPr wrap="square" lIns="0" tIns="0" rIns="0" bIns="0" rtlCol="0"/>
          <a:lstStyle/>
          <a:p>
            <a:endParaRPr sz="1588"/>
          </a:p>
        </p:txBody>
      </p:sp>
      <p:sp>
        <p:nvSpPr>
          <p:cNvPr id="11" name="object 10">
            <a:extLst>
              <a:ext uri="{FF2B5EF4-FFF2-40B4-BE49-F238E27FC236}">
                <a16:creationId xmlns:a16="http://schemas.microsoft.com/office/drawing/2014/main" id="{3C2125E9-F802-395C-FF75-704212C9E63C}"/>
              </a:ext>
            </a:extLst>
          </p:cNvPr>
          <p:cNvSpPr/>
          <p:nvPr/>
        </p:nvSpPr>
        <p:spPr>
          <a:xfrm>
            <a:off x="5965272" y="1984539"/>
            <a:ext cx="412951" cy="550601"/>
          </a:xfrm>
          <a:prstGeom prst="rect">
            <a:avLst/>
          </a:prstGeom>
          <a:blipFill>
            <a:blip r:embed="rId9" cstate="print"/>
            <a:stretch>
              <a:fillRect/>
            </a:stretch>
          </a:blipFill>
        </p:spPr>
        <p:txBody>
          <a:bodyPr wrap="square" lIns="0" tIns="0" rIns="0" bIns="0" rtlCol="0"/>
          <a:lstStyle/>
          <a:p>
            <a:endParaRPr sz="1588"/>
          </a:p>
        </p:txBody>
      </p:sp>
      <p:sp>
        <p:nvSpPr>
          <p:cNvPr id="12" name="object 11">
            <a:extLst>
              <a:ext uri="{FF2B5EF4-FFF2-40B4-BE49-F238E27FC236}">
                <a16:creationId xmlns:a16="http://schemas.microsoft.com/office/drawing/2014/main" id="{2044BF1D-CC3F-C260-FA81-AEEDC5498D2A}"/>
              </a:ext>
            </a:extLst>
          </p:cNvPr>
          <p:cNvSpPr txBox="1"/>
          <p:nvPr/>
        </p:nvSpPr>
        <p:spPr>
          <a:xfrm>
            <a:off x="6416129" y="2319281"/>
            <a:ext cx="3424518" cy="418576"/>
          </a:xfrm>
          <a:prstGeom prst="rect">
            <a:avLst/>
          </a:prstGeom>
        </p:spPr>
        <p:txBody>
          <a:bodyPr vert="horz" wrap="square" lIns="0" tIns="0" rIns="0" bIns="0" rtlCol="0">
            <a:spAutoFit/>
          </a:bodyPr>
          <a:lstStyle/>
          <a:p>
            <a:pPr marL="11206"/>
            <a:r>
              <a:rPr sz="1235" b="1" dirty="0">
                <a:latin typeface="Arial"/>
                <a:cs typeface="Arial"/>
              </a:rPr>
              <a:t>e</a:t>
            </a:r>
            <a:endParaRPr sz="1235">
              <a:latin typeface="Arial"/>
              <a:cs typeface="Arial"/>
            </a:endParaRPr>
          </a:p>
          <a:p>
            <a:pPr marR="4483" algn="r">
              <a:spcBef>
                <a:spcPts val="349"/>
              </a:spcBef>
            </a:pPr>
            <a:r>
              <a:rPr sz="1235" b="1" dirty="0">
                <a:latin typeface="Arial"/>
                <a:cs typeface="Arial"/>
              </a:rPr>
              <a:t>BofA</a:t>
            </a:r>
            <a:endParaRPr sz="1235">
              <a:latin typeface="Arial"/>
              <a:cs typeface="Arial"/>
            </a:endParaRPr>
          </a:p>
        </p:txBody>
      </p:sp>
      <p:sp>
        <p:nvSpPr>
          <p:cNvPr id="13" name="object 12">
            <a:extLst>
              <a:ext uri="{FF2B5EF4-FFF2-40B4-BE49-F238E27FC236}">
                <a16:creationId xmlns:a16="http://schemas.microsoft.com/office/drawing/2014/main" id="{4C5D020B-5EC4-C52C-DE83-9600789AB752}"/>
              </a:ext>
            </a:extLst>
          </p:cNvPr>
          <p:cNvSpPr/>
          <p:nvPr/>
        </p:nvSpPr>
        <p:spPr>
          <a:xfrm>
            <a:off x="8992316" y="1674766"/>
            <a:ext cx="328691" cy="438260"/>
          </a:xfrm>
          <a:prstGeom prst="rect">
            <a:avLst/>
          </a:prstGeom>
          <a:blipFill>
            <a:blip r:embed="rId10" cstate="print"/>
            <a:stretch>
              <a:fillRect/>
            </a:stretch>
          </a:blipFill>
        </p:spPr>
        <p:txBody>
          <a:bodyPr wrap="square" lIns="0" tIns="0" rIns="0" bIns="0" rtlCol="0"/>
          <a:lstStyle/>
          <a:p>
            <a:endParaRPr sz="1588"/>
          </a:p>
        </p:txBody>
      </p:sp>
      <p:sp>
        <p:nvSpPr>
          <p:cNvPr id="14" name="object 13">
            <a:extLst>
              <a:ext uri="{FF2B5EF4-FFF2-40B4-BE49-F238E27FC236}">
                <a16:creationId xmlns:a16="http://schemas.microsoft.com/office/drawing/2014/main" id="{2C015A79-B8B0-F0E1-A2D9-36673DA55C43}"/>
              </a:ext>
            </a:extLst>
          </p:cNvPr>
          <p:cNvSpPr txBox="1"/>
          <p:nvPr/>
        </p:nvSpPr>
        <p:spPr>
          <a:xfrm>
            <a:off x="9184598" y="1937586"/>
            <a:ext cx="528918" cy="269304"/>
          </a:xfrm>
          <a:prstGeom prst="rect">
            <a:avLst/>
          </a:prstGeom>
        </p:spPr>
        <p:txBody>
          <a:bodyPr vert="horz" wrap="square" lIns="0" tIns="0" rIns="0" bIns="0" rtlCol="0">
            <a:spAutoFit/>
          </a:bodyPr>
          <a:lstStyle/>
          <a:p>
            <a:pPr marL="11206">
              <a:lnSpc>
                <a:spcPts val="2078"/>
              </a:lnSpc>
            </a:pPr>
            <a:r>
              <a:rPr sz="2647" b="1" baseline="13888" dirty="0">
                <a:latin typeface="Arial"/>
                <a:cs typeface="Arial"/>
              </a:rPr>
              <a:t>S</a:t>
            </a:r>
            <a:r>
              <a:rPr sz="1147" b="1" spc="13" dirty="0">
                <a:latin typeface="Arial"/>
                <a:cs typeface="Arial"/>
              </a:rPr>
              <a:t>BofA</a:t>
            </a:r>
            <a:endParaRPr sz="1147">
              <a:latin typeface="Arial"/>
              <a:cs typeface="Arial"/>
            </a:endParaRPr>
          </a:p>
        </p:txBody>
      </p:sp>
      <p:sp>
        <p:nvSpPr>
          <p:cNvPr id="15" name="object 14">
            <a:extLst>
              <a:ext uri="{FF2B5EF4-FFF2-40B4-BE49-F238E27FC236}">
                <a16:creationId xmlns:a16="http://schemas.microsoft.com/office/drawing/2014/main" id="{BD3249D6-1FE9-9408-6E9D-A8E9C81FDA45}"/>
              </a:ext>
            </a:extLst>
          </p:cNvPr>
          <p:cNvSpPr/>
          <p:nvPr/>
        </p:nvSpPr>
        <p:spPr>
          <a:xfrm>
            <a:off x="5963737" y="1456248"/>
            <a:ext cx="328695" cy="438251"/>
          </a:xfrm>
          <a:prstGeom prst="rect">
            <a:avLst/>
          </a:prstGeom>
          <a:blipFill>
            <a:blip r:embed="rId10" cstate="print"/>
            <a:stretch>
              <a:fillRect/>
            </a:stretch>
          </a:blipFill>
        </p:spPr>
        <p:txBody>
          <a:bodyPr wrap="square" lIns="0" tIns="0" rIns="0" bIns="0" rtlCol="0"/>
          <a:lstStyle/>
          <a:p>
            <a:endParaRPr sz="1588"/>
          </a:p>
        </p:txBody>
      </p:sp>
      <p:sp>
        <p:nvSpPr>
          <p:cNvPr id="16" name="object 15">
            <a:extLst>
              <a:ext uri="{FF2B5EF4-FFF2-40B4-BE49-F238E27FC236}">
                <a16:creationId xmlns:a16="http://schemas.microsoft.com/office/drawing/2014/main" id="{CDBFCF98-9597-45F6-4DF7-5D310F69DBD6}"/>
              </a:ext>
            </a:extLst>
          </p:cNvPr>
          <p:cNvSpPr txBox="1"/>
          <p:nvPr/>
        </p:nvSpPr>
        <p:spPr>
          <a:xfrm>
            <a:off x="6156019" y="1663042"/>
            <a:ext cx="255494" cy="271613"/>
          </a:xfrm>
          <a:prstGeom prst="rect">
            <a:avLst/>
          </a:prstGeom>
        </p:spPr>
        <p:txBody>
          <a:bodyPr vert="horz" wrap="square" lIns="0" tIns="0" rIns="0" bIns="0" rtlCol="0">
            <a:spAutoFit/>
          </a:bodyPr>
          <a:lstStyle/>
          <a:p>
            <a:pPr marL="11206"/>
            <a:r>
              <a:rPr sz="1765" b="1" dirty="0">
                <a:latin typeface="Arial"/>
                <a:cs typeface="Arial"/>
              </a:rPr>
              <a:t>S</a:t>
            </a:r>
            <a:r>
              <a:rPr sz="1721" b="1" spc="19" baseline="-21367" dirty="0">
                <a:latin typeface="Arial"/>
                <a:cs typeface="Arial"/>
              </a:rPr>
              <a:t>e</a:t>
            </a:r>
            <a:endParaRPr sz="1721" baseline="-21367">
              <a:latin typeface="Arial"/>
              <a:cs typeface="Arial"/>
            </a:endParaRPr>
          </a:p>
        </p:txBody>
      </p:sp>
      <p:sp>
        <p:nvSpPr>
          <p:cNvPr id="17" name="object 16">
            <a:extLst>
              <a:ext uri="{FF2B5EF4-FFF2-40B4-BE49-F238E27FC236}">
                <a16:creationId xmlns:a16="http://schemas.microsoft.com/office/drawing/2014/main" id="{80511D90-51A9-D2FF-F669-7AE92A5147C3}"/>
              </a:ext>
            </a:extLst>
          </p:cNvPr>
          <p:cNvSpPr/>
          <p:nvPr/>
        </p:nvSpPr>
        <p:spPr>
          <a:xfrm>
            <a:off x="2919838" y="2690319"/>
            <a:ext cx="2893359" cy="324971"/>
          </a:xfrm>
          <a:custGeom>
            <a:avLst/>
            <a:gdLst/>
            <a:ahLst/>
            <a:cxnLst/>
            <a:rect l="l" t="t" r="r" b="b"/>
            <a:pathLst>
              <a:path w="3279140" h="368300">
                <a:moveTo>
                  <a:pt x="3094647" y="0"/>
                </a:moveTo>
                <a:lnTo>
                  <a:pt x="0" y="0"/>
                </a:lnTo>
                <a:lnTo>
                  <a:pt x="184048" y="184061"/>
                </a:lnTo>
                <a:lnTo>
                  <a:pt x="0" y="368122"/>
                </a:lnTo>
                <a:lnTo>
                  <a:pt x="3094647" y="368122"/>
                </a:lnTo>
                <a:lnTo>
                  <a:pt x="3278695" y="184061"/>
                </a:lnTo>
                <a:lnTo>
                  <a:pt x="3094647" y="0"/>
                </a:lnTo>
                <a:close/>
              </a:path>
            </a:pathLst>
          </a:custGeom>
          <a:solidFill>
            <a:srgbClr val="8590B2"/>
          </a:solidFill>
        </p:spPr>
        <p:txBody>
          <a:bodyPr wrap="square" lIns="0" tIns="0" rIns="0" bIns="0" rtlCol="0"/>
          <a:lstStyle/>
          <a:p>
            <a:endParaRPr sz="1588"/>
          </a:p>
        </p:txBody>
      </p:sp>
      <p:sp>
        <p:nvSpPr>
          <p:cNvPr id="18" name="object 17">
            <a:extLst>
              <a:ext uri="{FF2B5EF4-FFF2-40B4-BE49-F238E27FC236}">
                <a16:creationId xmlns:a16="http://schemas.microsoft.com/office/drawing/2014/main" id="{9BE25A95-91BB-EBAC-49AC-4CF1D1B09322}"/>
              </a:ext>
            </a:extLst>
          </p:cNvPr>
          <p:cNvSpPr/>
          <p:nvPr/>
        </p:nvSpPr>
        <p:spPr>
          <a:xfrm>
            <a:off x="2919838" y="2690319"/>
            <a:ext cx="2893359" cy="324971"/>
          </a:xfrm>
          <a:custGeom>
            <a:avLst/>
            <a:gdLst/>
            <a:ahLst/>
            <a:cxnLst/>
            <a:rect l="l" t="t" r="r" b="b"/>
            <a:pathLst>
              <a:path w="3279140" h="368300">
                <a:moveTo>
                  <a:pt x="0" y="0"/>
                </a:moveTo>
                <a:lnTo>
                  <a:pt x="3094647" y="0"/>
                </a:lnTo>
                <a:lnTo>
                  <a:pt x="3278707" y="184058"/>
                </a:lnTo>
                <a:lnTo>
                  <a:pt x="3094647" y="368117"/>
                </a:lnTo>
                <a:lnTo>
                  <a:pt x="0" y="368117"/>
                </a:lnTo>
                <a:lnTo>
                  <a:pt x="184058" y="184058"/>
                </a:lnTo>
                <a:lnTo>
                  <a:pt x="0" y="0"/>
                </a:lnTo>
                <a:close/>
              </a:path>
            </a:pathLst>
          </a:custGeom>
          <a:ln w="19049">
            <a:solidFill>
              <a:srgbClr val="656D8A"/>
            </a:solidFill>
          </a:ln>
        </p:spPr>
        <p:txBody>
          <a:bodyPr wrap="square" lIns="0" tIns="0" rIns="0" bIns="0" rtlCol="0"/>
          <a:lstStyle/>
          <a:p>
            <a:endParaRPr sz="1588"/>
          </a:p>
        </p:txBody>
      </p:sp>
      <p:sp>
        <p:nvSpPr>
          <p:cNvPr id="19" name="object 18">
            <a:extLst>
              <a:ext uri="{FF2B5EF4-FFF2-40B4-BE49-F238E27FC236}">
                <a16:creationId xmlns:a16="http://schemas.microsoft.com/office/drawing/2014/main" id="{21326B49-DDB5-BC88-773D-3A4FE0EC6019}"/>
              </a:ext>
            </a:extLst>
          </p:cNvPr>
          <p:cNvSpPr txBox="1"/>
          <p:nvPr/>
        </p:nvSpPr>
        <p:spPr>
          <a:xfrm>
            <a:off x="3755482" y="2718255"/>
            <a:ext cx="1227044" cy="271613"/>
          </a:xfrm>
          <a:prstGeom prst="rect">
            <a:avLst/>
          </a:prstGeom>
        </p:spPr>
        <p:txBody>
          <a:bodyPr vert="horz" wrap="square" lIns="0" tIns="0" rIns="0" bIns="0" rtlCol="0">
            <a:spAutoFit/>
          </a:bodyPr>
          <a:lstStyle/>
          <a:p>
            <a:pPr marL="11206"/>
            <a:r>
              <a:rPr sz="1765" b="1" dirty="0">
                <a:solidFill>
                  <a:srgbClr val="FFFFFF"/>
                </a:solidFill>
                <a:latin typeface="Gill Sans MT"/>
                <a:cs typeface="Gill Sans MT"/>
              </a:rPr>
              <a:t>ClientHello</a:t>
            </a:r>
            <a:endParaRPr sz="1765">
              <a:latin typeface="Gill Sans MT"/>
              <a:cs typeface="Gill Sans MT"/>
            </a:endParaRPr>
          </a:p>
        </p:txBody>
      </p:sp>
      <p:sp>
        <p:nvSpPr>
          <p:cNvPr id="20" name="object 19">
            <a:extLst>
              <a:ext uri="{FF2B5EF4-FFF2-40B4-BE49-F238E27FC236}">
                <a16:creationId xmlns:a16="http://schemas.microsoft.com/office/drawing/2014/main" id="{F1668ED7-D35D-40D3-70A8-301A80FD66A1}"/>
              </a:ext>
            </a:extLst>
          </p:cNvPr>
          <p:cNvSpPr/>
          <p:nvPr/>
        </p:nvSpPr>
        <p:spPr>
          <a:xfrm>
            <a:off x="5954604" y="2685534"/>
            <a:ext cx="2893359" cy="324971"/>
          </a:xfrm>
          <a:custGeom>
            <a:avLst/>
            <a:gdLst/>
            <a:ahLst/>
            <a:cxnLst/>
            <a:rect l="l" t="t" r="r" b="b"/>
            <a:pathLst>
              <a:path w="3279140" h="368300">
                <a:moveTo>
                  <a:pt x="3094647" y="0"/>
                </a:moveTo>
                <a:lnTo>
                  <a:pt x="0" y="0"/>
                </a:lnTo>
                <a:lnTo>
                  <a:pt x="184061" y="184061"/>
                </a:lnTo>
                <a:lnTo>
                  <a:pt x="0" y="368122"/>
                </a:lnTo>
                <a:lnTo>
                  <a:pt x="3094647" y="368122"/>
                </a:lnTo>
                <a:lnTo>
                  <a:pt x="3278708" y="184061"/>
                </a:lnTo>
                <a:lnTo>
                  <a:pt x="3094647" y="0"/>
                </a:lnTo>
                <a:close/>
              </a:path>
            </a:pathLst>
          </a:custGeom>
          <a:solidFill>
            <a:srgbClr val="FF2600"/>
          </a:solidFill>
        </p:spPr>
        <p:txBody>
          <a:bodyPr wrap="square" lIns="0" tIns="0" rIns="0" bIns="0" rtlCol="0"/>
          <a:lstStyle/>
          <a:p>
            <a:endParaRPr sz="1588"/>
          </a:p>
        </p:txBody>
      </p:sp>
      <p:sp>
        <p:nvSpPr>
          <p:cNvPr id="21" name="object 20">
            <a:extLst>
              <a:ext uri="{FF2B5EF4-FFF2-40B4-BE49-F238E27FC236}">
                <a16:creationId xmlns:a16="http://schemas.microsoft.com/office/drawing/2014/main" id="{571DCD6A-1B1F-6EF0-6AAE-A145613305DD}"/>
              </a:ext>
            </a:extLst>
          </p:cNvPr>
          <p:cNvSpPr/>
          <p:nvPr/>
        </p:nvSpPr>
        <p:spPr>
          <a:xfrm>
            <a:off x="5954604" y="2685534"/>
            <a:ext cx="2893359" cy="324971"/>
          </a:xfrm>
          <a:custGeom>
            <a:avLst/>
            <a:gdLst/>
            <a:ahLst/>
            <a:cxnLst/>
            <a:rect l="l" t="t" r="r" b="b"/>
            <a:pathLst>
              <a:path w="3279140" h="368300">
                <a:moveTo>
                  <a:pt x="0" y="0"/>
                </a:moveTo>
                <a:lnTo>
                  <a:pt x="3094647" y="0"/>
                </a:lnTo>
                <a:lnTo>
                  <a:pt x="3278707" y="184058"/>
                </a:lnTo>
                <a:lnTo>
                  <a:pt x="3094647" y="368117"/>
                </a:lnTo>
                <a:lnTo>
                  <a:pt x="0" y="368117"/>
                </a:lnTo>
                <a:lnTo>
                  <a:pt x="184058" y="184058"/>
                </a:lnTo>
                <a:lnTo>
                  <a:pt x="0" y="0"/>
                </a:lnTo>
                <a:close/>
              </a:path>
            </a:pathLst>
          </a:custGeom>
          <a:ln w="19049">
            <a:solidFill>
              <a:srgbClr val="CE1C00"/>
            </a:solidFill>
          </a:ln>
        </p:spPr>
        <p:txBody>
          <a:bodyPr wrap="square" lIns="0" tIns="0" rIns="0" bIns="0" rtlCol="0"/>
          <a:lstStyle/>
          <a:p>
            <a:endParaRPr sz="1588"/>
          </a:p>
        </p:txBody>
      </p:sp>
      <p:sp>
        <p:nvSpPr>
          <p:cNvPr id="22" name="object 21">
            <a:extLst>
              <a:ext uri="{FF2B5EF4-FFF2-40B4-BE49-F238E27FC236}">
                <a16:creationId xmlns:a16="http://schemas.microsoft.com/office/drawing/2014/main" id="{9CFAEBE1-AB7B-4005-7558-EBBE14CF667E}"/>
              </a:ext>
            </a:extLst>
          </p:cNvPr>
          <p:cNvSpPr txBox="1"/>
          <p:nvPr/>
        </p:nvSpPr>
        <p:spPr>
          <a:xfrm>
            <a:off x="6790259" y="2713470"/>
            <a:ext cx="1227044" cy="271613"/>
          </a:xfrm>
          <a:prstGeom prst="rect">
            <a:avLst/>
          </a:prstGeom>
        </p:spPr>
        <p:txBody>
          <a:bodyPr vert="horz" wrap="square" lIns="0" tIns="0" rIns="0" bIns="0" rtlCol="0">
            <a:spAutoFit/>
          </a:bodyPr>
          <a:lstStyle/>
          <a:p>
            <a:pPr marL="11206"/>
            <a:r>
              <a:rPr sz="1765" b="1" dirty="0">
                <a:solidFill>
                  <a:srgbClr val="FFFFFF"/>
                </a:solidFill>
                <a:latin typeface="Gill Sans MT"/>
                <a:cs typeface="Gill Sans MT"/>
              </a:rPr>
              <a:t>ClientHello</a:t>
            </a:r>
            <a:endParaRPr sz="1765">
              <a:latin typeface="Gill Sans MT"/>
              <a:cs typeface="Gill Sans MT"/>
            </a:endParaRPr>
          </a:p>
        </p:txBody>
      </p:sp>
      <p:sp>
        <p:nvSpPr>
          <p:cNvPr id="23" name="object 22">
            <a:extLst>
              <a:ext uri="{FF2B5EF4-FFF2-40B4-BE49-F238E27FC236}">
                <a16:creationId xmlns:a16="http://schemas.microsoft.com/office/drawing/2014/main" id="{1AD08B51-9502-832C-3681-370E6E115D83}"/>
              </a:ext>
            </a:extLst>
          </p:cNvPr>
          <p:cNvSpPr/>
          <p:nvPr/>
        </p:nvSpPr>
        <p:spPr>
          <a:xfrm>
            <a:off x="5955960" y="3103839"/>
            <a:ext cx="2891678" cy="324971"/>
          </a:xfrm>
          <a:custGeom>
            <a:avLst/>
            <a:gdLst/>
            <a:ahLst/>
            <a:cxnLst/>
            <a:rect l="l" t="t" r="r" b="b"/>
            <a:pathLst>
              <a:path w="3277234" h="368300">
                <a:moveTo>
                  <a:pt x="3277171" y="0"/>
                </a:moveTo>
                <a:lnTo>
                  <a:pt x="184061" y="0"/>
                </a:lnTo>
                <a:lnTo>
                  <a:pt x="0" y="184061"/>
                </a:lnTo>
                <a:lnTo>
                  <a:pt x="184061" y="368122"/>
                </a:lnTo>
                <a:lnTo>
                  <a:pt x="3277171" y="368122"/>
                </a:lnTo>
                <a:lnTo>
                  <a:pt x="3093110" y="184061"/>
                </a:lnTo>
                <a:lnTo>
                  <a:pt x="3277171" y="0"/>
                </a:lnTo>
                <a:close/>
              </a:path>
            </a:pathLst>
          </a:custGeom>
          <a:solidFill>
            <a:srgbClr val="C69785"/>
          </a:solidFill>
        </p:spPr>
        <p:txBody>
          <a:bodyPr wrap="square" lIns="0" tIns="0" rIns="0" bIns="0" rtlCol="0"/>
          <a:lstStyle/>
          <a:p>
            <a:endParaRPr sz="1588"/>
          </a:p>
        </p:txBody>
      </p:sp>
      <p:sp>
        <p:nvSpPr>
          <p:cNvPr id="24" name="object 23">
            <a:extLst>
              <a:ext uri="{FF2B5EF4-FFF2-40B4-BE49-F238E27FC236}">
                <a16:creationId xmlns:a16="http://schemas.microsoft.com/office/drawing/2014/main" id="{60F73D4D-0959-C02A-0C50-F78C7CD52EA0}"/>
              </a:ext>
            </a:extLst>
          </p:cNvPr>
          <p:cNvSpPr/>
          <p:nvPr/>
        </p:nvSpPr>
        <p:spPr>
          <a:xfrm>
            <a:off x="5955963" y="3103842"/>
            <a:ext cx="2891678" cy="324971"/>
          </a:xfrm>
          <a:custGeom>
            <a:avLst/>
            <a:gdLst/>
            <a:ahLst/>
            <a:cxnLst/>
            <a:rect l="l" t="t" r="r" b="b"/>
            <a:pathLst>
              <a:path w="3277234" h="368300">
                <a:moveTo>
                  <a:pt x="3277167" y="368117"/>
                </a:moveTo>
                <a:lnTo>
                  <a:pt x="184059" y="368117"/>
                </a:lnTo>
                <a:lnTo>
                  <a:pt x="0" y="184058"/>
                </a:lnTo>
                <a:lnTo>
                  <a:pt x="184059" y="0"/>
                </a:lnTo>
                <a:lnTo>
                  <a:pt x="3277167" y="0"/>
                </a:lnTo>
                <a:lnTo>
                  <a:pt x="3093108" y="184058"/>
                </a:lnTo>
                <a:lnTo>
                  <a:pt x="3277167" y="368117"/>
                </a:lnTo>
                <a:close/>
              </a:path>
            </a:pathLst>
          </a:custGeom>
          <a:ln w="19049">
            <a:solidFill>
              <a:srgbClr val="775141"/>
            </a:solidFill>
          </a:ln>
        </p:spPr>
        <p:txBody>
          <a:bodyPr wrap="square" lIns="0" tIns="0" rIns="0" bIns="0" rtlCol="0"/>
          <a:lstStyle/>
          <a:p>
            <a:endParaRPr sz="1588"/>
          </a:p>
        </p:txBody>
      </p:sp>
      <p:sp>
        <p:nvSpPr>
          <p:cNvPr id="25" name="object 24">
            <a:extLst>
              <a:ext uri="{FF2B5EF4-FFF2-40B4-BE49-F238E27FC236}">
                <a16:creationId xmlns:a16="http://schemas.microsoft.com/office/drawing/2014/main" id="{C4C82B1D-C02E-A9E2-4DB2-F87B1E67DE5E}"/>
              </a:ext>
            </a:extLst>
          </p:cNvPr>
          <p:cNvSpPr/>
          <p:nvPr/>
        </p:nvSpPr>
        <p:spPr>
          <a:xfrm>
            <a:off x="7127760" y="3145670"/>
            <a:ext cx="413339" cy="550601"/>
          </a:xfrm>
          <a:prstGeom prst="rect">
            <a:avLst/>
          </a:prstGeom>
          <a:blipFill>
            <a:blip r:embed="rId11" cstate="print"/>
            <a:stretch>
              <a:fillRect/>
            </a:stretch>
          </a:blipFill>
        </p:spPr>
        <p:txBody>
          <a:bodyPr wrap="square" lIns="0" tIns="0" rIns="0" bIns="0" rtlCol="0"/>
          <a:lstStyle/>
          <a:p>
            <a:endParaRPr sz="1588"/>
          </a:p>
        </p:txBody>
      </p:sp>
      <p:sp>
        <p:nvSpPr>
          <p:cNvPr id="26" name="object 25">
            <a:extLst>
              <a:ext uri="{FF2B5EF4-FFF2-40B4-BE49-F238E27FC236}">
                <a16:creationId xmlns:a16="http://schemas.microsoft.com/office/drawing/2014/main" id="{27CE4AC6-2CFB-90B3-566B-43E1046D45C1}"/>
              </a:ext>
            </a:extLst>
          </p:cNvPr>
          <p:cNvSpPr/>
          <p:nvPr/>
        </p:nvSpPr>
        <p:spPr>
          <a:xfrm>
            <a:off x="2921194" y="3100073"/>
            <a:ext cx="2891678" cy="324971"/>
          </a:xfrm>
          <a:custGeom>
            <a:avLst/>
            <a:gdLst/>
            <a:ahLst/>
            <a:cxnLst/>
            <a:rect l="l" t="t" r="r" b="b"/>
            <a:pathLst>
              <a:path w="3277235" h="368300">
                <a:moveTo>
                  <a:pt x="3277158" y="0"/>
                </a:moveTo>
                <a:lnTo>
                  <a:pt x="184048" y="0"/>
                </a:lnTo>
                <a:lnTo>
                  <a:pt x="0" y="184061"/>
                </a:lnTo>
                <a:lnTo>
                  <a:pt x="184048" y="368122"/>
                </a:lnTo>
                <a:lnTo>
                  <a:pt x="3277158" y="368122"/>
                </a:lnTo>
                <a:lnTo>
                  <a:pt x="3093110" y="184061"/>
                </a:lnTo>
                <a:lnTo>
                  <a:pt x="3277158" y="0"/>
                </a:lnTo>
                <a:close/>
              </a:path>
            </a:pathLst>
          </a:custGeom>
          <a:solidFill>
            <a:srgbClr val="FF2600"/>
          </a:solidFill>
        </p:spPr>
        <p:txBody>
          <a:bodyPr wrap="square" lIns="0" tIns="0" rIns="0" bIns="0" rtlCol="0"/>
          <a:lstStyle/>
          <a:p>
            <a:endParaRPr sz="1588"/>
          </a:p>
        </p:txBody>
      </p:sp>
      <p:sp>
        <p:nvSpPr>
          <p:cNvPr id="27" name="object 26">
            <a:extLst>
              <a:ext uri="{FF2B5EF4-FFF2-40B4-BE49-F238E27FC236}">
                <a16:creationId xmlns:a16="http://schemas.microsoft.com/office/drawing/2014/main" id="{FB553F81-312C-FC29-5C8B-3131F513FC25}"/>
              </a:ext>
            </a:extLst>
          </p:cNvPr>
          <p:cNvSpPr/>
          <p:nvPr/>
        </p:nvSpPr>
        <p:spPr>
          <a:xfrm>
            <a:off x="2921186" y="3100077"/>
            <a:ext cx="2891678" cy="324971"/>
          </a:xfrm>
          <a:custGeom>
            <a:avLst/>
            <a:gdLst/>
            <a:ahLst/>
            <a:cxnLst/>
            <a:rect l="l" t="t" r="r" b="b"/>
            <a:pathLst>
              <a:path w="3277235" h="368300">
                <a:moveTo>
                  <a:pt x="3277167" y="368117"/>
                </a:moveTo>
                <a:lnTo>
                  <a:pt x="184059" y="368117"/>
                </a:lnTo>
                <a:lnTo>
                  <a:pt x="0" y="184058"/>
                </a:lnTo>
                <a:lnTo>
                  <a:pt x="184059" y="0"/>
                </a:lnTo>
                <a:lnTo>
                  <a:pt x="3277167" y="0"/>
                </a:lnTo>
                <a:lnTo>
                  <a:pt x="3093108" y="184058"/>
                </a:lnTo>
                <a:lnTo>
                  <a:pt x="3277167" y="368117"/>
                </a:lnTo>
                <a:close/>
              </a:path>
            </a:pathLst>
          </a:custGeom>
          <a:ln w="19049">
            <a:solidFill>
              <a:srgbClr val="CE1C00"/>
            </a:solidFill>
          </a:ln>
        </p:spPr>
        <p:txBody>
          <a:bodyPr wrap="square" lIns="0" tIns="0" rIns="0" bIns="0" rtlCol="0"/>
          <a:lstStyle/>
          <a:p>
            <a:endParaRPr sz="1588"/>
          </a:p>
        </p:txBody>
      </p:sp>
      <p:sp>
        <p:nvSpPr>
          <p:cNvPr id="28" name="object 27">
            <a:extLst>
              <a:ext uri="{FF2B5EF4-FFF2-40B4-BE49-F238E27FC236}">
                <a16:creationId xmlns:a16="http://schemas.microsoft.com/office/drawing/2014/main" id="{16CB031B-9CB2-52AC-3576-FEDC3A1D2786}"/>
              </a:ext>
            </a:extLst>
          </p:cNvPr>
          <p:cNvSpPr/>
          <p:nvPr/>
        </p:nvSpPr>
        <p:spPr>
          <a:xfrm>
            <a:off x="4222230" y="3145670"/>
            <a:ext cx="413340" cy="550601"/>
          </a:xfrm>
          <a:prstGeom prst="rect">
            <a:avLst/>
          </a:prstGeom>
          <a:blipFill>
            <a:blip r:embed="rId12" cstate="print"/>
            <a:stretch>
              <a:fillRect/>
            </a:stretch>
          </a:blipFill>
        </p:spPr>
        <p:txBody>
          <a:bodyPr wrap="square" lIns="0" tIns="0" rIns="0" bIns="0" rtlCol="0"/>
          <a:lstStyle/>
          <a:p>
            <a:endParaRPr sz="1588"/>
          </a:p>
        </p:txBody>
      </p:sp>
      <p:sp>
        <p:nvSpPr>
          <p:cNvPr id="29" name="object 28">
            <a:extLst>
              <a:ext uri="{FF2B5EF4-FFF2-40B4-BE49-F238E27FC236}">
                <a16:creationId xmlns:a16="http://schemas.microsoft.com/office/drawing/2014/main" id="{8728B959-3567-D2BA-0496-2F3AA475308C}"/>
              </a:ext>
            </a:extLst>
          </p:cNvPr>
          <p:cNvSpPr txBox="1"/>
          <p:nvPr/>
        </p:nvSpPr>
        <p:spPr>
          <a:xfrm>
            <a:off x="2686049" y="3480412"/>
            <a:ext cx="7085479" cy="2380523"/>
          </a:xfrm>
          <a:prstGeom prst="rect">
            <a:avLst/>
          </a:prstGeom>
        </p:spPr>
        <p:txBody>
          <a:bodyPr vert="horz" wrap="square" lIns="0" tIns="0" rIns="0" bIns="0" rtlCol="0">
            <a:spAutoFit/>
          </a:bodyPr>
          <a:lstStyle/>
          <a:p>
            <a:pPr marL="1998115">
              <a:tabLst>
                <a:tab pos="4903956" algn="l"/>
              </a:tabLst>
            </a:pPr>
            <a:r>
              <a:rPr sz="1235" b="1" dirty="0">
                <a:latin typeface="Arial"/>
                <a:cs typeface="Arial"/>
              </a:rPr>
              <a:t>e	BofA</a:t>
            </a:r>
            <a:endParaRPr sz="1235" dirty="0">
              <a:latin typeface="Arial"/>
              <a:cs typeface="Arial"/>
            </a:endParaRPr>
          </a:p>
          <a:p>
            <a:pPr>
              <a:lnSpc>
                <a:spcPct val="100000"/>
              </a:lnSpc>
            </a:pPr>
            <a:endParaRPr sz="971" dirty="0">
              <a:latin typeface="Times New Roman"/>
              <a:cs typeface="Times New Roman"/>
            </a:endParaRPr>
          </a:p>
          <a:p>
            <a:pPr marL="11206"/>
            <a:r>
              <a:rPr sz="1941" dirty="0">
                <a:latin typeface="Gill Sans MT"/>
                <a:cs typeface="Gill Sans MT"/>
              </a:rPr>
              <a:t>If C</a:t>
            </a:r>
            <a:r>
              <a:rPr sz="1919" baseline="-21072" dirty="0">
                <a:latin typeface="Gill Sans MT"/>
                <a:cs typeface="Gill Sans MT"/>
              </a:rPr>
              <a:t>e </a:t>
            </a:r>
            <a:r>
              <a:rPr sz="1941" dirty="0">
                <a:latin typeface="Gill Sans MT"/>
                <a:cs typeface="Gill Sans MT"/>
              </a:rPr>
              <a:t>is self-signed, the user will be </a:t>
            </a:r>
            <a:r>
              <a:rPr sz="1941" spc="-4" dirty="0">
                <a:latin typeface="Gill Sans MT"/>
                <a:cs typeface="Gill Sans MT"/>
              </a:rPr>
              <a:t>shown </a:t>
            </a:r>
            <a:r>
              <a:rPr sz="1941" dirty="0">
                <a:latin typeface="Gill Sans MT"/>
                <a:cs typeface="Gill Sans MT"/>
              </a:rPr>
              <a:t>a</a:t>
            </a:r>
            <a:r>
              <a:rPr sz="1941" spc="-265" dirty="0">
                <a:latin typeface="Gill Sans MT"/>
                <a:cs typeface="Gill Sans MT"/>
              </a:rPr>
              <a:t> </a:t>
            </a:r>
            <a:r>
              <a:rPr sz="1941" dirty="0">
                <a:latin typeface="Gill Sans MT"/>
                <a:cs typeface="Gill Sans MT"/>
              </a:rPr>
              <a:t>warning</a:t>
            </a:r>
          </a:p>
          <a:p>
            <a:pPr marL="246543" marR="392227" indent="-235336">
              <a:lnSpc>
                <a:spcPts val="2294"/>
              </a:lnSpc>
              <a:spcBef>
                <a:spcPts val="600"/>
              </a:spcBef>
            </a:pPr>
            <a:r>
              <a:rPr sz="1941" dirty="0">
                <a:latin typeface="Gill Sans MT"/>
                <a:cs typeface="Gill Sans MT"/>
              </a:rPr>
              <a:t>If the </a:t>
            </a:r>
            <a:r>
              <a:rPr sz="1941" spc="-9" dirty="0">
                <a:latin typeface="Gill Sans MT"/>
                <a:cs typeface="Gill Sans MT"/>
              </a:rPr>
              <a:t>attacker </a:t>
            </a:r>
            <a:r>
              <a:rPr sz="1941" dirty="0">
                <a:latin typeface="Gill Sans MT"/>
                <a:cs typeface="Gill Sans MT"/>
              </a:rPr>
              <a:t>steals </a:t>
            </a:r>
            <a:r>
              <a:rPr sz="1941" spc="4" dirty="0">
                <a:latin typeface="Gill Sans MT"/>
                <a:cs typeface="Gill Sans MT"/>
              </a:rPr>
              <a:t>C</a:t>
            </a:r>
            <a:r>
              <a:rPr sz="1919" spc="6" baseline="-21072" dirty="0">
                <a:latin typeface="Gill Sans MT"/>
                <a:cs typeface="Gill Sans MT"/>
              </a:rPr>
              <a:t>BofA </a:t>
            </a:r>
            <a:r>
              <a:rPr sz="1941" dirty="0">
                <a:latin typeface="Gill Sans MT"/>
                <a:cs typeface="Gill Sans MT"/>
              </a:rPr>
              <a:t>and </a:t>
            </a:r>
            <a:r>
              <a:rPr sz="1941" spc="4" dirty="0">
                <a:latin typeface="Gill Sans MT"/>
                <a:cs typeface="Gill Sans MT"/>
              </a:rPr>
              <a:t>S</a:t>
            </a:r>
            <a:r>
              <a:rPr sz="1919" spc="6" baseline="-21072" dirty="0">
                <a:latin typeface="Gill Sans MT"/>
                <a:cs typeface="Gill Sans MT"/>
              </a:rPr>
              <a:t>BofA</a:t>
            </a:r>
            <a:r>
              <a:rPr sz="1941" spc="4" dirty="0">
                <a:latin typeface="Gill Sans MT"/>
                <a:cs typeface="Gill Sans MT"/>
              </a:rPr>
              <a:t>, </a:t>
            </a:r>
            <a:r>
              <a:rPr sz="1941" dirty="0">
                <a:latin typeface="Gill Sans MT"/>
                <a:cs typeface="Gill Sans MT"/>
              </a:rPr>
              <a:t>then this attack will succeed  unless:</a:t>
            </a:r>
          </a:p>
          <a:p>
            <a:pPr marL="818073" indent="-403433">
              <a:spcBef>
                <a:spcPts val="424"/>
              </a:spcBef>
              <a:buClr>
                <a:srgbClr val="9FB8CD"/>
              </a:buClr>
              <a:buSzPct val="75000"/>
              <a:buAutoNum type="arabicPeriod"/>
              <a:tabLst>
                <a:tab pos="817513" algn="l"/>
                <a:tab pos="818073" algn="l"/>
              </a:tabLst>
            </a:pPr>
            <a:r>
              <a:rPr sz="1941" dirty="0">
                <a:solidFill>
                  <a:srgbClr val="464653"/>
                </a:solidFill>
                <a:latin typeface="Gill Sans MT"/>
                <a:cs typeface="Gill Sans MT"/>
              </a:rPr>
              <a:t>Bank of </a:t>
            </a:r>
            <a:r>
              <a:rPr sz="1941" spc="-4" dirty="0">
                <a:solidFill>
                  <a:srgbClr val="464653"/>
                </a:solidFill>
                <a:latin typeface="Gill Sans MT"/>
                <a:cs typeface="Gill Sans MT"/>
              </a:rPr>
              <a:t>America </a:t>
            </a:r>
            <a:r>
              <a:rPr sz="1941" spc="-26" dirty="0">
                <a:solidFill>
                  <a:srgbClr val="727CA3"/>
                </a:solidFill>
                <a:latin typeface="Gill Sans MT"/>
                <a:cs typeface="Gill Sans MT"/>
              </a:rPr>
              <a:t>revokes </a:t>
            </a:r>
            <a:r>
              <a:rPr sz="1941" dirty="0">
                <a:solidFill>
                  <a:srgbClr val="464653"/>
                </a:solidFill>
                <a:latin typeface="Gill Sans MT"/>
                <a:cs typeface="Gill Sans MT"/>
              </a:rPr>
              <a:t>the stolen</a:t>
            </a:r>
            <a:r>
              <a:rPr sz="1941" spc="-221" dirty="0">
                <a:solidFill>
                  <a:srgbClr val="464653"/>
                </a:solidFill>
                <a:latin typeface="Gill Sans MT"/>
                <a:cs typeface="Gill Sans MT"/>
              </a:rPr>
              <a:t> </a:t>
            </a:r>
            <a:r>
              <a:rPr sz="1941" spc="9" dirty="0">
                <a:solidFill>
                  <a:srgbClr val="464653"/>
                </a:solidFill>
                <a:latin typeface="Gill Sans MT"/>
                <a:cs typeface="Gill Sans MT"/>
              </a:rPr>
              <a:t>cert</a:t>
            </a:r>
            <a:endParaRPr sz="1941" dirty="0">
              <a:latin typeface="Gill Sans MT"/>
              <a:cs typeface="Gill Sans MT"/>
            </a:endParaRPr>
          </a:p>
          <a:p>
            <a:pPr marL="818073" indent="-403433">
              <a:spcBef>
                <a:spcPts val="405"/>
              </a:spcBef>
              <a:buClr>
                <a:srgbClr val="9FB8CD"/>
              </a:buClr>
              <a:buSzPct val="75000"/>
              <a:buAutoNum type="arabicPeriod"/>
              <a:tabLst>
                <a:tab pos="817513" algn="l"/>
                <a:tab pos="818073" algn="l"/>
              </a:tabLst>
            </a:pPr>
            <a:r>
              <a:rPr sz="1941" dirty="0">
                <a:solidFill>
                  <a:srgbClr val="464653"/>
                </a:solidFill>
                <a:latin typeface="Gill Sans MT"/>
                <a:cs typeface="Gill Sans MT"/>
              </a:rPr>
              <a:t>The client checks to see if the </a:t>
            </a:r>
            <a:r>
              <a:rPr sz="1941" spc="9" dirty="0">
                <a:solidFill>
                  <a:srgbClr val="464653"/>
                </a:solidFill>
                <a:latin typeface="Gill Sans MT"/>
                <a:cs typeface="Gill Sans MT"/>
              </a:rPr>
              <a:t>cert </a:t>
            </a:r>
            <a:r>
              <a:rPr sz="1941" dirty="0">
                <a:solidFill>
                  <a:srgbClr val="464653"/>
                </a:solidFill>
                <a:latin typeface="Gill Sans MT"/>
                <a:cs typeface="Gill Sans MT"/>
              </a:rPr>
              <a:t>has been</a:t>
            </a:r>
            <a:r>
              <a:rPr sz="1941" spc="-84" dirty="0">
                <a:solidFill>
                  <a:srgbClr val="464653"/>
                </a:solidFill>
                <a:latin typeface="Gill Sans MT"/>
                <a:cs typeface="Gill Sans MT"/>
              </a:rPr>
              <a:t> </a:t>
            </a:r>
            <a:r>
              <a:rPr sz="1941" spc="-26" dirty="0">
                <a:solidFill>
                  <a:srgbClr val="464653"/>
                </a:solidFill>
                <a:latin typeface="Gill Sans MT"/>
                <a:cs typeface="Gill Sans MT"/>
              </a:rPr>
              <a:t>revoked</a:t>
            </a:r>
            <a:endParaRPr sz="1941" dirty="0">
              <a:latin typeface="Gill Sans MT"/>
              <a:cs typeface="Gill Sans MT"/>
            </a:endParaRPr>
          </a:p>
          <a:p>
            <a:pPr marL="11206">
              <a:spcBef>
                <a:spcPts val="582"/>
              </a:spcBef>
            </a:pPr>
            <a:r>
              <a:rPr sz="1941" dirty="0">
                <a:latin typeface="Gill Sans MT"/>
                <a:cs typeface="Gill Sans MT"/>
              </a:rPr>
              <a:t>If the </a:t>
            </a:r>
            <a:r>
              <a:rPr sz="1941" spc="-9" dirty="0">
                <a:latin typeface="Gill Sans MT"/>
                <a:cs typeface="Gill Sans MT"/>
              </a:rPr>
              <a:t>attacker </a:t>
            </a:r>
            <a:r>
              <a:rPr sz="1941" dirty="0">
                <a:latin typeface="Gill Sans MT"/>
                <a:cs typeface="Gill Sans MT"/>
              </a:rPr>
              <a:t>manages to buy a valid BofA </a:t>
            </a:r>
            <a:r>
              <a:rPr sz="1941" spc="9" dirty="0">
                <a:latin typeface="Gill Sans MT"/>
                <a:cs typeface="Gill Sans MT"/>
              </a:rPr>
              <a:t>cert </a:t>
            </a:r>
            <a:r>
              <a:rPr sz="1941" spc="-13" dirty="0">
                <a:latin typeface="Gill Sans MT"/>
                <a:cs typeface="Gill Sans MT"/>
              </a:rPr>
              <a:t>from </a:t>
            </a:r>
            <a:r>
              <a:rPr sz="1941" dirty="0">
                <a:latin typeface="Gill Sans MT"/>
                <a:cs typeface="Gill Sans MT"/>
              </a:rPr>
              <a:t>a </a:t>
            </a:r>
            <a:r>
              <a:rPr sz="1941" spc="13" dirty="0">
                <a:latin typeface="Gill Sans MT"/>
                <a:cs typeface="Gill Sans MT"/>
              </a:rPr>
              <a:t>CA, </a:t>
            </a:r>
            <a:r>
              <a:rPr sz="1941" dirty="0">
                <a:latin typeface="Gill Sans MT"/>
                <a:cs typeface="Gill Sans MT"/>
              </a:rPr>
              <a:t>then</a:t>
            </a:r>
            <a:r>
              <a:rPr sz="1941" spc="-260" dirty="0">
                <a:latin typeface="Gill Sans MT"/>
                <a:cs typeface="Gill Sans MT"/>
              </a:rPr>
              <a:t> </a:t>
            </a:r>
            <a:r>
              <a:rPr sz="1941" dirty="0">
                <a:latin typeface="Gill Sans MT"/>
                <a:cs typeface="Gill Sans MT"/>
              </a:rPr>
              <a:t>the</a:t>
            </a:r>
          </a:p>
        </p:txBody>
      </p:sp>
      <p:sp>
        <p:nvSpPr>
          <p:cNvPr id="30" name="object 29">
            <a:extLst>
              <a:ext uri="{FF2B5EF4-FFF2-40B4-BE49-F238E27FC236}">
                <a16:creationId xmlns:a16="http://schemas.microsoft.com/office/drawing/2014/main" id="{FEBD81E0-01EE-18DF-E7DF-5FDDA0B0B41F}"/>
              </a:ext>
            </a:extLst>
          </p:cNvPr>
          <p:cNvSpPr/>
          <p:nvPr/>
        </p:nvSpPr>
        <p:spPr>
          <a:xfrm>
            <a:off x="3240483" y="1471298"/>
            <a:ext cx="1709457" cy="531719"/>
          </a:xfrm>
          <a:custGeom>
            <a:avLst/>
            <a:gdLst/>
            <a:ahLst/>
            <a:cxnLst/>
            <a:rect l="l" t="t" r="r" b="b"/>
            <a:pathLst>
              <a:path w="1937385" h="602614">
                <a:moveTo>
                  <a:pt x="1937156" y="0"/>
                </a:moveTo>
                <a:lnTo>
                  <a:pt x="278447" y="0"/>
                </a:lnTo>
                <a:lnTo>
                  <a:pt x="278447" y="351497"/>
                </a:lnTo>
                <a:lnTo>
                  <a:pt x="0" y="501294"/>
                </a:lnTo>
                <a:lnTo>
                  <a:pt x="278447" y="502145"/>
                </a:lnTo>
                <a:lnTo>
                  <a:pt x="278447" y="602564"/>
                </a:lnTo>
                <a:lnTo>
                  <a:pt x="1937156" y="602564"/>
                </a:lnTo>
                <a:lnTo>
                  <a:pt x="1937156" y="0"/>
                </a:lnTo>
                <a:close/>
              </a:path>
            </a:pathLst>
          </a:custGeom>
          <a:solidFill>
            <a:srgbClr val="8590B2"/>
          </a:solidFill>
        </p:spPr>
        <p:txBody>
          <a:bodyPr wrap="square" lIns="0" tIns="0" rIns="0" bIns="0" rtlCol="0"/>
          <a:lstStyle/>
          <a:p>
            <a:endParaRPr sz="1588"/>
          </a:p>
        </p:txBody>
      </p:sp>
      <p:sp>
        <p:nvSpPr>
          <p:cNvPr id="31" name="object 30">
            <a:extLst>
              <a:ext uri="{FF2B5EF4-FFF2-40B4-BE49-F238E27FC236}">
                <a16:creationId xmlns:a16="http://schemas.microsoft.com/office/drawing/2014/main" id="{6C0C0167-EC02-33A5-CEEC-1116638A6CC0}"/>
              </a:ext>
            </a:extLst>
          </p:cNvPr>
          <p:cNvSpPr/>
          <p:nvPr/>
        </p:nvSpPr>
        <p:spPr>
          <a:xfrm>
            <a:off x="3240484" y="1471298"/>
            <a:ext cx="1709457" cy="531719"/>
          </a:xfrm>
          <a:custGeom>
            <a:avLst/>
            <a:gdLst/>
            <a:ahLst/>
            <a:cxnLst/>
            <a:rect l="l" t="t" r="r" b="b"/>
            <a:pathLst>
              <a:path w="1937385" h="602614">
                <a:moveTo>
                  <a:pt x="278446" y="0"/>
                </a:moveTo>
                <a:lnTo>
                  <a:pt x="554897" y="0"/>
                </a:lnTo>
                <a:lnTo>
                  <a:pt x="969573" y="0"/>
                </a:lnTo>
                <a:lnTo>
                  <a:pt x="1937145" y="0"/>
                </a:lnTo>
                <a:lnTo>
                  <a:pt x="1937145" y="351498"/>
                </a:lnTo>
                <a:lnTo>
                  <a:pt x="1937145" y="502140"/>
                </a:lnTo>
                <a:lnTo>
                  <a:pt x="1937145" y="602568"/>
                </a:lnTo>
                <a:lnTo>
                  <a:pt x="969573" y="602568"/>
                </a:lnTo>
                <a:lnTo>
                  <a:pt x="554897" y="602568"/>
                </a:lnTo>
                <a:lnTo>
                  <a:pt x="278446" y="602568"/>
                </a:lnTo>
                <a:lnTo>
                  <a:pt x="278446" y="502140"/>
                </a:lnTo>
                <a:lnTo>
                  <a:pt x="0" y="501288"/>
                </a:lnTo>
                <a:lnTo>
                  <a:pt x="278446" y="351498"/>
                </a:lnTo>
                <a:lnTo>
                  <a:pt x="278446" y="0"/>
                </a:lnTo>
                <a:close/>
              </a:path>
            </a:pathLst>
          </a:custGeom>
          <a:ln w="19049">
            <a:solidFill>
              <a:srgbClr val="656D8A"/>
            </a:solidFill>
          </a:ln>
        </p:spPr>
        <p:txBody>
          <a:bodyPr wrap="square" lIns="0" tIns="0" rIns="0" bIns="0" rtlCol="0"/>
          <a:lstStyle/>
          <a:p>
            <a:endParaRPr sz="1588"/>
          </a:p>
        </p:txBody>
      </p:sp>
      <p:sp>
        <p:nvSpPr>
          <p:cNvPr id="32" name="object 31">
            <a:extLst>
              <a:ext uri="{FF2B5EF4-FFF2-40B4-BE49-F238E27FC236}">
                <a16:creationId xmlns:a16="http://schemas.microsoft.com/office/drawing/2014/main" id="{069CA8ED-5916-C7DD-5523-D314A9256BF7}"/>
              </a:ext>
            </a:extLst>
          </p:cNvPr>
          <p:cNvSpPr txBox="1"/>
          <p:nvPr/>
        </p:nvSpPr>
        <p:spPr>
          <a:xfrm>
            <a:off x="3757628" y="1468194"/>
            <a:ext cx="925606" cy="543226"/>
          </a:xfrm>
          <a:prstGeom prst="rect">
            <a:avLst/>
          </a:prstGeom>
        </p:spPr>
        <p:txBody>
          <a:bodyPr vert="horz" wrap="square" lIns="0" tIns="0" rIns="0" bIns="0" rtlCol="0">
            <a:spAutoFit/>
          </a:bodyPr>
          <a:lstStyle/>
          <a:p>
            <a:pPr marL="11206" marR="4483" indent="26335"/>
            <a:r>
              <a:rPr sz="1765" b="1" dirty="0">
                <a:solidFill>
                  <a:srgbClr val="FFFFFF"/>
                </a:solidFill>
                <a:latin typeface="Gill Sans MT"/>
                <a:cs typeface="Gill Sans MT"/>
              </a:rPr>
              <a:t>Does </a:t>
            </a:r>
            <a:r>
              <a:rPr sz="1765" b="1" spc="4" dirty="0">
                <a:solidFill>
                  <a:srgbClr val="FFFFFF"/>
                </a:solidFill>
                <a:latin typeface="Gill Sans MT"/>
                <a:cs typeface="Gill Sans MT"/>
              </a:rPr>
              <a:t>C</a:t>
            </a:r>
            <a:r>
              <a:rPr sz="1721" b="1" spc="6" baseline="-21367" dirty="0">
                <a:solidFill>
                  <a:srgbClr val="FFFFFF"/>
                </a:solidFill>
                <a:latin typeface="Gill Sans MT"/>
                <a:cs typeface="Gill Sans MT"/>
              </a:rPr>
              <a:t>e  </a:t>
            </a:r>
            <a:r>
              <a:rPr sz="1765" b="1" dirty="0">
                <a:solidFill>
                  <a:srgbClr val="FFFFFF"/>
                </a:solidFill>
                <a:latin typeface="Gill Sans MT"/>
                <a:cs typeface="Gill Sans MT"/>
              </a:rPr>
              <a:t>validate?</a:t>
            </a:r>
            <a:endParaRPr sz="1765">
              <a:latin typeface="Gill Sans MT"/>
              <a:cs typeface="Gill Sans MT"/>
            </a:endParaRPr>
          </a:p>
        </p:txBody>
      </p:sp>
    </p:spTree>
    <p:custDataLst>
      <p:tags r:id="rId1"/>
    </p:custDataLst>
    <p:extLst>
      <p:ext uri="{BB962C8B-B14F-4D97-AF65-F5344CB8AC3E}">
        <p14:creationId xmlns:p14="http://schemas.microsoft.com/office/powerpoint/2010/main" val="1935640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504391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Certificate Pinning</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5982" marR="490844" indent="-235336">
              <a:lnSpc>
                <a:spcPct val="120000"/>
              </a:lnSpc>
            </a:pPr>
            <a:r>
              <a:rPr lang="en-US" sz="4400" b="1" dirty="0">
                <a:latin typeface="Avenir Next" panose="020B0503020202020204" pitchFamily="34" charset="0"/>
                <a:ea typeface="Roboto Medium" panose="02000000000000000000" pitchFamily="2" charset="0"/>
                <a:cs typeface="Gill Sans MT"/>
              </a:rPr>
              <a:t>Certificate pinning is a technique </a:t>
            </a:r>
            <a:r>
              <a:rPr lang="en-US" sz="4400" b="1" spc="-9" dirty="0">
                <a:latin typeface="Avenir Next" panose="020B0503020202020204" pitchFamily="34" charset="0"/>
                <a:ea typeface="Roboto Medium" panose="02000000000000000000" pitchFamily="2" charset="0"/>
                <a:cs typeface="Gill Sans MT"/>
              </a:rPr>
              <a:t>for  </a:t>
            </a:r>
            <a:r>
              <a:rPr lang="en-US" sz="4400" b="1" dirty="0">
                <a:latin typeface="Avenir Next" panose="020B0503020202020204" pitchFamily="34" charset="0"/>
                <a:ea typeface="Roboto Medium" panose="02000000000000000000" pitchFamily="2" charset="0"/>
                <a:cs typeface="Gill Sans MT"/>
              </a:rPr>
              <a:t>detecting sophisticated MitM</a:t>
            </a:r>
            <a:r>
              <a:rPr lang="en-US" sz="4400" b="1" spc="-93" dirty="0">
                <a:latin typeface="Avenir Next" panose="020B0503020202020204" pitchFamily="34" charset="0"/>
                <a:ea typeface="Roboto Medium" panose="02000000000000000000" pitchFamily="2" charset="0"/>
                <a:cs typeface="Gill Sans MT"/>
              </a:rPr>
              <a:t> </a:t>
            </a:r>
            <a:r>
              <a:rPr lang="en-US" sz="4400" b="1" dirty="0">
                <a:latin typeface="Avenir Next" panose="020B0503020202020204" pitchFamily="34" charset="0"/>
                <a:ea typeface="Roboto Medium" panose="02000000000000000000" pitchFamily="2" charset="0"/>
                <a:cs typeface="Gill Sans MT"/>
              </a:rPr>
              <a:t>attacks</a:t>
            </a:r>
          </a:p>
          <a:p>
            <a:pPr marL="492525" marR="33059" indent="-246543">
              <a:lnSpc>
                <a:spcPct val="120000"/>
              </a:lnSpc>
              <a:spcBef>
                <a:spcPts val="300"/>
              </a:spcBef>
            </a:pPr>
            <a:r>
              <a:rPr lang="en-US" sz="4400" spc="-13" dirty="0">
                <a:solidFill>
                  <a:srgbClr val="464653"/>
                </a:solidFill>
                <a:latin typeface="Avenir Next" panose="020B0503020202020204" pitchFamily="34" charset="0"/>
                <a:ea typeface="Roboto Medium" panose="02000000000000000000" pitchFamily="2" charset="0"/>
                <a:cs typeface="Gill Sans MT"/>
              </a:rPr>
              <a:t>Browser </a:t>
            </a:r>
            <a:r>
              <a:rPr lang="en-US" sz="4400" dirty="0">
                <a:solidFill>
                  <a:srgbClr val="464653"/>
                </a:solidFill>
                <a:latin typeface="Avenir Next" panose="020B0503020202020204" pitchFamily="34" charset="0"/>
                <a:ea typeface="Roboto Medium" panose="02000000000000000000" pitchFamily="2" charset="0"/>
                <a:cs typeface="Gill Sans MT"/>
              </a:rPr>
              <a:t>includes </a:t>
            </a:r>
            <a:r>
              <a:rPr lang="en-US" sz="4400" spc="4" dirty="0">
                <a:solidFill>
                  <a:srgbClr val="464653"/>
                </a:solidFill>
                <a:latin typeface="Avenir Next" panose="020B0503020202020204" pitchFamily="34" charset="0"/>
                <a:ea typeface="Roboto Medium" panose="02000000000000000000" pitchFamily="2" charset="0"/>
                <a:cs typeface="Gill Sans MT"/>
              </a:rPr>
              <a:t>certs </a:t>
            </a:r>
            <a:r>
              <a:rPr lang="en-US" sz="4400" spc="-13" dirty="0">
                <a:solidFill>
                  <a:srgbClr val="464653"/>
                </a:solidFill>
                <a:latin typeface="Avenir Next" panose="020B0503020202020204" pitchFamily="34" charset="0"/>
                <a:ea typeface="Roboto Medium" panose="02000000000000000000" pitchFamily="2" charset="0"/>
                <a:cs typeface="Gill Sans MT"/>
              </a:rPr>
              <a:t>from </a:t>
            </a:r>
            <a:r>
              <a:rPr lang="en-US" sz="4400" spc="-9" dirty="0">
                <a:solidFill>
                  <a:srgbClr val="464653"/>
                </a:solidFill>
                <a:latin typeface="Avenir Next" panose="020B0503020202020204" pitchFamily="34" charset="0"/>
                <a:ea typeface="Roboto Medium" panose="02000000000000000000" pitchFamily="2" charset="0"/>
                <a:cs typeface="Gill Sans MT"/>
              </a:rPr>
              <a:t>well-known  websites </a:t>
            </a:r>
            <a:r>
              <a:rPr lang="en-US" sz="4400" dirty="0">
                <a:solidFill>
                  <a:srgbClr val="464653"/>
                </a:solidFill>
                <a:latin typeface="Avenir Next" panose="020B0503020202020204" pitchFamily="34" charset="0"/>
                <a:ea typeface="Roboto Medium" panose="02000000000000000000" pitchFamily="2" charset="0"/>
                <a:cs typeface="Gill Sans MT"/>
              </a:rPr>
              <a:t>in the trusted </a:t>
            </a:r>
            <a:r>
              <a:rPr lang="en-US" sz="4400" spc="-31" dirty="0">
                <a:solidFill>
                  <a:srgbClr val="464653"/>
                </a:solidFill>
                <a:latin typeface="Avenir Next" panose="020B0503020202020204" pitchFamily="34" charset="0"/>
                <a:ea typeface="Roboto Medium" panose="02000000000000000000" pitchFamily="2" charset="0"/>
                <a:cs typeface="Gill Sans MT"/>
              </a:rPr>
              <a:t>key </a:t>
            </a:r>
            <a:r>
              <a:rPr lang="en-US" sz="4400" spc="-9" dirty="0">
                <a:solidFill>
                  <a:srgbClr val="464653"/>
                </a:solidFill>
                <a:latin typeface="Avenir Next" panose="020B0503020202020204" pitchFamily="34" charset="0"/>
                <a:ea typeface="Roboto Medium" panose="02000000000000000000" pitchFamily="2" charset="0"/>
                <a:cs typeface="Gill Sans MT"/>
              </a:rPr>
              <a:t>store </a:t>
            </a:r>
            <a:r>
              <a:rPr lang="en-US" sz="4400" spc="-13" dirty="0">
                <a:solidFill>
                  <a:srgbClr val="464653"/>
                </a:solidFill>
                <a:latin typeface="Avenir Next" panose="020B0503020202020204" pitchFamily="34" charset="0"/>
                <a:ea typeface="Roboto Medium" panose="02000000000000000000" pitchFamily="2" charset="0"/>
                <a:cs typeface="Gill Sans MT"/>
              </a:rPr>
              <a:t>by</a:t>
            </a:r>
            <a:r>
              <a:rPr lang="en-US" sz="4400" spc="-9" dirty="0">
                <a:solidFill>
                  <a:srgbClr val="464653"/>
                </a:solidFill>
                <a:latin typeface="Avenir Next" panose="020B0503020202020204" pitchFamily="34" charset="0"/>
                <a:ea typeface="Roboto Medium" panose="02000000000000000000" pitchFamily="2" charset="0"/>
                <a:cs typeface="Gill Sans MT"/>
              </a:rPr>
              <a:t> </a:t>
            </a:r>
            <a:r>
              <a:rPr lang="en-US" sz="4400" dirty="0">
                <a:solidFill>
                  <a:srgbClr val="464653"/>
                </a:solidFill>
                <a:latin typeface="Avenir Next" panose="020B0503020202020204" pitchFamily="34" charset="0"/>
                <a:ea typeface="Roboto Medium" panose="02000000000000000000" pitchFamily="2" charset="0"/>
                <a:cs typeface="Gill Sans MT"/>
              </a:rPr>
              <a:t>default</a:t>
            </a:r>
            <a:endParaRPr lang="en-US" sz="4400" dirty="0">
              <a:latin typeface="Avenir Next" panose="020B0503020202020204" pitchFamily="34" charset="0"/>
              <a:ea typeface="Roboto Medium" panose="02000000000000000000" pitchFamily="2" charset="0"/>
              <a:cs typeface="Gill Sans MT"/>
            </a:endParaRPr>
          </a:p>
          <a:p>
            <a:pPr marL="492525" marR="644933" indent="-246543">
              <a:lnSpc>
                <a:spcPct val="120000"/>
              </a:lnSpc>
              <a:spcBef>
                <a:spcPts val="353"/>
              </a:spcBef>
            </a:pPr>
            <a:r>
              <a:rPr lang="en-US" sz="4400" spc="-26" dirty="0">
                <a:solidFill>
                  <a:srgbClr val="464653"/>
                </a:solidFill>
                <a:latin typeface="Avenir Next" panose="020B0503020202020204" pitchFamily="34" charset="0"/>
                <a:ea typeface="Roboto Medium" panose="02000000000000000000" pitchFamily="2" charset="0"/>
                <a:cs typeface="Gill Sans MT"/>
              </a:rPr>
              <a:t>Usually, </a:t>
            </a:r>
            <a:r>
              <a:rPr lang="en-US" sz="4400" spc="-9" dirty="0">
                <a:solidFill>
                  <a:srgbClr val="464653"/>
                </a:solidFill>
                <a:latin typeface="Avenir Next" panose="020B0503020202020204" pitchFamily="34" charset="0"/>
                <a:ea typeface="Roboto Medium" panose="02000000000000000000" pitchFamily="2" charset="0"/>
                <a:cs typeface="Gill Sans MT"/>
              </a:rPr>
              <a:t>only </a:t>
            </a:r>
            <a:r>
              <a:rPr lang="en-US" sz="4400" spc="4" dirty="0">
                <a:solidFill>
                  <a:srgbClr val="464653"/>
                </a:solidFill>
                <a:latin typeface="Avenir Next" panose="020B0503020202020204" pitchFamily="34" charset="0"/>
                <a:ea typeface="Roboto Medium" panose="02000000000000000000" pitchFamily="2" charset="0"/>
                <a:cs typeface="Gill Sans MT"/>
              </a:rPr>
              <a:t>certs </a:t>
            </a:r>
            <a:r>
              <a:rPr lang="en-US" sz="4400" spc="-13" dirty="0">
                <a:solidFill>
                  <a:srgbClr val="464653"/>
                </a:solidFill>
                <a:latin typeface="Avenir Next" panose="020B0503020202020204" pitchFamily="34" charset="0"/>
                <a:ea typeface="Roboto Medium" panose="02000000000000000000" pitchFamily="2" charset="0"/>
                <a:cs typeface="Gill Sans MT"/>
              </a:rPr>
              <a:t>from root </a:t>
            </a:r>
            <a:r>
              <a:rPr lang="en-US" sz="4400" spc="13" dirty="0">
                <a:solidFill>
                  <a:srgbClr val="464653"/>
                </a:solidFill>
                <a:latin typeface="Avenir Next" panose="020B0503020202020204" pitchFamily="34" charset="0"/>
                <a:ea typeface="Roboto Medium" panose="02000000000000000000" pitchFamily="2" charset="0"/>
                <a:cs typeface="Gill Sans MT"/>
              </a:rPr>
              <a:t>CAs </a:t>
            </a:r>
            <a:r>
              <a:rPr lang="en-US" sz="4400" spc="-18" dirty="0">
                <a:solidFill>
                  <a:srgbClr val="464653"/>
                </a:solidFill>
                <a:latin typeface="Avenir Next" panose="020B0503020202020204" pitchFamily="34" charset="0"/>
                <a:ea typeface="Roboto Medium" panose="02000000000000000000" pitchFamily="2" charset="0"/>
                <a:cs typeface="Gill Sans MT"/>
              </a:rPr>
              <a:t>are  </a:t>
            </a:r>
            <a:r>
              <a:rPr lang="en-US" sz="4400" dirty="0">
                <a:solidFill>
                  <a:srgbClr val="464653"/>
                </a:solidFill>
                <a:latin typeface="Avenir Next" panose="020B0503020202020204" pitchFamily="34" charset="0"/>
                <a:ea typeface="Roboto Medium" panose="02000000000000000000" pitchFamily="2" charset="0"/>
                <a:cs typeface="Gill Sans MT"/>
              </a:rPr>
              <a:t>included in the trusted </a:t>
            </a:r>
            <a:r>
              <a:rPr lang="en-US" sz="4400" spc="-31" dirty="0">
                <a:solidFill>
                  <a:srgbClr val="464653"/>
                </a:solidFill>
                <a:latin typeface="Avenir Next" panose="020B0503020202020204" pitchFamily="34" charset="0"/>
                <a:ea typeface="Roboto Medium" panose="02000000000000000000" pitchFamily="2" charset="0"/>
                <a:cs typeface="Gill Sans MT"/>
              </a:rPr>
              <a:t>key</a:t>
            </a:r>
            <a:r>
              <a:rPr lang="en-US" sz="4400" spc="-88" dirty="0">
                <a:solidFill>
                  <a:srgbClr val="464653"/>
                </a:solidFill>
                <a:latin typeface="Avenir Next" panose="020B0503020202020204" pitchFamily="34" charset="0"/>
                <a:ea typeface="Roboto Medium" panose="02000000000000000000" pitchFamily="2" charset="0"/>
                <a:cs typeface="Gill Sans MT"/>
              </a:rPr>
              <a:t> </a:t>
            </a:r>
            <a:r>
              <a:rPr lang="en-US" sz="4400" spc="-9" dirty="0">
                <a:solidFill>
                  <a:srgbClr val="464653"/>
                </a:solidFill>
                <a:latin typeface="Avenir Next" panose="020B0503020202020204" pitchFamily="34" charset="0"/>
                <a:ea typeface="Roboto Medium" panose="02000000000000000000" pitchFamily="2" charset="0"/>
                <a:cs typeface="Gill Sans MT"/>
              </a:rPr>
              <a:t>store</a:t>
            </a:r>
            <a:endParaRPr lang="en-US" sz="4400" dirty="0">
              <a:latin typeface="Avenir Next" panose="020B0503020202020204" pitchFamily="34" charset="0"/>
              <a:ea typeface="Roboto Medium" panose="02000000000000000000" pitchFamily="2" charset="0"/>
              <a:cs typeface="Gill Sans MT"/>
            </a:endParaRPr>
          </a:p>
          <a:p>
            <a:pPr marL="245982" marR="390546" indent="-235336">
              <a:lnSpc>
                <a:spcPct val="120000"/>
              </a:lnSpc>
              <a:spcBef>
                <a:spcPts val="401"/>
              </a:spcBef>
            </a:pPr>
            <a:r>
              <a:rPr lang="en-US" sz="4400" b="1" spc="-4" dirty="0">
                <a:latin typeface="Avenir Next" panose="020B0503020202020204" pitchFamily="34" charset="0"/>
                <a:ea typeface="Roboto Medium" panose="02000000000000000000" pitchFamily="2" charset="0"/>
                <a:cs typeface="Gill Sans MT"/>
              </a:rPr>
              <a:t>Example: </a:t>
            </a:r>
            <a:r>
              <a:rPr lang="en-US" sz="4400" spc="-13" dirty="0">
                <a:latin typeface="Avenir Next" panose="020B0503020202020204" pitchFamily="34" charset="0"/>
                <a:ea typeface="Roboto Medium" panose="02000000000000000000" pitchFamily="2" charset="0"/>
                <a:cs typeface="Gill Sans MT"/>
              </a:rPr>
              <a:t>Chrome </a:t>
            </a:r>
            <a:r>
              <a:rPr lang="en-US" sz="4400" dirty="0">
                <a:latin typeface="Avenir Next" panose="020B0503020202020204" pitchFamily="34" charset="0"/>
                <a:ea typeface="Roboto Medium" panose="02000000000000000000" pitchFamily="2" charset="0"/>
                <a:cs typeface="Gill Sans MT"/>
              </a:rPr>
              <a:t>ships with pinned  copies of the *.</a:t>
            </a:r>
            <a:r>
              <a:rPr lang="en-US" sz="4400" dirty="0" err="1">
                <a:latin typeface="Avenir Next" panose="020B0503020202020204" pitchFamily="34" charset="0"/>
                <a:ea typeface="Roboto Medium" panose="02000000000000000000" pitchFamily="2" charset="0"/>
                <a:cs typeface="Gill Sans MT"/>
              </a:rPr>
              <a:t>google.com</a:t>
            </a:r>
            <a:r>
              <a:rPr lang="en-US" sz="4400" spc="-26" dirty="0">
                <a:latin typeface="Avenir Next" panose="020B0503020202020204" pitchFamily="34" charset="0"/>
                <a:ea typeface="Roboto Medium" panose="02000000000000000000" pitchFamily="2" charset="0"/>
                <a:cs typeface="Gill Sans MT"/>
              </a:rPr>
              <a:t> </a:t>
            </a:r>
            <a:r>
              <a:rPr lang="en-US" sz="4400" dirty="0">
                <a:latin typeface="Avenir Next" panose="020B0503020202020204" pitchFamily="34" charset="0"/>
                <a:ea typeface="Roboto Medium" panose="02000000000000000000" pitchFamily="2" charset="0"/>
                <a:cs typeface="Gill Sans MT"/>
              </a:rPr>
              <a:t>certificate</a:t>
            </a:r>
          </a:p>
          <a:p>
            <a:pPr marL="11206">
              <a:lnSpc>
                <a:spcPct val="120000"/>
              </a:lnSpc>
              <a:spcBef>
                <a:spcPts val="512"/>
              </a:spcBef>
            </a:pPr>
            <a:r>
              <a:rPr lang="en-US" sz="4400" b="1" dirty="0">
                <a:latin typeface="Avenir Next" panose="020B0503020202020204" pitchFamily="34" charset="0"/>
                <a:ea typeface="Roboto Medium" panose="02000000000000000000" pitchFamily="2" charset="0"/>
                <a:cs typeface="Gill Sans MT"/>
              </a:rPr>
              <a:t>Pinning </a:t>
            </a:r>
            <a:r>
              <a:rPr lang="en-US" sz="4400" b="1" spc="-22" dirty="0">
                <a:latin typeface="Avenir Next" panose="020B0503020202020204" pitchFamily="34" charset="0"/>
                <a:ea typeface="Roboto Medium" panose="02000000000000000000" pitchFamily="2" charset="0"/>
                <a:cs typeface="Gill Sans MT"/>
              </a:rPr>
              <a:t>isn’t </a:t>
            </a:r>
            <a:r>
              <a:rPr lang="en-US" sz="4400" b="1" dirty="0">
                <a:latin typeface="Avenir Next" panose="020B0503020202020204" pitchFamily="34" charset="0"/>
                <a:ea typeface="Roboto Medium" panose="02000000000000000000" pitchFamily="2" charset="0"/>
                <a:cs typeface="Gill Sans MT"/>
              </a:rPr>
              <a:t>just </a:t>
            </a:r>
            <a:r>
              <a:rPr lang="en-US" sz="4400" b="1" spc="-9" dirty="0">
                <a:latin typeface="Avenir Next" panose="020B0503020202020204" pitchFamily="34" charset="0"/>
                <a:ea typeface="Roboto Medium" panose="02000000000000000000" pitchFamily="2" charset="0"/>
                <a:cs typeface="Gill Sans MT"/>
              </a:rPr>
              <a:t>for</a:t>
            </a:r>
            <a:r>
              <a:rPr lang="en-US" sz="4400" b="1" spc="-26" dirty="0">
                <a:latin typeface="Avenir Next" panose="020B0503020202020204" pitchFamily="34" charset="0"/>
                <a:ea typeface="Roboto Medium" panose="02000000000000000000" pitchFamily="2" charset="0"/>
                <a:cs typeface="Gill Sans MT"/>
              </a:rPr>
              <a:t> </a:t>
            </a:r>
            <a:r>
              <a:rPr lang="en-US" sz="4400" b="1" spc="-13" dirty="0">
                <a:latin typeface="Avenir Next" panose="020B0503020202020204" pitchFamily="34" charset="0"/>
                <a:ea typeface="Roboto Medium" panose="02000000000000000000" pitchFamily="2" charset="0"/>
                <a:cs typeface="Gill Sans MT"/>
              </a:rPr>
              <a:t>browsers</a:t>
            </a:r>
            <a:endParaRPr lang="en-US" sz="4400" b="1" dirty="0">
              <a:latin typeface="Avenir Next" panose="020B0503020202020204" pitchFamily="34" charset="0"/>
              <a:ea typeface="Roboto Medium" panose="02000000000000000000" pitchFamily="2" charset="0"/>
              <a:cs typeface="Gill Sans MT"/>
            </a:endParaRPr>
          </a:p>
          <a:p>
            <a:pPr marL="492525" marR="4483" indent="-246543">
              <a:lnSpc>
                <a:spcPct val="120000"/>
              </a:lnSpc>
              <a:spcBef>
                <a:spcPts val="388"/>
              </a:spcBef>
            </a:pPr>
            <a:r>
              <a:rPr lang="en-US" sz="4400" spc="-13" dirty="0">
                <a:solidFill>
                  <a:srgbClr val="464653"/>
                </a:solidFill>
                <a:latin typeface="Avenir Next" panose="020B0503020202020204" pitchFamily="34" charset="0"/>
                <a:ea typeface="Roboto Medium" panose="02000000000000000000" pitchFamily="2" charset="0"/>
                <a:cs typeface="Gill Sans MT"/>
              </a:rPr>
              <a:t>Many </a:t>
            </a:r>
            <a:r>
              <a:rPr lang="en-US" sz="4400" spc="-9" dirty="0">
                <a:solidFill>
                  <a:srgbClr val="464653"/>
                </a:solidFill>
                <a:latin typeface="Avenir Next" panose="020B0503020202020204" pitchFamily="34" charset="0"/>
                <a:ea typeface="Roboto Medium" panose="02000000000000000000" pitchFamily="2" charset="0"/>
                <a:cs typeface="Gill Sans MT"/>
              </a:rPr>
              <a:t>Android </a:t>
            </a:r>
            <a:r>
              <a:rPr lang="en-US" sz="4400" dirty="0">
                <a:solidFill>
                  <a:srgbClr val="464653"/>
                </a:solidFill>
                <a:latin typeface="Avenir Next" panose="020B0503020202020204" pitchFamily="34" charset="0"/>
                <a:ea typeface="Roboto Medium" panose="02000000000000000000" pitchFamily="2" charset="0"/>
                <a:cs typeface="Gill Sans MT"/>
              </a:rPr>
              <a:t>and iPhone </a:t>
            </a:r>
            <a:r>
              <a:rPr lang="en-US" sz="4400" spc="-9" dirty="0">
                <a:solidFill>
                  <a:srgbClr val="464653"/>
                </a:solidFill>
                <a:latin typeface="Avenir Next" panose="020B0503020202020204" pitchFamily="34" charset="0"/>
                <a:ea typeface="Roboto Medium" panose="02000000000000000000" pitchFamily="2" charset="0"/>
                <a:cs typeface="Gill Sans MT"/>
              </a:rPr>
              <a:t>apps now </a:t>
            </a:r>
            <a:r>
              <a:rPr lang="en-US" sz="4400" dirty="0">
                <a:solidFill>
                  <a:srgbClr val="464653"/>
                </a:solidFill>
                <a:latin typeface="Avenir Next" panose="020B0503020202020204" pitchFamily="34" charset="0"/>
                <a:ea typeface="Roboto Medium" panose="02000000000000000000" pitchFamily="2" charset="0"/>
                <a:cs typeface="Gill Sans MT"/>
              </a:rPr>
              <a:t>include  pinned</a:t>
            </a:r>
            <a:r>
              <a:rPr lang="en-US" sz="4400" spc="-49" dirty="0">
                <a:solidFill>
                  <a:srgbClr val="464653"/>
                </a:solidFill>
                <a:latin typeface="Avenir Next" panose="020B0503020202020204" pitchFamily="34" charset="0"/>
                <a:ea typeface="Roboto Medium" panose="02000000000000000000" pitchFamily="2" charset="0"/>
                <a:cs typeface="Gill Sans MT"/>
              </a:rPr>
              <a:t> </a:t>
            </a:r>
            <a:r>
              <a:rPr lang="en-US" sz="4400" dirty="0">
                <a:solidFill>
                  <a:srgbClr val="464653"/>
                </a:solidFill>
                <a:latin typeface="Avenir Next" panose="020B0503020202020204" pitchFamily="34" charset="0"/>
                <a:ea typeface="Roboto Medium" panose="02000000000000000000" pitchFamily="2" charset="0"/>
                <a:cs typeface="Gill Sans MT"/>
              </a:rPr>
              <a:t>certificates</a:t>
            </a:r>
            <a:endParaRPr lang="en-US" sz="4400" dirty="0">
              <a:latin typeface="Avenir Next" panose="020B0503020202020204" pitchFamily="34" charset="0"/>
              <a:ea typeface="Roboto Medium" panose="02000000000000000000" pitchFamily="2" charset="0"/>
              <a:cs typeface="Gill Sans MT"/>
            </a:endParaRPr>
          </a:p>
          <a:p>
            <a:pPr marL="492525" marR="4483" indent="-246543">
              <a:lnSpc>
                <a:spcPct val="120000"/>
              </a:lnSpc>
              <a:spcBef>
                <a:spcPts val="388"/>
              </a:spcBef>
            </a:pPr>
            <a:r>
              <a:rPr lang="en-US" sz="4400" dirty="0">
                <a:solidFill>
                  <a:srgbClr val="464653"/>
                </a:solidFill>
                <a:latin typeface="Avenir Next" panose="020B0503020202020204" pitchFamily="34" charset="0"/>
                <a:ea typeface="Roboto Medium" panose="02000000000000000000" pitchFamily="2" charset="0"/>
                <a:cs typeface="Gill Sans MT"/>
              </a:rPr>
              <a:t>E.g., </a:t>
            </a:r>
            <a:r>
              <a:rPr lang="en-US" sz="4400" b="1" spc="-18" dirty="0">
                <a:solidFill>
                  <a:srgbClr val="464653"/>
                </a:solidFill>
                <a:latin typeface="Avenir Next" panose="020B0503020202020204" pitchFamily="34" charset="0"/>
                <a:ea typeface="Roboto Medium" panose="02000000000000000000" pitchFamily="2" charset="0"/>
                <a:cs typeface="Gill Sans MT"/>
              </a:rPr>
              <a:t>Facebook’s </a:t>
            </a:r>
            <a:r>
              <a:rPr lang="en-US" sz="4400" b="1" spc="-9" dirty="0">
                <a:solidFill>
                  <a:srgbClr val="464653"/>
                </a:solidFill>
                <a:latin typeface="Avenir Next" panose="020B0503020202020204" pitchFamily="34" charset="0"/>
                <a:ea typeface="Roboto Medium" panose="02000000000000000000" pitchFamily="2" charset="0"/>
                <a:cs typeface="Gill Sans MT"/>
              </a:rPr>
              <a:t>apps </a:t>
            </a:r>
            <a:r>
              <a:rPr lang="en-US" sz="4400" b="1" dirty="0">
                <a:solidFill>
                  <a:srgbClr val="464653"/>
                </a:solidFill>
                <a:latin typeface="Avenir Next" panose="020B0503020202020204" pitchFamily="34" charset="0"/>
                <a:ea typeface="Roboto Medium" panose="02000000000000000000" pitchFamily="2" charset="0"/>
                <a:cs typeface="Gill Sans MT"/>
              </a:rPr>
              <a:t>include a pinned</a:t>
            </a:r>
            <a:r>
              <a:rPr lang="en-US" sz="4400" b="1" spc="-229" dirty="0">
                <a:solidFill>
                  <a:srgbClr val="464653"/>
                </a:solidFill>
                <a:latin typeface="Avenir Next" panose="020B0503020202020204" pitchFamily="34" charset="0"/>
                <a:ea typeface="Roboto Medium" panose="02000000000000000000" pitchFamily="2" charset="0"/>
                <a:cs typeface="Gill Sans MT"/>
              </a:rPr>
              <a:t> </a:t>
            </a:r>
            <a:r>
              <a:rPr lang="en-US" sz="4400" b="1" spc="9" dirty="0">
                <a:solidFill>
                  <a:srgbClr val="464653"/>
                </a:solidFill>
                <a:latin typeface="Avenir Next" panose="020B0503020202020204" pitchFamily="34" charset="0"/>
                <a:ea typeface="Roboto Medium" panose="02000000000000000000" pitchFamily="2" charset="0"/>
                <a:cs typeface="Gill Sans MT"/>
              </a:rPr>
              <a:t>cert</a:t>
            </a:r>
            <a:endParaRPr lang="en-US" sz="4400" b="1" dirty="0">
              <a:latin typeface="Avenir Next" panose="020B0503020202020204" pitchFamily="34" charset="0"/>
              <a:ea typeface="Roboto Medium" panose="02000000000000000000" pitchFamily="2" charset="0"/>
              <a:cs typeface="Gill Sans MT"/>
            </a:endParaRPr>
          </a:p>
          <a:p>
            <a:pPr marL="313781" marR="645493" indent="-235336">
              <a:lnSpc>
                <a:spcPct val="120000"/>
              </a:lnSpc>
            </a:pPr>
            <a:endParaRPr lang="en-US" sz="44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2097039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Secret Key Compromise</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4400" b="1" spc="-9" dirty="0">
                <a:latin typeface="Avenir Next" panose="020B0503020202020204" pitchFamily="34" charset="0"/>
              </a:rPr>
              <a:t>Secret </a:t>
            </a:r>
            <a:r>
              <a:rPr lang="en-US" sz="4400" b="1" spc="-35" dirty="0">
                <a:latin typeface="Avenir Next" panose="020B0503020202020204" pitchFamily="34" charset="0"/>
              </a:rPr>
              <a:t>key </a:t>
            </a:r>
            <a:r>
              <a:rPr lang="en-US" sz="4400" b="1" spc="-9" dirty="0">
                <a:latin typeface="Avenir Next" panose="020B0503020202020204" pitchFamily="34" charset="0"/>
              </a:rPr>
              <a:t>compromise </a:t>
            </a:r>
            <a:r>
              <a:rPr lang="en-US" sz="4400" b="1" dirty="0">
                <a:latin typeface="Avenir Next" panose="020B0503020202020204" pitchFamily="34" charset="0"/>
              </a:rPr>
              <a:t>leads to </a:t>
            </a:r>
            <a:r>
              <a:rPr lang="en-US" sz="4400" b="1" spc="-13" dirty="0">
                <a:latin typeface="Avenir Next" panose="020B0503020202020204" pitchFamily="34" charset="0"/>
              </a:rPr>
              <a:t>many </a:t>
            </a:r>
            <a:r>
              <a:rPr lang="en-US" sz="4400" b="1" spc="-4" dirty="0">
                <a:latin typeface="Avenir Next" panose="020B0503020202020204" pitchFamily="34" charset="0"/>
              </a:rPr>
              <a:t>devastating</a:t>
            </a:r>
            <a:r>
              <a:rPr lang="en-US" sz="4400" b="1" spc="35" dirty="0">
                <a:latin typeface="Avenir Next" panose="020B0503020202020204" pitchFamily="34" charset="0"/>
              </a:rPr>
              <a:t> </a:t>
            </a:r>
            <a:r>
              <a:rPr lang="en-US" sz="4400" b="1" dirty="0">
                <a:latin typeface="Avenir Next" panose="020B0503020202020204" pitchFamily="34" charset="0"/>
              </a:rPr>
              <a:t>attacks</a:t>
            </a:r>
            <a:endParaRPr lang="en-US" sz="3200" b="1" dirty="0">
              <a:latin typeface="Avenir Next" panose="020B0503020202020204" pitchFamily="34" charset="0"/>
              <a:cs typeface="Times New Roman"/>
            </a:endParaRPr>
          </a:p>
          <a:p>
            <a:pPr marL="560324" marR="382141" indent="-246543">
              <a:lnSpc>
                <a:spcPct val="100000"/>
              </a:lnSpc>
              <a:spcBef>
                <a:spcPts val="529"/>
              </a:spcBef>
            </a:pPr>
            <a:r>
              <a:rPr lang="en-US" sz="3700" spc="-9" dirty="0">
                <a:solidFill>
                  <a:srgbClr val="464653"/>
                </a:solidFill>
                <a:latin typeface="Avenir Next" panose="020B0503020202020204" pitchFamily="34" charset="0"/>
              </a:rPr>
              <a:t>Attacker </a:t>
            </a:r>
            <a:r>
              <a:rPr lang="en-US" sz="3700" dirty="0">
                <a:solidFill>
                  <a:srgbClr val="464653"/>
                </a:solidFill>
                <a:latin typeface="Avenir Next" panose="020B0503020202020204" pitchFamily="34" charset="0"/>
              </a:rPr>
              <a:t>can </a:t>
            </a:r>
            <a:r>
              <a:rPr lang="en-US" sz="3700" spc="-4" dirty="0">
                <a:solidFill>
                  <a:srgbClr val="464653"/>
                </a:solidFill>
                <a:latin typeface="Avenir Next" panose="020B0503020202020204" pitchFamily="34" charset="0"/>
              </a:rPr>
              <a:t>successfully </a:t>
            </a:r>
            <a:r>
              <a:rPr lang="en-US" sz="3700" dirty="0">
                <a:solidFill>
                  <a:srgbClr val="464653"/>
                </a:solidFill>
                <a:latin typeface="Avenir Next" panose="020B0503020202020204" pitchFamily="34" charset="0"/>
              </a:rPr>
              <a:t>MitM TLS connections</a:t>
            </a:r>
            <a:r>
              <a:rPr lang="en-US" sz="3700" spc="-318" dirty="0">
                <a:solidFill>
                  <a:srgbClr val="464653"/>
                </a:solidFill>
                <a:latin typeface="Avenir Next" panose="020B0503020202020204" pitchFamily="34" charset="0"/>
              </a:rPr>
              <a:t> </a:t>
            </a:r>
            <a:r>
              <a:rPr lang="en-US" sz="3700" spc="4" dirty="0">
                <a:solidFill>
                  <a:srgbClr val="464653"/>
                </a:solidFill>
                <a:latin typeface="Avenir Next" panose="020B0503020202020204" pitchFamily="34" charset="0"/>
              </a:rPr>
              <a:t>(i.e.  </a:t>
            </a:r>
            <a:r>
              <a:rPr lang="en-US" sz="3700" spc="-9" dirty="0">
                <a:solidFill>
                  <a:srgbClr val="464653"/>
                </a:solidFill>
                <a:latin typeface="Avenir Next" panose="020B0503020202020204" pitchFamily="34" charset="0"/>
              </a:rPr>
              <a:t>future</a:t>
            </a:r>
            <a:r>
              <a:rPr lang="en-US" sz="3700" spc="-84" dirty="0">
                <a:solidFill>
                  <a:srgbClr val="464653"/>
                </a:solidFill>
                <a:latin typeface="Avenir Next" panose="020B0503020202020204" pitchFamily="34" charset="0"/>
              </a:rPr>
              <a:t> </a:t>
            </a:r>
            <a:r>
              <a:rPr lang="en-US" sz="3700" dirty="0">
                <a:solidFill>
                  <a:srgbClr val="464653"/>
                </a:solidFill>
                <a:latin typeface="Avenir Next" panose="020B0503020202020204" pitchFamily="34" charset="0"/>
              </a:rPr>
              <a:t>connections)</a:t>
            </a:r>
            <a:endParaRPr lang="en-US" sz="3700" dirty="0">
              <a:latin typeface="Avenir Next" panose="020B0503020202020204" pitchFamily="34" charset="0"/>
              <a:cs typeface="Times New Roman"/>
            </a:endParaRPr>
          </a:p>
          <a:p>
            <a:pPr marL="560324" marR="146245" indent="-246543">
              <a:lnSpc>
                <a:spcPct val="100000"/>
              </a:lnSpc>
              <a:spcBef>
                <a:spcPts val="441"/>
              </a:spcBef>
            </a:pPr>
            <a:r>
              <a:rPr lang="en-US" sz="3700" spc="-9" dirty="0">
                <a:solidFill>
                  <a:srgbClr val="464653"/>
                </a:solidFill>
                <a:latin typeface="Avenir Next" panose="020B0503020202020204" pitchFamily="34" charset="0"/>
              </a:rPr>
              <a:t>Attacker </a:t>
            </a:r>
            <a:r>
              <a:rPr lang="en-US" sz="3700" dirty="0">
                <a:solidFill>
                  <a:srgbClr val="464653"/>
                </a:solidFill>
                <a:latin typeface="Avenir Next" panose="020B0503020202020204" pitchFamily="34" charset="0"/>
              </a:rPr>
              <a:t>can </a:t>
            </a:r>
            <a:r>
              <a:rPr lang="en-US" sz="3700" spc="9" dirty="0">
                <a:solidFill>
                  <a:srgbClr val="464653"/>
                </a:solidFill>
                <a:latin typeface="Avenir Next" panose="020B0503020202020204" pitchFamily="34" charset="0"/>
              </a:rPr>
              <a:t>decrypt </a:t>
            </a:r>
            <a:r>
              <a:rPr lang="en-US" sz="3700" dirty="0">
                <a:solidFill>
                  <a:srgbClr val="464653"/>
                </a:solidFill>
                <a:latin typeface="Avenir Next" panose="020B0503020202020204" pitchFamily="34" charset="0"/>
              </a:rPr>
              <a:t>historical TLS </a:t>
            </a:r>
            <a:r>
              <a:rPr lang="en-US" sz="3700" spc="-13" dirty="0">
                <a:solidFill>
                  <a:srgbClr val="464653"/>
                </a:solidFill>
                <a:latin typeface="Avenir Next" panose="020B0503020202020204" pitchFamily="34" charset="0"/>
              </a:rPr>
              <a:t>packets</a:t>
            </a:r>
            <a:r>
              <a:rPr lang="en-US" sz="3700" spc="-331" dirty="0">
                <a:solidFill>
                  <a:srgbClr val="464653"/>
                </a:solidFill>
                <a:latin typeface="Avenir Next" panose="020B0503020202020204" pitchFamily="34" charset="0"/>
              </a:rPr>
              <a:t> </a:t>
            </a:r>
            <a:r>
              <a:rPr lang="en-US" sz="3700" spc="4" dirty="0">
                <a:solidFill>
                  <a:srgbClr val="464653"/>
                </a:solidFill>
                <a:latin typeface="Avenir Next" panose="020B0503020202020204" pitchFamily="34" charset="0"/>
              </a:rPr>
              <a:t>encrypted  </a:t>
            </a:r>
            <a:r>
              <a:rPr lang="en-US" sz="3700" dirty="0">
                <a:solidFill>
                  <a:srgbClr val="464653"/>
                </a:solidFill>
                <a:latin typeface="Avenir Next" panose="020B0503020202020204" pitchFamily="34" charset="0"/>
              </a:rPr>
              <a:t>using the stolen</a:t>
            </a:r>
            <a:r>
              <a:rPr lang="en-US" sz="3700" spc="-88" dirty="0">
                <a:solidFill>
                  <a:srgbClr val="464653"/>
                </a:solidFill>
                <a:latin typeface="Avenir Next" panose="020B0503020202020204" pitchFamily="34" charset="0"/>
              </a:rPr>
              <a:t> </a:t>
            </a:r>
            <a:r>
              <a:rPr lang="en-US" sz="3700" spc="-35" dirty="0">
                <a:solidFill>
                  <a:srgbClr val="464653"/>
                </a:solidFill>
                <a:latin typeface="Avenir Next" panose="020B0503020202020204" pitchFamily="34" charset="0"/>
              </a:rPr>
              <a:t>key</a:t>
            </a:r>
            <a:endParaRPr lang="en-US" sz="3700" dirty="0">
              <a:latin typeface="Avenir Next" panose="020B0503020202020204" pitchFamily="34" charset="0"/>
              <a:cs typeface="Times New Roman"/>
            </a:endParaRPr>
          </a:p>
          <a:p>
            <a:pPr marL="313781" marR="808548" indent="-235336">
              <a:lnSpc>
                <a:spcPct val="100000"/>
              </a:lnSpc>
              <a:spcBef>
                <a:spcPts val="618"/>
              </a:spcBef>
            </a:pPr>
            <a:r>
              <a:rPr lang="en-US" sz="4400" b="1" dirty="0">
                <a:latin typeface="Avenir Next" panose="020B0503020202020204" pitchFamily="34" charset="0"/>
              </a:rPr>
              <a:t>Changing to a </a:t>
            </a:r>
            <a:r>
              <a:rPr lang="en-US" sz="4400" b="1" spc="-13" dirty="0">
                <a:latin typeface="Avenir Next" panose="020B0503020202020204" pitchFamily="34" charset="0"/>
              </a:rPr>
              <a:t>new </a:t>
            </a:r>
            <a:r>
              <a:rPr lang="en-US" sz="4400" b="1" spc="-9" dirty="0">
                <a:latin typeface="Avenir Next" panose="020B0503020202020204" pitchFamily="34" charset="0"/>
              </a:rPr>
              <a:t>keypair/cert </a:t>
            </a:r>
            <a:r>
              <a:rPr lang="en-US" sz="4400" b="1" dirty="0">
                <a:latin typeface="Avenir Next" panose="020B0503020202020204" pitchFamily="34" charset="0"/>
              </a:rPr>
              <a:t>does not </a:t>
            </a:r>
            <a:r>
              <a:rPr lang="en-US" sz="4400" b="1" spc="-13" dirty="0">
                <a:latin typeface="Avenir Next" panose="020B0503020202020204" pitchFamily="34" charset="0"/>
              </a:rPr>
              <a:t>solve </a:t>
            </a:r>
            <a:r>
              <a:rPr lang="en-US" sz="4400" b="1" dirty="0">
                <a:latin typeface="Avenir Next" panose="020B0503020202020204" pitchFamily="34" charset="0"/>
              </a:rPr>
              <a:t>the  </a:t>
            </a:r>
            <a:r>
              <a:rPr lang="en-US" sz="4400" b="1" spc="-9" dirty="0">
                <a:latin typeface="Avenir Next" panose="020B0503020202020204" pitchFamily="34" charset="0"/>
              </a:rPr>
              <a:t>problem!</a:t>
            </a:r>
            <a:endParaRPr lang="en-US" sz="3200" b="1" spc="-9" dirty="0">
              <a:latin typeface="Avenir Next" panose="020B0503020202020204" pitchFamily="34" charset="0"/>
              <a:cs typeface="Times New Roman"/>
            </a:endParaRPr>
          </a:p>
          <a:p>
            <a:pPr marL="770981" marR="808548" lvl="1" indent="-235336">
              <a:lnSpc>
                <a:spcPct val="100000"/>
              </a:lnSpc>
              <a:spcBef>
                <a:spcPts val="618"/>
              </a:spcBef>
            </a:pPr>
            <a:r>
              <a:rPr lang="en-US" sz="4000" dirty="0">
                <a:solidFill>
                  <a:srgbClr val="464653"/>
                </a:solidFill>
                <a:latin typeface="Avenir Next" panose="020B0503020202020204" pitchFamily="34" charset="0"/>
              </a:rPr>
              <a:t>The old, stolen </a:t>
            </a:r>
            <a:r>
              <a:rPr lang="en-US" sz="4000" spc="-35" dirty="0">
                <a:solidFill>
                  <a:srgbClr val="464653"/>
                </a:solidFill>
                <a:latin typeface="Avenir Next" panose="020B0503020202020204" pitchFamily="34" charset="0"/>
              </a:rPr>
              <a:t>key </a:t>
            </a:r>
            <a:r>
              <a:rPr lang="en-US" sz="4000" dirty="0">
                <a:solidFill>
                  <a:srgbClr val="464653"/>
                </a:solidFill>
                <a:latin typeface="Avenir Next" panose="020B0503020202020204" pitchFamily="34" charset="0"/>
              </a:rPr>
              <a:t>is still</a:t>
            </a:r>
            <a:r>
              <a:rPr lang="en-US" sz="4000" spc="-278" dirty="0">
                <a:solidFill>
                  <a:srgbClr val="464653"/>
                </a:solidFill>
                <a:latin typeface="Avenir Next" panose="020B0503020202020204" pitchFamily="34" charset="0"/>
              </a:rPr>
              <a:t> </a:t>
            </a:r>
            <a:r>
              <a:rPr lang="en-US" sz="4000" dirty="0">
                <a:solidFill>
                  <a:srgbClr val="464653"/>
                </a:solidFill>
                <a:latin typeface="Avenir Next" panose="020B0503020202020204" pitchFamily="34" charset="0"/>
              </a:rPr>
              <a:t>valid!</a:t>
            </a:r>
            <a:endParaRPr lang="en-US" sz="2800" dirty="0">
              <a:latin typeface="Avenir Next" panose="020B0503020202020204" pitchFamily="34" charset="0"/>
              <a:cs typeface="Times New Roman"/>
            </a:endParaRPr>
          </a:p>
          <a:p>
            <a:pPr marL="770981" marR="808548" lvl="1" indent="-235336">
              <a:lnSpc>
                <a:spcPct val="100000"/>
              </a:lnSpc>
              <a:spcBef>
                <a:spcPts val="618"/>
              </a:spcBef>
            </a:pPr>
            <a:r>
              <a:rPr lang="en-US" sz="4000" spc="-9" dirty="0">
                <a:solidFill>
                  <a:srgbClr val="464653"/>
                </a:solidFill>
                <a:latin typeface="Avenir Next" panose="020B0503020202020204" pitchFamily="34" charset="0"/>
              </a:rPr>
              <a:t>Attacker </a:t>
            </a:r>
            <a:r>
              <a:rPr lang="en-US" sz="4000" dirty="0">
                <a:solidFill>
                  <a:srgbClr val="464653"/>
                </a:solidFill>
                <a:latin typeface="Avenir Next" panose="020B0503020202020204" pitchFamily="34" charset="0"/>
              </a:rPr>
              <a:t>can still MitM</a:t>
            </a:r>
            <a:r>
              <a:rPr lang="en-US" sz="4000" spc="-62" dirty="0">
                <a:solidFill>
                  <a:srgbClr val="464653"/>
                </a:solidFill>
                <a:latin typeface="Avenir Next" panose="020B0503020202020204" pitchFamily="34" charset="0"/>
              </a:rPr>
              <a:t> </a:t>
            </a:r>
            <a:r>
              <a:rPr lang="en-US" sz="4000" dirty="0">
                <a:solidFill>
                  <a:srgbClr val="464653"/>
                </a:solidFill>
                <a:latin typeface="Avenir Next" panose="020B0503020202020204" pitchFamily="34" charset="0"/>
              </a:rPr>
              <a:t>connections!</a:t>
            </a:r>
            <a:endParaRPr lang="en-US" sz="40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30899847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Certificate Expiration</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426406" indent="-235336">
              <a:lnSpc>
                <a:spcPct val="100000"/>
              </a:lnSpc>
            </a:pPr>
            <a:r>
              <a:rPr lang="en-US" sz="4000" b="1" dirty="0">
                <a:latin typeface="Avenir Next" panose="020B0503020202020204" pitchFamily="34" charset="0"/>
              </a:rPr>
              <a:t>Certificate expiration is the  </a:t>
            </a:r>
            <a:r>
              <a:rPr lang="en-US" sz="4000" b="1" spc="-4" dirty="0">
                <a:latin typeface="Avenir Next" panose="020B0503020202020204" pitchFamily="34" charset="0"/>
              </a:rPr>
              <a:t>simplest, </a:t>
            </a:r>
            <a:r>
              <a:rPr lang="en-US" sz="4000" b="1" dirty="0">
                <a:latin typeface="Avenir Next" panose="020B0503020202020204" pitchFamily="34" charset="0"/>
              </a:rPr>
              <a:t>most fundamental  </a:t>
            </a:r>
            <a:r>
              <a:rPr lang="en-US" sz="4000" b="1" spc="-4" dirty="0">
                <a:latin typeface="Avenir Next" panose="020B0503020202020204" pitchFamily="34" charset="0"/>
              </a:rPr>
              <a:t>defense </a:t>
            </a:r>
            <a:r>
              <a:rPr lang="en-US" sz="4000" b="1" dirty="0">
                <a:latin typeface="Avenir Next" panose="020B0503020202020204" pitchFamily="34" charset="0"/>
              </a:rPr>
              <a:t>against </a:t>
            </a:r>
            <a:r>
              <a:rPr lang="en-US" sz="4000" b="1" spc="-9" dirty="0">
                <a:latin typeface="Avenir Next" panose="020B0503020202020204" pitchFamily="34" charset="0"/>
              </a:rPr>
              <a:t>secret </a:t>
            </a:r>
            <a:r>
              <a:rPr lang="en-US" sz="4000" b="1" spc="-35" dirty="0">
                <a:latin typeface="Avenir Next" panose="020B0503020202020204" pitchFamily="34" charset="0"/>
              </a:rPr>
              <a:t>key  </a:t>
            </a:r>
            <a:r>
              <a:rPr lang="en-US" sz="4000" b="1" spc="-9" dirty="0">
                <a:latin typeface="Avenir Next" panose="020B0503020202020204" pitchFamily="34" charset="0"/>
              </a:rPr>
              <a:t>compromise</a:t>
            </a:r>
            <a:endParaRPr lang="en-US" sz="3200" b="1" spc="-9" dirty="0">
              <a:latin typeface="Avenir Next" panose="020B0503020202020204" pitchFamily="34" charset="0"/>
              <a:cs typeface="Times New Roman"/>
            </a:endParaRPr>
          </a:p>
          <a:p>
            <a:pPr marL="703743" marR="426406" lvl="1" indent="-235336">
              <a:lnSpc>
                <a:spcPct val="100000"/>
              </a:lnSpc>
            </a:pPr>
            <a:r>
              <a:rPr lang="en-US" sz="3600" dirty="0">
                <a:solidFill>
                  <a:srgbClr val="464653"/>
                </a:solidFill>
                <a:latin typeface="Avenir Next" panose="020B0503020202020204" pitchFamily="34" charset="0"/>
              </a:rPr>
              <a:t>All certificates </a:t>
            </a:r>
            <a:r>
              <a:rPr lang="en-US" sz="3600" spc="-26" dirty="0">
                <a:solidFill>
                  <a:srgbClr val="464653"/>
                </a:solidFill>
                <a:latin typeface="Avenir Next" panose="020B0503020202020204" pitchFamily="34" charset="0"/>
              </a:rPr>
              <a:t>have </a:t>
            </a:r>
            <a:r>
              <a:rPr lang="en-US" sz="3600" dirty="0">
                <a:solidFill>
                  <a:srgbClr val="464653"/>
                </a:solidFill>
                <a:latin typeface="Avenir Next" panose="020B0503020202020204" pitchFamily="34" charset="0"/>
              </a:rPr>
              <a:t>an expiration  date</a:t>
            </a:r>
            <a:endParaRPr lang="en-US" sz="3600" dirty="0">
              <a:latin typeface="Avenir Next" panose="020B0503020202020204" pitchFamily="34" charset="0"/>
              <a:cs typeface="Times New Roman"/>
            </a:endParaRPr>
          </a:p>
          <a:p>
            <a:pPr marL="703743" marR="426406" lvl="1" indent="-235336">
              <a:lnSpc>
                <a:spcPct val="100000"/>
              </a:lnSpc>
            </a:pPr>
            <a:r>
              <a:rPr lang="en-US" sz="4000" dirty="0">
                <a:solidFill>
                  <a:srgbClr val="464653"/>
                </a:solidFill>
                <a:latin typeface="Avenir Next" panose="020B0503020202020204" pitchFamily="34" charset="0"/>
              </a:rPr>
              <a:t>A stolen </a:t>
            </a:r>
            <a:r>
              <a:rPr lang="en-US" sz="4000" spc="-31" dirty="0">
                <a:solidFill>
                  <a:srgbClr val="464653"/>
                </a:solidFill>
                <a:latin typeface="Avenir Next" panose="020B0503020202020204" pitchFamily="34" charset="0"/>
              </a:rPr>
              <a:t>key </a:t>
            </a:r>
            <a:r>
              <a:rPr lang="en-US" sz="4000" dirty="0">
                <a:solidFill>
                  <a:srgbClr val="464653"/>
                </a:solidFill>
                <a:latin typeface="Avenir Next" panose="020B0503020202020204" pitchFamily="34" charset="0"/>
              </a:rPr>
              <a:t>is </a:t>
            </a:r>
            <a:r>
              <a:rPr lang="en-US" sz="4000" spc="-9" dirty="0">
                <a:solidFill>
                  <a:srgbClr val="464653"/>
                </a:solidFill>
                <a:latin typeface="Avenir Next" panose="020B0503020202020204" pitchFamily="34" charset="0"/>
              </a:rPr>
              <a:t>only </a:t>
            </a:r>
            <a:r>
              <a:rPr lang="en-US" sz="4000" dirty="0">
                <a:solidFill>
                  <a:srgbClr val="464653"/>
                </a:solidFill>
                <a:latin typeface="Avenir Next" panose="020B0503020202020204" pitchFamily="34" charset="0"/>
              </a:rPr>
              <a:t>useful </a:t>
            </a:r>
            <a:r>
              <a:rPr lang="en-US" sz="4000" spc="-13" dirty="0">
                <a:solidFill>
                  <a:srgbClr val="464653"/>
                </a:solidFill>
                <a:latin typeface="Avenir Next" panose="020B0503020202020204" pitchFamily="34" charset="0"/>
              </a:rPr>
              <a:t>before  </a:t>
            </a:r>
            <a:r>
              <a:rPr lang="en-US" sz="4000" dirty="0">
                <a:solidFill>
                  <a:srgbClr val="464653"/>
                </a:solidFill>
                <a:latin typeface="Avenir Next" panose="020B0503020202020204" pitchFamily="34" charset="0"/>
              </a:rPr>
              <a:t>it</a:t>
            </a:r>
            <a:r>
              <a:rPr lang="en-US" sz="4000" spc="-66" dirty="0">
                <a:solidFill>
                  <a:srgbClr val="464653"/>
                </a:solidFill>
                <a:latin typeface="Avenir Next" panose="020B0503020202020204" pitchFamily="34" charset="0"/>
              </a:rPr>
              <a:t> </a:t>
            </a:r>
            <a:r>
              <a:rPr lang="en-US" sz="4000" spc="-9" dirty="0">
                <a:solidFill>
                  <a:srgbClr val="464653"/>
                </a:solidFill>
                <a:latin typeface="Avenir Next" panose="020B0503020202020204" pitchFamily="34" charset="0"/>
              </a:rPr>
              <a:t>expires</a:t>
            </a:r>
            <a:endParaRPr lang="en-US" sz="4000" dirty="0">
              <a:latin typeface="Avenir Next" panose="020B0503020202020204" pitchFamily="34" charset="0"/>
              <a:cs typeface="Times New Roman"/>
            </a:endParaRPr>
          </a:p>
          <a:p>
            <a:pPr marL="246543" marR="309299" indent="-235336">
              <a:lnSpc>
                <a:spcPct val="100000"/>
              </a:lnSpc>
              <a:spcBef>
                <a:spcPts val="574"/>
              </a:spcBef>
            </a:pPr>
            <a:r>
              <a:rPr lang="en-US" sz="4000" b="1" dirty="0">
                <a:latin typeface="Avenir Next" panose="020B0503020202020204" pitchFamily="34" charset="0"/>
              </a:rPr>
              <a:t>All </a:t>
            </a:r>
            <a:r>
              <a:rPr lang="en-US" sz="4000" b="1" spc="4" dirty="0">
                <a:latin typeface="Avenir Next" panose="020B0503020202020204" pitchFamily="34" charset="0"/>
              </a:rPr>
              <a:t>certs </a:t>
            </a:r>
            <a:r>
              <a:rPr lang="en-US" sz="4000" b="1" dirty="0">
                <a:latin typeface="Avenir Next" panose="020B0503020202020204" pitchFamily="34" charset="0"/>
              </a:rPr>
              <a:t>should </a:t>
            </a:r>
            <a:r>
              <a:rPr lang="en-US" sz="4000" b="1" spc="-31" dirty="0">
                <a:latin typeface="Avenir Next" panose="020B0503020202020204" pitchFamily="34" charset="0"/>
              </a:rPr>
              <a:t>have </a:t>
            </a:r>
            <a:r>
              <a:rPr lang="en-US" sz="4000" b="1" dirty="0">
                <a:latin typeface="Avenir Next" panose="020B0503020202020204" pitchFamily="34" charset="0"/>
              </a:rPr>
              <a:t>a </a:t>
            </a:r>
            <a:r>
              <a:rPr lang="en-US" sz="4000" b="1" spc="4" dirty="0">
                <a:latin typeface="Avenir Next" panose="020B0503020202020204" pitchFamily="34" charset="0"/>
              </a:rPr>
              <a:t>short  </a:t>
            </a:r>
            <a:r>
              <a:rPr lang="en-US" sz="4000" b="1" spc="-4" dirty="0">
                <a:latin typeface="Avenir Next" panose="020B0503020202020204" pitchFamily="34" charset="0"/>
              </a:rPr>
              <a:t>lifetime</a:t>
            </a:r>
            <a:endParaRPr lang="en-US" sz="3200" b="1" spc="-4" dirty="0">
              <a:latin typeface="Avenir Next" panose="020B0503020202020204" pitchFamily="34" charset="0"/>
              <a:cs typeface="Times New Roman"/>
            </a:endParaRPr>
          </a:p>
          <a:p>
            <a:pPr marL="703743" marR="309299" lvl="1" indent="-235336">
              <a:lnSpc>
                <a:spcPct val="100000"/>
              </a:lnSpc>
              <a:spcBef>
                <a:spcPts val="574"/>
              </a:spcBef>
            </a:pPr>
            <a:r>
              <a:rPr lang="en-US" sz="3600" dirty="0">
                <a:solidFill>
                  <a:srgbClr val="464653"/>
                </a:solidFill>
                <a:latin typeface="Avenir Next" panose="020B0503020202020204" pitchFamily="34" charset="0"/>
              </a:rPr>
              <a:t>Months, </a:t>
            </a:r>
            <a:r>
              <a:rPr lang="en-US" sz="3600" spc="-9" dirty="0">
                <a:solidFill>
                  <a:srgbClr val="464653"/>
                </a:solidFill>
                <a:latin typeface="Avenir Next" panose="020B0503020202020204" pitchFamily="34" charset="0"/>
              </a:rPr>
              <a:t>weeks,</a:t>
            </a:r>
            <a:r>
              <a:rPr lang="en-US" sz="3600" spc="-405" dirty="0">
                <a:solidFill>
                  <a:srgbClr val="464653"/>
                </a:solidFill>
                <a:latin typeface="Avenir Next" panose="020B0503020202020204" pitchFamily="34" charset="0"/>
              </a:rPr>
              <a:t> </a:t>
            </a:r>
            <a:r>
              <a:rPr lang="en-US" sz="3600" dirty="0">
                <a:solidFill>
                  <a:srgbClr val="464653"/>
                </a:solidFill>
                <a:latin typeface="Avenir Next" panose="020B0503020202020204" pitchFamily="34" charset="0"/>
              </a:rPr>
              <a:t>or </a:t>
            </a:r>
            <a:r>
              <a:rPr lang="en-US" sz="3600" spc="-18" dirty="0">
                <a:solidFill>
                  <a:srgbClr val="464653"/>
                </a:solidFill>
                <a:latin typeface="Avenir Next" panose="020B0503020202020204" pitchFamily="34" charset="0"/>
              </a:rPr>
              <a:t>even </a:t>
            </a:r>
            <a:r>
              <a:rPr lang="en-US" sz="3600" spc="-22" dirty="0">
                <a:solidFill>
                  <a:srgbClr val="464653"/>
                </a:solidFill>
                <a:latin typeface="Avenir Next" panose="020B0503020202020204" pitchFamily="34" charset="0"/>
              </a:rPr>
              <a:t>days</a:t>
            </a:r>
            <a:endParaRPr lang="en-US" sz="3600" dirty="0">
              <a:latin typeface="Avenir Next" panose="020B0503020202020204" pitchFamily="34" charset="0"/>
              <a:cs typeface="Times New Roman"/>
            </a:endParaRPr>
          </a:p>
          <a:p>
            <a:pPr marL="246543" marR="4483" indent="-235336">
              <a:lnSpc>
                <a:spcPct val="100000"/>
              </a:lnSpc>
              <a:spcBef>
                <a:spcPts val="503"/>
              </a:spcBef>
            </a:pPr>
            <a:r>
              <a:rPr lang="en-US" sz="4000" b="1" dirty="0">
                <a:latin typeface="Avenir Next" panose="020B0503020202020204" pitchFamily="34" charset="0"/>
              </a:rPr>
              <a:t>In </a:t>
            </a:r>
            <a:r>
              <a:rPr lang="en-US" sz="4000" b="1" spc="-9" dirty="0">
                <a:latin typeface="Avenir Next" panose="020B0503020202020204" pitchFamily="34" charset="0"/>
              </a:rPr>
              <a:t>reality, </a:t>
            </a:r>
            <a:r>
              <a:rPr lang="en-US" sz="4000" b="1" dirty="0">
                <a:latin typeface="Avenir Next" panose="020B0503020202020204" pitchFamily="34" charset="0"/>
              </a:rPr>
              <a:t>most </a:t>
            </a:r>
            <a:r>
              <a:rPr lang="en-US" sz="4000" b="1" spc="4" dirty="0">
                <a:latin typeface="Avenir Next" panose="020B0503020202020204" pitchFamily="34" charset="0"/>
              </a:rPr>
              <a:t>certs </a:t>
            </a:r>
            <a:r>
              <a:rPr lang="en-US" sz="4000" b="1" spc="-31" dirty="0">
                <a:latin typeface="Avenir Next" panose="020B0503020202020204" pitchFamily="34" charset="0"/>
              </a:rPr>
              <a:t>have </a:t>
            </a:r>
            <a:r>
              <a:rPr lang="en-US" sz="4000" b="1" dirty="0">
                <a:latin typeface="Avenir Next" panose="020B0503020202020204" pitchFamily="34" charset="0"/>
              </a:rPr>
              <a:t>a one-</a:t>
            </a:r>
            <a:r>
              <a:rPr lang="en-US" sz="4000" b="1" spc="-13" dirty="0">
                <a:latin typeface="Avenir Next" panose="020B0503020202020204" pitchFamily="34" charset="0"/>
              </a:rPr>
              <a:t>year</a:t>
            </a:r>
            <a:r>
              <a:rPr lang="en-US" sz="4000" b="1" spc="-71" dirty="0">
                <a:latin typeface="Avenir Next" panose="020B0503020202020204" pitchFamily="34" charset="0"/>
              </a:rPr>
              <a:t> </a:t>
            </a:r>
            <a:r>
              <a:rPr lang="en-US" sz="4000" b="1" spc="-4" dirty="0">
                <a:latin typeface="Avenir Next" panose="020B0503020202020204" pitchFamily="34" charset="0"/>
              </a:rPr>
              <a:t>lifetime</a:t>
            </a:r>
          </a:p>
          <a:p>
            <a:pPr marL="703743" marR="4483" lvl="1" indent="-235336">
              <a:lnSpc>
                <a:spcPct val="100000"/>
              </a:lnSpc>
              <a:spcBef>
                <a:spcPts val="503"/>
              </a:spcBef>
            </a:pPr>
            <a:r>
              <a:rPr lang="en-US" sz="3600" dirty="0">
                <a:solidFill>
                  <a:srgbClr val="464653"/>
                </a:solidFill>
                <a:latin typeface="Avenir Next" panose="020B0503020202020204" pitchFamily="34" charset="0"/>
              </a:rPr>
              <a:t>This </a:t>
            </a:r>
            <a:r>
              <a:rPr lang="en-US" sz="3600" spc="-9" dirty="0">
                <a:solidFill>
                  <a:srgbClr val="464653"/>
                </a:solidFill>
                <a:latin typeface="Avenir Next" panose="020B0503020202020204" pitchFamily="34" charset="0"/>
              </a:rPr>
              <a:t>gives </a:t>
            </a:r>
            <a:r>
              <a:rPr lang="en-US" sz="3600" dirty="0">
                <a:solidFill>
                  <a:srgbClr val="464653"/>
                </a:solidFill>
                <a:latin typeface="Avenir Next" panose="020B0503020202020204" pitchFamily="34" charset="0"/>
              </a:rPr>
              <a:t>an </a:t>
            </a:r>
            <a:r>
              <a:rPr lang="en-US" sz="3600" spc="-9" dirty="0">
                <a:solidFill>
                  <a:srgbClr val="464653"/>
                </a:solidFill>
                <a:latin typeface="Avenir Next" panose="020B0503020202020204" pitchFamily="34" charset="0"/>
              </a:rPr>
              <a:t>attacker </a:t>
            </a:r>
            <a:r>
              <a:rPr lang="en-US" sz="3600" dirty="0">
                <a:solidFill>
                  <a:srgbClr val="464653"/>
                </a:solidFill>
                <a:latin typeface="Avenir Next" panose="020B0503020202020204" pitchFamily="34" charset="0"/>
              </a:rPr>
              <a:t>plenty of  time to abuse a stolen</a:t>
            </a:r>
            <a:r>
              <a:rPr lang="en-US" sz="3600" spc="-84" dirty="0">
                <a:solidFill>
                  <a:srgbClr val="464653"/>
                </a:solidFill>
                <a:latin typeface="Avenir Next" panose="020B0503020202020204" pitchFamily="34" charset="0"/>
              </a:rPr>
              <a:t> </a:t>
            </a:r>
            <a:r>
              <a:rPr lang="en-US" sz="3600" spc="-31" dirty="0">
                <a:solidFill>
                  <a:srgbClr val="464653"/>
                </a:solidFill>
                <a:latin typeface="Avenir Next" panose="020B0503020202020204" pitchFamily="34" charset="0"/>
              </a:rPr>
              <a:t>key</a:t>
            </a:r>
            <a:endParaRPr lang="en-US" sz="36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3087168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Perfect Forward Secrecy</a:t>
            </a:r>
            <a:endParaRPr lang="en-US" sz="4000" dirty="0">
              <a:solidFill>
                <a:schemeClr val="bg1"/>
              </a:solidFill>
              <a:latin typeface="Playfair Display Medium" pitchFamily="2" charset="77"/>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204518" indent="-235336" algn="just">
              <a:lnSpc>
                <a:spcPct val="100000"/>
              </a:lnSpc>
            </a:pPr>
            <a:r>
              <a:rPr lang="en-US" sz="4000" b="1" spc="-13" dirty="0">
                <a:latin typeface="Avenir Next" panose="020B0503020202020204" pitchFamily="34" charset="0"/>
                <a:cs typeface="Gill Sans MT"/>
              </a:rPr>
              <a:t>Perfect Forward </a:t>
            </a:r>
            <a:r>
              <a:rPr lang="en-US" sz="4000" b="1" spc="-9" dirty="0">
                <a:latin typeface="Avenir Next" panose="020B0503020202020204" pitchFamily="34" charset="0"/>
                <a:cs typeface="Gill Sans MT"/>
              </a:rPr>
              <a:t>Secrecy </a:t>
            </a:r>
            <a:r>
              <a:rPr lang="en-US" sz="4000" b="1" spc="-4" dirty="0">
                <a:latin typeface="Avenir Next" panose="020B0503020202020204" pitchFamily="34" charset="0"/>
                <a:cs typeface="Gill Sans MT"/>
              </a:rPr>
              <a:t>(PFS) </a:t>
            </a:r>
            <a:r>
              <a:rPr lang="en-US" sz="4000" spc="-9" dirty="0">
                <a:latin typeface="Avenir Next" panose="020B0503020202020204" pitchFamily="34" charset="0"/>
                <a:cs typeface="Gill Sans MT"/>
              </a:rPr>
              <a:t>addresses </a:t>
            </a:r>
            <a:r>
              <a:rPr lang="en-US" sz="4000" dirty="0">
                <a:latin typeface="Avenir Next" panose="020B0503020202020204" pitchFamily="34" charset="0"/>
                <a:cs typeface="Gill Sans MT"/>
              </a:rPr>
              <a:t>the issue of an  </a:t>
            </a:r>
            <a:r>
              <a:rPr lang="en-US" sz="4000" spc="-9" dirty="0">
                <a:latin typeface="Avenir Next" panose="020B0503020202020204" pitchFamily="34" charset="0"/>
                <a:cs typeface="Gill Sans MT"/>
              </a:rPr>
              <a:t>attacker </a:t>
            </a:r>
            <a:r>
              <a:rPr lang="en-US" sz="4000" spc="4" dirty="0">
                <a:latin typeface="Avenir Next" panose="020B0503020202020204" pitchFamily="34" charset="0"/>
                <a:cs typeface="Gill Sans MT"/>
              </a:rPr>
              <a:t>decrypting </a:t>
            </a:r>
            <a:r>
              <a:rPr lang="en-US" sz="4000" dirty="0">
                <a:latin typeface="Avenir Next" panose="020B0503020202020204" pitchFamily="34" charset="0"/>
                <a:cs typeface="Gill Sans MT"/>
              </a:rPr>
              <a:t>past TLS sessions after a </a:t>
            </a:r>
            <a:r>
              <a:rPr lang="en-US" sz="4000" spc="-9" dirty="0">
                <a:latin typeface="Avenir Next" panose="020B0503020202020204" pitchFamily="34" charset="0"/>
                <a:cs typeface="Gill Sans MT"/>
              </a:rPr>
              <a:t>secret </a:t>
            </a:r>
            <a:r>
              <a:rPr lang="en-US" sz="4000" spc="-35" dirty="0">
                <a:latin typeface="Avenir Next" panose="020B0503020202020204" pitchFamily="34" charset="0"/>
                <a:cs typeface="Gill Sans MT"/>
              </a:rPr>
              <a:t>key  </a:t>
            </a:r>
            <a:r>
              <a:rPr lang="en-US" sz="4000" spc="-9" dirty="0">
                <a:latin typeface="Avenir Next" panose="020B0503020202020204" pitchFamily="34" charset="0"/>
                <a:cs typeface="Gill Sans MT"/>
              </a:rPr>
              <a:t>compromise</a:t>
            </a:r>
            <a:endParaRPr lang="en-US" sz="4000" dirty="0">
              <a:latin typeface="Avenir Next" panose="020B0503020202020204" pitchFamily="34" charset="0"/>
              <a:cs typeface="Gill Sans MT"/>
            </a:endParaRPr>
          </a:p>
          <a:p>
            <a:pPr marL="11206">
              <a:lnSpc>
                <a:spcPct val="100000"/>
              </a:lnSpc>
              <a:spcBef>
                <a:spcPts val="424"/>
              </a:spcBef>
            </a:pPr>
            <a:r>
              <a:rPr lang="en-US" sz="4000" dirty="0">
                <a:latin typeface="Avenir Next" panose="020B0503020202020204" pitchFamily="34" charset="0"/>
                <a:cs typeface="Gill Sans MT"/>
              </a:rPr>
              <a:t>Uses </a:t>
            </a:r>
            <a:r>
              <a:rPr lang="en-US" sz="4000" spc="-4" dirty="0">
                <a:latin typeface="Avenir Next" panose="020B0503020202020204" pitchFamily="34" charset="0"/>
                <a:cs typeface="Gill Sans MT"/>
              </a:rPr>
              <a:t>Diffie-Hellman </a:t>
            </a:r>
            <a:r>
              <a:rPr lang="en-US" sz="4000" dirty="0">
                <a:latin typeface="Avenir Next" panose="020B0503020202020204" pitchFamily="34" charset="0"/>
                <a:cs typeface="Gill Sans MT"/>
              </a:rPr>
              <a:t>to compute the TLS session</a:t>
            </a:r>
            <a:r>
              <a:rPr lang="en-US" sz="4000" spc="-318" dirty="0">
                <a:latin typeface="Avenir Next" panose="020B0503020202020204" pitchFamily="34" charset="0"/>
                <a:cs typeface="Gill Sans MT"/>
              </a:rPr>
              <a:t> </a:t>
            </a:r>
            <a:r>
              <a:rPr lang="en-US" sz="4000" spc="-35" dirty="0">
                <a:latin typeface="Avenir Next" panose="020B0503020202020204" pitchFamily="34" charset="0"/>
                <a:cs typeface="Gill Sans MT"/>
              </a:rPr>
              <a:t>key</a:t>
            </a:r>
            <a:endParaRPr lang="en-US" sz="4000" dirty="0">
              <a:latin typeface="Avenir Next" panose="020B0503020202020204" pitchFamily="34" charset="0"/>
              <a:cs typeface="Gill Sans MT"/>
            </a:endParaRPr>
          </a:p>
          <a:p>
            <a:pPr marL="493085" marR="170338" indent="-246543">
              <a:lnSpc>
                <a:spcPct val="100000"/>
              </a:lnSpc>
              <a:spcBef>
                <a:spcPts val="388"/>
              </a:spcBef>
            </a:pPr>
            <a:r>
              <a:rPr lang="en-US" sz="4000" dirty="0">
                <a:solidFill>
                  <a:srgbClr val="464653"/>
                </a:solidFill>
                <a:latin typeface="Avenir Next" panose="020B0503020202020204" pitchFamily="34" charset="0"/>
                <a:cs typeface="Gill Sans MT"/>
              </a:rPr>
              <a:t>Session </a:t>
            </a:r>
            <a:r>
              <a:rPr lang="en-US" sz="4000" spc="-31" dirty="0">
                <a:solidFill>
                  <a:srgbClr val="464653"/>
                </a:solidFill>
                <a:latin typeface="Avenir Next" panose="020B0503020202020204" pitchFamily="34" charset="0"/>
                <a:cs typeface="Gill Sans MT"/>
              </a:rPr>
              <a:t>key </a:t>
            </a:r>
            <a:r>
              <a:rPr lang="en-US" sz="4000" dirty="0">
                <a:solidFill>
                  <a:srgbClr val="464653"/>
                </a:solidFill>
                <a:latin typeface="Avenir Next" panose="020B0503020202020204" pitchFamily="34" charset="0"/>
                <a:cs typeface="Gill Sans MT"/>
              </a:rPr>
              <a:t>is </a:t>
            </a:r>
            <a:r>
              <a:rPr lang="en-US" sz="4000" spc="-18" dirty="0">
                <a:solidFill>
                  <a:srgbClr val="464653"/>
                </a:solidFill>
                <a:latin typeface="Avenir Next" panose="020B0503020202020204" pitchFamily="34" charset="0"/>
                <a:cs typeface="Gill Sans MT"/>
              </a:rPr>
              <a:t>never </a:t>
            </a:r>
            <a:r>
              <a:rPr lang="en-US" sz="4000" dirty="0">
                <a:solidFill>
                  <a:srgbClr val="464653"/>
                </a:solidFill>
                <a:latin typeface="Avenir Next" panose="020B0503020202020204" pitchFamily="34" charset="0"/>
                <a:cs typeface="Gill Sans MT"/>
              </a:rPr>
              <a:t>sent </a:t>
            </a:r>
            <a:r>
              <a:rPr lang="en-US" sz="4000" spc="-18" dirty="0">
                <a:solidFill>
                  <a:srgbClr val="464653"/>
                </a:solidFill>
                <a:latin typeface="Avenir Next" panose="020B0503020202020204" pitchFamily="34" charset="0"/>
                <a:cs typeface="Gill Sans MT"/>
              </a:rPr>
              <a:t>over </a:t>
            </a:r>
            <a:r>
              <a:rPr lang="en-US" sz="4000" dirty="0">
                <a:solidFill>
                  <a:srgbClr val="464653"/>
                </a:solidFill>
                <a:latin typeface="Avenir Next" panose="020B0503020202020204" pitchFamily="34" charset="0"/>
                <a:cs typeface="Gill Sans MT"/>
              </a:rPr>
              <a:t>the </a:t>
            </a:r>
            <a:r>
              <a:rPr lang="en-US" sz="4000" spc="-4" dirty="0">
                <a:solidFill>
                  <a:srgbClr val="464653"/>
                </a:solidFill>
                <a:latin typeface="Avenir Next" panose="020B0503020202020204" pitchFamily="34" charset="0"/>
                <a:cs typeface="Gill Sans MT"/>
              </a:rPr>
              <a:t>wire, </a:t>
            </a:r>
            <a:r>
              <a:rPr lang="en-US" sz="4000" dirty="0">
                <a:solidFill>
                  <a:srgbClr val="464653"/>
                </a:solidFill>
                <a:latin typeface="Avenir Next" panose="020B0503020202020204" pitchFamily="34" charset="0"/>
                <a:cs typeface="Gill Sans MT"/>
              </a:rPr>
              <a:t>and is </a:t>
            </a:r>
            <a:r>
              <a:rPr lang="en-US" sz="4000" spc="-4" dirty="0">
                <a:solidFill>
                  <a:srgbClr val="464653"/>
                </a:solidFill>
                <a:latin typeface="Avenir Next" panose="020B0503020202020204" pitchFamily="34" charset="0"/>
                <a:cs typeface="Gill Sans MT"/>
              </a:rPr>
              <a:t>discarded </a:t>
            </a:r>
            <a:r>
              <a:rPr lang="en-US" sz="4000" dirty="0">
                <a:solidFill>
                  <a:srgbClr val="464653"/>
                </a:solidFill>
                <a:latin typeface="Avenir Next" panose="020B0503020202020204" pitchFamily="34" charset="0"/>
                <a:cs typeface="Gill Sans MT"/>
              </a:rPr>
              <a:t>after  the session</a:t>
            </a:r>
            <a:r>
              <a:rPr lang="en-US" sz="4000" spc="-88" dirty="0">
                <a:solidFill>
                  <a:srgbClr val="464653"/>
                </a:solidFill>
                <a:latin typeface="Avenir Next" panose="020B0503020202020204" pitchFamily="34" charset="0"/>
                <a:cs typeface="Gill Sans MT"/>
              </a:rPr>
              <a:t> </a:t>
            </a:r>
            <a:r>
              <a:rPr lang="en-US" sz="4000" dirty="0">
                <a:solidFill>
                  <a:srgbClr val="464653"/>
                </a:solidFill>
                <a:latin typeface="Avenir Next" panose="020B0503020202020204" pitchFamily="34" charset="0"/>
                <a:cs typeface="Gill Sans MT"/>
              </a:rPr>
              <a:t>completes</a:t>
            </a:r>
            <a:endParaRPr lang="en-US" sz="4000" dirty="0">
              <a:latin typeface="Avenir Next" panose="020B0503020202020204" pitchFamily="34" charset="0"/>
              <a:cs typeface="Gill Sans MT"/>
            </a:endParaRPr>
          </a:p>
          <a:p>
            <a:pPr marL="493085" marR="4483" indent="-246543">
              <a:lnSpc>
                <a:spcPct val="100000"/>
              </a:lnSpc>
              <a:spcBef>
                <a:spcPts val="600"/>
              </a:spcBef>
            </a:pPr>
            <a:r>
              <a:rPr lang="en-US" sz="4000" dirty="0">
                <a:solidFill>
                  <a:srgbClr val="464653"/>
                </a:solidFill>
                <a:latin typeface="Avenir Next" panose="020B0503020202020204" pitchFamily="34" charset="0"/>
                <a:cs typeface="Gill Sans MT"/>
              </a:rPr>
              <a:t>Since the session </a:t>
            </a:r>
            <a:r>
              <a:rPr lang="en-US" sz="4000" spc="-31" dirty="0">
                <a:solidFill>
                  <a:srgbClr val="464653"/>
                </a:solidFill>
                <a:latin typeface="Avenir Next" panose="020B0503020202020204" pitchFamily="34" charset="0"/>
                <a:cs typeface="Gill Sans MT"/>
              </a:rPr>
              <a:t>key </a:t>
            </a:r>
            <a:r>
              <a:rPr lang="en-US" sz="4000" dirty="0">
                <a:solidFill>
                  <a:srgbClr val="464653"/>
                </a:solidFill>
                <a:latin typeface="Avenir Next" panose="020B0503020202020204" pitchFamily="34" charset="0"/>
                <a:cs typeface="Gill Sans MT"/>
              </a:rPr>
              <a:t>cannot be </a:t>
            </a:r>
            <a:r>
              <a:rPr lang="en-US" sz="4000" spc="-18" dirty="0">
                <a:solidFill>
                  <a:srgbClr val="464653"/>
                </a:solidFill>
                <a:latin typeface="Avenir Next" panose="020B0503020202020204" pitchFamily="34" charset="0"/>
                <a:cs typeface="Gill Sans MT"/>
              </a:rPr>
              <a:t>recovered, </a:t>
            </a:r>
            <a:r>
              <a:rPr lang="en-US" sz="4000" dirty="0">
                <a:solidFill>
                  <a:srgbClr val="464653"/>
                </a:solidFill>
                <a:latin typeface="Avenir Next" panose="020B0503020202020204" pitchFamily="34" charset="0"/>
                <a:cs typeface="Gill Sans MT"/>
              </a:rPr>
              <a:t>the </a:t>
            </a:r>
            <a:r>
              <a:rPr lang="en-US" sz="4000" spc="-9" dirty="0">
                <a:solidFill>
                  <a:srgbClr val="464653"/>
                </a:solidFill>
                <a:latin typeface="Avenir Next" panose="020B0503020202020204" pitchFamily="34" charset="0"/>
                <a:cs typeface="Gill Sans MT"/>
              </a:rPr>
              <a:t>attacker </a:t>
            </a:r>
            <a:r>
              <a:rPr lang="en-US" sz="4000" dirty="0">
                <a:solidFill>
                  <a:srgbClr val="464653"/>
                </a:solidFill>
                <a:latin typeface="Avenir Next" panose="020B0503020202020204" pitchFamily="34" charset="0"/>
                <a:cs typeface="Gill Sans MT"/>
              </a:rPr>
              <a:t>cannot  </a:t>
            </a:r>
            <a:r>
              <a:rPr lang="en-US" sz="4000" spc="4" dirty="0">
                <a:solidFill>
                  <a:srgbClr val="464653"/>
                </a:solidFill>
                <a:latin typeface="Avenir Next" panose="020B0503020202020204" pitchFamily="34" charset="0"/>
                <a:cs typeface="Gill Sans MT"/>
              </a:rPr>
              <a:t>decrypt </a:t>
            </a:r>
            <a:r>
              <a:rPr lang="en-US" sz="4000" dirty="0">
                <a:solidFill>
                  <a:srgbClr val="464653"/>
                </a:solidFill>
                <a:latin typeface="Avenir Next" panose="020B0503020202020204" pitchFamily="34" charset="0"/>
                <a:cs typeface="Gill Sans MT"/>
              </a:rPr>
              <a:t>historical</a:t>
            </a:r>
            <a:r>
              <a:rPr lang="en-US" sz="4000" spc="-449" dirty="0">
                <a:solidFill>
                  <a:srgbClr val="464653"/>
                </a:solidFill>
                <a:latin typeface="Avenir Next" panose="020B0503020202020204" pitchFamily="34" charset="0"/>
                <a:cs typeface="Gill Sans MT"/>
              </a:rPr>
              <a:t> </a:t>
            </a:r>
            <a:r>
              <a:rPr lang="en-US" sz="4000" dirty="0">
                <a:solidFill>
                  <a:srgbClr val="464653"/>
                </a:solidFill>
                <a:latin typeface="Avenir Next" panose="020B0503020202020204" pitchFamily="34" charset="0"/>
                <a:cs typeface="Gill Sans MT"/>
              </a:rPr>
              <a:t>TLS </a:t>
            </a:r>
            <a:r>
              <a:rPr lang="en-US" sz="4000" spc="-9" dirty="0">
                <a:solidFill>
                  <a:srgbClr val="464653"/>
                </a:solidFill>
                <a:latin typeface="Avenir Next" panose="020B0503020202020204" pitchFamily="34" charset="0"/>
                <a:cs typeface="Gill Sans MT"/>
              </a:rPr>
              <a:t>packets, </a:t>
            </a:r>
            <a:r>
              <a:rPr lang="en-US" sz="4000" spc="-22" dirty="0">
                <a:solidFill>
                  <a:srgbClr val="464653"/>
                </a:solidFill>
                <a:latin typeface="Avenir Next" panose="020B0503020202020204" pitchFamily="34" charset="0"/>
                <a:cs typeface="Gill Sans MT"/>
              </a:rPr>
              <a:t>even </a:t>
            </a:r>
            <a:r>
              <a:rPr lang="en-US" sz="4000" dirty="0">
                <a:solidFill>
                  <a:srgbClr val="464653"/>
                </a:solidFill>
                <a:latin typeface="Avenir Next" panose="020B0503020202020204" pitchFamily="34" charset="0"/>
                <a:cs typeface="Gill Sans MT"/>
              </a:rPr>
              <a:t>if </a:t>
            </a:r>
            <a:r>
              <a:rPr lang="en-US" sz="4000" spc="-9" dirty="0">
                <a:solidFill>
                  <a:srgbClr val="464653"/>
                </a:solidFill>
                <a:latin typeface="Avenir Next" panose="020B0503020202020204" pitchFamily="34" charset="0"/>
                <a:cs typeface="Gill Sans MT"/>
              </a:rPr>
              <a:t>they </a:t>
            </a:r>
            <a:r>
              <a:rPr lang="en-US" sz="4000" dirty="0">
                <a:solidFill>
                  <a:srgbClr val="464653"/>
                </a:solidFill>
                <a:latin typeface="Avenir Next" panose="020B0503020202020204" pitchFamily="34" charset="0"/>
                <a:cs typeface="Gill Sans MT"/>
              </a:rPr>
              <a:t>hold the </a:t>
            </a:r>
            <a:r>
              <a:rPr lang="en-US" sz="4000" spc="-9" dirty="0">
                <a:solidFill>
                  <a:srgbClr val="464653"/>
                </a:solidFill>
                <a:latin typeface="Avenir Next" panose="020B0503020202020204" pitchFamily="34" charset="0"/>
                <a:cs typeface="Gill Sans MT"/>
              </a:rPr>
              <a:t>secret </a:t>
            </a:r>
            <a:r>
              <a:rPr lang="en-US" sz="4000" spc="-31" dirty="0">
                <a:solidFill>
                  <a:srgbClr val="464653"/>
                </a:solidFill>
                <a:latin typeface="Avenir Next" panose="020B0503020202020204" pitchFamily="34" charset="0"/>
                <a:cs typeface="Gill Sans MT"/>
              </a:rPr>
              <a:t>key</a:t>
            </a:r>
            <a:endParaRPr lang="en-US" sz="4000" dirty="0">
              <a:latin typeface="Avenir Next" panose="020B0503020202020204" pitchFamily="34" charset="0"/>
              <a:cs typeface="Gill Sans MT"/>
            </a:endParaRPr>
          </a:p>
          <a:p>
            <a:pPr marL="246543" marR="234776" indent="-235336" algn="just">
              <a:lnSpc>
                <a:spcPct val="100000"/>
              </a:lnSpc>
              <a:spcBef>
                <a:spcPts val="600"/>
              </a:spcBef>
            </a:pPr>
            <a:r>
              <a:rPr lang="en-US" sz="4000" b="1" dirty="0">
                <a:latin typeface="Avenir Next" panose="020B0503020202020204" pitchFamily="34" charset="0"/>
                <a:cs typeface="Gill Sans MT"/>
              </a:rPr>
              <a:t>PFS</a:t>
            </a:r>
            <a:r>
              <a:rPr lang="en-US" sz="4000" b="1" spc="-13" dirty="0">
                <a:latin typeface="Avenir Next" panose="020B0503020202020204" pitchFamily="34" charset="0"/>
                <a:cs typeface="Gill Sans MT"/>
              </a:rPr>
              <a:t> </a:t>
            </a:r>
            <a:r>
              <a:rPr lang="en-US" sz="4000" b="1" dirty="0">
                <a:latin typeface="Avenir Next" panose="020B0503020202020204" pitchFamily="34" charset="0"/>
                <a:cs typeface="Gill Sans MT"/>
              </a:rPr>
              <a:t>does</a:t>
            </a:r>
            <a:r>
              <a:rPr lang="en-US" sz="4000" b="1" spc="-9" dirty="0">
                <a:latin typeface="Avenir Next" panose="020B0503020202020204" pitchFamily="34" charset="0"/>
                <a:cs typeface="Gill Sans MT"/>
              </a:rPr>
              <a:t> </a:t>
            </a:r>
            <a:r>
              <a:rPr lang="en-US" sz="4000" b="1" dirty="0">
                <a:latin typeface="Avenir Next" panose="020B0503020202020204" pitchFamily="34" charset="0"/>
                <a:cs typeface="Gill Sans MT"/>
              </a:rPr>
              <a:t>not</a:t>
            </a:r>
            <a:r>
              <a:rPr lang="en-US" sz="4000" b="1" spc="-13" dirty="0">
                <a:latin typeface="Avenir Next" panose="020B0503020202020204" pitchFamily="34" charset="0"/>
                <a:cs typeface="Gill Sans MT"/>
              </a:rPr>
              <a:t> </a:t>
            </a:r>
            <a:r>
              <a:rPr lang="en-US" sz="4000" b="1" spc="-22" dirty="0">
                <a:latin typeface="Avenir Next" panose="020B0503020202020204" pitchFamily="34" charset="0"/>
                <a:cs typeface="Gill Sans MT"/>
              </a:rPr>
              <a:t>prevent</a:t>
            </a:r>
            <a:r>
              <a:rPr lang="en-US" sz="4000" b="1" spc="-13" dirty="0">
                <a:latin typeface="Avenir Next" panose="020B0503020202020204" pitchFamily="34" charset="0"/>
                <a:cs typeface="Gill Sans MT"/>
              </a:rPr>
              <a:t> </a:t>
            </a:r>
            <a:r>
              <a:rPr lang="en-US" sz="4000" b="1" dirty="0" err="1">
                <a:latin typeface="Avenir Next" panose="020B0503020202020204" pitchFamily="34" charset="0"/>
                <a:cs typeface="Gill Sans MT"/>
              </a:rPr>
              <a:t>MiTM</a:t>
            </a:r>
            <a:r>
              <a:rPr lang="en-US" sz="4000" b="1" spc="-9" dirty="0">
                <a:latin typeface="Avenir Next" panose="020B0503020202020204" pitchFamily="34" charset="0"/>
                <a:cs typeface="Gill Sans MT"/>
              </a:rPr>
              <a:t> </a:t>
            </a:r>
            <a:r>
              <a:rPr lang="en-US" sz="4000" b="1" dirty="0">
                <a:latin typeface="Avenir Next" panose="020B0503020202020204" pitchFamily="34" charset="0"/>
                <a:cs typeface="Gill Sans MT"/>
              </a:rPr>
              <a:t>attacks;</a:t>
            </a:r>
            <a:r>
              <a:rPr lang="en-US" sz="4000" b="1" spc="-238" dirty="0">
                <a:latin typeface="Avenir Next" panose="020B0503020202020204" pitchFamily="34" charset="0"/>
                <a:cs typeface="Gill Sans MT"/>
              </a:rPr>
              <a:t> </a:t>
            </a:r>
            <a:r>
              <a:rPr lang="en-US" sz="4000" b="1" spc="-9" dirty="0">
                <a:latin typeface="Avenir Next" panose="020B0503020202020204" pitchFamily="34" charset="0"/>
                <a:cs typeface="Gill Sans MT"/>
              </a:rPr>
              <a:t>future</a:t>
            </a:r>
            <a:r>
              <a:rPr lang="en-US" sz="4000" b="1" spc="-291" dirty="0">
                <a:latin typeface="Avenir Next" panose="020B0503020202020204" pitchFamily="34" charset="0"/>
                <a:cs typeface="Gill Sans MT"/>
              </a:rPr>
              <a:t> </a:t>
            </a:r>
            <a:r>
              <a:rPr lang="en-US" sz="4000" b="1" dirty="0">
                <a:latin typeface="Avenir Next" panose="020B0503020202020204" pitchFamily="34" charset="0"/>
                <a:cs typeface="Gill Sans MT"/>
              </a:rPr>
              <a:t>TLS</a:t>
            </a:r>
            <a:r>
              <a:rPr lang="en-US" sz="4000" b="1" spc="-13" dirty="0">
                <a:latin typeface="Avenir Next" panose="020B0503020202020204" pitchFamily="34" charset="0"/>
                <a:cs typeface="Gill Sans MT"/>
              </a:rPr>
              <a:t> </a:t>
            </a:r>
            <a:r>
              <a:rPr lang="en-US" sz="4000" b="1" dirty="0">
                <a:latin typeface="Avenir Next" panose="020B0503020202020204" pitchFamily="34" charset="0"/>
                <a:cs typeface="Gill Sans MT"/>
              </a:rPr>
              <a:t>sessions  </a:t>
            </a:r>
            <a:r>
              <a:rPr lang="en-US" sz="4000" b="1" spc="-18" dirty="0">
                <a:latin typeface="Avenir Next" panose="020B0503020202020204" pitchFamily="34" charset="0"/>
                <a:cs typeface="Gill Sans MT"/>
              </a:rPr>
              <a:t>are </a:t>
            </a:r>
            <a:r>
              <a:rPr lang="en-US" sz="4000" b="1" dirty="0">
                <a:latin typeface="Avenir Next" panose="020B0503020202020204" pitchFamily="34" charset="0"/>
                <a:cs typeface="Gill Sans MT"/>
              </a:rPr>
              <a:t>still in</a:t>
            </a:r>
            <a:r>
              <a:rPr lang="en-US" sz="4000" b="1" spc="-71" dirty="0">
                <a:latin typeface="Avenir Next" panose="020B0503020202020204" pitchFamily="34" charset="0"/>
                <a:cs typeface="Gill Sans MT"/>
              </a:rPr>
              <a:t> </a:t>
            </a:r>
            <a:r>
              <a:rPr lang="en-US" sz="4000" b="1" dirty="0">
                <a:latin typeface="Avenir Next" panose="020B0503020202020204" pitchFamily="34" charset="0"/>
                <a:cs typeface="Gill Sans MT"/>
              </a:rPr>
              <a:t>danger</a:t>
            </a:r>
          </a:p>
        </p:txBody>
      </p:sp>
    </p:spTree>
    <p:custDataLst>
      <p:tags r:id="rId1"/>
    </p:custDataLst>
    <p:extLst>
      <p:ext uri="{BB962C8B-B14F-4D97-AF65-F5344CB8AC3E}">
        <p14:creationId xmlns:p14="http://schemas.microsoft.com/office/powerpoint/2010/main" val="3834436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748231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PFS-insecure Key Exchange</a:t>
            </a:r>
            <a:endParaRPr lang="en-US" sz="4000" dirty="0">
              <a:solidFill>
                <a:schemeClr val="bg1"/>
              </a:solidFill>
              <a:latin typeface="Playfair Display Medium" pitchFamily="2" charset="77"/>
            </a:endParaRPr>
          </a:p>
        </p:txBody>
      </p:sp>
      <p:sp>
        <p:nvSpPr>
          <p:cNvPr id="2" name="object 3">
            <a:extLst>
              <a:ext uri="{FF2B5EF4-FFF2-40B4-BE49-F238E27FC236}">
                <a16:creationId xmlns:a16="http://schemas.microsoft.com/office/drawing/2014/main" id="{468C4E63-0A77-E6E6-E79D-3926F906A671}"/>
              </a:ext>
            </a:extLst>
          </p:cNvPr>
          <p:cNvSpPr txBox="1"/>
          <p:nvPr/>
        </p:nvSpPr>
        <p:spPr>
          <a:xfrm>
            <a:off x="2841719" y="2160639"/>
            <a:ext cx="140634" cy="251159"/>
          </a:xfrm>
          <a:prstGeom prst="rect">
            <a:avLst/>
          </a:prstGeom>
        </p:spPr>
        <p:txBody>
          <a:bodyPr vert="horz" wrap="square" lIns="0" tIns="0" rIns="0" bIns="0" rtlCol="0">
            <a:spAutoFit/>
          </a:bodyPr>
          <a:lstStyle/>
          <a:p>
            <a:pPr marL="11206"/>
            <a:r>
              <a:rPr sz="1632" spc="4" dirty="0">
                <a:latin typeface="Gill Sans MT"/>
                <a:cs typeface="Gill Sans MT"/>
              </a:rPr>
              <a:t>B</a:t>
            </a:r>
            <a:endParaRPr sz="1632">
              <a:latin typeface="Gill Sans MT"/>
              <a:cs typeface="Gill Sans MT"/>
            </a:endParaRPr>
          </a:p>
        </p:txBody>
      </p:sp>
      <p:sp>
        <p:nvSpPr>
          <p:cNvPr id="3" name="object 4">
            <a:extLst>
              <a:ext uri="{FF2B5EF4-FFF2-40B4-BE49-F238E27FC236}">
                <a16:creationId xmlns:a16="http://schemas.microsoft.com/office/drawing/2014/main" id="{A84BA360-BBB3-1FBC-1E1E-990FD18E1BF0}"/>
              </a:ext>
            </a:extLst>
          </p:cNvPr>
          <p:cNvSpPr txBox="1"/>
          <p:nvPr/>
        </p:nvSpPr>
        <p:spPr>
          <a:xfrm>
            <a:off x="3116263" y="2530433"/>
            <a:ext cx="186577" cy="251159"/>
          </a:xfrm>
          <a:prstGeom prst="rect">
            <a:avLst/>
          </a:prstGeom>
        </p:spPr>
        <p:txBody>
          <a:bodyPr vert="horz" wrap="square" lIns="0" tIns="0" rIns="0" bIns="0" rtlCol="0">
            <a:spAutoFit/>
          </a:bodyPr>
          <a:lstStyle/>
          <a:p>
            <a:pPr marL="11206"/>
            <a:r>
              <a:rPr sz="1632" spc="4" dirty="0">
                <a:latin typeface="Gill Sans MT"/>
                <a:cs typeface="Gill Sans MT"/>
              </a:rPr>
              <a:t>B,</a:t>
            </a:r>
            <a:endParaRPr sz="1632">
              <a:latin typeface="Gill Sans MT"/>
              <a:cs typeface="Gill Sans MT"/>
            </a:endParaRPr>
          </a:p>
        </p:txBody>
      </p:sp>
      <p:sp>
        <p:nvSpPr>
          <p:cNvPr id="4" name="object 5">
            <a:extLst>
              <a:ext uri="{FF2B5EF4-FFF2-40B4-BE49-F238E27FC236}">
                <a16:creationId xmlns:a16="http://schemas.microsoft.com/office/drawing/2014/main" id="{286C2FBD-496C-FA3B-0364-878018477533}"/>
              </a:ext>
            </a:extLst>
          </p:cNvPr>
          <p:cNvSpPr txBox="1"/>
          <p:nvPr/>
        </p:nvSpPr>
        <p:spPr>
          <a:xfrm>
            <a:off x="2362492" y="1802329"/>
            <a:ext cx="6974541" cy="1493742"/>
          </a:xfrm>
          <a:prstGeom prst="rect">
            <a:avLst/>
          </a:prstGeom>
        </p:spPr>
        <p:txBody>
          <a:bodyPr vert="horz" wrap="square" lIns="0" tIns="0" rIns="0" bIns="0" rtlCol="0">
            <a:spAutoFit/>
          </a:bodyPr>
          <a:lstStyle/>
          <a:p>
            <a:pPr marL="246543" marR="4483" indent="-235336">
              <a:lnSpc>
                <a:spcPct val="99600"/>
              </a:lnSpc>
              <a:tabLst>
                <a:tab pos="666225" algn="l"/>
                <a:tab pos="965438" algn="l"/>
              </a:tabLst>
            </a:pPr>
            <a:r>
              <a:rPr sz="2294" dirty="0">
                <a:latin typeface="Gill Sans MT"/>
                <a:cs typeface="Gill Sans MT"/>
              </a:rPr>
              <a:t>If at some point in the </a:t>
            </a:r>
            <a:r>
              <a:rPr sz="2294" spc="-9" dirty="0">
                <a:latin typeface="Gill Sans MT"/>
                <a:cs typeface="Gill Sans MT"/>
              </a:rPr>
              <a:t>future </a:t>
            </a:r>
            <a:r>
              <a:rPr sz="2294" spc="-40" dirty="0">
                <a:latin typeface="Gill Sans MT"/>
                <a:cs typeface="Gill Sans MT"/>
              </a:rPr>
              <a:t>Bob’s </a:t>
            </a:r>
            <a:r>
              <a:rPr sz="2294" dirty="0">
                <a:latin typeface="Gill Sans MT"/>
                <a:cs typeface="Gill Sans MT"/>
              </a:rPr>
              <a:t>long term private </a:t>
            </a:r>
            <a:r>
              <a:rPr sz="2294" spc="-35" dirty="0">
                <a:latin typeface="Gill Sans MT"/>
                <a:cs typeface="Gill Sans MT"/>
              </a:rPr>
              <a:t>key  </a:t>
            </a:r>
            <a:r>
              <a:rPr sz="2471" dirty="0">
                <a:latin typeface="Gill Sans MT"/>
                <a:cs typeface="Gill Sans MT"/>
              </a:rPr>
              <a:t>S</a:t>
            </a:r>
            <a:r>
              <a:rPr sz="2449" baseline="-21021" dirty="0">
                <a:latin typeface="Gill Sans MT"/>
                <a:cs typeface="Gill Sans MT"/>
              </a:rPr>
              <a:t>k	</a:t>
            </a:r>
            <a:r>
              <a:rPr sz="2471" dirty="0">
                <a:latin typeface="Gill Sans MT"/>
                <a:cs typeface="Gill Sans MT"/>
              </a:rPr>
              <a:t>gets </a:t>
            </a:r>
            <a:r>
              <a:rPr sz="2471" spc="-9" dirty="0">
                <a:latin typeface="Gill Sans MT"/>
                <a:cs typeface="Gill Sans MT"/>
              </a:rPr>
              <a:t>compromised, </a:t>
            </a:r>
            <a:r>
              <a:rPr sz="2471" dirty="0">
                <a:latin typeface="Gill Sans MT"/>
                <a:cs typeface="Gill Sans MT"/>
              </a:rPr>
              <a:t>then the </a:t>
            </a:r>
            <a:r>
              <a:rPr sz="2471" spc="-13" dirty="0">
                <a:latin typeface="Gill Sans MT"/>
                <a:cs typeface="Gill Sans MT"/>
              </a:rPr>
              <a:t>attacker</a:t>
            </a:r>
            <a:r>
              <a:rPr sz="2471" spc="-251" dirty="0">
                <a:latin typeface="Gill Sans MT"/>
                <a:cs typeface="Gill Sans MT"/>
              </a:rPr>
              <a:t> </a:t>
            </a:r>
            <a:r>
              <a:rPr sz="2471" dirty="0">
                <a:latin typeface="Gill Sans MT"/>
                <a:cs typeface="Gill Sans MT"/>
              </a:rPr>
              <a:t>can</a:t>
            </a:r>
            <a:r>
              <a:rPr sz="2471" spc="-4" dirty="0">
                <a:latin typeface="Gill Sans MT"/>
                <a:cs typeface="Gill Sans MT"/>
              </a:rPr>
              <a:t> </a:t>
            </a:r>
            <a:r>
              <a:rPr sz="2471" spc="9" dirty="0">
                <a:latin typeface="Gill Sans MT"/>
                <a:cs typeface="Gill Sans MT"/>
              </a:rPr>
              <a:t>decrypt </a:t>
            </a:r>
            <a:r>
              <a:rPr sz="2471" dirty="0">
                <a:latin typeface="Gill Sans MT"/>
                <a:cs typeface="Gill Sans MT"/>
              </a:rPr>
              <a:t> E(P</a:t>
            </a:r>
            <a:r>
              <a:rPr sz="2449" baseline="-21021" dirty="0">
                <a:latin typeface="Gill Sans MT"/>
                <a:cs typeface="Gill Sans MT"/>
              </a:rPr>
              <a:t>k	</a:t>
            </a:r>
            <a:r>
              <a:rPr sz="2471" dirty="0">
                <a:latin typeface="Gill Sans MT"/>
                <a:cs typeface="Gill Sans MT"/>
              </a:rPr>
              <a:t>K) and get </a:t>
            </a:r>
            <a:r>
              <a:rPr sz="2471" spc="-4" dirty="0">
                <a:latin typeface="Gill Sans MT"/>
                <a:cs typeface="Gill Sans MT"/>
              </a:rPr>
              <a:t>session </a:t>
            </a:r>
            <a:r>
              <a:rPr sz="2471" spc="-40" dirty="0">
                <a:latin typeface="Gill Sans MT"/>
                <a:cs typeface="Gill Sans MT"/>
              </a:rPr>
              <a:t>key </a:t>
            </a:r>
            <a:r>
              <a:rPr sz="2471" dirty="0">
                <a:latin typeface="Gill Sans MT"/>
                <a:cs typeface="Gill Sans MT"/>
              </a:rPr>
              <a:t>K and then </a:t>
            </a:r>
            <a:r>
              <a:rPr sz="2471" spc="9" dirty="0">
                <a:latin typeface="Gill Sans MT"/>
                <a:cs typeface="Gill Sans MT"/>
              </a:rPr>
              <a:t>decrypt</a:t>
            </a:r>
            <a:r>
              <a:rPr sz="2471" spc="-9" dirty="0">
                <a:latin typeface="Gill Sans MT"/>
                <a:cs typeface="Gill Sans MT"/>
              </a:rPr>
              <a:t> </a:t>
            </a:r>
            <a:r>
              <a:rPr sz="2471" spc="-4" dirty="0">
                <a:latin typeface="Gill Sans MT"/>
                <a:cs typeface="Gill Sans MT"/>
              </a:rPr>
              <a:t>all </a:t>
            </a:r>
            <a:r>
              <a:rPr sz="2471" dirty="0">
                <a:latin typeface="Gill Sans MT"/>
                <a:cs typeface="Gill Sans MT"/>
              </a:rPr>
              <a:t> messages </a:t>
            </a:r>
            <a:r>
              <a:rPr sz="2471" spc="4" dirty="0">
                <a:latin typeface="Gill Sans MT"/>
                <a:cs typeface="Gill Sans MT"/>
              </a:rPr>
              <a:t>encrypted </a:t>
            </a:r>
            <a:r>
              <a:rPr sz="2471" spc="-4" dirty="0">
                <a:latin typeface="Gill Sans MT"/>
                <a:cs typeface="Gill Sans MT"/>
              </a:rPr>
              <a:t>with</a:t>
            </a:r>
            <a:r>
              <a:rPr sz="2471" spc="-57" dirty="0">
                <a:latin typeface="Gill Sans MT"/>
                <a:cs typeface="Gill Sans MT"/>
              </a:rPr>
              <a:t> </a:t>
            </a:r>
            <a:r>
              <a:rPr sz="2471" dirty="0">
                <a:latin typeface="Gill Sans MT"/>
                <a:cs typeface="Gill Sans MT"/>
              </a:rPr>
              <a:t>K</a:t>
            </a:r>
          </a:p>
        </p:txBody>
      </p:sp>
      <p:sp>
        <p:nvSpPr>
          <p:cNvPr id="7" name="object 6">
            <a:extLst>
              <a:ext uri="{FF2B5EF4-FFF2-40B4-BE49-F238E27FC236}">
                <a16:creationId xmlns:a16="http://schemas.microsoft.com/office/drawing/2014/main" id="{1E101207-BA98-63E5-1660-0FD683FE64FD}"/>
              </a:ext>
            </a:extLst>
          </p:cNvPr>
          <p:cNvSpPr/>
          <p:nvPr/>
        </p:nvSpPr>
        <p:spPr>
          <a:xfrm>
            <a:off x="2437280" y="3360945"/>
            <a:ext cx="1767728" cy="1367118"/>
          </a:xfrm>
          <a:prstGeom prst="rect">
            <a:avLst/>
          </a:prstGeom>
          <a:blipFill>
            <a:blip r:embed="rId4"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A9DF4C7E-08B3-C760-0BF7-B61294D27BD5}"/>
              </a:ext>
            </a:extLst>
          </p:cNvPr>
          <p:cNvSpPr/>
          <p:nvPr/>
        </p:nvSpPr>
        <p:spPr>
          <a:xfrm>
            <a:off x="8052190" y="3528385"/>
            <a:ext cx="1562032" cy="1125003"/>
          </a:xfrm>
          <a:prstGeom prst="rect">
            <a:avLst/>
          </a:prstGeom>
          <a:blipFill>
            <a:blip r:embed="rId5"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E9E36963-2DAA-7825-598F-9D03E88740ED}"/>
              </a:ext>
            </a:extLst>
          </p:cNvPr>
          <p:cNvSpPr txBox="1"/>
          <p:nvPr/>
        </p:nvSpPr>
        <p:spPr>
          <a:xfrm>
            <a:off x="2447206" y="4822932"/>
            <a:ext cx="989479" cy="327910"/>
          </a:xfrm>
          <a:prstGeom prst="rect">
            <a:avLst/>
          </a:prstGeom>
        </p:spPr>
        <p:txBody>
          <a:bodyPr vert="horz" wrap="square" lIns="0" tIns="0" rIns="0" bIns="0" rtlCol="0">
            <a:spAutoFit/>
          </a:bodyPr>
          <a:lstStyle/>
          <a:p>
            <a:pPr marL="290248">
              <a:lnSpc>
                <a:spcPts val="811"/>
              </a:lnSpc>
              <a:tabLst>
                <a:tab pos="847770" algn="l"/>
              </a:tabLst>
            </a:pPr>
            <a:r>
              <a:rPr sz="1412" b="1" dirty="0">
                <a:latin typeface="Arial"/>
                <a:cs typeface="Arial"/>
              </a:rPr>
              <a:t>A	A</a:t>
            </a:r>
            <a:endParaRPr sz="1412">
              <a:latin typeface="Arial"/>
              <a:cs typeface="Arial"/>
            </a:endParaRPr>
          </a:p>
          <a:p>
            <a:pPr marL="11206">
              <a:lnSpc>
                <a:spcPts val="1659"/>
              </a:lnSpc>
            </a:pPr>
            <a:r>
              <a:rPr sz="2118" b="1" dirty="0">
                <a:latin typeface="Arial"/>
                <a:cs typeface="Arial"/>
              </a:rPr>
              <a:t>P</a:t>
            </a:r>
            <a:r>
              <a:rPr sz="2118" b="1" baseline="-20833" dirty="0">
                <a:latin typeface="Arial"/>
                <a:cs typeface="Arial"/>
              </a:rPr>
              <a:t>k  </a:t>
            </a:r>
            <a:r>
              <a:rPr sz="2118" b="1" dirty="0">
                <a:latin typeface="Arial"/>
                <a:cs typeface="Arial"/>
              </a:rPr>
              <a:t>,</a:t>
            </a:r>
            <a:r>
              <a:rPr sz="2118" b="1" spc="-194" dirty="0">
                <a:latin typeface="Arial"/>
                <a:cs typeface="Arial"/>
              </a:rPr>
              <a:t> </a:t>
            </a:r>
            <a:r>
              <a:rPr sz="2118" b="1" dirty="0">
                <a:latin typeface="Arial"/>
                <a:cs typeface="Arial"/>
              </a:rPr>
              <a:t>S</a:t>
            </a:r>
            <a:r>
              <a:rPr sz="2118" b="1" baseline="-20833" dirty="0">
                <a:latin typeface="Arial"/>
                <a:cs typeface="Arial"/>
              </a:rPr>
              <a:t>k</a:t>
            </a:r>
            <a:endParaRPr sz="2118" baseline="-20833">
              <a:latin typeface="Arial"/>
              <a:cs typeface="Arial"/>
            </a:endParaRPr>
          </a:p>
        </p:txBody>
      </p:sp>
      <p:sp>
        <p:nvSpPr>
          <p:cNvPr id="10" name="object 9">
            <a:extLst>
              <a:ext uri="{FF2B5EF4-FFF2-40B4-BE49-F238E27FC236}">
                <a16:creationId xmlns:a16="http://schemas.microsoft.com/office/drawing/2014/main" id="{75B0B5F7-366B-2C10-72AF-5E174965AB04}"/>
              </a:ext>
            </a:extLst>
          </p:cNvPr>
          <p:cNvSpPr txBox="1"/>
          <p:nvPr/>
        </p:nvSpPr>
        <p:spPr>
          <a:xfrm>
            <a:off x="8334903" y="4822932"/>
            <a:ext cx="989479" cy="327910"/>
          </a:xfrm>
          <a:prstGeom prst="rect">
            <a:avLst/>
          </a:prstGeom>
        </p:spPr>
        <p:txBody>
          <a:bodyPr vert="horz" wrap="square" lIns="0" tIns="0" rIns="0" bIns="0" rtlCol="0">
            <a:spAutoFit/>
          </a:bodyPr>
          <a:lstStyle/>
          <a:p>
            <a:pPr marL="290248">
              <a:lnSpc>
                <a:spcPts val="811"/>
              </a:lnSpc>
              <a:tabLst>
                <a:tab pos="847770" algn="l"/>
              </a:tabLst>
            </a:pPr>
            <a:r>
              <a:rPr sz="1412" b="1" dirty="0">
                <a:latin typeface="Arial"/>
                <a:cs typeface="Arial"/>
              </a:rPr>
              <a:t>B	B</a:t>
            </a:r>
            <a:endParaRPr sz="1412">
              <a:latin typeface="Arial"/>
              <a:cs typeface="Arial"/>
            </a:endParaRPr>
          </a:p>
          <a:p>
            <a:pPr marL="11206">
              <a:lnSpc>
                <a:spcPts val="1659"/>
              </a:lnSpc>
            </a:pPr>
            <a:r>
              <a:rPr sz="2118" b="1" dirty="0">
                <a:latin typeface="Arial"/>
                <a:cs typeface="Arial"/>
              </a:rPr>
              <a:t>P</a:t>
            </a:r>
            <a:r>
              <a:rPr sz="2118" b="1" baseline="-20833" dirty="0">
                <a:latin typeface="Arial"/>
                <a:cs typeface="Arial"/>
              </a:rPr>
              <a:t>k  </a:t>
            </a:r>
            <a:r>
              <a:rPr sz="2118" b="1" dirty="0">
                <a:latin typeface="Arial"/>
                <a:cs typeface="Arial"/>
              </a:rPr>
              <a:t>,</a:t>
            </a:r>
            <a:r>
              <a:rPr sz="2118" b="1" spc="-194" dirty="0">
                <a:latin typeface="Arial"/>
                <a:cs typeface="Arial"/>
              </a:rPr>
              <a:t> </a:t>
            </a:r>
            <a:r>
              <a:rPr sz="2118" b="1" dirty="0">
                <a:latin typeface="Arial"/>
                <a:cs typeface="Arial"/>
              </a:rPr>
              <a:t>S</a:t>
            </a:r>
            <a:r>
              <a:rPr sz="2118" b="1" baseline="-20833" dirty="0">
                <a:latin typeface="Arial"/>
                <a:cs typeface="Arial"/>
              </a:rPr>
              <a:t>k</a:t>
            </a:r>
            <a:endParaRPr sz="2118" baseline="-20833">
              <a:latin typeface="Arial"/>
              <a:cs typeface="Arial"/>
            </a:endParaRPr>
          </a:p>
        </p:txBody>
      </p:sp>
      <p:sp>
        <p:nvSpPr>
          <p:cNvPr id="11" name="object 10">
            <a:extLst>
              <a:ext uri="{FF2B5EF4-FFF2-40B4-BE49-F238E27FC236}">
                <a16:creationId xmlns:a16="http://schemas.microsoft.com/office/drawing/2014/main" id="{0AAE06B4-AFA5-4F13-5E97-9BE7C0D5B672}"/>
              </a:ext>
            </a:extLst>
          </p:cNvPr>
          <p:cNvSpPr/>
          <p:nvPr/>
        </p:nvSpPr>
        <p:spPr>
          <a:xfrm>
            <a:off x="4310074" y="4285196"/>
            <a:ext cx="3541059" cy="0"/>
          </a:xfrm>
          <a:custGeom>
            <a:avLst/>
            <a:gdLst/>
            <a:ahLst/>
            <a:cxnLst/>
            <a:rect l="l" t="t" r="r" b="b"/>
            <a:pathLst>
              <a:path w="4013200">
                <a:moveTo>
                  <a:pt x="0" y="0"/>
                </a:moveTo>
                <a:lnTo>
                  <a:pt x="4013197" y="0"/>
                </a:lnTo>
              </a:path>
            </a:pathLst>
          </a:custGeom>
          <a:ln w="22224">
            <a:solidFill>
              <a:srgbClr val="000000"/>
            </a:solidFill>
          </a:ln>
        </p:spPr>
        <p:txBody>
          <a:bodyPr wrap="square" lIns="0" tIns="0" rIns="0" bIns="0" rtlCol="0"/>
          <a:lstStyle/>
          <a:p>
            <a:endParaRPr sz="1588"/>
          </a:p>
        </p:txBody>
      </p:sp>
      <p:sp>
        <p:nvSpPr>
          <p:cNvPr id="12" name="object 11">
            <a:extLst>
              <a:ext uri="{FF2B5EF4-FFF2-40B4-BE49-F238E27FC236}">
                <a16:creationId xmlns:a16="http://schemas.microsoft.com/office/drawing/2014/main" id="{457DCB87-4766-E58A-8445-A8B8EF2BBC87}"/>
              </a:ext>
            </a:extLst>
          </p:cNvPr>
          <p:cNvSpPr/>
          <p:nvPr/>
        </p:nvSpPr>
        <p:spPr>
          <a:xfrm>
            <a:off x="7806310" y="4251579"/>
            <a:ext cx="67235" cy="67235"/>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sz="1588"/>
          </a:p>
        </p:txBody>
      </p:sp>
      <p:sp>
        <p:nvSpPr>
          <p:cNvPr id="13" name="object 12">
            <a:extLst>
              <a:ext uri="{FF2B5EF4-FFF2-40B4-BE49-F238E27FC236}">
                <a16:creationId xmlns:a16="http://schemas.microsoft.com/office/drawing/2014/main" id="{1C0332F3-5370-4A41-FF04-B1DA610413AC}"/>
              </a:ext>
            </a:extLst>
          </p:cNvPr>
          <p:cNvSpPr txBox="1"/>
          <p:nvPr/>
        </p:nvSpPr>
        <p:spPr>
          <a:xfrm>
            <a:off x="4244867" y="3713640"/>
            <a:ext cx="3559548" cy="327910"/>
          </a:xfrm>
          <a:prstGeom prst="rect">
            <a:avLst/>
          </a:prstGeom>
        </p:spPr>
        <p:txBody>
          <a:bodyPr vert="horz" wrap="square" lIns="0" tIns="0" rIns="0" bIns="0" rtlCol="0">
            <a:spAutoFit/>
          </a:bodyPr>
          <a:lstStyle/>
          <a:p>
            <a:pPr marL="559203">
              <a:lnSpc>
                <a:spcPts val="811"/>
              </a:lnSpc>
              <a:tabLst>
                <a:tab pos="2143239" algn="l"/>
                <a:tab pos="2945623" algn="l"/>
              </a:tabLst>
            </a:pPr>
            <a:r>
              <a:rPr sz="1412" b="1" dirty="0">
                <a:latin typeface="Arial"/>
                <a:cs typeface="Arial"/>
              </a:rPr>
              <a:t>B	A	B,</a:t>
            </a:r>
            <a:endParaRPr sz="1412" dirty="0">
              <a:latin typeface="Arial"/>
              <a:cs typeface="Arial"/>
            </a:endParaRPr>
          </a:p>
          <a:p>
            <a:pPr marL="11206">
              <a:lnSpc>
                <a:spcPts val="1659"/>
              </a:lnSpc>
              <a:tabLst>
                <a:tab pos="3174796" algn="l"/>
              </a:tabLst>
            </a:pPr>
            <a:r>
              <a:rPr sz="2118" dirty="0">
                <a:latin typeface="Arial"/>
                <a:cs typeface="Arial"/>
              </a:rPr>
              <a:t>E(</a:t>
            </a:r>
            <a:r>
              <a:rPr sz="2118" b="1" dirty="0">
                <a:latin typeface="Arial"/>
                <a:cs typeface="Arial"/>
              </a:rPr>
              <a:t>P</a:t>
            </a:r>
            <a:r>
              <a:rPr sz="2118" b="1" baseline="-20833" dirty="0">
                <a:latin typeface="Arial"/>
                <a:cs typeface="Arial"/>
              </a:rPr>
              <a:t>k </a:t>
            </a:r>
            <a:r>
              <a:rPr sz="2118" b="1" spc="-158" baseline="-20833" dirty="0">
                <a:latin typeface="Arial"/>
                <a:cs typeface="Arial"/>
              </a:rPr>
              <a:t> </a:t>
            </a:r>
            <a:r>
              <a:rPr sz="2118" b="1" dirty="0">
                <a:latin typeface="Arial"/>
                <a:cs typeface="Arial"/>
              </a:rPr>
              <a:t>,</a:t>
            </a:r>
            <a:r>
              <a:rPr sz="2118" b="1" spc="-199" dirty="0">
                <a:latin typeface="Arial"/>
                <a:cs typeface="Arial"/>
              </a:rPr>
              <a:t> </a:t>
            </a:r>
            <a:r>
              <a:rPr sz="2118" b="1" dirty="0">
                <a:latin typeface="Arial"/>
                <a:cs typeface="Arial"/>
              </a:rPr>
              <a:t>K</a:t>
            </a:r>
            <a:r>
              <a:rPr sz="2118" dirty="0">
                <a:latin typeface="Arial"/>
                <a:cs typeface="Arial"/>
              </a:rPr>
              <a:t>)||Sign</a:t>
            </a:r>
            <a:r>
              <a:rPr sz="2118" spc="-4" dirty="0">
                <a:latin typeface="Arial"/>
                <a:cs typeface="Arial"/>
              </a:rPr>
              <a:t>(</a:t>
            </a:r>
            <a:r>
              <a:rPr sz="2118" b="1" dirty="0">
                <a:latin typeface="Arial"/>
                <a:cs typeface="Arial"/>
              </a:rPr>
              <a:t>S</a:t>
            </a:r>
            <a:r>
              <a:rPr sz="2118" b="1" baseline="-20833" dirty="0">
                <a:latin typeface="Arial"/>
                <a:cs typeface="Arial"/>
              </a:rPr>
              <a:t>k </a:t>
            </a:r>
            <a:r>
              <a:rPr sz="2118" b="1" spc="-158" baseline="-20833" dirty="0">
                <a:latin typeface="Arial"/>
                <a:cs typeface="Arial"/>
              </a:rPr>
              <a:t> </a:t>
            </a:r>
            <a:r>
              <a:rPr sz="2118" b="1" dirty="0">
                <a:latin typeface="Arial"/>
                <a:cs typeface="Arial"/>
              </a:rPr>
              <a:t>,</a:t>
            </a:r>
            <a:r>
              <a:rPr sz="2118" b="1" spc="-199" dirty="0">
                <a:latin typeface="Arial"/>
                <a:cs typeface="Arial"/>
              </a:rPr>
              <a:t> </a:t>
            </a:r>
            <a:r>
              <a:rPr sz="2118" dirty="0">
                <a:latin typeface="Arial"/>
                <a:cs typeface="Arial"/>
              </a:rPr>
              <a:t>E(</a:t>
            </a:r>
            <a:r>
              <a:rPr sz="2118" b="1" dirty="0">
                <a:latin typeface="Arial"/>
                <a:cs typeface="Arial"/>
              </a:rPr>
              <a:t>P</a:t>
            </a:r>
            <a:r>
              <a:rPr sz="2118" b="1" baseline="-20833" dirty="0">
                <a:latin typeface="Arial"/>
                <a:cs typeface="Arial"/>
              </a:rPr>
              <a:t>k	</a:t>
            </a:r>
            <a:r>
              <a:rPr sz="2118" b="1" dirty="0">
                <a:latin typeface="Arial"/>
                <a:cs typeface="Arial"/>
              </a:rPr>
              <a:t>K</a:t>
            </a:r>
            <a:r>
              <a:rPr sz="2118" dirty="0">
                <a:latin typeface="Arial"/>
                <a:cs typeface="Arial"/>
              </a:rPr>
              <a:t>))</a:t>
            </a:r>
          </a:p>
        </p:txBody>
      </p:sp>
    </p:spTree>
    <p:custDataLst>
      <p:tags r:id="rId1"/>
    </p:custDataLst>
    <p:extLst>
      <p:ext uri="{BB962C8B-B14F-4D97-AF65-F5344CB8AC3E}">
        <p14:creationId xmlns:p14="http://schemas.microsoft.com/office/powerpoint/2010/main" val="383457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Courier New" panose="02070309020205020404" pitchFamily="49" charset="0"/>
                <a:cs typeface="Courier New" panose="02070309020205020404" pitchFamily="49" charset="0"/>
              </a:rPr>
              <a:t>https://</a:t>
            </a:r>
            <a:r>
              <a:rPr lang="en-US" sz="4000" dirty="0" err="1">
                <a:solidFill>
                  <a:schemeClr val="bg1"/>
                </a:solidFill>
                <a:latin typeface="Courier New" panose="02070309020205020404" pitchFamily="49" charset="0"/>
                <a:cs typeface="Courier New" panose="02070309020205020404" pitchFamily="49" charset="0"/>
              </a:rPr>
              <a:t>weakdh.org</a:t>
            </a:r>
            <a:endParaRPr lang="en-US" sz="4000" dirty="0">
              <a:solidFill>
                <a:schemeClr val="bg1"/>
              </a:solidFill>
              <a:latin typeface="Courier New" panose="02070309020205020404" pitchFamily="49" charset="0"/>
              <a:cs typeface="Courier New" panose="02070309020205020404" pitchFamily="49" charset="0"/>
            </a:endParaRP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206" marR="4483">
              <a:lnSpc>
                <a:spcPct val="120000"/>
              </a:lnSpc>
              <a:spcBef>
                <a:spcPts val="93"/>
              </a:spcBef>
            </a:pPr>
            <a:r>
              <a:rPr lang="en-US" sz="4000" b="1" i="1" spc="-4" dirty="0">
                <a:solidFill>
                  <a:srgbClr val="35353E"/>
                </a:solidFill>
                <a:latin typeface="Avenir Next" panose="020B0503020202020204" pitchFamily="34" charset="0"/>
                <a:cs typeface="Gill Sans MT"/>
              </a:rPr>
              <a:t>Imperfect </a:t>
            </a:r>
            <a:r>
              <a:rPr lang="en-US" sz="4000" b="1" i="1" spc="-13" dirty="0">
                <a:solidFill>
                  <a:srgbClr val="35353E"/>
                </a:solidFill>
                <a:latin typeface="Avenir Next" panose="020B0503020202020204" pitchFamily="34" charset="0"/>
                <a:cs typeface="Gill Sans MT"/>
              </a:rPr>
              <a:t>Forward </a:t>
            </a:r>
            <a:r>
              <a:rPr lang="en-US" sz="4000" b="1" i="1" spc="-9" dirty="0">
                <a:solidFill>
                  <a:srgbClr val="35353E"/>
                </a:solidFill>
                <a:latin typeface="Avenir Next" panose="020B0503020202020204" pitchFamily="34" charset="0"/>
                <a:cs typeface="Gill Sans MT"/>
              </a:rPr>
              <a:t>Secrecy: </a:t>
            </a:r>
            <a:r>
              <a:rPr lang="en-US" sz="4000" b="1" i="1" spc="-26" dirty="0">
                <a:solidFill>
                  <a:srgbClr val="35353E"/>
                </a:solidFill>
                <a:latin typeface="Avenir Next" panose="020B0503020202020204" pitchFamily="34" charset="0"/>
                <a:cs typeface="Gill Sans MT"/>
              </a:rPr>
              <a:t>How </a:t>
            </a:r>
            <a:r>
              <a:rPr lang="en-US" sz="4000" b="1" i="1" spc="-4" dirty="0">
                <a:solidFill>
                  <a:srgbClr val="35353E"/>
                </a:solidFill>
                <a:latin typeface="Avenir Next" panose="020B0503020202020204" pitchFamily="34" charset="0"/>
                <a:cs typeface="Gill Sans MT"/>
              </a:rPr>
              <a:t>Diffie-Hellman </a:t>
            </a:r>
            <a:r>
              <a:rPr lang="en-US" sz="4000" b="1" i="1" spc="-9" dirty="0">
                <a:solidFill>
                  <a:srgbClr val="35353E"/>
                </a:solidFill>
                <a:latin typeface="Avenir Next" panose="020B0503020202020204" pitchFamily="34" charset="0"/>
                <a:cs typeface="Gill Sans MT"/>
              </a:rPr>
              <a:t>Fails </a:t>
            </a:r>
            <a:r>
              <a:rPr lang="en-US" sz="4000" b="1" i="1" dirty="0">
                <a:solidFill>
                  <a:srgbClr val="35353E"/>
                </a:solidFill>
                <a:latin typeface="Avenir Next" panose="020B0503020202020204" pitchFamily="34" charset="0"/>
                <a:cs typeface="Gill Sans MT"/>
              </a:rPr>
              <a:t>in Practice</a:t>
            </a:r>
            <a:r>
              <a:rPr lang="en-US" sz="4000" b="1" dirty="0">
                <a:solidFill>
                  <a:srgbClr val="35353E"/>
                </a:solidFill>
                <a:latin typeface="Avenir Next" panose="020B0503020202020204" pitchFamily="34" charset="0"/>
                <a:cs typeface="Gill Sans MT"/>
              </a:rPr>
              <a:t>,</a:t>
            </a:r>
            <a:r>
              <a:rPr lang="en-US" sz="4000" b="1" spc="-199" dirty="0">
                <a:solidFill>
                  <a:srgbClr val="35353E"/>
                </a:solidFill>
                <a:latin typeface="Avenir Next" panose="020B0503020202020204" pitchFamily="34" charset="0"/>
                <a:cs typeface="Gill Sans MT"/>
              </a:rPr>
              <a:t> </a:t>
            </a:r>
            <a:r>
              <a:rPr lang="en-US" sz="4000" dirty="0" err="1">
                <a:solidFill>
                  <a:srgbClr val="35353E"/>
                </a:solidFill>
                <a:latin typeface="Avenir Next" panose="020B0503020202020204" pitchFamily="34" charset="0"/>
                <a:cs typeface="Gill Sans MT"/>
              </a:rPr>
              <a:t>D.Adrian</a:t>
            </a:r>
            <a:r>
              <a:rPr lang="en-US" sz="4000" dirty="0">
                <a:solidFill>
                  <a:srgbClr val="35353E"/>
                </a:solidFill>
                <a:latin typeface="Avenir Next" panose="020B0503020202020204" pitchFamily="34" charset="0"/>
                <a:cs typeface="Gill Sans MT"/>
              </a:rPr>
              <a:t>,</a:t>
            </a:r>
            <a:r>
              <a:rPr lang="en-US" sz="4000" spc="-199" dirty="0">
                <a:solidFill>
                  <a:srgbClr val="35353E"/>
                </a:solidFill>
                <a:latin typeface="Avenir Next" panose="020B0503020202020204" pitchFamily="34" charset="0"/>
                <a:cs typeface="Gill Sans MT"/>
              </a:rPr>
              <a:t> </a:t>
            </a:r>
            <a:r>
              <a:rPr lang="en-US" sz="4000" dirty="0">
                <a:solidFill>
                  <a:srgbClr val="35353E"/>
                </a:solidFill>
                <a:latin typeface="Avenir Next" panose="020B0503020202020204" pitchFamily="34" charset="0"/>
                <a:cs typeface="Gill Sans MT"/>
              </a:rPr>
              <a:t>K.</a:t>
            </a:r>
            <a:r>
              <a:rPr lang="en-US" sz="4000" spc="-199" dirty="0">
                <a:solidFill>
                  <a:srgbClr val="35353E"/>
                </a:solidFill>
                <a:latin typeface="Avenir Next" panose="020B0503020202020204" pitchFamily="34" charset="0"/>
                <a:cs typeface="Gill Sans MT"/>
              </a:rPr>
              <a:t> </a:t>
            </a:r>
            <a:r>
              <a:rPr lang="en-US" sz="4000" spc="-9" dirty="0" err="1">
                <a:solidFill>
                  <a:srgbClr val="35353E"/>
                </a:solidFill>
                <a:latin typeface="Avenir Next" panose="020B0503020202020204" pitchFamily="34" charset="0"/>
                <a:cs typeface="Gill Sans MT"/>
              </a:rPr>
              <a:t>Bhargavan</a:t>
            </a:r>
            <a:r>
              <a:rPr lang="en-US" sz="4000" spc="-9"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spc="-4" dirty="0">
                <a:solidFill>
                  <a:srgbClr val="35353E"/>
                </a:solidFill>
                <a:latin typeface="Avenir Next" panose="020B0503020202020204" pitchFamily="34" charset="0"/>
                <a:cs typeface="Gill Sans MT"/>
              </a:rPr>
              <a:t>Z.</a:t>
            </a:r>
            <a:r>
              <a:rPr lang="en-US" sz="4000" spc="-194" dirty="0">
                <a:solidFill>
                  <a:srgbClr val="35353E"/>
                </a:solidFill>
                <a:latin typeface="Avenir Next" panose="020B0503020202020204" pitchFamily="34" charset="0"/>
                <a:cs typeface="Gill Sans MT"/>
              </a:rPr>
              <a:t> </a:t>
            </a:r>
            <a:r>
              <a:rPr lang="en-US" sz="4000" dirty="0" err="1">
                <a:solidFill>
                  <a:srgbClr val="35353E"/>
                </a:solidFill>
                <a:latin typeface="Avenir Next" panose="020B0503020202020204" pitchFamily="34" charset="0"/>
                <a:cs typeface="Gill Sans MT"/>
              </a:rPr>
              <a:t>Durumeric</a:t>
            </a:r>
            <a:r>
              <a:rPr lang="en-US" sz="4000"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spc="-185" dirty="0">
                <a:solidFill>
                  <a:srgbClr val="35353E"/>
                </a:solidFill>
                <a:latin typeface="Avenir Next" panose="020B0503020202020204" pitchFamily="34" charset="0"/>
                <a:cs typeface="Gill Sans MT"/>
              </a:rPr>
              <a:t>P.</a:t>
            </a:r>
            <a:r>
              <a:rPr lang="en-US" sz="4000" spc="-199" dirty="0">
                <a:solidFill>
                  <a:srgbClr val="35353E"/>
                </a:solidFill>
                <a:latin typeface="Avenir Next" panose="020B0503020202020204" pitchFamily="34" charset="0"/>
                <a:cs typeface="Gill Sans MT"/>
              </a:rPr>
              <a:t> </a:t>
            </a:r>
            <a:r>
              <a:rPr lang="en-US" sz="4000" spc="-18" dirty="0" err="1">
                <a:solidFill>
                  <a:srgbClr val="35353E"/>
                </a:solidFill>
                <a:latin typeface="Avenir Next" panose="020B0503020202020204" pitchFamily="34" charset="0"/>
                <a:cs typeface="Gill Sans MT"/>
              </a:rPr>
              <a:t>Gaudry</a:t>
            </a:r>
            <a:r>
              <a:rPr lang="en-US" sz="4000" spc="-18"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dirty="0">
                <a:solidFill>
                  <a:srgbClr val="35353E"/>
                </a:solidFill>
                <a:latin typeface="Avenir Next" panose="020B0503020202020204" pitchFamily="34" charset="0"/>
                <a:cs typeface="Gill Sans MT"/>
              </a:rPr>
              <a:t>M.  </a:t>
            </a:r>
            <a:r>
              <a:rPr lang="en-US" sz="4000" spc="13" dirty="0" err="1">
                <a:solidFill>
                  <a:srgbClr val="35353E"/>
                </a:solidFill>
                <a:latin typeface="Avenir Next" panose="020B0503020202020204" pitchFamily="34" charset="0"/>
                <a:cs typeface="Gill Sans MT"/>
              </a:rPr>
              <a:t>Green,A</a:t>
            </a:r>
            <a:r>
              <a:rPr lang="en-US" sz="4000" spc="13"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spc="-4" dirty="0" err="1">
                <a:solidFill>
                  <a:srgbClr val="35353E"/>
                </a:solidFill>
                <a:latin typeface="Avenir Next" panose="020B0503020202020204" pitchFamily="34" charset="0"/>
                <a:cs typeface="Gill Sans MT"/>
              </a:rPr>
              <a:t>Halderman</a:t>
            </a:r>
            <a:r>
              <a:rPr lang="en-US" sz="4000" spc="-4" dirty="0">
                <a:solidFill>
                  <a:srgbClr val="35353E"/>
                </a:solidFill>
                <a:latin typeface="Avenir Next" panose="020B0503020202020204" pitchFamily="34" charset="0"/>
                <a:cs typeface="Gill Sans MT"/>
              </a:rPr>
              <a:t>,</a:t>
            </a:r>
            <a:r>
              <a:rPr lang="en-US" sz="4000" spc="-190" dirty="0">
                <a:solidFill>
                  <a:srgbClr val="35353E"/>
                </a:solidFill>
                <a:latin typeface="Avenir Next" panose="020B0503020202020204" pitchFamily="34" charset="0"/>
                <a:cs typeface="Gill Sans MT"/>
              </a:rPr>
              <a:t> </a:t>
            </a:r>
            <a:r>
              <a:rPr lang="en-US" sz="4000" spc="-4" dirty="0">
                <a:solidFill>
                  <a:srgbClr val="35353E"/>
                </a:solidFill>
                <a:latin typeface="Avenir Next" panose="020B0503020202020204" pitchFamily="34" charset="0"/>
                <a:cs typeface="Gill Sans MT"/>
              </a:rPr>
              <a:t>N.</a:t>
            </a:r>
            <a:r>
              <a:rPr lang="en-US" sz="4000" spc="-190" dirty="0">
                <a:solidFill>
                  <a:srgbClr val="35353E"/>
                </a:solidFill>
                <a:latin typeface="Avenir Next" panose="020B0503020202020204" pitchFamily="34" charset="0"/>
                <a:cs typeface="Gill Sans MT"/>
              </a:rPr>
              <a:t> </a:t>
            </a:r>
            <a:r>
              <a:rPr lang="en-US" sz="4000" spc="-26" dirty="0" err="1">
                <a:solidFill>
                  <a:srgbClr val="35353E"/>
                </a:solidFill>
                <a:latin typeface="Avenir Next" panose="020B0503020202020204" pitchFamily="34" charset="0"/>
                <a:cs typeface="Gill Sans MT"/>
              </a:rPr>
              <a:t>Heninger</a:t>
            </a:r>
            <a:r>
              <a:rPr lang="en-US" sz="4000" spc="-26" dirty="0">
                <a:solidFill>
                  <a:srgbClr val="35353E"/>
                </a:solidFill>
                <a:latin typeface="Avenir Next" panose="020B0503020202020204" pitchFamily="34" charset="0"/>
                <a:cs typeface="Gill Sans MT"/>
              </a:rPr>
              <a:t>,</a:t>
            </a:r>
            <a:r>
              <a:rPr lang="en-US" sz="4000" spc="-190" dirty="0">
                <a:solidFill>
                  <a:srgbClr val="35353E"/>
                </a:solidFill>
                <a:latin typeface="Avenir Next" panose="020B0503020202020204" pitchFamily="34" charset="0"/>
                <a:cs typeface="Gill Sans MT"/>
              </a:rPr>
              <a:t> </a:t>
            </a:r>
            <a:r>
              <a:rPr lang="en-US" sz="4000" spc="-75" dirty="0">
                <a:solidFill>
                  <a:srgbClr val="35353E"/>
                </a:solidFill>
                <a:latin typeface="Avenir Next" panose="020B0503020202020204" pitchFamily="34" charset="0"/>
                <a:cs typeface="Gill Sans MT"/>
              </a:rPr>
              <a:t>D.</a:t>
            </a:r>
            <a:r>
              <a:rPr lang="en-US" sz="4000" spc="-194" dirty="0">
                <a:solidFill>
                  <a:srgbClr val="35353E"/>
                </a:solidFill>
                <a:latin typeface="Avenir Next" panose="020B0503020202020204" pitchFamily="34" charset="0"/>
                <a:cs typeface="Gill Sans MT"/>
              </a:rPr>
              <a:t> </a:t>
            </a:r>
            <a:r>
              <a:rPr lang="en-US" sz="4000" spc="-4" dirty="0">
                <a:solidFill>
                  <a:srgbClr val="35353E"/>
                </a:solidFill>
                <a:latin typeface="Avenir Next" panose="020B0503020202020204" pitchFamily="34" charset="0"/>
                <a:cs typeface="Gill Sans MT"/>
              </a:rPr>
              <a:t>Springall,</a:t>
            </a:r>
            <a:r>
              <a:rPr lang="en-US" sz="4000" spc="-190" dirty="0">
                <a:solidFill>
                  <a:srgbClr val="35353E"/>
                </a:solidFill>
                <a:latin typeface="Avenir Next" panose="020B0503020202020204" pitchFamily="34" charset="0"/>
                <a:cs typeface="Gill Sans MT"/>
              </a:rPr>
              <a:t> </a:t>
            </a:r>
            <a:r>
              <a:rPr lang="en-US" sz="4000" spc="4" dirty="0" err="1">
                <a:solidFill>
                  <a:srgbClr val="35353E"/>
                </a:solidFill>
                <a:latin typeface="Avenir Next" panose="020B0503020202020204" pitchFamily="34" charset="0"/>
                <a:cs typeface="Gill Sans MT"/>
              </a:rPr>
              <a:t>E.Thomé</a:t>
            </a:r>
            <a:r>
              <a:rPr lang="en-US" sz="4000" spc="4" dirty="0">
                <a:solidFill>
                  <a:srgbClr val="35353E"/>
                </a:solidFill>
                <a:latin typeface="Avenir Next" panose="020B0503020202020204" pitchFamily="34" charset="0"/>
                <a:cs typeface="Gill Sans MT"/>
              </a:rPr>
              <a:t>,</a:t>
            </a:r>
            <a:r>
              <a:rPr lang="en-US" sz="4000" spc="-190" dirty="0">
                <a:solidFill>
                  <a:srgbClr val="35353E"/>
                </a:solidFill>
                <a:latin typeface="Avenir Next" panose="020B0503020202020204" pitchFamily="34" charset="0"/>
                <a:cs typeface="Gill Sans MT"/>
              </a:rPr>
              <a:t> </a:t>
            </a:r>
            <a:r>
              <a:rPr lang="en-US" sz="4000" spc="-4" dirty="0">
                <a:solidFill>
                  <a:srgbClr val="35353E"/>
                </a:solidFill>
                <a:latin typeface="Avenir Next" panose="020B0503020202020204" pitchFamily="34" charset="0"/>
                <a:cs typeface="Gill Sans MT"/>
              </a:rPr>
              <a:t>L. </a:t>
            </a:r>
            <a:r>
              <a:rPr lang="en-US" sz="4000" spc="-18" dirty="0" err="1">
                <a:solidFill>
                  <a:srgbClr val="35353E"/>
                </a:solidFill>
                <a:latin typeface="Avenir Next" panose="020B0503020202020204" pitchFamily="34" charset="0"/>
                <a:cs typeface="Gill Sans MT"/>
              </a:rPr>
              <a:t>Valenta</a:t>
            </a:r>
            <a:r>
              <a:rPr lang="en-US" sz="4000" spc="-18" dirty="0">
                <a:solidFill>
                  <a:srgbClr val="35353E"/>
                </a:solidFill>
                <a:latin typeface="Avenir Next" panose="020B0503020202020204" pitchFamily="34" charset="0"/>
                <a:cs typeface="Gill Sans MT"/>
              </a:rPr>
              <a:t>,</a:t>
            </a:r>
            <a:r>
              <a:rPr lang="en-US" sz="4000" spc="-190" dirty="0">
                <a:solidFill>
                  <a:srgbClr val="35353E"/>
                </a:solidFill>
                <a:latin typeface="Avenir Next" panose="020B0503020202020204" pitchFamily="34" charset="0"/>
                <a:cs typeface="Gill Sans MT"/>
              </a:rPr>
              <a:t> </a:t>
            </a:r>
            <a:r>
              <a:rPr lang="en-US" sz="4000" spc="-9" dirty="0" err="1">
                <a:solidFill>
                  <a:srgbClr val="35353E"/>
                </a:solidFill>
                <a:latin typeface="Avenir Next" panose="020B0503020202020204" pitchFamily="34" charset="0"/>
                <a:cs typeface="Gill Sans MT"/>
              </a:rPr>
              <a:t>B.VanderSloot</a:t>
            </a:r>
            <a:r>
              <a:rPr lang="en-US" sz="4000" spc="-9" dirty="0">
                <a:solidFill>
                  <a:srgbClr val="35353E"/>
                </a:solidFill>
                <a:latin typeface="Avenir Next" panose="020B0503020202020204" pitchFamily="34" charset="0"/>
                <a:cs typeface="Gill Sans MT"/>
              </a:rPr>
              <a:t>,</a:t>
            </a:r>
            <a:r>
              <a:rPr lang="en-US" sz="4000" spc="-190" dirty="0">
                <a:solidFill>
                  <a:srgbClr val="35353E"/>
                </a:solidFill>
                <a:latin typeface="Avenir Next" panose="020B0503020202020204" pitchFamily="34" charset="0"/>
                <a:cs typeface="Gill Sans MT"/>
              </a:rPr>
              <a:t> </a:t>
            </a:r>
            <a:r>
              <a:rPr lang="en-US" sz="4000" spc="-31" dirty="0" err="1">
                <a:solidFill>
                  <a:srgbClr val="35353E"/>
                </a:solidFill>
                <a:latin typeface="Avenir Next" panose="020B0503020202020204" pitchFamily="34" charset="0"/>
                <a:cs typeface="Gill Sans MT"/>
              </a:rPr>
              <a:t>E.Wustrow</a:t>
            </a:r>
            <a:r>
              <a:rPr lang="en-US" sz="4000" spc="-31"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dirty="0">
                <a:solidFill>
                  <a:srgbClr val="35353E"/>
                </a:solidFill>
                <a:latin typeface="Avenir Next" panose="020B0503020202020204" pitchFamily="34" charset="0"/>
                <a:cs typeface="Gill Sans MT"/>
              </a:rPr>
              <a:t>S.</a:t>
            </a:r>
            <a:r>
              <a:rPr lang="en-US" sz="4000" spc="-194" dirty="0">
                <a:solidFill>
                  <a:srgbClr val="35353E"/>
                </a:solidFill>
                <a:latin typeface="Avenir Next" panose="020B0503020202020204" pitchFamily="34" charset="0"/>
                <a:cs typeface="Gill Sans MT"/>
              </a:rPr>
              <a:t> </a:t>
            </a:r>
            <a:r>
              <a:rPr lang="en-US" sz="4000" spc="-4" dirty="0" err="1">
                <a:solidFill>
                  <a:srgbClr val="35353E"/>
                </a:solidFill>
                <a:latin typeface="Avenir Next" panose="020B0503020202020204" pitchFamily="34" charset="0"/>
                <a:cs typeface="Gill Sans MT"/>
              </a:rPr>
              <a:t>Zanella-Béguelin</a:t>
            </a:r>
            <a:r>
              <a:rPr lang="en-US" sz="4000" spc="-4" dirty="0">
                <a:solidFill>
                  <a:srgbClr val="35353E"/>
                </a:solidFill>
                <a:latin typeface="Avenir Next" panose="020B0503020202020204" pitchFamily="34" charset="0"/>
                <a:cs typeface="Gill Sans MT"/>
              </a:rPr>
              <a:t>,</a:t>
            </a:r>
            <a:r>
              <a:rPr lang="en-US" sz="4000" spc="-194" dirty="0">
                <a:solidFill>
                  <a:srgbClr val="35353E"/>
                </a:solidFill>
                <a:latin typeface="Avenir Next" panose="020B0503020202020204" pitchFamily="34" charset="0"/>
                <a:cs typeface="Gill Sans MT"/>
              </a:rPr>
              <a:t> </a:t>
            </a:r>
            <a:r>
              <a:rPr lang="en-US" sz="4000" dirty="0">
                <a:solidFill>
                  <a:srgbClr val="35353E"/>
                </a:solidFill>
                <a:latin typeface="Avenir Next" panose="020B0503020202020204" pitchFamily="34" charset="0"/>
                <a:cs typeface="Gill Sans MT"/>
              </a:rPr>
              <a:t>and</a:t>
            </a:r>
            <a:r>
              <a:rPr lang="en-US" sz="4000" spc="9" dirty="0">
                <a:solidFill>
                  <a:srgbClr val="35353E"/>
                </a:solidFill>
                <a:latin typeface="Avenir Next" panose="020B0503020202020204" pitchFamily="34" charset="0"/>
                <a:cs typeface="Gill Sans MT"/>
              </a:rPr>
              <a:t> </a:t>
            </a:r>
            <a:r>
              <a:rPr lang="en-US" sz="4000" spc="-185" dirty="0">
                <a:solidFill>
                  <a:srgbClr val="35353E"/>
                </a:solidFill>
                <a:latin typeface="Avenir Next" panose="020B0503020202020204" pitchFamily="34" charset="0"/>
                <a:cs typeface="Gill Sans MT"/>
              </a:rPr>
              <a:t>P.  </a:t>
            </a:r>
            <a:r>
              <a:rPr lang="en-US" sz="4000" dirty="0">
                <a:solidFill>
                  <a:srgbClr val="35353E"/>
                </a:solidFill>
                <a:latin typeface="Avenir Next" panose="020B0503020202020204" pitchFamily="34" charset="0"/>
                <a:cs typeface="Gill Sans MT"/>
              </a:rPr>
              <a:t>Zimmermann,	(</a:t>
            </a:r>
            <a:r>
              <a:rPr lang="en-US" sz="4000" b="1" dirty="0">
                <a:solidFill>
                  <a:srgbClr val="35353E"/>
                </a:solidFill>
                <a:latin typeface="Avenir Next" panose="020B0503020202020204" pitchFamily="34" charset="0"/>
                <a:cs typeface="Gill Sans MT"/>
              </a:rPr>
              <a:t>Best </a:t>
            </a:r>
            <a:r>
              <a:rPr lang="en-US" sz="4000" b="1" spc="-18" dirty="0">
                <a:solidFill>
                  <a:srgbClr val="35353E"/>
                </a:solidFill>
                <a:latin typeface="Avenir Next" panose="020B0503020202020204" pitchFamily="34" charset="0"/>
                <a:cs typeface="Gill Sans MT"/>
              </a:rPr>
              <a:t>Paper Award </a:t>
            </a:r>
            <a:r>
              <a:rPr lang="en-US" sz="4000" b="1" dirty="0">
                <a:solidFill>
                  <a:srgbClr val="35353E"/>
                </a:solidFill>
                <a:latin typeface="Avenir Next" panose="020B0503020202020204" pitchFamily="34" charset="0"/>
                <a:cs typeface="Gill Sans MT"/>
              </a:rPr>
              <a:t>CCS</a:t>
            </a:r>
            <a:r>
              <a:rPr lang="en-US" sz="4000" b="1" spc="-44" dirty="0">
                <a:solidFill>
                  <a:srgbClr val="35353E"/>
                </a:solidFill>
                <a:latin typeface="Avenir Next" panose="020B0503020202020204" pitchFamily="34" charset="0"/>
                <a:cs typeface="Gill Sans MT"/>
              </a:rPr>
              <a:t> </a:t>
            </a:r>
            <a:r>
              <a:rPr lang="en-US" sz="4000" b="1" dirty="0">
                <a:solidFill>
                  <a:srgbClr val="35353E"/>
                </a:solidFill>
                <a:latin typeface="Avenir Next" panose="020B0503020202020204" pitchFamily="34" charset="0"/>
                <a:cs typeface="Gill Sans MT"/>
              </a:rPr>
              <a:t>2015</a:t>
            </a:r>
            <a:r>
              <a:rPr lang="en-US" sz="4000" dirty="0">
                <a:solidFill>
                  <a:srgbClr val="35353E"/>
                </a:solidFill>
                <a:latin typeface="Avenir Next" panose="020B0503020202020204" pitchFamily="34" charset="0"/>
                <a:cs typeface="Gill Sans MT"/>
              </a:rPr>
              <a:t>)</a:t>
            </a:r>
            <a:endParaRPr lang="en-US" sz="4000" dirty="0">
              <a:latin typeface="Avenir Next" panose="020B0503020202020204" pitchFamily="34" charset="0"/>
              <a:cs typeface="Gill Sans MT"/>
            </a:endParaRPr>
          </a:p>
          <a:p>
            <a:pPr marL="313781" marR="182666" indent="-235336">
              <a:lnSpc>
                <a:spcPct val="120000"/>
              </a:lnSpc>
              <a:spcBef>
                <a:spcPts val="371"/>
              </a:spcBef>
            </a:pPr>
            <a:r>
              <a:rPr lang="en-US" sz="4400" b="1" u="heavy" spc="4" dirty="0">
                <a:latin typeface="Avenir Next" panose="020B0503020202020204" pitchFamily="34" charset="0"/>
              </a:rPr>
              <a:t>Summary</a:t>
            </a:r>
            <a:r>
              <a:rPr lang="en-US" sz="4400" b="1" spc="4" dirty="0">
                <a:latin typeface="Avenir Next" panose="020B0503020202020204" pitchFamily="34" charset="0"/>
              </a:rPr>
              <a:t>: </a:t>
            </a:r>
            <a:r>
              <a:rPr lang="en-US" sz="4400" dirty="0">
                <a:latin typeface="Avenir Next" panose="020B0503020202020204" pitchFamily="34" charset="0"/>
              </a:rPr>
              <a:t>Logjam, </a:t>
            </a:r>
            <a:r>
              <a:rPr lang="en-US" sz="4400" spc="-9" dirty="0">
                <a:latin typeface="Avenir Next" panose="020B0503020202020204" pitchFamily="34" charset="0"/>
              </a:rPr>
              <a:t>active </a:t>
            </a:r>
            <a:r>
              <a:rPr lang="en-US" sz="4400" dirty="0">
                <a:latin typeface="Avenir Next" panose="020B0503020202020204" pitchFamily="34" charset="0"/>
              </a:rPr>
              <a:t>MITM attack that </a:t>
            </a:r>
            <a:r>
              <a:rPr lang="en-US" sz="4400" spc="-4" dirty="0">
                <a:latin typeface="Avenir Next" panose="020B0503020202020204" pitchFamily="34" charset="0"/>
              </a:rPr>
              <a:t>downgrades </a:t>
            </a:r>
            <a:r>
              <a:rPr lang="en-US" sz="4400" dirty="0">
                <a:latin typeface="Avenir Next" panose="020B0503020202020204" pitchFamily="34" charset="0"/>
              </a:rPr>
              <a:t>TLS  to </a:t>
            </a:r>
            <a:r>
              <a:rPr lang="en-US" sz="4400" spc="-4" dirty="0">
                <a:latin typeface="Avenir Next" panose="020B0503020202020204" pitchFamily="34" charset="0"/>
              </a:rPr>
              <a:t>512-bit </a:t>
            </a:r>
            <a:r>
              <a:rPr lang="en-US" sz="4400" dirty="0">
                <a:latin typeface="Avenir Next" panose="020B0503020202020204" pitchFamily="34" charset="0"/>
              </a:rPr>
              <a:t>DHE export-grade cipher </a:t>
            </a:r>
            <a:r>
              <a:rPr lang="en-US" sz="4400" spc="4" dirty="0">
                <a:latin typeface="Avenir Next" panose="020B0503020202020204" pitchFamily="34" charset="0"/>
              </a:rPr>
              <a:t>suites. They </a:t>
            </a:r>
            <a:r>
              <a:rPr lang="en-US" sz="4400" spc="-26" dirty="0">
                <a:latin typeface="Avenir Next" panose="020B0503020202020204" pitchFamily="34" charset="0"/>
              </a:rPr>
              <a:t>broke </a:t>
            </a:r>
            <a:r>
              <a:rPr lang="en-US" sz="4400" dirty="0">
                <a:latin typeface="Avenir Next" panose="020B0503020202020204" pitchFamily="34" charset="0"/>
              </a:rPr>
              <a:t>a 512  prime </a:t>
            </a:r>
            <a:r>
              <a:rPr lang="en-US" sz="4400" spc="-13" dirty="0">
                <a:latin typeface="Avenir Next" panose="020B0503020202020204" pitchFamily="34" charset="0"/>
              </a:rPr>
              <a:t>(many </a:t>
            </a:r>
            <a:r>
              <a:rPr lang="en-US" sz="4400" dirty="0">
                <a:latin typeface="Avenir Next" panose="020B0503020202020204" pitchFamily="34" charset="0"/>
              </a:rPr>
              <a:t>sites use the same </a:t>
            </a:r>
            <a:r>
              <a:rPr lang="en-US" sz="4400" spc="-4" dirty="0">
                <a:latin typeface="Avenir Next" panose="020B0503020202020204" pitchFamily="34" charset="0"/>
              </a:rPr>
              <a:t>one), </a:t>
            </a:r>
            <a:r>
              <a:rPr lang="en-US" sz="4400" dirty="0">
                <a:latin typeface="Avenir Next" panose="020B0503020202020204" pitchFamily="34" charset="0"/>
              </a:rPr>
              <a:t>estimate that an  academic team can </a:t>
            </a:r>
            <a:r>
              <a:rPr lang="en-US" sz="4400" spc="-9" dirty="0">
                <a:latin typeface="Avenir Next" panose="020B0503020202020204" pitchFamily="34" charset="0"/>
              </a:rPr>
              <a:t>break </a:t>
            </a:r>
            <a:r>
              <a:rPr lang="en-US" sz="4400" dirty="0">
                <a:latin typeface="Avenir Next" panose="020B0503020202020204" pitchFamily="34" charset="0"/>
              </a:rPr>
              <a:t>a </a:t>
            </a:r>
            <a:r>
              <a:rPr lang="en-US" sz="4400" spc="-4" dirty="0">
                <a:latin typeface="Avenir Next" panose="020B0503020202020204" pitchFamily="34" charset="0"/>
              </a:rPr>
              <a:t>768-bit </a:t>
            </a:r>
            <a:r>
              <a:rPr lang="en-US" sz="4400" dirty="0">
                <a:latin typeface="Avenir Next" panose="020B0503020202020204" pitchFamily="34" charset="0"/>
              </a:rPr>
              <a:t>prime and that a nation-  state can </a:t>
            </a:r>
            <a:r>
              <a:rPr lang="en-US" sz="4400" spc="-9" dirty="0">
                <a:latin typeface="Avenir Next" panose="020B0503020202020204" pitchFamily="34" charset="0"/>
              </a:rPr>
              <a:t>break </a:t>
            </a:r>
            <a:r>
              <a:rPr lang="en-US" sz="4400" dirty="0">
                <a:latin typeface="Avenir Next" panose="020B0503020202020204" pitchFamily="34" charset="0"/>
              </a:rPr>
              <a:t>a </a:t>
            </a:r>
            <a:r>
              <a:rPr lang="en-US" sz="4400" spc="-4" dirty="0">
                <a:latin typeface="Avenir Next" panose="020B0503020202020204" pitchFamily="34" charset="0"/>
              </a:rPr>
              <a:t>1024-bit</a:t>
            </a:r>
            <a:r>
              <a:rPr lang="en-US" sz="4400" spc="-35" dirty="0">
                <a:latin typeface="Avenir Next" panose="020B0503020202020204" pitchFamily="34" charset="0"/>
              </a:rPr>
              <a:t> </a:t>
            </a:r>
            <a:r>
              <a:rPr lang="en-US" sz="4400" spc="4" dirty="0">
                <a:latin typeface="Avenir Next" panose="020B0503020202020204" pitchFamily="34" charset="0"/>
              </a:rPr>
              <a:t>prime.</a:t>
            </a:r>
            <a:endParaRPr lang="en-US" sz="4400" dirty="0">
              <a:latin typeface="Avenir Next" panose="020B0503020202020204" pitchFamily="34" charset="0"/>
              <a:cs typeface="Times New Roman"/>
            </a:endParaRPr>
          </a:p>
          <a:p>
            <a:pPr marL="313781" marR="223569" indent="-235336">
              <a:lnSpc>
                <a:spcPct val="120000"/>
              </a:lnSpc>
              <a:spcBef>
                <a:spcPts val="688"/>
              </a:spcBef>
            </a:pPr>
            <a:r>
              <a:rPr lang="en-US" sz="4400" b="1" u="heavy" spc="9" dirty="0">
                <a:latin typeface="Avenir Next" panose="020B0503020202020204" pitchFamily="34" charset="0"/>
              </a:rPr>
              <a:t>Impact</a:t>
            </a:r>
            <a:r>
              <a:rPr lang="en-US" sz="4400" b="1" spc="9" dirty="0">
                <a:latin typeface="Avenir Next" panose="020B0503020202020204" pitchFamily="34" charset="0"/>
              </a:rPr>
              <a:t>: </a:t>
            </a:r>
            <a:r>
              <a:rPr lang="en-US" sz="4400" spc="9" dirty="0">
                <a:latin typeface="Avenir Next" panose="020B0503020202020204" pitchFamily="34" charset="0"/>
              </a:rPr>
              <a:t>TLS </a:t>
            </a:r>
            <a:r>
              <a:rPr lang="en-US" sz="4400" dirty="0">
                <a:latin typeface="Avenir Next" panose="020B0503020202020204" pitchFamily="34" charset="0"/>
              </a:rPr>
              <a:t>with </a:t>
            </a:r>
            <a:r>
              <a:rPr lang="en-US" sz="4400" spc="4" dirty="0">
                <a:latin typeface="Avenir Next" panose="020B0503020202020204" pitchFamily="34" charset="0"/>
              </a:rPr>
              <a:t>support </a:t>
            </a:r>
            <a:r>
              <a:rPr lang="en-US" sz="4400" spc="-9" dirty="0">
                <a:latin typeface="Avenir Next" panose="020B0503020202020204" pitchFamily="34" charset="0"/>
              </a:rPr>
              <a:t>for </a:t>
            </a:r>
            <a:r>
              <a:rPr lang="en-US" sz="4400" spc="4" dirty="0">
                <a:latin typeface="Avenir Next" panose="020B0503020202020204" pitchFamily="34" charset="0"/>
              </a:rPr>
              <a:t>export </a:t>
            </a:r>
            <a:r>
              <a:rPr lang="en-US" sz="4400" dirty="0">
                <a:latin typeface="Avenir Next" panose="020B0503020202020204" pitchFamily="34" charset="0"/>
              </a:rPr>
              <a:t>cipher and </a:t>
            </a:r>
            <a:r>
              <a:rPr lang="en-US" sz="4400" spc="-18" dirty="0">
                <a:latin typeface="Avenir Next" panose="020B0503020202020204" pitchFamily="34" charset="0"/>
              </a:rPr>
              <a:t>any </a:t>
            </a:r>
            <a:r>
              <a:rPr lang="en-US" sz="4400" spc="-9" dirty="0">
                <a:latin typeface="Avenir Next" panose="020B0503020202020204" pitchFamily="34" charset="0"/>
              </a:rPr>
              <a:t>protocol  </a:t>
            </a:r>
            <a:r>
              <a:rPr lang="en-US" sz="4400" dirty="0">
                <a:latin typeface="Avenir Next" panose="020B0503020202020204" pitchFamily="34" charset="0"/>
              </a:rPr>
              <a:t>using DH with 1024 or less and </a:t>
            </a:r>
            <a:r>
              <a:rPr lang="en-US" sz="4400" spc="-9" dirty="0">
                <a:latin typeface="Avenir Next" panose="020B0503020202020204" pitchFamily="34" charset="0"/>
              </a:rPr>
              <a:t>reusing </a:t>
            </a:r>
            <a:r>
              <a:rPr lang="en-US" sz="4400" dirty="0">
                <a:latin typeface="Avenir Next" panose="020B0503020202020204" pitchFamily="34" charset="0"/>
              </a:rPr>
              <a:t>the</a:t>
            </a:r>
            <a:r>
              <a:rPr lang="en-US" sz="4400" spc="-49" dirty="0">
                <a:latin typeface="Avenir Next" panose="020B0503020202020204" pitchFamily="34" charset="0"/>
              </a:rPr>
              <a:t> </a:t>
            </a:r>
            <a:r>
              <a:rPr lang="en-US" sz="4400" spc="4" dirty="0">
                <a:latin typeface="Avenir Next" panose="020B0503020202020204" pitchFamily="34" charset="0"/>
              </a:rPr>
              <a:t>prime.</a:t>
            </a:r>
            <a:endParaRPr lang="en-US" sz="4400" dirty="0">
              <a:latin typeface="Avenir Next" panose="020B0503020202020204" pitchFamily="34" charset="0"/>
              <a:cs typeface="Times New Roman"/>
            </a:endParaRPr>
          </a:p>
          <a:p>
            <a:pPr marL="313781" marR="118228" indent="-235336">
              <a:lnSpc>
                <a:spcPct val="120000"/>
              </a:lnSpc>
              <a:spcBef>
                <a:spcPts val="459"/>
              </a:spcBef>
            </a:pPr>
            <a:r>
              <a:rPr lang="en-US" sz="4400" b="1" u="heavy" dirty="0">
                <a:latin typeface="Avenir Next" panose="020B0503020202020204" pitchFamily="34" charset="0"/>
              </a:rPr>
              <a:t>What to </a:t>
            </a:r>
            <a:r>
              <a:rPr lang="en-US" sz="4400" b="1" u="heavy" spc="-4" dirty="0">
                <a:latin typeface="Avenir Next" panose="020B0503020202020204" pitchFamily="34" charset="0"/>
              </a:rPr>
              <a:t>do</a:t>
            </a:r>
            <a:r>
              <a:rPr lang="en-US" sz="4400" b="1" spc="-4" dirty="0">
                <a:latin typeface="Avenir Next" panose="020B0503020202020204" pitchFamily="34" charset="0"/>
              </a:rPr>
              <a:t>:</a:t>
            </a:r>
            <a:r>
              <a:rPr lang="en-US" sz="4400" spc="-4" dirty="0">
                <a:latin typeface="Avenir Next" panose="020B0503020202020204" pitchFamily="34" charset="0"/>
              </a:rPr>
              <a:t> </a:t>
            </a:r>
            <a:r>
              <a:rPr lang="en-US" sz="4400" dirty="0">
                <a:latin typeface="Avenir Next" panose="020B0503020202020204" pitchFamily="34" charset="0"/>
              </a:rPr>
              <a:t>Disable </a:t>
            </a:r>
            <a:r>
              <a:rPr lang="en-US" sz="4400" spc="4" dirty="0">
                <a:latin typeface="Avenir Next" panose="020B0503020202020204" pitchFamily="34" charset="0"/>
              </a:rPr>
              <a:t>support </a:t>
            </a:r>
            <a:r>
              <a:rPr lang="en-US" sz="4400" spc="-9" dirty="0">
                <a:latin typeface="Avenir Next" panose="020B0503020202020204" pitchFamily="34" charset="0"/>
              </a:rPr>
              <a:t>for </a:t>
            </a:r>
            <a:r>
              <a:rPr lang="en-US" sz="4400" spc="4" dirty="0">
                <a:latin typeface="Avenir Next" panose="020B0503020202020204" pitchFamily="34" charset="0"/>
              </a:rPr>
              <a:t>export </a:t>
            </a:r>
            <a:r>
              <a:rPr lang="en-US" sz="4400" dirty="0">
                <a:latin typeface="Avenir Next" panose="020B0503020202020204" pitchFamily="34" charset="0"/>
              </a:rPr>
              <a:t>cipher suites and use  a </a:t>
            </a:r>
            <a:r>
              <a:rPr lang="en-US" sz="4400" spc="-4" dirty="0">
                <a:latin typeface="Avenir Next" panose="020B0503020202020204" pitchFamily="34" charset="0"/>
              </a:rPr>
              <a:t>2048-bit Diffie-Hellman</a:t>
            </a:r>
            <a:r>
              <a:rPr lang="en-US" sz="4400" spc="18" dirty="0">
                <a:latin typeface="Avenir Next" panose="020B0503020202020204" pitchFamily="34" charset="0"/>
              </a:rPr>
              <a:t> </a:t>
            </a:r>
            <a:r>
              <a:rPr lang="en-US" sz="4400" spc="-13" dirty="0">
                <a:latin typeface="Avenir Next" panose="020B0503020202020204" pitchFamily="34" charset="0"/>
              </a:rPr>
              <a:t>group</a:t>
            </a:r>
            <a:endParaRPr lang="en-US" sz="44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448293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Implementation Bugs</a:t>
            </a:r>
          </a:p>
        </p:txBody>
      </p:sp>
      <p:sp>
        <p:nvSpPr>
          <p:cNvPr id="6" name="Fundamentally about transmitting information between two devices…">
            <a:extLst>
              <a:ext uri="{FF2B5EF4-FFF2-40B4-BE49-F238E27FC236}">
                <a16:creationId xmlns:a16="http://schemas.microsoft.com/office/drawing/2014/main" id="{52BE5A97-DA18-539A-95BA-DAF97A486A4E}"/>
              </a:ext>
            </a:extLst>
          </p:cNvPr>
          <p:cNvSpPr txBox="1">
            <a:spLocks/>
          </p:cNvSpPr>
          <p:nvPr/>
        </p:nvSpPr>
        <p:spPr>
          <a:xfrm>
            <a:off x="0" y="927652"/>
            <a:ext cx="12192000" cy="59303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4000" spc="-4" dirty="0">
                <a:latin typeface="Avenir Next" panose="020B0503020202020204" pitchFamily="34" charset="0"/>
              </a:rPr>
              <a:t>Cryptography </a:t>
            </a:r>
            <a:r>
              <a:rPr lang="en-US" sz="4000" dirty="0">
                <a:latin typeface="Avenir Next" panose="020B0503020202020204" pitchFamily="34" charset="0"/>
              </a:rPr>
              <a:t>often assumed to be</a:t>
            </a:r>
            <a:r>
              <a:rPr lang="en-US" sz="4000" spc="-62" dirty="0">
                <a:latin typeface="Avenir Next" panose="020B0503020202020204" pitchFamily="34" charset="0"/>
              </a:rPr>
              <a:t> </a:t>
            </a:r>
            <a:r>
              <a:rPr lang="en-US" sz="4000" spc="-4" dirty="0">
                <a:latin typeface="Avenir Next" panose="020B0503020202020204" pitchFamily="34" charset="0"/>
              </a:rPr>
              <a:t>perfect</a:t>
            </a:r>
            <a:endParaRPr lang="en-US" sz="2400" dirty="0">
              <a:latin typeface="Avenir Next" panose="020B0503020202020204" pitchFamily="34" charset="0"/>
              <a:cs typeface="Times New Roman"/>
            </a:endParaRPr>
          </a:p>
          <a:p>
            <a:pPr marL="535645" lvl="1">
              <a:lnSpc>
                <a:spcPct val="100000"/>
              </a:lnSpc>
            </a:pPr>
            <a:r>
              <a:rPr lang="en-US" sz="3600" i="1" spc="-4" dirty="0">
                <a:solidFill>
                  <a:srgbClr val="464653"/>
                </a:solidFill>
                <a:latin typeface="Avenir Next" panose="020B0503020202020204" pitchFamily="34" charset="0"/>
              </a:rPr>
              <a:t>Usually </a:t>
            </a:r>
            <a:r>
              <a:rPr lang="en-US" sz="3600" i="1" dirty="0">
                <a:solidFill>
                  <a:srgbClr val="464653"/>
                </a:solidFill>
                <a:latin typeface="Avenir Next" panose="020B0503020202020204" pitchFamily="34" charset="0"/>
              </a:rPr>
              <a:t>the math is solid, but the implementation is </a:t>
            </a:r>
            <a:r>
              <a:rPr lang="en-US" sz="3600" i="1" spc="-4" dirty="0">
                <a:solidFill>
                  <a:srgbClr val="464653"/>
                </a:solidFill>
                <a:latin typeface="Avenir Next" panose="020B0503020202020204" pitchFamily="34" charset="0"/>
              </a:rPr>
              <a:t>found  inadequate at times</a:t>
            </a:r>
            <a:endParaRPr lang="en-US" sz="3600" i="1" dirty="0">
              <a:latin typeface="Avenir Next" panose="020B0503020202020204" pitchFamily="34" charset="0"/>
              <a:cs typeface="Times New Roman"/>
            </a:endParaRPr>
          </a:p>
          <a:p>
            <a:pPr marL="313781" marR="4483" indent="-235336">
              <a:lnSpc>
                <a:spcPct val="100000"/>
              </a:lnSpc>
              <a:spcBef>
                <a:spcPts val="600"/>
              </a:spcBef>
            </a:pPr>
            <a:r>
              <a:rPr lang="en-US" sz="4000" spc="-132" dirty="0">
                <a:latin typeface="Avenir Next" panose="020B0503020202020204" pitchFamily="34" charset="0"/>
              </a:rPr>
              <a:t>Two </a:t>
            </a:r>
            <a:r>
              <a:rPr lang="en-US" sz="4000" dirty="0">
                <a:latin typeface="Avenir Next" panose="020B0503020202020204" pitchFamily="34" charset="0"/>
              </a:rPr>
              <a:t>major </a:t>
            </a:r>
            <a:r>
              <a:rPr lang="en-US" sz="4000" spc="-9" dirty="0">
                <a:latin typeface="Avenir Next" panose="020B0503020202020204" pitchFamily="34" charset="0"/>
              </a:rPr>
              <a:t>recent </a:t>
            </a:r>
            <a:r>
              <a:rPr lang="en-US" sz="4000" spc="-4" dirty="0">
                <a:latin typeface="Avenir Next" panose="020B0503020202020204" pitchFamily="34" charset="0"/>
              </a:rPr>
              <a:t>examples </a:t>
            </a:r>
            <a:r>
              <a:rPr lang="en-US" sz="4000" dirty="0">
                <a:latin typeface="Avenir Next" panose="020B0503020202020204" pitchFamily="34" charset="0"/>
              </a:rPr>
              <a:t>of security </a:t>
            </a:r>
            <a:r>
              <a:rPr lang="en-US" sz="4000" spc="-4" dirty="0">
                <a:latin typeface="Avenir Next" panose="020B0503020202020204" pitchFamily="34" charset="0"/>
              </a:rPr>
              <a:t>vulnerabilities </a:t>
            </a:r>
            <a:r>
              <a:rPr lang="en-US" sz="4000" dirty="0">
                <a:latin typeface="Avenir Next" panose="020B0503020202020204" pitchFamily="34" charset="0"/>
              </a:rPr>
              <a:t>due  to TLS </a:t>
            </a:r>
            <a:r>
              <a:rPr lang="en-US" sz="4000" spc="-4" dirty="0">
                <a:latin typeface="Avenir Next" panose="020B0503020202020204" pitchFamily="34" charset="0"/>
              </a:rPr>
              <a:t>implementation</a:t>
            </a:r>
            <a:r>
              <a:rPr lang="en-US" sz="4000" spc="-322" dirty="0">
                <a:latin typeface="Avenir Next" panose="020B0503020202020204" pitchFamily="34" charset="0"/>
              </a:rPr>
              <a:t> </a:t>
            </a:r>
            <a:r>
              <a:rPr lang="en-US" sz="4000" dirty="0">
                <a:latin typeface="Avenir Next" panose="020B0503020202020204" pitchFamily="34" charset="0"/>
              </a:rPr>
              <a:t>bugs</a:t>
            </a:r>
            <a:endParaRPr lang="en-US" sz="2400" dirty="0">
              <a:latin typeface="Avenir Next" panose="020B0503020202020204" pitchFamily="34" charset="0"/>
              <a:cs typeface="Times New Roman"/>
            </a:endParaRPr>
          </a:p>
          <a:p>
            <a:pPr marL="770981" marR="4483" lvl="1" indent="-235336">
              <a:lnSpc>
                <a:spcPct val="100000"/>
              </a:lnSpc>
              <a:spcBef>
                <a:spcPts val="600"/>
              </a:spcBef>
            </a:pPr>
            <a:r>
              <a:rPr lang="en-US" sz="3600" spc="-4" dirty="0">
                <a:solidFill>
                  <a:srgbClr val="464653"/>
                </a:solidFill>
                <a:latin typeface="Avenir Next" panose="020B0503020202020204" pitchFamily="34" charset="0"/>
              </a:rPr>
              <a:t> </a:t>
            </a:r>
            <a:r>
              <a:rPr lang="en-US" sz="3600" b="1" spc="-4" dirty="0">
                <a:solidFill>
                  <a:srgbClr val="464653"/>
                </a:solidFill>
                <a:latin typeface="Avenir Next" panose="020B0503020202020204" pitchFamily="34" charset="0"/>
              </a:rPr>
              <a:t>Apple's </a:t>
            </a:r>
            <a:r>
              <a:rPr lang="en-US" sz="3600" b="1" dirty="0">
                <a:solidFill>
                  <a:srgbClr val="464653"/>
                </a:solidFill>
                <a:latin typeface="Avenir Next" panose="020B0503020202020204" pitchFamily="34" charset="0"/>
              </a:rPr>
              <a:t>Double</a:t>
            </a:r>
            <a:r>
              <a:rPr lang="en-US" sz="3600" b="1" spc="-31" dirty="0">
                <a:solidFill>
                  <a:srgbClr val="464653"/>
                </a:solidFill>
                <a:latin typeface="Avenir Next" panose="020B0503020202020204" pitchFamily="34" charset="0"/>
              </a:rPr>
              <a:t> </a:t>
            </a:r>
            <a:r>
              <a:rPr lang="en-US" sz="3600" b="1" dirty="0">
                <a:solidFill>
                  <a:srgbClr val="464653"/>
                </a:solidFill>
                <a:latin typeface="Avenir Next" panose="020B0503020202020204" pitchFamily="34" charset="0"/>
              </a:rPr>
              <a:t>Fail</a:t>
            </a:r>
            <a:endParaRPr lang="en-US" sz="3600" b="1" dirty="0">
              <a:latin typeface="Avenir Next" panose="020B0503020202020204" pitchFamily="34" charset="0"/>
              <a:cs typeface="Times New Roman"/>
            </a:endParaRPr>
          </a:p>
          <a:p>
            <a:pPr marL="770981" marR="4483" lvl="1" indent="-235336">
              <a:lnSpc>
                <a:spcPct val="100000"/>
              </a:lnSpc>
              <a:spcBef>
                <a:spcPts val="600"/>
              </a:spcBef>
            </a:pPr>
            <a:r>
              <a:rPr lang="en-US" sz="3600" dirty="0">
                <a:solidFill>
                  <a:srgbClr val="464653"/>
                </a:solidFill>
                <a:latin typeface="Avenir Next" panose="020B0503020202020204" pitchFamily="34" charset="0"/>
                <a:cs typeface="Times New Roman"/>
              </a:rPr>
              <a:t> </a:t>
            </a:r>
            <a:r>
              <a:rPr lang="en-US" sz="4000" b="1" dirty="0">
                <a:solidFill>
                  <a:srgbClr val="464653"/>
                </a:solidFill>
                <a:latin typeface="Avenir Next" panose="020B0503020202020204" pitchFamily="34" charset="0"/>
              </a:rPr>
              <a:t>Heartbleed</a:t>
            </a:r>
            <a:endParaRPr lang="en-US" sz="4000" b="1"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1697646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Apple’s </a:t>
            </a:r>
            <a:r>
              <a:rPr lang="en-US" sz="4000" dirty="0" err="1">
                <a:solidFill>
                  <a:schemeClr val="bg1"/>
                </a:solidFill>
                <a:latin typeface="Playfair Display Medium" pitchFamily="2" charset="77"/>
                <a:cs typeface="Courier New" panose="02070309020205020404" pitchFamily="49" charset="0"/>
              </a:rPr>
              <a:t>Goto</a:t>
            </a:r>
            <a:r>
              <a:rPr lang="en-US" sz="4000" dirty="0">
                <a:solidFill>
                  <a:schemeClr val="bg1"/>
                </a:solidFill>
                <a:latin typeface="Playfair Display Medium" pitchFamily="2" charset="77"/>
                <a:cs typeface="Courier New" panose="02070309020205020404" pitchFamily="49" charset="0"/>
              </a:rPr>
              <a:t> Fail</a:t>
            </a:r>
          </a:p>
        </p:txBody>
      </p:sp>
      <p:sp>
        <p:nvSpPr>
          <p:cNvPr id="2" name="object 3">
            <a:extLst>
              <a:ext uri="{FF2B5EF4-FFF2-40B4-BE49-F238E27FC236}">
                <a16:creationId xmlns:a16="http://schemas.microsoft.com/office/drawing/2014/main" id="{8A9AAB00-F857-861F-384D-3F0CB7241BC8}"/>
              </a:ext>
            </a:extLst>
          </p:cNvPr>
          <p:cNvSpPr txBox="1"/>
          <p:nvPr/>
        </p:nvSpPr>
        <p:spPr>
          <a:xfrm>
            <a:off x="2361450" y="1675392"/>
            <a:ext cx="4232462" cy="1875129"/>
          </a:xfrm>
          <a:prstGeom prst="rect">
            <a:avLst/>
          </a:prstGeom>
        </p:spPr>
        <p:txBody>
          <a:bodyPr vert="horz" wrap="square" lIns="0" tIns="0" rIns="0" bIns="0" rtlCol="0">
            <a:spAutoFit/>
          </a:bodyPr>
          <a:lstStyle/>
          <a:p>
            <a:pPr marL="11206">
              <a:lnSpc>
                <a:spcPts val="2744"/>
              </a:lnSpc>
            </a:pPr>
            <a:r>
              <a:rPr sz="2294" spc="-31" dirty="0">
                <a:latin typeface="Gill Sans MT"/>
                <a:cs typeface="Gill Sans MT"/>
              </a:rPr>
              <a:t>What’s </a:t>
            </a:r>
            <a:r>
              <a:rPr sz="2294" spc="-13" dirty="0">
                <a:latin typeface="Gill Sans MT"/>
                <a:cs typeface="Gill Sans MT"/>
              </a:rPr>
              <a:t>wrong </a:t>
            </a:r>
            <a:r>
              <a:rPr sz="2294" dirty="0">
                <a:latin typeface="Gill Sans MT"/>
                <a:cs typeface="Gill Sans MT"/>
              </a:rPr>
              <a:t>with this</a:t>
            </a:r>
            <a:r>
              <a:rPr sz="2294" spc="-18" dirty="0">
                <a:latin typeface="Gill Sans MT"/>
                <a:cs typeface="Gill Sans MT"/>
              </a:rPr>
              <a:t> </a:t>
            </a:r>
            <a:r>
              <a:rPr sz="2294" dirty="0">
                <a:latin typeface="Gill Sans MT"/>
                <a:cs typeface="Gill Sans MT"/>
              </a:rPr>
              <a:t>code?</a:t>
            </a:r>
          </a:p>
          <a:p>
            <a:pPr marL="11206">
              <a:lnSpc>
                <a:spcPts val="1677"/>
              </a:lnSpc>
            </a:pPr>
            <a:r>
              <a:rPr sz="1412" spc="-4" dirty="0">
                <a:solidFill>
                  <a:srgbClr val="77A09F"/>
                </a:solidFill>
                <a:latin typeface="Lucida Console"/>
                <a:cs typeface="Lucida Console"/>
              </a:rPr>
              <a:t>//</a:t>
            </a:r>
            <a:r>
              <a:rPr sz="1412" spc="-75" dirty="0">
                <a:solidFill>
                  <a:srgbClr val="77A09F"/>
                </a:solidFill>
                <a:latin typeface="Lucida Console"/>
                <a:cs typeface="Lucida Console"/>
              </a:rPr>
              <a:t> </a:t>
            </a:r>
            <a:r>
              <a:rPr sz="1412" spc="-4" dirty="0">
                <a:solidFill>
                  <a:srgbClr val="77A09F"/>
                </a:solidFill>
                <a:latin typeface="Lucida Console"/>
                <a:cs typeface="Lucida Console"/>
              </a:rPr>
              <a:t>...</a:t>
            </a:r>
            <a:endParaRPr sz="1412" dirty="0">
              <a:latin typeface="Lucida Console"/>
              <a:cs typeface="Lucida Console"/>
            </a:endParaRPr>
          </a:p>
          <a:p>
            <a:pPr marL="11206" marR="4483">
              <a:lnSpc>
                <a:spcPts val="1677"/>
              </a:lnSpc>
              <a:spcBef>
                <a:spcPts val="62"/>
              </a:spcBef>
            </a:pPr>
            <a:r>
              <a:rPr sz="1412" b="1" spc="-4" dirty="0">
                <a:solidFill>
                  <a:srgbClr val="35A327"/>
                </a:solidFill>
                <a:latin typeface="Lucida Sans Typewriter"/>
                <a:cs typeface="Lucida Sans Typewriter"/>
              </a:rPr>
              <a:t>if </a:t>
            </a:r>
            <a:r>
              <a:rPr sz="1412" spc="-4" dirty="0">
                <a:solidFill>
                  <a:srgbClr val="3E3E3E"/>
                </a:solidFill>
                <a:latin typeface="Lucida Console"/>
                <a:cs typeface="Lucida Console"/>
              </a:rPr>
              <a:t>((err </a:t>
            </a:r>
            <a:r>
              <a:rPr sz="1412" spc="-4" dirty="0">
                <a:solidFill>
                  <a:srgbClr val="7F7F7F"/>
                </a:solidFill>
                <a:latin typeface="Lucida Console"/>
                <a:cs typeface="Lucida Console"/>
              </a:rPr>
              <a:t>= </a:t>
            </a:r>
            <a:r>
              <a:rPr sz="1412" spc="-4" dirty="0">
                <a:solidFill>
                  <a:srgbClr val="3E3E3E"/>
                </a:solidFill>
                <a:latin typeface="Lucida Console"/>
                <a:cs typeface="Lucida Console"/>
              </a:rPr>
              <a:t>SSLHashSHA1.update(</a:t>
            </a:r>
            <a:r>
              <a:rPr sz="1412" spc="-4" dirty="0">
                <a:solidFill>
                  <a:srgbClr val="7F7F7F"/>
                </a:solidFill>
                <a:latin typeface="Lucida Console"/>
                <a:cs typeface="Lucida Console"/>
              </a:rPr>
              <a:t>&amp;</a:t>
            </a:r>
            <a:r>
              <a:rPr sz="1412" spc="-4" dirty="0">
                <a:solidFill>
                  <a:srgbClr val="3E3E3E"/>
                </a:solidFill>
                <a:latin typeface="Lucida Console"/>
                <a:cs typeface="Lucida Console"/>
              </a:rPr>
              <a:t>hashCtx,  </a:t>
            </a:r>
            <a:r>
              <a:rPr sz="1412" spc="-4" dirty="0">
                <a:solidFill>
                  <a:srgbClr val="7F7F7F"/>
                </a:solidFill>
                <a:latin typeface="Lucida Console"/>
                <a:cs typeface="Lucida Console"/>
              </a:rPr>
              <a:t>&amp;</a:t>
            </a:r>
            <a:r>
              <a:rPr sz="1412" spc="-4" dirty="0">
                <a:solidFill>
                  <a:srgbClr val="3E3E3E"/>
                </a:solidFill>
                <a:latin typeface="Lucida Console"/>
                <a:cs typeface="Lucida Console"/>
              </a:rPr>
              <a:t>serverRandom)) </a:t>
            </a:r>
            <a:r>
              <a:rPr sz="1412" spc="-4" dirty="0">
                <a:solidFill>
                  <a:srgbClr val="7F7F7F"/>
                </a:solidFill>
                <a:latin typeface="Lucida Console"/>
                <a:cs typeface="Lucida Console"/>
              </a:rPr>
              <a:t>!=</a:t>
            </a:r>
            <a:r>
              <a:rPr sz="1412" spc="-26" dirty="0">
                <a:solidFill>
                  <a:srgbClr val="7F7F7F"/>
                </a:solidFill>
                <a:latin typeface="Lucida Console"/>
                <a:cs typeface="Lucida Console"/>
              </a:rPr>
              <a:t> </a:t>
            </a:r>
            <a:r>
              <a:rPr sz="1412" spc="-4" dirty="0">
                <a:solidFill>
                  <a:srgbClr val="7F7F7F"/>
                </a:solidFill>
                <a:latin typeface="Lucida Console"/>
                <a:cs typeface="Lucida Console"/>
              </a:rPr>
              <a:t>0</a:t>
            </a:r>
            <a:r>
              <a:rPr sz="1412" spc="-4" dirty="0">
                <a:solidFill>
                  <a:srgbClr val="3E3E3E"/>
                </a:solidFill>
                <a:latin typeface="Lucida Console"/>
                <a:cs typeface="Lucida Console"/>
              </a:rPr>
              <a:t>)</a:t>
            </a:r>
            <a:endParaRPr sz="1412" dirty="0">
              <a:latin typeface="Lucida Console"/>
              <a:cs typeface="Lucida Console"/>
            </a:endParaRPr>
          </a:p>
          <a:p>
            <a:pPr marL="442656">
              <a:lnSpc>
                <a:spcPts val="1615"/>
              </a:lnSpc>
            </a:pPr>
            <a:r>
              <a:rPr sz="1412" b="1" spc="-4" dirty="0">
                <a:solidFill>
                  <a:srgbClr val="35A327"/>
                </a:solidFill>
                <a:latin typeface="Lucida Sans Typewriter"/>
                <a:cs typeface="Lucida Sans Typewriter"/>
              </a:rPr>
              <a:t>goto</a:t>
            </a:r>
            <a:r>
              <a:rPr sz="1412" b="1" spc="-62" dirty="0">
                <a:solidFill>
                  <a:srgbClr val="35A327"/>
                </a:solidFill>
                <a:latin typeface="Lucida Sans Typewriter"/>
                <a:cs typeface="Lucida Sans Typewriter"/>
              </a:rPr>
              <a:t> </a:t>
            </a:r>
            <a:r>
              <a:rPr sz="1412" spc="-4" dirty="0">
                <a:solidFill>
                  <a:srgbClr val="3E3E3E"/>
                </a:solidFill>
                <a:latin typeface="Lucida Console"/>
                <a:cs typeface="Lucida Console"/>
              </a:rPr>
              <a:t>fail;</a:t>
            </a:r>
            <a:endParaRPr sz="1412" dirty="0">
              <a:latin typeface="Lucida Console"/>
              <a:cs typeface="Lucida Console"/>
            </a:endParaRPr>
          </a:p>
          <a:p>
            <a:pPr marL="11206">
              <a:lnSpc>
                <a:spcPts val="1685"/>
              </a:lnSpc>
            </a:pPr>
            <a:r>
              <a:rPr sz="1412" b="1" spc="-4" dirty="0">
                <a:solidFill>
                  <a:srgbClr val="35A327"/>
                </a:solidFill>
                <a:latin typeface="Lucida Sans Typewriter"/>
                <a:cs typeface="Lucida Sans Typewriter"/>
              </a:rPr>
              <a:t>if </a:t>
            </a:r>
            <a:r>
              <a:rPr sz="1412" spc="-4" dirty="0">
                <a:solidFill>
                  <a:srgbClr val="3E3E3E"/>
                </a:solidFill>
                <a:latin typeface="Lucida Console"/>
                <a:cs typeface="Lucida Console"/>
              </a:rPr>
              <a:t>((err </a:t>
            </a:r>
            <a:r>
              <a:rPr sz="1412" spc="-4" dirty="0">
                <a:solidFill>
                  <a:srgbClr val="7F7F7F"/>
                </a:solidFill>
                <a:latin typeface="Lucida Console"/>
                <a:cs typeface="Lucida Console"/>
              </a:rPr>
              <a:t>=</a:t>
            </a:r>
            <a:r>
              <a:rPr sz="1412" spc="31" dirty="0">
                <a:solidFill>
                  <a:srgbClr val="7F7F7F"/>
                </a:solidFill>
                <a:latin typeface="Lucida Console"/>
                <a:cs typeface="Lucida Console"/>
              </a:rPr>
              <a:t> </a:t>
            </a:r>
            <a:r>
              <a:rPr sz="1412" spc="-4" dirty="0">
                <a:solidFill>
                  <a:srgbClr val="3E3E3E"/>
                </a:solidFill>
                <a:latin typeface="Lucida Console"/>
                <a:cs typeface="Lucida Console"/>
              </a:rPr>
              <a:t>SSLHashSHA1.update(</a:t>
            </a:r>
            <a:r>
              <a:rPr sz="1412" spc="-4" dirty="0">
                <a:solidFill>
                  <a:srgbClr val="7F7F7F"/>
                </a:solidFill>
                <a:latin typeface="Lucida Console"/>
                <a:cs typeface="Lucida Console"/>
              </a:rPr>
              <a:t>&amp;</a:t>
            </a:r>
            <a:r>
              <a:rPr sz="1412" spc="-4" dirty="0">
                <a:solidFill>
                  <a:srgbClr val="3E3E3E"/>
                </a:solidFill>
                <a:latin typeface="Lucida Console"/>
                <a:cs typeface="Lucida Console"/>
              </a:rPr>
              <a:t>hashCtx,</a:t>
            </a:r>
            <a:endParaRPr sz="1412" dirty="0">
              <a:latin typeface="Lucida Console"/>
              <a:cs typeface="Lucida Console"/>
            </a:endParaRPr>
          </a:p>
          <a:p>
            <a:pPr marL="11206">
              <a:lnSpc>
                <a:spcPts val="1685"/>
              </a:lnSpc>
              <a:spcBef>
                <a:spcPts val="71"/>
              </a:spcBef>
            </a:pPr>
            <a:r>
              <a:rPr sz="1412" spc="-4" dirty="0">
                <a:solidFill>
                  <a:srgbClr val="7F7F7F"/>
                </a:solidFill>
                <a:latin typeface="Lucida Console"/>
                <a:cs typeface="Lucida Console"/>
              </a:rPr>
              <a:t>&amp;</a:t>
            </a:r>
            <a:r>
              <a:rPr sz="1412" spc="-4" dirty="0">
                <a:solidFill>
                  <a:srgbClr val="3E3E3E"/>
                </a:solidFill>
                <a:latin typeface="Lucida Console"/>
                <a:cs typeface="Lucida Console"/>
              </a:rPr>
              <a:t>signedParams)) </a:t>
            </a:r>
            <a:r>
              <a:rPr sz="1412" spc="-4" dirty="0">
                <a:solidFill>
                  <a:srgbClr val="7F7F7F"/>
                </a:solidFill>
                <a:latin typeface="Lucida Console"/>
                <a:cs typeface="Lucida Console"/>
              </a:rPr>
              <a:t>!=</a:t>
            </a:r>
            <a:r>
              <a:rPr sz="1412" spc="-26" dirty="0">
                <a:solidFill>
                  <a:srgbClr val="7F7F7F"/>
                </a:solidFill>
                <a:latin typeface="Lucida Console"/>
                <a:cs typeface="Lucida Console"/>
              </a:rPr>
              <a:t> </a:t>
            </a:r>
            <a:r>
              <a:rPr sz="1412" spc="-4" dirty="0">
                <a:solidFill>
                  <a:srgbClr val="7F7F7F"/>
                </a:solidFill>
                <a:latin typeface="Lucida Console"/>
                <a:cs typeface="Lucida Console"/>
              </a:rPr>
              <a:t>0</a:t>
            </a:r>
            <a:r>
              <a:rPr sz="1412" spc="-4" dirty="0">
                <a:solidFill>
                  <a:srgbClr val="3E3E3E"/>
                </a:solidFill>
                <a:latin typeface="Lucida Console"/>
                <a:cs typeface="Lucida Console"/>
              </a:rPr>
              <a:t>)</a:t>
            </a:r>
            <a:endParaRPr sz="1412" dirty="0">
              <a:latin typeface="Lucida Console"/>
              <a:cs typeface="Lucida Console"/>
            </a:endParaRPr>
          </a:p>
          <a:p>
            <a:pPr marL="442656">
              <a:lnSpc>
                <a:spcPts val="1685"/>
              </a:lnSpc>
            </a:pPr>
            <a:r>
              <a:rPr sz="1412" b="1" spc="-4" dirty="0">
                <a:solidFill>
                  <a:srgbClr val="35A327"/>
                </a:solidFill>
                <a:latin typeface="Lucida Sans Typewriter"/>
                <a:cs typeface="Lucida Sans Typewriter"/>
              </a:rPr>
              <a:t>goto</a:t>
            </a:r>
            <a:r>
              <a:rPr sz="1412" b="1" spc="-62" dirty="0">
                <a:solidFill>
                  <a:srgbClr val="35A327"/>
                </a:solidFill>
                <a:latin typeface="Lucida Sans Typewriter"/>
                <a:cs typeface="Lucida Sans Typewriter"/>
              </a:rPr>
              <a:t> </a:t>
            </a:r>
            <a:r>
              <a:rPr sz="1412" spc="-4" dirty="0">
                <a:solidFill>
                  <a:srgbClr val="3E3E3E"/>
                </a:solidFill>
                <a:latin typeface="Lucida Console"/>
                <a:cs typeface="Lucida Console"/>
              </a:rPr>
              <a:t>fail;</a:t>
            </a:r>
            <a:endParaRPr sz="1412" dirty="0">
              <a:latin typeface="Lucida Console"/>
              <a:cs typeface="Lucida Console"/>
            </a:endParaRPr>
          </a:p>
        </p:txBody>
      </p:sp>
      <p:sp>
        <p:nvSpPr>
          <p:cNvPr id="3" name="object 4">
            <a:extLst>
              <a:ext uri="{FF2B5EF4-FFF2-40B4-BE49-F238E27FC236}">
                <a16:creationId xmlns:a16="http://schemas.microsoft.com/office/drawing/2014/main" id="{ADD84551-E9F2-7FCA-D70B-10669A0C999B}"/>
              </a:ext>
            </a:extLst>
          </p:cNvPr>
          <p:cNvSpPr txBox="1"/>
          <p:nvPr/>
        </p:nvSpPr>
        <p:spPr>
          <a:xfrm>
            <a:off x="2361451" y="3533326"/>
            <a:ext cx="886384" cy="426014"/>
          </a:xfrm>
          <a:prstGeom prst="rect">
            <a:avLst/>
          </a:prstGeom>
        </p:spPr>
        <p:txBody>
          <a:bodyPr vert="horz" wrap="square" lIns="0" tIns="0" rIns="0" bIns="0" rtlCol="0">
            <a:spAutoFit/>
          </a:bodyPr>
          <a:lstStyle/>
          <a:p>
            <a:pPr marL="11206" marR="4483" indent="431449">
              <a:lnSpc>
                <a:spcPts val="1677"/>
              </a:lnSpc>
            </a:pPr>
            <a:r>
              <a:rPr sz="1412" b="1" spc="-4" dirty="0">
                <a:solidFill>
                  <a:srgbClr val="35A327"/>
                </a:solidFill>
                <a:latin typeface="Lucida Sans Typewriter"/>
                <a:cs typeface="Lucida Sans Typewriter"/>
              </a:rPr>
              <a:t>goto  if</a:t>
            </a:r>
            <a:r>
              <a:rPr sz="1412" b="1" spc="-71" dirty="0">
                <a:solidFill>
                  <a:srgbClr val="35A327"/>
                </a:solidFill>
                <a:latin typeface="Lucida Sans Typewriter"/>
                <a:cs typeface="Lucida Sans Typewriter"/>
              </a:rPr>
              <a:t> </a:t>
            </a:r>
            <a:r>
              <a:rPr sz="1412" spc="-4" dirty="0">
                <a:solidFill>
                  <a:srgbClr val="3E3E3E"/>
                </a:solidFill>
                <a:latin typeface="Lucida Console"/>
                <a:cs typeface="Lucida Console"/>
              </a:rPr>
              <a:t>((err</a:t>
            </a:r>
            <a:endParaRPr sz="1412">
              <a:latin typeface="Lucida Console"/>
              <a:cs typeface="Lucida Console"/>
            </a:endParaRPr>
          </a:p>
        </p:txBody>
      </p:sp>
      <p:sp>
        <p:nvSpPr>
          <p:cNvPr id="4" name="object 5">
            <a:extLst>
              <a:ext uri="{FF2B5EF4-FFF2-40B4-BE49-F238E27FC236}">
                <a16:creationId xmlns:a16="http://schemas.microsoft.com/office/drawing/2014/main" id="{4F8FC37B-E444-396A-8521-84D6FBD04874}"/>
              </a:ext>
            </a:extLst>
          </p:cNvPr>
          <p:cNvSpPr txBox="1"/>
          <p:nvPr/>
        </p:nvSpPr>
        <p:spPr>
          <a:xfrm>
            <a:off x="3332948" y="3524363"/>
            <a:ext cx="3153334" cy="427361"/>
          </a:xfrm>
          <a:prstGeom prst="rect">
            <a:avLst/>
          </a:prstGeom>
        </p:spPr>
        <p:txBody>
          <a:bodyPr vert="horz" wrap="square" lIns="0" tIns="0" rIns="0" bIns="0" rtlCol="0">
            <a:spAutoFit/>
          </a:bodyPr>
          <a:lstStyle/>
          <a:p>
            <a:pPr marL="11206">
              <a:lnSpc>
                <a:spcPts val="1685"/>
              </a:lnSpc>
            </a:pPr>
            <a:r>
              <a:rPr sz="1412" spc="-4" dirty="0">
                <a:solidFill>
                  <a:srgbClr val="3E3E3E"/>
                </a:solidFill>
                <a:latin typeface="Lucida Console"/>
                <a:cs typeface="Lucida Console"/>
              </a:rPr>
              <a:t>fail;</a:t>
            </a:r>
            <a:endParaRPr sz="1412">
              <a:latin typeface="Lucida Console"/>
              <a:cs typeface="Lucida Console"/>
            </a:endParaRPr>
          </a:p>
          <a:p>
            <a:pPr marL="11206">
              <a:lnSpc>
                <a:spcPts val="1685"/>
              </a:lnSpc>
            </a:pPr>
            <a:r>
              <a:rPr sz="1412" spc="-4" dirty="0">
                <a:solidFill>
                  <a:srgbClr val="7F7F7F"/>
                </a:solidFill>
                <a:latin typeface="Lucida Console"/>
                <a:cs typeface="Lucida Console"/>
              </a:rPr>
              <a:t>=</a:t>
            </a:r>
            <a:r>
              <a:rPr sz="1412" dirty="0">
                <a:solidFill>
                  <a:srgbClr val="7F7F7F"/>
                </a:solidFill>
                <a:latin typeface="Lucida Console"/>
                <a:cs typeface="Lucida Console"/>
              </a:rPr>
              <a:t> </a:t>
            </a:r>
            <a:r>
              <a:rPr sz="1412" spc="-4" dirty="0">
                <a:solidFill>
                  <a:srgbClr val="3E3E3E"/>
                </a:solidFill>
                <a:latin typeface="Lucida Console"/>
                <a:cs typeface="Lucida Console"/>
              </a:rPr>
              <a:t>SSLHashSHA1.final(</a:t>
            </a:r>
            <a:r>
              <a:rPr sz="1412" spc="-4" dirty="0">
                <a:solidFill>
                  <a:srgbClr val="7F7F7F"/>
                </a:solidFill>
                <a:latin typeface="Lucida Console"/>
                <a:cs typeface="Lucida Console"/>
              </a:rPr>
              <a:t>&amp;</a:t>
            </a:r>
            <a:r>
              <a:rPr sz="1412" spc="-4" dirty="0">
                <a:solidFill>
                  <a:srgbClr val="3E3E3E"/>
                </a:solidFill>
                <a:latin typeface="Lucida Console"/>
                <a:cs typeface="Lucida Console"/>
              </a:rPr>
              <a:t>hashCtx,</a:t>
            </a:r>
            <a:endParaRPr sz="1412">
              <a:latin typeface="Lucida Console"/>
              <a:cs typeface="Lucida Console"/>
            </a:endParaRPr>
          </a:p>
        </p:txBody>
      </p:sp>
      <p:sp>
        <p:nvSpPr>
          <p:cNvPr id="7" name="object 6">
            <a:extLst>
              <a:ext uri="{FF2B5EF4-FFF2-40B4-BE49-F238E27FC236}">
                <a16:creationId xmlns:a16="http://schemas.microsoft.com/office/drawing/2014/main" id="{788EF898-794B-4111-BF3A-C00C39036F0A}"/>
              </a:ext>
            </a:extLst>
          </p:cNvPr>
          <p:cNvSpPr txBox="1"/>
          <p:nvPr/>
        </p:nvSpPr>
        <p:spPr>
          <a:xfrm>
            <a:off x="2361450" y="3950185"/>
            <a:ext cx="3584761" cy="1972784"/>
          </a:xfrm>
          <a:prstGeom prst="rect">
            <a:avLst/>
          </a:prstGeom>
        </p:spPr>
        <p:txBody>
          <a:bodyPr vert="horz" wrap="square" lIns="0" tIns="0" rIns="0" bIns="0" rtlCol="0">
            <a:spAutoFit/>
          </a:bodyPr>
          <a:lstStyle/>
          <a:p>
            <a:pPr marL="11206"/>
            <a:r>
              <a:rPr sz="1412" spc="-4" dirty="0">
                <a:solidFill>
                  <a:srgbClr val="7F7F7F"/>
                </a:solidFill>
                <a:latin typeface="Lucida Console"/>
                <a:cs typeface="Lucida Console"/>
              </a:rPr>
              <a:t>&amp;</a:t>
            </a:r>
            <a:r>
              <a:rPr sz="1412" spc="-4" dirty="0">
                <a:solidFill>
                  <a:srgbClr val="3E3E3E"/>
                </a:solidFill>
                <a:latin typeface="Lucida Console"/>
                <a:cs typeface="Lucida Console"/>
              </a:rPr>
              <a:t>hashOut)) </a:t>
            </a:r>
            <a:r>
              <a:rPr sz="1412" spc="-4" dirty="0">
                <a:solidFill>
                  <a:srgbClr val="7F7F7F"/>
                </a:solidFill>
                <a:latin typeface="Lucida Console"/>
                <a:cs typeface="Lucida Console"/>
              </a:rPr>
              <a:t>!=</a:t>
            </a:r>
            <a:r>
              <a:rPr sz="1412" spc="-49" dirty="0">
                <a:solidFill>
                  <a:srgbClr val="7F7F7F"/>
                </a:solidFill>
                <a:latin typeface="Lucida Console"/>
                <a:cs typeface="Lucida Console"/>
              </a:rPr>
              <a:t> </a:t>
            </a:r>
            <a:r>
              <a:rPr sz="1412" spc="-4" dirty="0">
                <a:solidFill>
                  <a:srgbClr val="7F7F7F"/>
                </a:solidFill>
                <a:latin typeface="Lucida Console"/>
                <a:cs typeface="Lucida Console"/>
              </a:rPr>
              <a:t>0</a:t>
            </a:r>
            <a:r>
              <a:rPr sz="1412" spc="-4" dirty="0">
                <a:solidFill>
                  <a:srgbClr val="3E3E3E"/>
                </a:solidFill>
                <a:latin typeface="Lucida Console"/>
                <a:cs typeface="Lucida Console"/>
              </a:rPr>
              <a:t>)</a:t>
            </a:r>
            <a:endParaRPr sz="1412">
              <a:latin typeface="Lucida Console"/>
              <a:cs typeface="Lucida Console"/>
            </a:endParaRPr>
          </a:p>
          <a:p>
            <a:pPr marL="442656">
              <a:lnSpc>
                <a:spcPts val="1685"/>
              </a:lnSpc>
              <a:spcBef>
                <a:spcPts val="71"/>
              </a:spcBef>
            </a:pPr>
            <a:r>
              <a:rPr sz="1412" b="1" spc="-4" dirty="0">
                <a:solidFill>
                  <a:srgbClr val="35A327"/>
                </a:solidFill>
                <a:latin typeface="Lucida Sans Typewriter"/>
                <a:cs typeface="Lucida Sans Typewriter"/>
              </a:rPr>
              <a:t>goto</a:t>
            </a:r>
            <a:r>
              <a:rPr sz="1412" b="1" spc="-62" dirty="0">
                <a:solidFill>
                  <a:srgbClr val="35A327"/>
                </a:solidFill>
                <a:latin typeface="Lucida Sans Typewriter"/>
                <a:cs typeface="Lucida Sans Typewriter"/>
              </a:rPr>
              <a:t> </a:t>
            </a:r>
            <a:r>
              <a:rPr sz="1412" spc="-4" dirty="0">
                <a:solidFill>
                  <a:srgbClr val="3E3E3E"/>
                </a:solidFill>
                <a:latin typeface="Lucida Console"/>
                <a:cs typeface="Lucida Console"/>
              </a:rPr>
              <a:t>fail;</a:t>
            </a:r>
            <a:endParaRPr sz="1412">
              <a:latin typeface="Lucida Console"/>
              <a:cs typeface="Lucida Console"/>
            </a:endParaRPr>
          </a:p>
          <a:p>
            <a:pPr marL="11206">
              <a:lnSpc>
                <a:spcPts val="1685"/>
              </a:lnSpc>
            </a:pPr>
            <a:r>
              <a:rPr sz="1412" spc="-4" dirty="0">
                <a:solidFill>
                  <a:srgbClr val="77A09F"/>
                </a:solidFill>
                <a:latin typeface="Lucida Console"/>
                <a:cs typeface="Lucida Console"/>
              </a:rPr>
              <a:t>//</a:t>
            </a:r>
            <a:r>
              <a:rPr sz="1412" spc="-75" dirty="0">
                <a:solidFill>
                  <a:srgbClr val="77A09F"/>
                </a:solidFill>
                <a:latin typeface="Lucida Console"/>
                <a:cs typeface="Lucida Console"/>
              </a:rPr>
              <a:t> </a:t>
            </a:r>
            <a:r>
              <a:rPr sz="1412" spc="-4" dirty="0">
                <a:solidFill>
                  <a:srgbClr val="77A09F"/>
                </a:solidFill>
                <a:latin typeface="Lucida Console"/>
                <a:cs typeface="Lucida Console"/>
              </a:rPr>
              <a:t>...</a:t>
            </a:r>
            <a:endParaRPr sz="1412">
              <a:latin typeface="Lucida Console"/>
              <a:cs typeface="Lucida Console"/>
            </a:endParaRPr>
          </a:p>
          <a:p>
            <a:pPr>
              <a:spcBef>
                <a:spcPts val="35"/>
              </a:spcBef>
            </a:pPr>
            <a:endParaRPr sz="1412">
              <a:latin typeface="Times New Roman"/>
              <a:cs typeface="Times New Roman"/>
            </a:endParaRPr>
          </a:p>
          <a:p>
            <a:pPr marL="11206"/>
            <a:r>
              <a:rPr sz="1412" spc="-4" dirty="0">
                <a:solidFill>
                  <a:srgbClr val="C0BF22"/>
                </a:solidFill>
                <a:latin typeface="Lucida Console"/>
                <a:cs typeface="Lucida Console"/>
              </a:rPr>
              <a:t>fail:</a:t>
            </a:r>
            <a:endParaRPr sz="1412">
              <a:latin typeface="Lucida Console"/>
              <a:cs typeface="Lucida Console"/>
            </a:endParaRPr>
          </a:p>
          <a:p>
            <a:pPr marL="442656" marR="4483">
              <a:lnSpc>
                <a:spcPts val="1677"/>
              </a:lnSpc>
              <a:spcBef>
                <a:spcPts val="141"/>
              </a:spcBef>
            </a:pPr>
            <a:r>
              <a:rPr sz="1412" spc="-4" dirty="0">
                <a:solidFill>
                  <a:srgbClr val="3E3E3E"/>
                </a:solidFill>
                <a:latin typeface="Lucida Console"/>
                <a:cs typeface="Lucida Console"/>
              </a:rPr>
              <a:t>SSLFreeBuffer(</a:t>
            </a:r>
            <a:r>
              <a:rPr sz="1412" spc="-4" dirty="0">
                <a:solidFill>
                  <a:srgbClr val="7F7F7F"/>
                </a:solidFill>
                <a:latin typeface="Lucida Console"/>
                <a:cs typeface="Lucida Console"/>
              </a:rPr>
              <a:t>&amp;</a:t>
            </a:r>
            <a:r>
              <a:rPr sz="1412" spc="-4" dirty="0">
                <a:solidFill>
                  <a:srgbClr val="3E3E3E"/>
                </a:solidFill>
                <a:latin typeface="Lucida Console"/>
                <a:cs typeface="Lucida Console"/>
              </a:rPr>
              <a:t>signedHashes);  SSLFreeBuffer(</a:t>
            </a:r>
            <a:r>
              <a:rPr sz="1412" spc="-4" dirty="0">
                <a:solidFill>
                  <a:srgbClr val="7F7F7F"/>
                </a:solidFill>
                <a:latin typeface="Lucida Console"/>
                <a:cs typeface="Lucida Console"/>
              </a:rPr>
              <a:t>&amp;</a:t>
            </a:r>
            <a:r>
              <a:rPr sz="1412" spc="-4" dirty="0">
                <a:solidFill>
                  <a:srgbClr val="3E3E3E"/>
                </a:solidFill>
                <a:latin typeface="Lucida Console"/>
                <a:cs typeface="Lucida Console"/>
              </a:rPr>
              <a:t>hashCtx);  </a:t>
            </a:r>
            <a:r>
              <a:rPr sz="1412" b="1" spc="-4" dirty="0">
                <a:solidFill>
                  <a:srgbClr val="35A327"/>
                </a:solidFill>
                <a:latin typeface="Lucida Sans Typewriter"/>
                <a:cs typeface="Lucida Sans Typewriter"/>
              </a:rPr>
              <a:t>return</a:t>
            </a:r>
            <a:r>
              <a:rPr sz="1412" b="1" spc="-57" dirty="0">
                <a:solidFill>
                  <a:srgbClr val="35A327"/>
                </a:solidFill>
                <a:latin typeface="Lucida Sans Typewriter"/>
                <a:cs typeface="Lucida Sans Typewriter"/>
              </a:rPr>
              <a:t> </a:t>
            </a:r>
            <a:r>
              <a:rPr sz="1412" spc="-4" dirty="0">
                <a:solidFill>
                  <a:srgbClr val="3E3E3E"/>
                </a:solidFill>
                <a:latin typeface="Lucida Console"/>
                <a:cs typeface="Lucida Console"/>
              </a:rPr>
              <a:t>err;</a:t>
            </a:r>
            <a:endParaRPr sz="1412">
              <a:latin typeface="Lucida Console"/>
              <a:cs typeface="Lucida Console"/>
            </a:endParaRPr>
          </a:p>
          <a:p>
            <a:pPr marL="11206">
              <a:lnSpc>
                <a:spcPts val="1623"/>
              </a:lnSpc>
            </a:pPr>
            <a:r>
              <a:rPr sz="1412" spc="-4" dirty="0">
                <a:solidFill>
                  <a:srgbClr val="3E3E3E"/>
                </a:solidFill>
                <a:latin typeface="Lucida Console"/>
                <a:cs typeface="Lucida Console"/>
              </a:rPr>
              <a:t>}</a:t>
            </a:r>
            <a:endParaRPr sz="1412">
              <a:latin typeface="Lucida Console"/>
              <a:cs typeface="Lucida Console"/>
            </a:endParaRPr>
          </a:p>
        </p:txBody>
      </p:sp>
      <p:sp>
        <p:nvSpPr>
          <p:cNvPr id="8" name="object 7">
            <a:extLst>
              <a:ext uri="{FF2B5EF4-FFF2-40B4-BE49-F238E27FC236}">
                <a16:creationId xmlns:a16="http://schemas.microsoft.com/office/drawing/2014/main" id="{4952F5B1-32E3-FBD7-BDDC-28935EAE456C}"/>
              </a:ext>
            </a:extLst>
          </p:cNvPr>
          <p:cNvSpPr/>
          <p:nvPr/>
        </p:nvSpPr>
        <p:spPr>
          <a:xfrm>
            <a:off x="2735727" y="3215359"/>
            <a:ext cx="1233158" cy="635934"/>
          </a:xfrm>
          <a:custGeom>
            <a:avLst/>
            <a:gdLst/>
            <a:ahLst/>
            <a:cxnLst/>
            <a:rect l="l" t="t" r="r" b="b"/>
            <a:pathLst>
              <a:path w="1160780" h="720725">
                <a:moveTo>
                  <a:pt x="0" y="0"/>
                </a:moveTo>
                <a:lnTo>
                  <a:pt x="1160789" y="0"/>
                </a:lnTo>
                <a:lnTo>
                  <a:pt x="1160789" y="720619"/>
                </a:lnTo>
                <a:lnTo>
                  <a:pt x="0" y="720619"/>
                </a:lnTo>
                <a:lnTo>
                  <a:pt x="0" y="0"/>
                </a:lnTo>
                <a:close/>
              </a:path>
            </a:pathLst>
          </a:custGeom>
          <a:ln w="57149">
            <a:solidFill>
              <a:srgbClr val="FF2600"/>
            </a:solidFill>
          </a:ln>
        </p:spPr>
        <p:txBody>
          <a:bodyPr wrap="square" lIns="0" tIns="0" rIns="0" bIns="0" rtlCol="0"/>
          <a:lstStyle/>
          <a:p>
            <a:endParaRPr sz="1588"/>
          </a:p>
        </p:txBody>
      </p:sp>
      <p:sp>
        <p:nvSpPr>
          <p:cNvPr id="9" name="object 8">
            <a:extLst>
              <a:ext uri="{FF2B5EF4-FFF2-40B4-BE49-F238E27FC236}">
                <a16:creationId xmlns:a16="http://schemas.microsoft.com/office/drawing/2014/main" id="{7B244EE9-3D85-B198-8024-302B236EBBA2}"/>
              </a:ext>
            </a:extLst>
          </p:cNvPr>
          <p:cNvSpPr txBox="1"/>
          <p:nvPr/>
        </p:nvSpPr>
        <p:spPr>
          <a:xfrm>
            <a:off x="7076492" y="2761242"/>
            <a:ext cx="4890221" cy="1794850"/>
          </a:xfrm>
          <a:prstGeom prst="rect">
            <a:avLst/>
          </a:prstGeom>
        </p:spPr>
        <p:txBody>
          <a:bodyPr vert="horz" wrap="square" lIns="0" tIns="0" rIns="0" bIns="0" rtlCol="0">
            <a:spAutoFit/>
          </a:bodyPr>
          <a:lstStyle/>
          <a:p>
            <a:pPr marL="212923" marR="4483" indent="-201717">
              <a:lnSpc>
                <a:spcPts val="2647"/>
              </a:lnSpc>
              <a:buFont typeface="Arial"/>
              <a:buChar char="•"/>
              <a:tabLst>
                <a:tab pos="212923" algn="l"/>
              </a:tabLst>
            </a:pPr>
            <a:r>
              <a:rPr sz="2471" spc="-4" dirty="0">
                <a:latin typeface="Avenir Next" panose="020B0503020202020204" pitchFamily="34" charset="0"/>
                <a:cs typeface="Gill Sans MT"/>
              </a:rPr>
              <a:t>Example </a:t>
            </a:r>
            <a:r>
              <a:rPr sz="2471" dirty="0">
                <a:latin typeface="Avenir Next" panose="020B0503020202020204" pitchFamily="34" charset="0"/>
                <a:cs typeface="Gill Sans MT"/>
              </a:rPr>
              <a:t>of an  </a:t>
            </a:r>
            <a:r>
              <a:rPr sz="2471" spc="-4" dirty="0">
                <a:latin typeface="Avenir Next" panose="020B0503020202020204" pitchFamily="34" charset="0"/>
                <a:cs typeface="Gill Sans MT"/>
              </a:rPr>
              <a:t>implementation  vulnerability in </a:t>
            </a:r>
            <a:r>
              <a:rPr sz="2471" dirty="0">
                <a:latin typeface="Avenir Next" panose="020B0503020202020204" pitchFamily="34" charset="0"/>
                <a:cs typeface="Gill Sans MT"/>
              </a:rPr>
              <a:t>TLS  </a:t>
            </a:r>
            <a:r>
              <a:rPr sz="2471" spc="-9" dirty="0">
                <a:latin typeface="Avenir Next" panose="020B0503020202020204" pitchFamily="34" charset="0"/>
                <a:cs typeface="Gill Sans MT"/>
              </a:rPr>
              <a:t>signature</a:t>
            </a:r>
            <a:r>
              <a:rPr sz="2471" spc="-26" dirty="0">
                <a:latin typeface="Avenir Next" panose="020B0503020202020204" pitchFamily="34" charset="0"/>
                <a:cs typeface="Gill Sans MT"/>
              </a:rPr>
              <a:t> </a:t>
            </a:r>
            <a:r>
              <a:rPr sz="2471" spc="-9" dirty="0">
                <a:latin typeface="Avenir Next" panose="020B0503020202020204" pitchFamily="34" charset="0"/>
                <a:cs typeface="Gill Sans MT"/>
              </a:rPr>
              <a:t>verification</a:t>
            </a:r>
            <a:endParaRPr sz="2471" dirty="0">
              <a:latin typeface="Avenir Next" panose="020B0503020202020204" pitchFamily="34" charset="0"/>
              <a:cs typeface="Gill Sans MT"/>
            </a:endParaRPr>
          </a:p>
          <a:p>
            <a:pPr marL="212923" marR="50989" indent="-201717">
              <a:lnSpc>
                <a:spcPct val="90800"/>
              </a:lnSpc>
              <a:spcBef>
                <a:spcPts val="803"/>
              </a:spcBef>
              <a:buFont typeface="Arial"/>
              <a:buChar char="•"/>
              <a:tabLst>
                <a:tab pos="212923" algn="l"/>
              </a:tabLst>
            </a:pPr>
            <a:r>
              <a:rPr sz="2471" b="1" spc="-9" dirty="0">
                <a:latin typeface="Avenir Next" panose="020B0503020202020204" pitchFamily="34" charset="0"/>
                <a:cs typeface="Gill Sans MT"/>
              </a:rPr>
              <a:t>Found </a:t>
            </a:r>
            <a:r>
              <a:rPr sz="2471" b="1" spc="-4" dirty="0">
                <a:latin typeface="Avenir Next" panose="020B0503020202020204" pitchFamily="34" charset="0"/>
                <a:cs typeface="Gill Sans MT"/>
              </a:rPr>
              <a:t>in </a:t>
            </a:r>
            <a:r>
              <a:rPr sz="2471" b="1" dirty="0">
                <a:latin typeface="Avenir Next" panose="020B0503020202020204" pitchFamily="34" charset="0"/>
                <a:cs typeface="Gill Sans MT"/>
              </a:rPr>
              <a:t>February  2014, </a:t>
            </a:r>
            <a:r>
              <a:rPr sz="2471" b="1" spc="-9" dirty="0">
                <a:latin typeface="Avenir Next" panose="020B0503020202020204" pitchFamily="34" charset="0"/>
                <a:cs typeface="Gill Sans MT"/>
              </a:rPr>
              <a:t>present </a:t>
            </a:r>
            <a:r>
              <a:rPr sz="2471" b="1" spc="-4" dirty="0">
                <a:latin typeface="Avenir Next" panose="020B0503020202020204" pitchFamily="34" charset="0"/>
                <a:cs typeface="Gill Sans MT"/>
              </a:rPr>
              <a:t>in</a:t>
            </a:r>
            <a:r>
              <a:rPr sz="2471" b="1" spc="-313" dirty="0">
                <a:latin typeface="Avenir Next" panose="020B0503020202020204" pitchFamily="34" charset="0"/>
                <a:cs typeface="Gill Sans MT"/>
              </a:rPr>
              <a:t> </a:t>
            </a:r>
            <a:r>
              <a:rPr sz="2471" b="1" spc="-4" dirty="0">
                <a:latin typeface="Avenir Next" panose="020B0503020202020204" pitchFamily="34" charset="0"/>
                <a:cs typeface="Gill Sans MT"/>
              </a:rPr>
              <a:t>iOS  </a:t>
            </a:r>
            <a:r>
              <a:rPr sz="2471" b="1" dirty="0">
                <a:latin typeface="Avenir Next" panose="020B0503020202020204" pitchFamily="34" charset="0"/>
                <a:cs typeface="Gill Sans MT"/>
              </a:rPr>
              <a:t>6 and </a:t>
            </a:r>
            <a:r>
              <a:rPr sz="2471" b="1" spc="-4" dirty="0">
                <a:latin typeface="Avenir Next" panose="020B0503020202020204" pitchFamily="34" charset="0"/>
                <a:cs typeface="Gill Sans MT"/>
              </a:rPr>
              <a:t>OS</a:t>
            </a:r>
            <a:r>
              <a:rPr sz="2471" b="1" spc="-88" dirty="0">
                <a:latin typeface="Avenir Next" panose="020B0503020202020204" pitchFamily="34" charset="0"/>
                <a:cs typeface="Gill Sans MT"/>
              </a:rPr>
              <a:t> </a:t>
            </a:r>
            <a:r>
              <a:rPr sz="2471" b="1" dirty="0">
                <a:latin typeface="Avenir Next" panose="020B0503020202020204" pitchFamily="34" charset="0"/>
                <a:cs typeface="Gill Sans MT"/>
              </a:rPr>
              <a:t>X</a:t>
            </a:r>
          </a:p>
        </p:txBody>
      </p:sp>
    </p:spTree>
    <p:custDataLst>
      <p:tags r:id="rId1"/>
    </p:custDataLst>
    <p:extLst>
      <p:ext uri="{BB962C8B-B14F-4D97-AF65-F5344CB8AC3E}">
        <p14:creationId xmlns:p14="http://schemas.microsoft.com/office/powerpoint/2010/main" val="1439118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HeartBleed</a:t>
            </a:r>
            <a:endParaRPr lang="en-US" sz="4000" dirty="0">
              <a:solidFill>
                <a:schemeClr val="bg1"/>
              </a:solidFill>
              <a:latin typeface="Playfair Display Medium" pitchFamily="2" charset="77"/>
              <a:cs typeface="Courier New" panose="02070309020205020404" pitchFamily="49" charset="0"/>
            </a:endParaRPr>
          </a:p>
        </p:txBody>
      </p:sp>
      <p:sp>
        <p:nvSpPr>
          <p:cNvPr id="6" name="object 3">
            <a:extLst>
              <a:ext uri="{FF2B5EF4-FFF2-40B4-BE49-F238E27FC236}">
                <a16:creationId xmlns:a16="http://schemas.microsoft.com/office/drawing/2014/main" id="{6F6ABE63-449D-BF36-E89C-6B9275999117}"/>
              </a:ext>
            </a:extLst>
          </p:cNvPr>
          <p:cNvSpPr txBox="1">
            <a:spLocks/>
          </p:cNvSpPr>
          <p:nvPr/>
        </p:nvSpPr>
        <p:spPr>
          <a:xfrm>
            <a:off x="96078" y="702392"/>
            <a:ext cx="12095921" cy="5014512"/>
          </a:xfrm>
          <a:prstGeom prst="rect">
            <a:avLst/>
          </a:prstGeom>
        </p:spPr>
        <p:txBody>
          <a:bodyPr vert="horz" wrap="square" lIns="0" tIns="287336"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3200" b="1" dirty="0">
                <a:latin typeface="Avenir Next" panose="020B0503020202020204" pitchFamily="34" charset="0"/>
              </a:rPr>
              <a:t>Serious </a:t>
            </a:r>
            <a:r>
              <a:rPr lang="en-US" sz="3200" b="1" spc="-4" dirty="0">
                <a:latin typeface="Avenir Next" panose="020B0503020202020204" pitchFamily="34" charset="0"/>
              </a:rPr>
              <a:t>vulnerability OpenSSL </a:t>
            </a:r>
            <a:r>
              <a:rPr lang="en-US" sz="3200" b="1" spc="-9" dirty="0">
                <a:latin typeface="Avenir Next" panose="020B0503020202020204" pitchFamily="34" charset="0"/>
              </a:rPr>
              <a:t>versions </a:t>
            </a:r>
            <a:r>
              <a:rPr lang="en-US" sz="3200" b="1" dirty="0">
                <a:latin typeface="Avenir Next" panose="020B0503020202020204" pitchFamily="34" charset="0"/>
              </a:rPr>
              <a:t>1.0.1 –</a:t>
            </a:r>
            <a:r>
              <a:rPr lang="en-US" sz="3200" b="1" spc="26" dirty="0">
                <a:latin typeface="Avenir Next" panose="020B0503020202020204" pitchFamily="34" charset="0"/>
              </a:rPr>
              <a:t> </a:t>
            </a:r>
            <a:r>
              <a:rPr lang="en-US" sz="3200" b="1" dirty="0">
                <a:latin typeface="Avenir Next" panose="020B0503020202020204" pitchFamily="34" charset="0"/>
              </a:rPr>
              <a:t>1.0.1f</a:t>
            </a:r>
            <a:endParaRPr lang="en-US" sz="1800" b="1" dirty="0">
              <a:latin typeface="Avenir Next" panose="020B0503020202020204" pitchFamily="34" charset="0"/>
              <a:cs typeface="Times New Roman"/>
            </a:endParaRPr>
          </a:p>
          <a:p>
            <a:pPr marL="313781">
              <a:lnSpc>
                <a:spcPct val="100000"/>
              </a:lnSpc>
              <a:spcBef>
                <a:spcPts val="424"/>
              </a:spcBef>
            </a:pPr>
            <a:r>
              <a:rPr lang="en-US" sz="2400" spc="-4" dirty="0">
                <a:solidFill>
                  <a:srgbClr val="464653"/>
                </a:solidFill>
                <a:latin typeface="Avenir Next" panose="020B0503020202020204" pitchFamily="34" charset="0"/>
              </a:rPr>
              <a:t>Publicly </a:t>
            </a:r>
            <a:r>
              <a:rPr lang="en-US" sz="2400" spc="-18" dirty="0">
                <a:solidFill>
                  <a:srgbClr val="464653"/>
                </a:solidFill>
                <a:latin typeface="Avenir Next" panose="020B0503020202020204" pitchFamily="34" charset="0"/>
              </a:rPr>
              <a:t>revealed </a:t>
            </a:r>
            <a:r>
              <a:rPr lang="en-US" sz="2400" spc="-4" dirty="0">
                <a:solidFill>
                  <a:srgbClr val="464653"/>
                </a:solidFill>
                <a:latin typeface="Avenir Next" panose="020B0503020202020204" pitchFamily="34" charset="0"/>
              </a:rPr>
              <a:t>April </a:t>
            </a:r>
            <a:r>
              <a:rPr lang="en-US" sz="2400" dirty="0">
                <a:solidFill>
                  <a:srgbClr val="464653"/>
                </a:solidFill>
                <a:latin typeface="Avenir Next" panose="020B0503020202020204" pitchFamily="34" charset="0"/>
              </a:rPr>
              <a:t>7,</a:t>
            </a:r>
            <a:r>
              <a:rPr lang="en-US" sz="2400" spc="-419" dirty="0">
                <a:solidFill>
                  <a:srgbClr val="464653"/>
                </a:solidFill>
                <a:latin typeface="Avenir Next" panose="020B0503020202020204" pitchFamily="34" charset="0"/>
              </a:rPr>
              <a:t> </a:t>
            </a:r>
            <a:r>
              <a:rPr lang="en-US" sz="2400" dirty="0">
                <a:solidFill>
                  <a:srgbClr val="464653"/>
                </a:solidFill>
                <a:latin typeface="Avenir Next" panose="020B0503020202020204" pitchFamily="34" charset="0"/>
              </a:rPr>
              <a:t>2014</a:t>
            </a:r>
            <a:endParaRPr lang="en-US" sz="2400" dirty="0">
              <a:latin typeface="Avenir Next" panose="020B0503020202020204" pitchFamily="34" charset="0"/>
              <a:cs typeface="Times New Roman"/>
            </a:endParaRPr>
          </a:p>
          <a:p>
            <a:pPr marL="313781">
              <a:lnSpc>
                <a:spcPct val="100000"/>
              </a:lnSpc>
              <a:spcBef>
                <a:spcPts val="387"/>
              </a:spcBef>
            </a:pPr>
            <a:r>
              <a:rPr lang="en-US" sz="2400" dirty="0">
                <a:solidFill>
                  <a:srgbClr val="464653"/>
                </a:solidFill>
                <a:latin typeface="Avenir Next" panose="020B0503020202020204" pitchFamily="34" charset="0"/>
              </a:rPr>
              <a:t>Exploits a bug in the TLS </a:t>
            </a:r>
            <a:r>
              <a:rPr lang="en-US" sz="2400" spc="4" dirty="0">
                <a:solidFill>
                  <a:srgbClr val="464653"/>
                </a:solidFill>
                <a:latin typeface="Avenir Next" panose="020B0503020202020204" pitchFamily="34" charset="0"/>
              </a:rPr>
              <a:t>heartbeat</a:t>
            </a:r>
            <a:r>
              <a:rPr lang="en-US" sz="2400" spc="-331" dirty="0">
                <a:solidFill>
                  <a:srgbClr val="464653"/>
                </a:solidFill>
                <a:latin typeface="Avenir Next" panose="020B0503020202020204" pitchFamily="34" charset="0"/>
              </a:rPr>
              <a:t> </a:t>
            </a:r>
            <a:r>
              <a:rPr lang="en-US" sz="2400" dirty="0">
                <a:solidFill>
                  <a:srgbClr val="464653"/>
                </a:solidFill>
                <a:latin typeface="Avenir Next" panose="020B0503020202020204" pitchFamily="34" charset="0"/>
              </a:rPr>
              <a:t>extension</a:t>
            </a:r>
            <a:endParaRPr lang="en-US" sz="2400" dirty="0">
              <a:latin typeface="Avenir Next" panose="020B0503020202020204" pitchFamily="34" charset="0"/>
              <a:cs typeface="Times New Roman"/>
            </a:endParaRPr>
          </a:p>
          <a:p>
            <a:pPr marL="78445">
              <a:lnSpc>
                <a:spcPct val="100000"/>
              </a:lnSpc>
              <a:spcBef>
                <a:spcPts val="565"/>
              </a:spcBef>
            </a:pPr>
            <a:r>
              <a:rPr lang="en-US" sz="3200" b="1" spc="-4" dirty="0">
                <a:latin typeface="Avenir Next" panose="020B0503020202020204" pitchFamily="34" charset="0"/>
              </a:rPr>
              <a:t>Allows adversaries </a:t>
            </a:r>
            <a:r>
              <a:rPr lang="en-US" sz="3200" b="1" dirty="0">
                <a:latin typeface="Avenir Next" panose="020B0503020202020204" pitchFamily="34" charset="0"/>
              </a:rPr>
              <a:t>to </a:t>
            </a:r>
            <a:r>
              <a:rPr lang="en-US" sz="3200" b="1" spc="-13" dirty="0">
                <a:latin typeface="Avenir Next" panose="020B0503020202020204" pitchFamily="34" charset="0"/>
              </a:rPr>
              <a:t>read </a:t>
            </a:r>
            <a:r>
              <a:rPr lang="en-US" sz="3200" b="1" spc="9" dirty="0">
                <a:latin typeface="Avenir Next" panose="020B0503020202020204" pitchFamily="34" charset="0"/>
              </a:rPr>
              <a:t>memory </a:t>
            </a:r>
            <a:r>
              <a:rPr lang="en-US" sz="3200" b="1" dirty="0">
                <a:latin typeface="Avenir Next" panose="020B0503020202020204" pitchFamily="34" charset="0"/>
              </a:rPr>
              <a:t>of </a:t>
            </a:r>
            <a:r>
              <a:rPr lang="en-US" sz="3200" b="1" spc="-4" dirty="0">
                <a:latin typeface="Avenir Next" panose="020B0503020202020204" pitchFamily="34" charset="0"/>
              </a:rPr>
              <a:t>vulnerable</a:t>
            </a:r>
            <a:r>
              <a:rPr lang="en-US" sz="3200" b="1" spc="13" dirty="0">
                <a:latin typeface="Avenir Next" panose="020B0503020202020204" pitchFamily="34" charset="0"/>
              </a:rPr>
              <a:t> </a:t>
            </a:r>
            <a:r>
              <a:rPr lang="en-US" sz="3200" b="1" spc="4" dirty="0">
                <a:latin typeface="Avenir Next" panose="020B0503020202020204" pitchFamily="34" charset="0"/>
              </a:rPr>
              <a:t>services</a:t>
            </a:r>
            <a:endParaRPr lang="en-US" sz="1800" b="1" dirty="0">
              <a:latin typeface="Avenir Next" panose="020B0503020202020204" pitchFamily="34" charset="0"/>
              <a:cs typeface="Times New Roman"/>
            </a:endParaRPr>
          </a:p>
          <a:p>
            <a:pPr marL="313781">
              <a:lnSpc>
                <a:spcPct val="100000"/>
              </a:lnSpc>
              <a:spcBef>
                <a:spcPts val="424"/>
              </a:spcBef>
            </a:pPr>
            <a:r>
              <a:rPr lang="en-US" sz="2400" spc="4" dirty="0">
                <a:solidFill>
                  <a:srgbClr val="464653"/>
                </a:solidFill>
                <a:latin typeface="Avenir Next" panose="020B0503020202020204" pitchFamily="34" charset="0"/>
              </a:rPr>
              <a:t>i.e., </a:t>
            </a:r>
            <a:r>
              <a:rPr lang="en-US" sz="2400" spc="-4" dirty="0">
                <a:solidFill>
                  <a:srgbClr val="464653"/>
                </a:solidFill>
                <a:latin typeface="Avenir Next" panose="020B0503020202020204" pitchFamily="34" charset="0"/>
              </a:rPr>
              <a:t>buffer </a:t>
            </a:r>
            <a:r>
              <a:rPr lang="en-US" sz="2400" spc="-31" dirty="0">
                <a:solidFill>
                  <a:srgbClr val="464653"/>
                </a:solidFill>
                <a:latin typeface="Avenir Next" panose="020B0503020202020204" pitchFamily="34" charset="0"/>
              </a:rPr>
              <a:t>over-read</a:t>
            </a:r>
            <a:r>
              <a:rPr lang="en-US" sz="2400" spc="-216" dirty="0">
                <a:solidFill>
                  <a:srgbClr val="464653"/>
                </a:solidFill>
                <a:latin typeface="Avenir Next" panose="020B0503020202020204" pitchFamily="34" charset="0"/>
              </a:rPr>
              <a:t> </a:t>
            </a:r>
            <a:r>
              <a:rPr lang="en-US" sz="2400" spc="-4" dirty="0">
                <a:solidFill>
                  <a:srgbClr val="464653"/>
                </a:solidFill>
                <a:latin typeface="Avenir Next" panose="020B0503020202020204" pitchFamily="34" charset="0"/>
              </a:rPr>
              <a:t>vulnerability</a:t>
            </a:r>
            <a:endParaRPr lang="en-US" sz="2400" dirty="0">
              <a:latin typeface="Avenir Next" panose="020B0503020202020204" pitchFamily="34" charset="0"/>
              <a:cs typeface="Times New Roman"/>
            </a:endParaRPr>
          </a:p>
          <a:p>
            <a:pPr marL="313781">
              <a:lnSpc>
                <a:spcPct val="100000"/>
              </a:lnSpc>
              <a:spcBef>
                <a:spcPts val="476"/>
              </a:spcBef>
            </a:pPr>
            <a:r>
              <a:rPr lang="en-US" sz="2400" dirty="0">
                <a:solidFill>
                  <a:srgbClr val="464653"/>
                </a:solidFill>
                <a:latin typeface="Avenir Next" panose="020B0503020202020204" pitchFamily="34" charset="0"/>
              </a:rPr>
              <a:t>Discloses </a:t>
            </a:r>
            <a:r>
              <a:rPr lang="en-US" sz="2400" spc="-9" dirty="0">
                <a:solidFill>
                  <a:srgbClr val="464653"/>
                </a:solidFill>
                <a:latin typeface="Avenir Next" panose="020B0503020202020204" pitchFamily="34" charset="0"/>
              </a:rPr>
              <a:t>addresses,</a:t>
            </a:r>
            <a:r>
              <a:rPr lang="en-US" sz="2400" spc="-207" dirty="0">
                <a:solidFill>
                  <a:srgbClr val="464653"/>
                </a:solidFill>
                <a:latin typeface="Avenir Next" panose="020B0503020202020204" pitchFamily="34" charset="0"/>
              </a:rPr>
              <a:t> </a:t>
            </a:r>
            <a:r>
              <a:rPr lang="en-US" sz="2400" spc="-9" dirty="0">
                <a:solidFill>
                  <a:srgbClr val="464653"/>
                </a:solidFill>
                <a:latin typeface="Avenir Next" panose="020B0503020202020204" pitchFamily="34" charset="0"/>
              </a:rPr>
              <a:t>sensitive</a:t>
            </a:r>
            <a:r>
              <a:rPr lang="en-US" sz="2400" dirty="0">
                <a:solidFill>
                  <a:srgbClr val="464653"/>
                </a:solidFill>
                <a:latin typeface="Avenir Next" panose="020B0503020202020204" pitchFamily="34" charset="0"/>
              </a:rPr>
              <a:t> data,</a:t>
            </a:r>
            <a:r>
              <a:rPr lang="en-US" sz="2400" spc="-207" dirty="0">
                <a:solidFill>
                  <a:srgbClr val="464653"/>
                </a:solidFill>
                <a:latin typeface="Avenir Next" panose="020B0503020202020204" pitchFamily="34" charset="0"/>
              </a:rPr>
              <a:t> </a:t>
            </a:r>
            <a:r>
              <a:rPr lang="en-US" sz="2400" spc="-4" dirty="0">
                <a:solidFill>
                  <a:srgbClr val="464653"/>
                </a:solidFill>
                <a:latin typeface="Avenir Next" panose="020B0503020202020204" pitchFamily="34" charset="0"/>
              </a:rPr>
              <a:t>potentially</a:t>
            </a:r>
            <a:r>
              <a:rPr lang="en-US" sz="2400" spc="-256" dirty="0">
                <a:solidFill>
                  <a:srgbClr val="464653"/>
                </a:solidFill>
                <a:latin typeface="Avenir Next" panose="020B0503020202020204" pitchFamily="34" charset="0"/>
              </a:rPr>
              <a:t> </a:t>
            </a:r>
            <a:r>
              <a:rPr lang="en-US" sz="2400" dirty="0">
                <a:solidFill>
                  <a:srgbClr val="464653"/>
                </a:solidFill>
                <a:latin typeface="Avenir Next" panose="020B0503020202020204" pitchFamily="34" charset="0"/>
              </a:rPr>
              <a:t>TLS </a:t>
            </a:r>
            <a:r>
              <a:rPr lang="en-US" sz="2400" spc="-9" dirty="0">
                <a:solidFill>
                  <a:srgbClr val="464653"/>
                </a:solidFill>
                <a:latin typeface="Avenir Next" panose="020B0503020202020204" pitchFamily="34" charset="0"/>
              </a:rPr>
              <a:t>secret</a:t>
            </a:r>
            <a:r>
              <a:rPr lang="en-US" sz="2400" dirty="0">
                <a:solidFill>
                  <a:srgbClr val="464653"/>
                </a:solidFill>
                <a:latin typeface="Avenir Next" panose="020B0503020202020204" pitchFamily="34" charset="0"/>
              </a:rPr>
              <a:t> </a:t>
            </a:r>
            <a:r>
              <a:rPr lang="en-US" sz="2400" spc="-26" dirty="0">
                <a:solidFill>
                  <a:srgbClr val="464653"/>
                </a:solidFill>
                <a:latin typeface="Avenir Next" panose="020B0503020202020204" pitchFamily="34" charset="0"/>
              </a:rPr>
              <a:t>keys</a:t>
            </a:r>
            <a:endParaRPr lang="en-US" sz="2400" dirty="0">
              <a:latin typeface="Avenir Next" panose="020B0503020202020204" pitchFamily="34" charset="0"/>
              <a:cs typeface="Times New Roman"/>
            </a:endParaRPr>
          </a:p>
          <a:p>
            <a:pPr marL="78445">
              <a:lnSpc>
                <a:spcPct val="100000"/>
              </a:lnSpc>
              <a:spcBef>
                <a:spcPts val="476"/>
              </a:spcBef>
            </a:pPr>
            <a:r>
              <a:rPr lang="en-US" sz="3200" b="1" dirty="0">
                <a:latin typeface="Avenir Next" panose="020B0503020202020204" pitchFamily="34" charset="0"/>
              </a:rPr>
              <a:t>Major</a:t>
            </a:r>
            <a:r>
              <a:rPr lang="en-US" sz="3200" b="1" spc="-44" dirty="0">
                <a:latin typeface="Avenir Next" panose="020B0503020202020204" pitchFamily="34" charset="0"/>
              </a:rPr>
              <a:t> </a:t>
            </a:r>
            <a:r>
              <a:rPr lang="en-US" sz="3200" b="1" dirty="0">
                <a:latin typeface="Avenir Next" panose="020B0503020202020204" pitchFamily="34" charset="0"/>
              </a:rPr>
              <a:t>impact</a:t>
            </a:r>
            <a:endParaRPr lang="en-US" sz="1800" b="1" dirty="0">
              <a:latin typeface="Avenir Next" panose="020B0503020202020204" pitchFamily="34" charset="0"/>
              <a:cs typeface="Times New Roman"/>
            </a:endParaRPr>
          </a:p>
          <a:p>
            <a:pPr marL="560324" marR="396709" indent="-246543">
              <a:lnSpc>
                <a:spcPct val="100000"/>
              </a:lnSpc>
              <a:spcBef>
                <a:spcPts val="635"/>
              </a:spcBef>
            </a:pPr>
            <a:r>
              <a:rPr lang="en-US" sz="2400" dirty="0">
                <a:solidFill>
                  <a:srgbClr val="464653"/>
                </a:solidFill>
                <a:latin typeface="Avenir Next" panose="020B0503020202020204" pitchFamily="34" charset="0"/>
              </a:rPr>
              <a:t>OpenSSL is the de facto </a:t>
            </a:r>
            <a:r>
              <a:rPr lang="en-US" sz="2400" spc="-4" dirty="0">
                <a:solidFill>
                  <a:srgbClr val="464653"/>
                </a:solidFill>
                <a:latin typeface="Avenir Next" panose="020B0503020202020204" pitchFamily="34" charset="0"/>
              </a:rPr>
              <a:t>standard </a:t>
            </a:r>
            <a:r>
              <a:rPr lang="en-US" sz="2400" dirty="0">
                <a:solidFill>
                  <a:srgbClr val="464653"/>
                </a:solidFill>
                <a:latin typeface="Avenir Next" panose="020B0503020202020204" pitchFamily="34" charset="0"/>
              </a:rPr>
              <a:t>implementation of TLS, so  used</a:t>
            </a:r>
            <a:r>
              <a:rPr lang="en-US" sz="2400" spc="-62" dirty="0">
                <a:solidFill>
                  <a:srgbClr val="464653"/>
                </a:solidFill>
                <a:latin typeface="Avenir Next" panose="020B0503020202020204" pitchFamily="34" charset="0"/>
              </a:rPr>
              <a:t> </a:t>
            </a:r>
            <a:r>
              <a:rPr lang="en-US" sz="2400" spc="-9" dirty="0">
                <a:solidFill>
                  <a:srgbClr val="464653"/>
                </a:solidFill>
                <a:latin typeface="Avenir Next" panose="020B0503020202020204" pitchFamily="34" charset="0"/>
              </a:rPr>
              <a:t>everywhere</a:t>
            </a:r>
            <a:endParaRPr lang="en-US" sz="2400" dirty="0">
              <a:latin typeface="Avenir Next" panose="020B0503020202020204" pitchFamily="34" charset="0"/>
              <a:cs typeface="Times New Roman"/>
            </a:endParaRPr>
          </a:p>
          <a:p>
            <a:pPr marL="313781">
              <a:lnSpc>
                <a:spcPct val="100000"/>
              </a:lnSpc>
              <a:spcBef>
                <a:spcPts val="405"/>
              </a:spcBef>
            </a:pPr>
            <a:r>
              <a:rPr lang="en-US" sz="2400" spc="-13" dirty="0">
                <a:solidFill>
                  <a:srgbClr val="464653"/>
                </a:solidFill>
                <a:latin typeface="Avenir Next" panose="020B0503020202020204" pitchFamily="34" charset="0"/>
              </a:rPr>
              <a:t>Many </a:t>
            </a:r>
            <a:r>
              <a:rPr lang="en-US" sz="2400" dirty="0">
                <a:solidFill>
                  <a:srgbClr val="464653"/>
                </a:solidFill>
                <a:latin typeface="Avenir Next" panose="020B0503020202020204" pitchFamily="34" charset="0"/>
              </a:rPr>
              <a:t>exposed </a:t>
            </a:r>
            <a:r>
              <a:rPr lang="en-US" sz="2400" spc="4" dirty="0">
                <a:solidFill>
                  <a:srgbClr val="464653"/>
                </a:solidFill>
                <a:latin typeface="Avenir Next" panose="020B0503020202020204" pitchFamily="34" charset="0"/>
              </a:rPr>
              <a:t>services, </a:t>
            </a:r>
            <a:r>
              <a:rPr lang="en-US" sz="2400" dirty="0">
                <a:solidFill>
                  <a:srgbClr val="464653"/>
                </a:solidFill>
                <a:latin typeface="Avenir Next" panose="020B0503020202020204" pitchFamily="34" charset="0"/>
              </a:rPr>
              <a:t>often on </a:t>
            </a:r>
            <a:r>
              <a:rPr lang="en-US" sz="2400" spc="-4" dirty="0">
                <a:solidFill>
                  <a:srgbClr val="464653"/>
                </a:solidFill>
                <a:latin typeface="Avenir Next" panose="020B0503020202020204" pitchFamily="34" charset="0"/>
              </a:rPr>
              <a:t>difficult-to-patch</a:t>
            </a:r>
            <a:r>
              <a:rPr lang="en-US" sz="2400" spc="-194" dirty="0">
                <a:solidFill>
                  <a:srgbClr val="464653"/>
                </a:solidFill>
                <a:latin typeface="Avenir Next" panose="020B0503020202020204" pitchFamily="34" charset="0"/>
              </a:rPr>
              <a:t> </a:t>
            </a:r>
            <a:r>
              <a:rPr lang="en-US" sz="2400" spc="-4" dirty="0">
                <a:solidFill>
                  <a:srgbClr val="464653"/>
                </a:solidFill>
                <a:latin typeface="Avenir Next" panose="020B0503020202020204" pitchFamily="34" charset="0"/>
              </a:rPr>
              <a:t>devices</a:t>
            </a:r>
            <a:endParaRPr lang="en-US" sz="2400" dirty="0">
              <a:latin typeface="Avenir Next" panose="020B0503020202020204" pitchFamily="34" charset="0"/>
              <a:cs typeface="Times New Roman"/>
            </a:endParaRPr>
          </a:p>
          <a:p>
            <a:pPr marL="313781">
              <a:lnSpc>
                <a:spcPct val="100000"/>
              </a:lnSpc>
              <a:spcBef>
                <a:spcPts val="388"/>
              </a:spcBef>
            </a:pPr>
            <a:r>
              <a:rPr lang="en-US" sz="2400" spc="-40" dirty="0">
                <a:solidFill>
                  <a:srgbClr val="464653"/>
                </a:solidFill>
                <a:latin typeface="Avenir Next" panose="020B0503020202020204" pitchFamily="34" charset="0"/>
              </a:rPr>
              <a:t>Trivial </a:t>
            </a:r>
            <a:r>
              <a:rPr lang="en-US" sz="2400" dirty="0">
                <a:solidFill>
                  <a:srgbClr val="464653"/>
                </a:solidFill>
                <a:latin typeface="Avenir Next" panose="020B0503020202020204" pitchFamily="34" charset="0"/>
              </a:rPr>
              <a:t>to</a:t>
            </a:r>
            <a:r>
              <a:rPr lang="en-US" sz="2400" spc="-4" dirty="0">
                <a:solidFill>
                  <a:srgbClr val="464653"/>
                </a:solidFill>
                <a:latin typeface="Avenir Next" panose="020B0503020202020204" pitchFamily="34" charset="0"/>
              </a:rPr>
              <a:t> </a:t>
            </a:r>
            <a:r>
              <a:rPr lang="en-US" sz="2400" dirty="0">
                <a:solidFill>
                  <a:srgbClr val="464653"/>
                </a:solidFill>
                <a:latin typeface="Avenir Next" panose="020B0503020202020204" pitchFamily="34" charset="0"/>
              </a:rPr>
              <a:t>exploit</a:t>
            </a:r>
            <a:endParaRPr lang="en-US" sz="24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1122044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HeartBleed</a:t>
            </a:r>
            <a:r>
              <a:rPr lang="en-US" sz="4000" dirty="0">
                <a:solidFill>
                  <a:schemeClr val="bg1"/>
                </a:solidFill>
                <a:latin typeface="Playfair Display Medium" pitchFamily="2" charset="77"/>
                <a:cs typeface="Courier New" panose="02070309020205020404" pitchFamily="49" charset="0"/>
              </a:rPr>
              <a:t> Exploit</a:t>
            </a:r>
          </a:p>
        </p:txBody>
      </p:sp>
      <p:sp>
        <p:nvSpPr>
          <p:cNvPr id="2" name="object 3">
            <a:extLst>
              <a:ext uri="{FF2B5EF4-FFF2-40B4-BE49-F238E27FC236}">
                <a16:creationId xmlns:a16="http://schemas.microsoft.com/office/drawing/2014/main" id="{C0AD2A5C-AA18-B1DF-514B-35A4C3ADD97D}"/>
              </a:ext>
            </a:extLst>
          </p:cNvPr>
          <p:cNvSpPr/>
          <p:nvPr/>
        </p:nvSpPr>
        <p:spPr>
          <a:xfrm>
            <a:off x="7926010" y="2880901"/>
            <a:ext cx="649112" cy="865494"/>
          </a:xfrm>
          <a:prstGeom prst="rect">
            <a:avLst/>
          </a:prstGeom>
          <a:blipFill>
            <a:blip r:embed="rId4" cstate="print"/>
            <a:stretch>
              <a:fillRect/>
            </a:stretch>
          </a:blipFill>
        </p:spPr>
        <p:txBody>
          <a:bodyPr wrap="square" lIns="0" tIns="0" rIns="0" bIns="0" rtlCol="0"/>
          <a:lstStyle/>
          <a:p>
            <a:endParaRPr sz="1588"/>
          </a:p>
        </p:txBody>
      </p:sp>
      <p:sp>
        <p:nvSpPr>
          <p:cNvPr id="3" name="object 4">
            <a:extLst>
              <a:ext uri="{FF2B5EF4-FFF2-40B4-BE49-F238E27FC236}">
                <a16:creationId xmlns:a16="http://schemas.microsoft.com/office/drawing/2014/main" id="{C8590076-DB5B-61F9-10D7-8D9F05240251}"/>
              </a:ext>
            </a:extLst>
          </p:cNvPr>
          <p:cNvSpPr/>
          <p:nvPr/>
        </p:nvSpPr>
        <p:spPr>
          <a:xfrm>
            <a:off x="7645806" y="2556629"/>
            <a:ext cx="1312623" cy="216984"/>
          </a:xfrm>
          <a:prstGeom prst="rect">
            <a:avLst/>
          </a:prstGeom>
          <a:blipFill>
            <a:blip r:embed="rId5" cstate="print"/>
            <a:stretch>
              <a:fillRect/>
            </a:stretch>
          </a:blipFill>
        </p:spPr>
        <p:txBody>
          <a:bodyPr wrap="square" lIns="0" tIns="0" rIns="0" bIns="0" rtlCol="0"/>
          <a:lstStyle/>
          <a:p>
            <a:endParaRPr sz="1588"/>
          </a:p>
        </p:txBody>
      </p:sp>
      <p:sp>
        <p:nvSpPr>
          <p:cNvPr id="4" name="object 5">
            <a:extLst>
              <a:ext uri="{FF2B5EF4-FFF2-40B4-BE49-F238E27FC236}">
                <a16:creationId xmlns:a16="http://schemas.microsoft.com/office/drawing/2014/main" id="{32485E12-12A0-2340-C1AC-6692C90F2D2E}"/>
              </a:ext>
            </a:extLst>
          </p:cNvPr>
          <p:cNvSpPr/>
          <p:nvPr/>
        </p:nvSpPr>
        <p:spPr>
          <a:xfrm>
            <a:off x="3369765" y="1986455"/>
            <a:ext cx="665873" cy="887831"/>
          </a:xfrm>
          <a:prstGeom prst="rect">
            <a:avLst/>
          </a:prstGeom>
          <a:blipFill>
            <a:blip r:embed="rId6" cstate="print"/>
            <a:stretch>
              <a:fillRect/>
            </a:stretch>
          </a:blipFill>
        </p:spPr>
        <p:txBody>
          <a:bodyPr wrap="square" lIns="0" tIns="0" rIns="0" bIns="0" rtlCol="0"/>
          <a:lstStyle/>
          <a:p>
            <a:endParaRPr sz="1588"/>
          </a:p>
        </p:txBody>
      </p:sp>
      <p:sp>
        <p:nvSpPr>
          <p:cNvPr id="7" name="object 6">
            <a:extLst>
              <a:ext uri="{FF2B5EF4-FFF2-40B4-BE49-F238E27FC236}">
                <a16:creationId xmlns:a16="http://schemas.microsoft.com/office/drawing/2014/main" id="{62F69743-796D-EB1E-2CEA-B77C79E236ED}"/>
              </a:ext>
            </a:extLst>
          </p:cNvPr>
          <p:cNvSpPr/>
          <p:nvPr/>
        </p:nvSpPr>
        <p:spPr>
          <a:xfrm>
            <a:off x="3848962" y="2541427"/>
            <a:ext cx="424833" cy="566434"/>
          </a:xfrm>
          <a:prstGeom prst="rect">
            <a:avLst/>
          </a:prstGeom>
          <a:blipFill>
            <a:blip r:embed="rId7" cstate="print"/>
            <a:stretch>
              <a:fillRect/>
            </a:stretch>
          </a:blipFill>
        </p:spPr>
        <p:txBody>
          <a:bodyPr wrap="square" lIns="0" tIns="0" rIns="0" bIns="0" rtlCol="0"/>
          <a:lstStyle/>
          <a:p>
            <a:endParaRPr sz="1588"/>
          </a:p>
        </p:txBody>
      </p:sp>
      <p:sp>
        <p:nvSpPr>
          <p:cNvPr id="8" name="object 7">
            <a:extLst>
              <a:ext uri="{FF2B5EF4-FFF2-40B4-BE49-F238E27FC236}">
                <a16:creationId xmlns:a16="http://schemas.microsoft.com/office/drawing/2014/main" id="{C29F0BF1-5691-7487-F085-384E11DD5870}"/>
              </a:ext>
            </a:extLst>
          </p:cNvPr>
          <p:cNvSpPr/>
          <p:nvPr/>
        </p:nvSpPr>
        <p:spPr>
          <a:xfrm>
            <a:off x="7677475" y="3797416"/>
            <a:ext cx="412947" cy="550601"/>
          </a:xfrm>
          <a:prstGeom prst="rect">
            <a:avLst/>
          </a:prstGeom>
          <a:blipFill>
            <a:blip r:embed="rId8" cstate="print"/>
            <a:stretch>
              <a:fillRect/>
            </a:stretch>
          </a:blipFill>
        </p:spPr>
        <p:txBody>
          <a:bodyPr wrap="square" lIns="0" tIns="0" rIns="0" bIns="0" rtlCol="0"/>
          <a:lstStyle/>
          <a:p>
            <a:endParaRPr sz="1588"/>
          </a:p>
        </p:txBody>
      </p:sp>
      <p:sp>
        <p:nvSpPr>
          <p:cNvPr id="9" name="object 8">
            <a:extLst>
              <a:ext uri="{FF2B5EF4-FFF2-40B4-BE49-F238E27FC236}">
                <a16:creationId xmlns:a16="http://schemas.microsoft.com/office/drawing/2014/main" id="{C4686083-9695-02BE-C224-7B86678FFB64}"/>
              </a:ext>
            </a:extLst>
          </p:cNvPr>
          <p:cNvSpPr/>
          <p:nvPr/>
        </p:nvSpPr>
        <p:spPr>
          <a:xfrm>
            <a:off x="8449537" y="3797417"/>
            <a:ext cx="328691" cy="438260"/>
          </a:xfrm>
          <a:prstGeom prst="rect">
            <a:avLst/>
          </a:prstGeom>
          <a:blipFill>
            <a:blip r:embed="rId9" cstate="print"/>
            <a:stretch>
              <a:fillRect/>
            </a:stretch>
          </a:blipFill>
        </p:spPr>
        <p:txBody>
          <a:bodyPr wrap="square" lIns="0" tIns="0" rIns="0" bIns="0" rtlCol="0"/>
          <a:lstStyle/>
          <a:p>
            <a:endParaRPr sz="1588"/>
          </a:p>
        </p:txBody>
      </p:sp>
      <p:sp>
        <p:nvSpPr>
          <p:cNvPr id="10" name="object 9">
            <a:extLst>
              <a:ext uri="{FF2B5EF4-FFF2-40B4-BE49-F238E27FC236}">
                <a16:creationId xmlns:a16="http://schemas.microsoft.com/office/drawing/2014/main" id="{F730D063-F085-FA91-F647-F72FF9C9CCA8}"/>
              </a:ext>
            </a:extLst>
          </p:cNvPr>
          <p:cNvSpPr txBox="1"/>
          <p:nvPr/>
        </p:nvSpPr>
        <p:spPr>
          <a:xfrm>
            <a:off x="8128332" y="4054635"/>
            <a:ext cx="962025" cy="244362"/>
          </a:xfrm>
          <a:prstGeom prst="rect">
            <a:avLst/>
          </a:prstGeom>
        </p:spPr>
        <p:txBody>
          <a:bodyPr vert="horz" wrap="square" lIns="0" tIns="0" rIns="0" bIns="0" rtlCol="0">
            <a:spAutoFit/>
          </a:bodyPr>
          <a:lstStyle/>
          <a:p>
            <a:pPr marL="11206"/>
            <a:r>
              <a:rPr sz="2382" baseline="-21604" dirty="0">
                <a:latin typeface="Arial"/>
                <a:cs typeface="Arial"/>
              </a:rPr>
              <a:t>BofA</a:t>
            </a:r>
            <a:r>
              <a:rPr sz="2382" spc="99" baseline="-21604" dirty="0">
                <a:latin typeface="Arial"/>
                <a:cs typeface="Arial"/>
              </a:rPr>
              <a:t> </a:t>
            </a:r>
            <a:r>
              <a:rPr sz="2382" baseline="13888" dirty="0">
                <a:latin typeface="Arial"/>
                <a:cs typeface="Arial"/>
              </a:rPr>
              <a:t>S</a:t>
            </a:r>
            <a:r>
              <a:rPr sz="1059" dirty="0">
                <a:latin typeface="Arial"/>
                <a:cs typeface="Arial"/>
              </a:rPr>
              <a:t>BofA</a:t>
            </a:r>
            <a:endParaRPr sz="1059">
              <a:latin typeface="Arial"/>
              <a:cs typeface="Arial"/>
            </a:endParaRPr>
          </a:p>
        </p:txBody>
      </p:sp>
      <p:sp>
        <p:nvSpPr>
          <p:cNvPr id="11" name="object 10">
            <a:extLst>
              <a:ext uri="{FF2B5EF4-FFF2-40B4-BE49-F238E27FC236}">
                <a16:creationId xmlns:a16="http://schemas.microsoft.com/office/drawing/2014/main" id="{D21EC72C-07DD-B066-38C7-160E4FBA7795}"/>
              </a:ext>
            </a:extLst>
          </p:cNvPr>
          <p:cNvSpPr/>
          <p:nvPr/>
        </p:nvSpPr>
        <p:spPr>
          <a:xfrm>
            <a:off x="3322140" y="4864171"/>
            <a:ext cx="761126" cy="1014831"/>
          </a:xfrm>
          <a:prstGeom prst="rect">
            <a:avLst/>
          </a:prstGeom>
          <a:blipFill>
            <a:blip r:embed="rId10" cstate="print"/>
            <a:stretch>
              <a:fillRect/>
            </a:stretch>
          </a:blipFill>
        </p:spPr>
        <p:txBody>
          <a:bodyPr wrap="square" lIns="0" tIns="0" rIns="0" bIns="0" rtlCol="0"/>
          <a:lstStyle/>
          <a:p>
            <a:endParaRPr sz="1588"/>
          </a:p>
        </p:txBody>
      </p:sp>
      <p:sp>
        <p:nvSpPr>
          <p:cNvPr id="12" name="object 11">
            <a:extLst>
              <a:ext uri="{FF2B5EF4-FFF2-40B4-BE49-F238E27FC236}">
                <a16:creationId xmlns:a16="http://schemas.microsoft.com/office/drawing/2014/main" id="{D2489617-CEF9-834F-ED29-2F608E562309}"/>
              </a:ext>
            </a:extLst>
          </p:cNvPr>
          <p:cNvSpPr/>
          <p:nvPr/>
        </p:nvSpPr>
        <p:spPr>
          <a:xfrm>
            <a:off x="4273800" y="2430376"/>
            <a:ext cx="3481106" cy="665069"/>
          </a:xfrm>
          <a:custGeom>
            <a:avLst/>
            <a:gdLst/>
            <a:ahLst/>
            <a:cxnLst/>
            <a:rect l="l" t="t" r="r" b="b"/>
            <a:pathLst>
              <a:path w="3945254" h="753745">
                <a:moveTo>
                  <a:pt x="0" y="0"/>
                </a:moveTo>
                <a:lnTo>
                  <a:pt x="3944697" y="753263"/>
                </a:lnTo>
              </a:path>
            </a:pathLst>
          </a:custGeom>
          <a:ln w="76199">
            <a:solidFill>
              <a:srgbClr val="DADF8C"/>
            </a:solidFill>
          </a:ln>
        </p:spPr>
        <p:txBody>
          <a:bodyPr wrap="square" lIns="0" tIns="0" rIns="0" bIns="0" rtlCol="0"/>
          <a:lstStyle/>
          <a:p>
            <a:endParaRPr sz="1588"/>
          </a:p>
        </p:txBody>
      </p:sp>
      <p:sp>
        <p:nvSpPr>
          <p:cNvPr id="13" name="object 12">
            <a:extLst>
              <a:ext uri="{FF2B5EF4-FFF2-40B4-BE49-F238E27FC236}">
                <a16:creationId xmlns:a16="http://schemas.microsoft.com/office/drawing/2014/main" id="{6422B591-E4A3-CF46-30E7-23D26D5BAF65}"/>
              </a:ext>
            </a:extLst>
          </p:cNvPr>
          <p:cNvSpPr/>
          <p:nvPr/>
        </p:nvSpPr>
        <p:spPr>
          <a:xfrm>
            <a:off x="7603416" y="2970735"/>
            <a:ext cx="217393" cy="198344"/>
          </a:xfrm>
          <a:custGeom>
            <a:avLst/>
            <a:gdLst/>
            <a:ahLst/>
            <a:cxnLst/>
            <a:rect l="l" t="t" r="r" b="b"/>
            <a:pathLst>
              <a:path w="246379" h="224789">
                <a:moveTo>
                  <a:pt x="42875" y="0"/>
                </a:moveTo>
                <a:lnTo>
                  <a:pt x="0" y="224548"/>
                </a:lnTo>
                <a:lnTo>
                  <a:pt x="245986" y="155143"/>
                </a:lnTo>
                <a:lnTo>
                  <a:pt x="42875" y="0"/>
                </a:lnTo>
                <a:close/>
              </a:path>
            </a:pathLst>
          </a:custGeom>
          <a:solidFill>
            <a:srgbClr val="DADF8C"/>
          </a:solidFill>
        </p:spPr>
        <p:txBody>
          <a:bodyPr wrap="square" lIns="0" tIns="0" rIns="0" bIns="0" rtlCol="0"/>
          <a:lstStyle/>
          <a:p>
            <a:endParaRPr sz="1588"/>
          </a:p>
        </p:txBody>
      </p:sp>
      <p:sp>
        <p:nvSpPr>
          <p:cNvPr id="14" name="object 13">
            <a:extLst>
              <a:ext uri="{FF2B5EF4-FFF2-40B4-BE49-F238E27FC236}">
                <a16:creationId xmlns:a16="http://schemas.microsoft.com/office/drawing/2014/main" id="{517FACF5-902C-3365-2017-34047949E3A3}"/>
              </a:ext>
            </a:extLst>
          </p:cNvPr>
          <p:cNvSpPr/>
          <p:nvPr/>
        </p:nvSpPr>
        <p:spPr>
          <a:xfrm>
            <a:off x="4403880" y="2888142"/>
            <a:ext cx="3293408" cy="693084"/>
          </a:xfrm>
          <a:custGeom>
            <a:avLst/>
            <a:gdLst/>
            <a:ahLst/>
            <a:cxnLst/>
            <a:rect l="l" t="t" r="r" b="b"/>
            <a:pathLst>
              <a:path w="3732529" h="785495">
                <a:moveTo>
                  <a:pt x="3732147" y="785349"/>
                </a:moveTo>
                <a:lnTo>
                  <a:pt x="0" y="0"/>
                </a:lnTo>
              </a:path>
            </a:pathLst>
          </a:custGeom>
          <a:ln w="76199">
            <a:solidFill>
              <a:srgbClr val="DADF8C"/>
            </a:solidFill>
          </a:ln>
        </p:spPr>
        <p:txBody>
          <a:bodyPr wrap="square" lIns="0" tIns="0" rIns="0" bIns="0" rtlCol="0"/>
          <a:lstStyle/>
          <a:p>
            <a:endParaRPr sz="1588"/>
          </a:p>
        </p:txBody>
      </p:sp>
      <p:sp>
        <p:nvSpPr>
          <p:cNvPr id="15" name="object 14">
            <a:extLst>
              <a:ext uri="{FF2B5EF4-FFF2-40B4-BE49-F238E27FC236}">
                <a16:creationId xmlns:a16="http://schemas.microsoft.com/office/drawing/2014/main" id="{088BDFD6-3F83-D296-57D0-C258AFF32E9B}"/>
              </a:ext>
            </a:extLst>
          </p:cNvPr>
          <p:cNvSpPr/>
          <p:nvPr/>
        </p:nvSpPr>
        <p:spPr>
          <a:xfrm>
            <a:off x="4338088" y="2817136"/>
            <a:ext cx="218515" cy="197783"/>
          </a:xfrm>
          <a:custGeom>
            <a:avLst/>
            <a:gdLst/>
            <a:ahLst/>
            <a:cxnLst/>
            <a:rect l="l" t="t" r="r" b="b"/>
            <a:pathLst>
              <a:path w="247650" h="224154">
                <a:moveTo>
                  <a:pt x="247230" y="0"/>
                </a:moveTo>
                <a:lnTo>
                  <a:pt x="0" y="64769"/>
                </a:lnTo>
                <a:lnTo>
                  <a:pt x="200164" y="223697"/>
                </a:lnTo>
                <a:lnTo>
                  <a:pt x="247230" y="0"/>
                </a:lnTo>
                <a:close/>
              </a:path>
            </a:pathLst>
          </a:custGeom>
          <a:solidFill>
            <a:srgbClr val="DADF8C"/>
          </a:solidFill>
        </p:spPr>
        <p:txBody>
          <a:bodyPr wrap="square" lIns="0" tIns="0" rIns="0" bIns="0" rtlCol="0"/>
          <a:lstStyle/>
          <a:p>
            <a:endParaRPr sz="1588"/>
          </a:p>
        </p:txBody>
      </p:sp>
      <p:sp>
        <p:nvSpPr>
          <p:cNvPr id="16" name="object 15">
            <a:extLst>
              <a:ext uri="{FF2B5EF4-FFF2-40B4-BE49-F238E27FC236}">
                <a16:creationId xmlns:a16="http://schemas.microsoft.com/office/drawing/2014/main" id="{27BA3382-4916-3C09-18C7-629976E7461B}"/>
              </a:ext>
            </a:extLst>
          </p:cNvPr>
          <p:cNvSpPr/>
          <p:nvPr/>
        </p:nvSpPr>
        <p:spPr>
          <a:xfrm>
            <a:off x="2297668" y="4091816"/>
            <a:ext cx="2813237" cy="887506"/>
          </a:xfrm>
          <a:custGeom>
            <a:avLst/>
            <a:gdLst/>
            <a:ahLst/>
            <a:cxnLst/>
            <a:rect l="l" t="t" r="r" b="b"/>
            <a:pathLst>
              <a:path w="3188335" h="1005839">
                <a:moveTo>
                  <a:pt x="2656456" y="544499"/>
                </a:moveTo>
                <a:lnTo>
                  <a:pt x="1859518" y="544499"/>
                </a:lnTo>
                <a:lnTo>
                  <a:pt x="2540086" y="1005763"/>
                </a:lnTo>
                <a:lnTo>
                  <a:pt x="2656456" y="544499"/>
                </a:lnTo>
                <a:close/>
              </a:path>
              <a:path w="3188335" h="1005839">
                <a:moveTo>
                  <a:pt x="3187748" y="0"/>
                </a:moveTo>
                <a:lnTo>
                  <a:pt x="0" y="0"/>
                </a:lnTo>
                <a:lnTo>
                  <a:pt x="0" y="544499"/>
                </a:lnTo>
                <a:lnTo>
                  <a:pt x="3187748" y="544499"/>
                </a:lnTo>
                <a:lnTo>
                  <a:pt x="3187748" y="0"/>
                </a:lnTo>
                <a:close/>
              </a:path>
            </a:pathLst>
          </a:custGeom>
          <a:solidFill>
            <a:srgbClr val="FF2600"/>
          </a:solidFill>
        </p:spPr>
        <p:txBody>
          <a:bodyPr wrap="square" lIns="0" tIns="0" rIns="0" bIns="0" rtlCol="0"/>
          <a:lstStyle/>
          <a:p>
            <a:endParaRPr sz="1588"/>
          </a:p>
        </p:txBody>
      </p:sp>
      <p:sp>
        <p:nvSpPr>
          <p:cNvPr id="17" name="object 16">
            <a:extLst>
              <a:ext uri="{FF2B5EF4-FFF2-40B4-BE49-F238E27FC236}">
                <a16:creationId xmlns:a16="http://schemas.microsoft.com/office/drawing/2014/main" id="{DDE8D5ED-E479-C2DC-8FCB-D5287882F250}"/>
              </a:ext>
            </a:extLst>
          </p:cNvPr>
          <p:cNvSpPr/>
          <p:nvPr/>
        </p:nvSpPr>
        <p:spPr>
          <a:xfrm>
            <a:off x="2297668" y="4091816"/>
            <a:ext cx="2813237" cy="887506"/>
          </a:xfrm>
          <a:custGeom>
            <a:avLst/>
            <a:gdLst/>
            <a:ahLst/>
            <a:cxnLst/>
            <a:rect l="l" t="t" r="r" b="b"/>
            <a:pathLst>
              <a:path w="3188335" h="1005839">
                <a:moveTo>
                  <a:pt x="0" y="0"/>
                </a:moveTo>
                <a:lnTo>
                  <a:pt x="1859518" y="0"/>
                </a:lnTo>
                <a:lnTo>
                  <a:pt x="2656458" y="0"/>
                </a:lnTo>
                <a:lnTo>
                  <a:pt x="3187747" y="0"/>
                </a:lnTo>
                <a:lnTo>
                  <a:pt x="3187747" y="317622"/>
                </a:lnTo>
                <a:lnTo>
                  <a:pt x="3187747" y="453747"/>
                </a:lnTo>
                <a:lnTo>
                  <a:pt x="3187747" y="544496"/>
                </a:lnTo>
                <a:lnTo>
                  <a:pt x="2656458" y="544496"/>
                </a:lnTo>
                <a:lnTo>
                  <a:pt x="2540088" y="1005759"/>
                </a:lnTo>
                <a:lnTo>
                  <a:pt x="1859518" y="544496"/>
                </a:lnTo>
                <a:lnTo>
                  <a:pt x="0" y="544496"/>
                </a:lnTo>
                <a:lnTo>
                  <a:pt x="0" y="453747"/>
                </a:lnTo>
                <a:lnTo>
                  <a:pt x="0" y="317622"/>
                </a:lnTo>
                <a:lnTo>
                  <a:pt x="0" y="0"/>
                </a:lnTo>
                <a:close/>
              </a:path>
            </a:pathLst>
          </a:custGeom>
          <a:ln w="19049">
            <a:solidFill>
              <a:srgbClr val="CE1C00"/>
            </a:solidFill>
          </a:ln>
        </p:spPr>
        <p:txBody>
          <a:bodyPr wrap="square" lIns="0" tIns="0" rIns="0" bIns="0" rtlCol="0"/>
          <a:lstStyle/>
          <a:p>
            <a:endParaRPr sz="1588"/>
          </a:p>
        </p:txBody>
      </p:sp>
      <p:sp>
        <p:nvSpPr>
          <p:cNvPr id="18" name="object 17">
            <a:extLst>
              <a:ext uri="{FF2B5EF4-FFF2-40B4-BE49-F238E27FC236}">
                <a16:creationId xmlns:a16="http://schemas.microsoft.com/office/drawing/2014/main" id="{AA672F0E-36A0-30FF-17CC-78D5C5BB3168}"/>
              </a:ext>
            </a:extLst>
          </p:cNvPr>
          <p:cNvSpPr txBox="1"/>
          <p:nvPr/>
        </p:nvSpPr>
        <p:spPr>
          <a:xfrm>
            <a:off x="2484855" y="4211013"/>
            <a:ext cx="2442882" cy="244362"/>
          </a:xfrm>
          <a:prstGeom prst="rect">
            <a:avLst/>
          </a:prstGeom>
        </p:spPr>
        <p:txBody>
          <a:bodyPr vert="horz" wrap="square" lIns="0" tIns="0" rIns="0" bIns="0" rtlCol="0">
            <a:spAutoFit/>
          </a:bodyPr>
          <a:lstStyle/>
          <a:p>
            <a:pPr marL="11206"/>
            <a:r>
              <a:rPr sz="1588" dirty="0">
                <a:latin typeface="Gill Sans MT"/>
                <a:cs typeface="Gill Sans MT"/>
              </a:rPr>
              <a:t>Heartbeat(str=“”,</a:t>
            </a:r>
            <a:r>
              <a:rPr sz="1588" spc="-221" dirty="0">
                <a:latin typeface="Gill Sans MT"/>
                <a:cs typeface="Gill Sans MT"/>
              </a:rPr>
              <a:t> </a:t>
            </a:r>
            <a:r>
              <a:rPr sz="1588" dirty="0">
                <a:latin typeface="Gill Sans MT"/>
                <a:cs typeface="Gill Sans MT"/>
              </a:rPr>
              <a:t>len=65535)</a:t>
            </a:r>
            <a:endParaRPr sz="1588">
              <a:latin typeface="Gill Sans MT"/>
              <a:cs typeface="Gill Sans MT"/>
            </a:endParaRPr>
          </a:p>
        </p:txBody>
      </p:sp>
      <p:sp>
        <p:nvSpPr>
          <p:cNvPr id="19" name="object 18">
            <a:extLst>
              <a:ext uri="{FF2B5EF4-FFF2-40B4-BE49-F238E27FC236}">
                <a16:creationId xmlns:a16="http://schemas.microsoft.com/office/drawing/2014/main" id="{3CAB68F3-C1DE-7B01-6550-DB3335723E9A}"/>
              </a:ext>
            </a:extLst>
          </p:cNvPr>
          <p:cNvSpPr/>
          <p:nvPr/>
        </p:nvSpPr>
        <p:spPr>
          <a:xfrm>
            <a:off x="4083266" y="3139948"/>
            <a:ext cx="3632386" cy="1993526"/>
          </a:xfrm>
          <a:custGeom>
            <a:avLst/>
            <a:gdLst/>
            <a:ahLst/>
            <a:cxnLst/>
            <a:rect l="l" t="t" r="r" b="b"/>
            <a:pathLst>
              <a:path w="4116704" h="2259329">
                <a:moveTo>
                  <a:pt x="0" y="2258868"/>
                </a:moveTo>
                <a:lnTo>
                  <a:pt x="4116257" y="0"/>
                </a:lnTo>
              </a:path>
            </a:pathLst>
          </a:custGeom>
          <a:ln w="76199">
            <a:solidFill>
              <a:srgbClr val="DADF8C"/>
            </a:solidFill>
          </a:ln>
        </p:spPr>
        <p:txBody>
          <a:bodyPr wrap="square" lIns="0" tIns="0" rIns="0" bIns="0" rtlCol="0"/>
          <a:lstStyle/>
          <a:p>
            <a:endParaRPr sz="1588"/>
          </a:p>
        </p:txBody>
      </p:sp>
      <p:sp>
        <p:nvSpPr>
          <p:cNvPr id="20" name="object 19">
            <a:extLst>
              <a:ext uri="{FF2B5EF4-FFF2-40B4-BE49-F238E27FC236}">
                <a16:creationId xmlns:a16="http://schemas.microsoft.com/office/drawing/2014/main" id="{DD9E9177-FF85-ECCD-0673-D2E972794656}"/>
              </a:ext>
            </a:extLst>
          </p:cNvPr>
          <p:cNvSpPr/>
          <p:nvPr/>
        </p:nvSpPr>
        <p:spPr>
          <a:xfrm>
            <a:off x="7548853" y="3107604"/>
            <a:ext cx="225798" cy="185457"/>
          </a:xfrm>
          <a:custGeom>
            <a:avLst/>
            <a:gdLst/>
            <a:ahLst/>
            <a:cxnLst/>
            <a:rect l="l" t="t" r="r" b="b"/>
            <a:pathLst>
              <a:path w="255904" h="210185">
                <a:moveTo>
                  <a:pt x="255397" y="0"/>
                </a:moveTo>
                <a:lnTo>
                  <a:pt x="0" y="9778"/>
                </a:lnTo>
                <a:lnTo>
                  <a:pt x="109969" y="210185"/>
                </a:lnTo>
                <a:lnTo>
                  <a:pt x="255397" y="0"/>
                </a:lnTo>
                <a:close/>
              </a:path>
            </a:pathLst>
          </a:custGeom>
          <a:solidFill>
            <a:srgbClr val="DADF8C"/>
          </a:solidFill>
        </p:spPr>
        <p:txBody>
          <a:bodyPr wrap="square" lIns="0" tIns="0" rIns="0" bIns="0" rtlCol="0"/>
          <a:lstStyle/>
          <a:p>
            <a:endParaRPr sz="1588"/>
          </a:p>
        </p:txBody>
      </p:sp>
      <p:sp>
        <p:nvSpPr>
          <p:cNvPr id="21" name="object 20">
            <a:extLst>
              <a:ext uri="{FF2B5EF4-FFF2-40B4-BE49-F238E27FC236}">
                <a16:creationId xmlns:a16="http://schemas.microsoft.com/office/drawing/2014/main" id="{4219C900-C6CD-148A-5911-43CB881467E5}"/>
              </a:ext>
            </a:extLst>
          </p:cNvPr>
          <p:cNvSpPr/>
          <p:nvPr/>
        </p:nvSpPr>
        <p:spPr>
          <a:xfrm>
            <a:off x="4181039" y="3581098"/>
            <a:ext cx="3496796" cy="1942540"/>
          </a:xfrm>
          <a:custGeom>
            <a:avLst/>
            <a:gdLst/>
            <a:ahLst/>
            <a:cxnLst/>
            <a:rect l="l" t="t" r="r" b="b"/>
            <a:pathLst>
              <a:path w="3963034" h="2201545">
                <a:moveTo>
                  <a:pt x="3962627" y="0"/>
                </a:moveTo>
                <a:lnTo>
                  <a:pt x="0" y="2201448"/>
                </a:lnTo>
              </a:path>
            </a:pathLst>
          </a:custGeom>
          <a:ln w="76199">
            <a:solidFill>
              <a:srgbClr val="DADF8C"/>
            </a:solidFill>
          </a:ln>
        </p:spPr>
        <p:txBody>
          <a:bodyPr wrap="square" lIns="0" tIns="0" rIns="0" bIns="0" rtlCol="0"/>
          <a:lstStyle/>
          <a:p>
            <a:endParaRPr sz="1588"/>
          </a:p>
        </p:txBody>
      </p:sp>
      <p:sp>
        <p:nvSpPr>
          <p:cNvPr id="22" name="object 21">
            <a:extLst>
              <a:ext uri="{FF2B5EF4-FFF2-40B4-BE49-F238E27FC236}">
                <a16:creationId xmlns:a16="http://schemas.microsoft.com/office/drawing/2014/main" id="{9FC7DAE7-B8AA-1C2B-3DBC-66843080FE37}"/>
              </a:ext>
            </a:extLst>
          </p:cNvPr>
          <p:cNvSpPr/>
          <p:nvPr/>
        </p:nvSpPr>
        <p:spPr>
          <a:xfrm>
            <a:off x="4122263" y="5370083"/>
            <a:ext cx="225798" cy="186577"/>
          </a:xfrm>
          <a:custGeom>
            <a:avLst/>
            <a:gdLst/>
            <a:ahLst/>
            <a:cxnLst/>
            <a:rect l="l" t="t" r="r" b="b"/>
            <a:pathLst>
              <a:path w="255905" h="211454">
                <a:moveTo>
                  <a:pt x="144322" y="0"/>
                </a:moveTo>
                <a:lnTo>
                  <a:pt x="0" y="210934"/>
                </a:lnTo>
                <a:lnTo>
                  <a:pt x="255346" y="199834"/>
                </a:lnTo>
                <a:lnTo>
                  <a:pt x="144322" y="0"/>
                </a:lnTo>
                <a:close/>
              </a:path>
            </a:pathLst>
          </a:custGeom>
          <a:solidFill>
            <a:srgbClr val="DADF8C"/>
          </a:solidFill>
        </p:spPr>
        <p:txBody>
          <a:bodyPr wrap="square" lIns="0" tIns="0" rIns="0" bIns="0" rtlCol="0"/>
          <a:lstStyle/>
          <a:p>
            <a:endParaRPr sz="1588"/>
          </a:p>
        </p:txBody>
      </p:sp>
      <p:sp>
        <p:nvSpPr>
          <p:cNvPr id="23" name="object 22">
            <a:extLst>
              <a:ext uri="{FF2B5EF4-FFF2-40B4-BE49-F238E27FC236}">
                <a16:creationId xmlns:a16="http://schemas.microsoft.com/office/drawing/2014/main" id="{95B21FBD-CF0D-AE0E-7B5E-4A58FFF6CEAC}"/>
              </a:ext>
            </a:extLst>
          </p:cNvPr>
          <p:cNvSpPr/>
          <p:nvPr/>
        </p:nvSpPr>
        <p:spPr>
          <a:xfrm>
            <a:off x="5110386" y="3933332"/>
            <a:ext cx="4616824" cy="1564901"/>
          </a:xfrm>
          <a:custGeom>
            <a:avLst/>
            <a:gdLst/>
            <a:ahLst/>
            <a:cxnLst/>
            <a:rect l="l" t="t" r="r" b="b"/>
            <a:pathLst>
              <a:path w="5232400" h="1773554">
                <a:moveTo>
                  <a:pt x="5231828" y="953465"/>
                </a:moveTo>
                <a:lnTo>
                  <a:pt x="0" y="953465"/>
                </a:lnTo>
                <a:lnTo>
                  <a:pt x="0" y="1773415"/>
                </a:lnTo>
                <a:lnTo>
                  <a:pt x="5231828" y="1773415"/>
                </a:lnTo>
                <a:lnTo>
                  <a:pt x="5231828" y="953465"/>
                </a:lnTo>
                <a:close/>
              </a:path>
              <a:path w="5232400" h="1773554">
                <a:moveTo>
                  <a:pt x="2267737" y="0"/>
                </a:moveTo>
                <a:lnTo>
                  <a:pt x="871969" y="953465"/>
                </a:lnTo>
                <a:lnTo>
                  <a:pt x="2179929" y="953465"/>
                </a:lnTo>
                <a:lnTo>
                  <a:pt x="2267737" y="0"/>
                </a:lnTo>
                <a:close/>
              </a:path>
            </a:pathLst>
          </a:custGeom>
          <a:solidFill>
            <a:srgbClr val="8590B2"/>
          </a:solidFill>
        </p:spPr>
        <p:txBody>
          <a:bodyPr wrap="square" lIns="0" tIns="0" rIns="0" bIns="0" rtlCol="0"/>
          <a:lstStyle/>
          <a:p>
            <a:endParaRPr sz="1588"/>
          </a:p>
        </p:txBody>
      </p:sp>
      <p:sp>
        <p:nvSpPr>
          <p:cNvPr id="24" name="object 23">
            <a:extLst>
              <a:ext uri="{FF2B5EF4-FFF2-40B4-BE49-F238E27FC236}">
                <a16:creationId xmlns:a16="http://schemas.microsoft.com/office/drawing/2014/main" id="{95810A60-0F14-FCB5-7054-3ACBA6475D54}"/>
              </a:ext>
            </a:extLst>
          </p:cNvPr>
          <p:cNvSpPr/>
          <p:nvPr/>
        </p:nvSpPr>
        <p:spPr>
          <a:xfrm>
            <a:off x="5110386" y="3933327"/>
            <a:ext cx="4616824" cy="1564901"/>
          </a:xfrm>
          <a:custGeom>
            <a:avLst/>
            <a:gdLst/>
            <a:ahLst/>
            <a:cxnLst/>
            <a:rect l="l" t="t" r="r" b="b"/>
            <a:pathLst>
              <a:path w="5232400" h="1773554">
                <a:moveTo>
                  <a:pt x="0" y="953470"/>
                </a:moveTo>
                <a:lnTo>
                  <a:pt x="871970" y="953470"/>
                </a:lnTo>
                <a:lnTo>
                  <a:pt x="2267738" y="0"/>
                </a:lnTo>
                <a:lnTo>
                  <a:pt x="2179928" y="953470"/>
                </a:lnTo>
                <a:lnTo>
                  <a:pt x="5231826" y="953470"/>
                </a:lnTo>
                <a:lnTo>
                  <a:pt x="5231826" y="1090127"/>
                </a:lnTo>
                <a:lnTo>
                  <a:pt x="5231826" y="1295113"/>
                </a:lnTo>
                <a:lnTo>
                  <a:pt x="5231826" y="1773412"/>
                </a:lnTo>
                <a:lnTo>
                  <a:pt x="2179928" y="1773412"/>
                </a:lnTo>
                <a:lnTo>
                  <a:pt x="871970" y="1773412"/>
                </a:lnTo>
                <a:lnTo>
                  <a:pt x="0" y="1773412"/>
                </a:lnTo>
                <a:lnTo>
                  <a:pt x="0" y="1295113"/>
                </a:lnTo>
                <a:lnTo>
                  <a:pt x="0" y="1090127"/>
                </a:lnTo>
                <a:lnTo>
                  <a:pt x="0" y="953470"/>
                </a:lnTo>
                <a:close/>
              </a:path>
            </a:pathLst>
          </a:custGeom>
          <a:ln w="19049">
            <a:solidFill>
              <a:srgbClr val="656D8A"/>
            </a:solidFill>
          </a:ln>
        </p:spPr>
        <p:txBody>
          <a:bodyPr wrap="square" lIns="0" tIns="0" rIns="0" bIns="0" rtlCol="0"/>
          <a:lstStyle/>
          <a:p>
            <a:endParaRPr sz="1588"/>
          </a:p>
        </p:txBody>
      </p:sp>
      <p:sp>
        <p:nvSpPr>
          <p:cNvPr id="25" name="object 24">
            <a:extLst>
              <a:ext uri="{FF2B5EF4-FFF2-40B4-BE49-F238E27FC236}">
                <a16:creationId xmlns:a16="http://schemas.microsoft.com/office/drawing/2014/main" id="{3C0DAE20-A178-8917-3B64-BD76BFC2D92A}"/>
              </a:ext>
            </a:extLst>
          </p:cNvPr>
          <p:cNvSpPr txBox="1"/>
          <p:nvPr/>
        </p:nvSpPr>
        <p:spPr>
          <a:xfrm>
            <a:off x="5214853" y="4907762"/>
            <a:ext cx="4412876" cy="487313"/>
          </a:xfrm>
          <a:prstGeom prst="rect">
            <a:avLst/>
          </a:prstGeom>
        </p:spPr>
        <p:txBody>
          <a:bodyPr vert="horz" wrap="square" lIns="0" tIns="0" rIns="0" bIns="0" rtlCol="0">
            <a:spAutoFit/>
          </a:bodyPr>
          <a:lstStyle/>
          <a:p>
            <a:pPr marL="860658" marR="4483" indent="-850011">
              <a:lnSpc>
                <a:spcPts val="1853"/>
              </a:lnSpc>
            </a:pPr>
            <a:r>
              <a:rPr sz="1588" spc="-4" dirty="0">
                <a:latin typeface="Gill Sans MT"/>
                <a:cs typeface="Gill Sans MT"/>
              </a:rPr>
              <a:t>Echo(“A$fskndvknla… </a:t>
            </a:r>
            <a:r>
              <a:rPr sz="1588" spc="-26" dirty="0">
                <a:latin typeface="Gill Sans MT"/>
                <a:cs typeface="Gill Sans MT"/>
              </a:rPr>
              <a:t>CERTIFICATE </a:t>
            </a:r>
            <a:r>
              <a:rPr sz="1588" dirty="0">
                <a:latin typeface="Gill Sans MT"/>
                <a:cs typeface="Gill Sans MT"/>
              </a:rPr>
              <a:t>– </a:t>
            </a:r>
            <a:r>
              <a:rPr sz="1588" spc="-44" dirty="0">
                <a:latin typeface="Gill Sans MT"/>
                <a:cs typeface="Gill Sans MT"/>
              </a:rPr>
              <a:t>PRIVATE </a:t>
            </a:r>
            <a:r>
              <a:rPr sz="1588" dirty="0">
                <a:latin typeface="Gill Sans MT"/>
                <a:cs typeface="Gill Sans MT"/>
              </a:rPr>
              <a:t>KEY  </a:t>
            </a:r>
            <a:r>
              <a:rPr sz="1588" spc="-9" dirty="0">
                <a:latin typeface="Gill Sans MT"/>
                <a:cs typeface="Gill Sans MT"/>
              </a:rPr>
              <a:t>234nwlkw3rFAF </a:t>
            </a:r>
            <a:r>
              <a:rPr sz="1588" dirty="0">
                <a:latin typeface="Gill Sans MT"/>
                <a:cs typeface="Gill Sans MT"/>
              </a:rPr>
              <a:t>…</a:t>
            </a:r>
            <a:r>
              <a:rPr sz="1588" spc="-4" dirty="0">
                <a:latin typeface="Gill Sans MT"/>
                <a:cs typeface="Gill Sans MT"/>
              </a:rPr>
              <a:t> *$DvdsaeE”)</a:t>
            </a:r>
            <a:endParaRPr sz="1588">
              <a:latin typeface="Gill Sans MT"/>
              <a:cs typeface="Gill Sans MT"/>
            </a:endParaRPr>
          </a:p>
        </p:txBody>
      </p:sp>
      <p:sp>
        <p:nvSpPr>
          <p:cNvPr id="26" name="object 25">
            <a:extLst>
              <a:ext uri="{FF2B5EF4-FFF2-40B4-BE49-F238E27FC236}">
                <a16:creationId xmlns:a16="http://schemas.microsoft.com/office/drawing/2014/main" id="{D64E9319-C7A7-4EA0-9037-6F098926432A}"/>
              </a:ext>
            </a:extLst>
          </p:cNvPr>
          <p:cNvSpPr/>
          <p:nvPr/>
        </p:nvSpPr>
        <p:spPr>
          <a:xfrm>
            <a:off x="4122263" y="1625055"/>
            <a:ext cx="3262592" cy="691963"/>
          </a:xfrm>
          <a:custGeom>
            <a:avLst/>
            <a:gdLst/>
            <a:ahLst/>
            <a:cxnLst/>
            <a:rect l="l" t="t" r="r" b="b"/>
            <a:pathLst>
              <a:path w="3697604" h="784225">
                <a:moveTo>
                  <a:pt x="1540459" y="544487"/>
                </a:moveTo>
                <a:lnTo>
                  <a:pt x="616191" y="544487"/>
                </a:lnTo>
                <a:lnTo>
                  <a:pt x="257505" y="783996"/>
                </a:lnTo>
                <a:lnTo>
                  <a:pt x="1540459" y="544487"/>
                </a:lnTo>
                <a:close/>
              </a:path>
              <a:path w="3697604" h="784225">
                <a:moveTo>
                  <a:pt x="3697097" y="0"/>
                </a:moveTo>
                <a:lnTo>
                  <a:pt x="0" y="0"/>
                </a:lnTo>
                <a:lnTo>
                  <a:pt x="0" y="544487"/>
                </a:lnTo>
                <a:lnTo>
                  <a:pt x="3697097" y="544487"/>
                </a:lnTo>
                <a:lnTo>
                  <a:pt x="3697097" y="0"/>
                </a:lnTo>
                <a:close/>
              </a:path>
            </a:pathLst>
          </a:custGeom>
          <a:solidFill>
            <a:srgbClr val="8590B2"/>
          </a:solidFill>
        </p:spPr>
        <p:txBody>
          <a:bodyPr wrap="square" lIns="0" tIns="0" rIns="0" bIns="0" rtlCol="0"/>
          <a:lstStyle/>
          <a:p>
            <a:endParaRPr sz="1588"/>
          </a:p>
        </p:txBody>
      </p:sp>
      <p:sp>
        <p:nvSpPr>
          <p:cNvPr id="27" name="object 26">
            <a:extLst>
              <a:ext uri="{FF2B5EF4-FFF2-40B4-BE49-F238E27FC236}">
                <a16:creationId xmlns:a16="http://schemas.microsoft.com/office/drawing/2014/main" id="{2F9AC958-3C94-A19F-B065-B68966396DA9}"/>
              </a:ext>
            </a:extLst>
          </p:cNvPr>
          <p:cNvSpPr/>
          <p:nvPr/>
        </p:nvSpPr>
        <p:spPr>
          <a:xfrm>
            <a:off x="4122263" y="1625055"/>
            <a:ext cx="3262592" cy="691963"/>
          </a:xfrm>
          <a:custGeom>
            <a:avLst/>
            <a:gdLst/>
            <a:ahLst/>
            <a:cxnLst/>
            <a:rect l="l" t="t" r="r" b="b"/>
            <a:pathLst>
              <a:path w="3697604" h="784225">
                <a:moveTo>
                  <a:pt x="0" y="0"/>
                </a:moveTo>
                <a:lnTo>
                  <a:pt x="616181" y="0"/>
                </a:lnTo>
                <a:lnTo>
                  <a:pt x="1540448" y="0"/>
                </a:lnTo>
                <a:lnTo>
                  <a:pt x="3697087" y="0"/>
                </a:lnTo>
                <a:lnTo>
                  <a:pt x="3697087" y="317622"/>
                </a:lnTo>
                <a:lnTo>
                  <a:pt x="3697087" y="453747"/>
                </a:lnTo>
                <a:lnTo>
                  <a:pt x="3697087" y="544496"/>
                </a:lnTo>
                <a:lnTo>
                  <a:pt x="1540448" y="544496"/>
                </a:lnTo>
                <a:lnTo>
                  <a:pt x="257501" y="783998"/>
                </a:lnTo>
                <a:lnTo>
                  <a:pt x="616181" y="544496"/>
                </a:lnTo>
                <a:lnTo>
                  <a:pt x="0" y="544496"/>
                </a:lnTo>
                <a:lnTo>
                  <a:pt x="0" y="453747"/>
                </a:lnTo>
                <a:lnTo>
                  <a:pt x="0" y="317622"/>
                </a:lnTo>
                <a:lnTo>
                  <a:pt x="0" y="0"/>
                </a:lnTo>
                <a:close/>
              </a:path>
            </a:pathLst>
          </a:custGeom>
          <a:ln w="19049">
            <a:solidFill>
              <a:srgbClr val="656D8A"/>
            </a:solidFill>
          </a:ln>
        </p:spPr>
        <p:txBody>
          <a:bodyPr wrap="square" lIns="0" tIns="0" rIns="0" bIns="0" rtlCol="0"/>
          <a:lstStyle/>
          <a:p>
            <a:endParaRPr sz="1588"/>
          </a:p>
        </p:txBody>
      </p:sp>
      <p:sp>
        <p:nvSpPr>
          <p:cNvPr id="28" name="object 27">
            <a:extLst>
              <a:ext uri="{FF2B5EF4-FFF2-40B4-BE49-F238E27FC236}">
                <a16:creationId xmlns:a16="http://schemas.microsoft.com/office/drawing/2014/main" id="{00786342-D927-0EAA-66FA-33E90F971419}"/>
              </a:ext>
            </a:extLst>
          </p:cNvPr>
          <p:cNvSpPr txBox="1"/>
          <p:nvPr/>
        </p:nvSpPr>
        <p:spPr>
          <a:xfrm>
            <a:off x="4514274" y="1744239"/>
            <a:ext cx="2483224" cy="244362"/>
          </a:xfrm>
          <a:prstGeom prst="rect">
            <a:avLst/>
          </a:prstGeom>
        </p:spPr>
        <p:txBody>
          <a:bodyPr vert="horz" wrap="square" lIns="0" tIns="0" rIns="0" bIns="0" rtlCol="0">
            <a:spAutoFit/>
          </a:bodyPr>
          <a:lstStyle/>
          <a:p>
            <a:pPr marL="11206"/>
            <a:r>
              <a:rPr sz="1588" dirty="0">
                <a:latin typeface="Gill Sans MT"/>
                <a:cs typeface="Gill Sans MT"/>
              </a:rPr>
              <a:t>Heartbeat(str=“Hello”,</a:t>
            </a:r>
            <a:r>
              <a:rPr sz="1588" spc="-221" dirty="0">
                <a:latin typeface="Gill Sans MT"/>
                <a:cs typeface="Gill Sans MT"/>
              </a:rPr>
              <a:t> </a:t>
            </a:r>
            <a:r>
              <a:rPr sz="1588" dirty="0">
                <a:latin typeface="Gill Sans MT"/>
                <a:cs typeface="Gill Sans MT"/>
              </a:rPr>
              <a:t>len=5)</a:t>
            </a:r>
            <a:endParaRPr sz="1588">
              <a:latin typeface="Gill Sans MT"/>
              <a:cs typeface="Gill Sans MT"/>
            </a:endParaRPr>
          </a:p>
        </p:txBody>
      </p:sp>
      <p:sp>
        <p:nvSpPr>
          <p:cNvPr id="29" name="object 28">
            <a:extLst>
              <a:ext uri="{FF2B5EF4-FFF2-40B4-BE49-F238E27FC236}">
                <a16:creationId xmlns:a16="http://schemas.microsoft.com/office/drawing/2014/main" id="{B34464B4-EB7B-F825-D53A-96D770807DD5}"/>
              </a:ext>
            </a:extLst>
          </p:cNvPr>
          <p:cNvSpPr/>
          <p:nvPr/>
        </p:nvSpPr>
        <p:spPr>
          <a:xfrm>
            <a:off x="6096000" y="3686041"/>
            <a:ext cx="1506071" cy="852207"/>
          </a:xfrm>
          <a:custGeom>
            <a:avLst/>
            <a:gdLst/>
            <a:ahLst/>
            <a:cxnLst/>
            <a:rect l="l" t="t" r="r" b="b"/>
            <a:pathLst>
              <a:path w="1706879" h="965835">
                <a:moveTo>
                  <a:pt x="1706473" y="421068"/>
                </a:moveTo>
                <a:lnTo>
                  <a:pt x="0" y="421068"/>
                </a:lnTo>
                <a:lnTo>
                  <a:pt x="0" y="965568"/>
                </a:lnTo>
                <a:lnTo>
                  <a:pt x="1706473" y="965568"/>
                </a:lnTo>
                <a:lnTo>
                  <a:pt x="1706473" y="421068"/>
                </a:lnTo>
                <a:close/>
              </a:path>
              <a:path w="1706879" h="965835">
                <a:moveTo>
                  <a:pt x="1553743" y="0"/>
                </a:moveTo>
                <a:lnTo>
                  <a:pt x="995438" y="421068"/>
                </a:lnTo>
                <a:lnTo>
                  <a:pt x="1422057" y="421068"/>
                </a:lnTo>
                <a:lnTo>
                  <a:pt x="1553743" y="0"/>
                </a:lnTo>
                <a:close/>
              </a:path>
            </a:pathLst>
          </a:custGeom>
          <a:solidFill>
            <a:srgbClr val="8590B2"/>
          </a:solidFill>
        </p:spPr>
        <p:txBody>
          <a:bodyPr wrap="square" lIns="0" tIns="0" rIns="0" bIns="0" rtlCol="0"/>
          <a:lstStyle/>
          <a:p>
            <a:endParaRPr sz="1588"/>
          </a:p>
        </p:txBody>
      </p:sp>
      <p:sp>
        <p:nvSpPr>
          <p:cNvPr id="30" name="object 29">
            <a:extLst>
              <a:ext uri="{FF2B5EF4-FFF2-40B4-BE49-F238E27FC236}">
                <a16:creationId xmlns:a16="http://schemas.microsoft.com/office/drawing/2014/main" id="{A5C519D0-6D52-3A89-AB16-8F7273D8C3E9}"/>
              </a:ext>
            </a:extLst>
          </p:cNvPr>
          <p:cNvSpPr/>
          <p:nvPr/>
        </p:nvSpPr>
        <p:spPr>
          <a:xfrm>
            <a:off x="6096000" y="3686040"/>
            <a:ext cx="1506071" cy="852207"/>
          </a:xfrm>
          <a:custGeom>
            <a:avLst/>
            <a:gdLst/>
            <a:ahLst/>
            <a:cxnLst/>
            <a:rect l="l" t="t" r="r" b="b"/>
            <a:pathLst>
              <a:path w="1706879" h="965835">
                <a:moveTo>
                  <a:pt x="0" y="421069"/>
                </a:moveTo>
                <a:lnTo>
                  <a:pt x="995439" y="421069"/>
                </a:lnTo>
                <a:lnTo>
                  <a:pt x="1553738" y="0"/>
                </a:lnTo>
                <a:lnTo>
                  <a:pt x="1422058" y="421069"/>
                </a:lnTo>
                <a:lnTo>
                  <a:pt x="1706468" y="421069"/>
                </a:lnTo>
                <a:lnTo>
                  <a:pt x="1706468" y="511819"/>
                </a:lnTo>
                <a:lnTo>
                  <a:pt x="1706468" y="647943"/>
                </a:lnTo>
                <a:lnTo>
                  <a:pt x="1706468" y="965566"/>
                </a:lnTo>
                <a:lnTo>
                  <a:pt x="1422058" y="965566"/>
                </a:lnTo>
                <a:lnTo>
                  <a:pt x="995439" y="965566"/>
                </a:lnTo>
                <a:lnTo>
                  <a:pt x="0" y="965566"/>
                </a:lnTo>
                <a:lnTo>
                  <a:pt x="0" y="647943"/>
                </a:lnTo>
                <a:lnTo>
                  <a:pt x="0" y="511819"/>
                </a:lnTo>
                <a:lnTo>
                  <a:pt x="0" y="421069"/>
                </a:lnTo>
                <a:close/>
              </a:path>
            </a:pathLst>
          </a:custGeom>
          <a:ln w="19049">
            <a:solidFill>
              <a:srgbClr val="656D8A"/>
            </a:solidFill>
          </a:ln>
        </p:spPr>
        <p:txBody>
          <a:bodyPr wrap="square" lIns="0" tIns="0" rIns="0" bIns="0" rtlCol="0"/>
          <a:lstStyle/>
          <a:p>
            <a:endParaRPr sz="1588"/>
          </a:p>
        </p:txBody>
      </p:sp>
      <p:sp>
        <p:nvSpPr>
          <p:cNvPr id="31" name="object 30">
            <a:extLst>
              <a:ext uri="{FF2B5EF4-FFF2-40B4-BE49-F238E27FC236}">
                <a16:creationId xmlns:a16="http://schemas.microsoft.com/office/drawing/2014/main" id="{EC25F685-848D-7BAB-1129-245E86E2C0D5}"/>
              </a:ext>
            </a:extLst>
          </p:cNvPr>
          <p:cNvSpPr txBox="1"/>
          <p:nvPr/>
        </p:nvSpPr>
        <p:spPr>
          <a:xfrm>
            <a:off x="6266279" y="4176767"/>
            <a:ext cx="1169894" cy="244362"/>
          </a:xfrm>
          <a:prstGeom prst="rect">
            <a:avLst/>
          </a:prstGeom>
        </p:spPr>
        <p:txBody>
          <a:bodyPr vert="horz" wrap="square" lIns="0" tIns="0" rIns="0" bIns="0" rtlCol="0">
            <a:spAutoFit/>
          </a:bodyPr>
          <a:lstStyle/>
          <a:p>
            <a:pPr marL="11206"/>
            <a:r>
              <a:rPr sz="1588" dirty="0">
                <a:latin typeface="Gill Sans MT"/>
                <a:cs typeface="Gill Sans MT"/>
              </a:rPr>
              <a:t>Echo(“Hello”)</a:t>
            </a:r>
            <a:endParaRPr sz="1588">
              <a:latin typeface="Gill Sans MT"/>
              <a:cs typeface="Gill Sans MT"/>
            </a:endParaRPr>
          </a:p>
        </p:txBody>
      </p:sp>
    </p:spTree>
    <p:custDataLst>
      <p:tags r:id="rId1"/>
    </p:custDataLst>
    <p:extLst>
      <p:ext uri="{BB962C8B-B14F-4D97-AF65-F5344CB8AC3E}">
        <p14:creationId xmlns:p14="http://schemas.microsoft.com/office/powerpoint/2010/main" val="19414924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HeartBleed</a:t>
            </a:r>
            <a:endParaRPr lang="en-US" sz="4000" dirty="0">
              <a:solidFill>
                <a:schemeClr val="bg1"/>
              </a:solidFill>
              <a:latin typeface="Playfair Display Medium" pitchFamily="2" charset="77"/>
              <a:cs typeface="Courier New" panose="02070309020205020404" pitchFamily="49" charset="0"/>
            </a:endParaRPr>
          </a:p>
        </p:txBody>
      </p:sp>
      <p:sp>
        <p:nvSpPr>
          <p:cNvPr id="6" name="object 3">
            <a:extLst>
              <a:ext uri="{FF2B5EF4-FFF2-40B4-BE49-F238E27FC236}">
                <a16:creationId xmlns:a16="http://schemas.microsoft.com/office/drawing/2014/main" id="{6F6ABE63-449D-BF36-E89C-6B9275999117}"/>
              </a:ext>
            </a:extLst>
          </p:cNvPr>
          <p:cNvSpPr txBox="1">
            <a:spLocks/>
          </p:cNvSpPr>
          <p:nvPr/>
        </p:nvSpPr>
        <p:spPr>
          <a:xfrm>
            <a:off x="96079" y="702392"/>
            <a:ext cx="11963400" cy="6127637"/>
          </a:xfrm>
          <a:prstGeom prst="rect">
            <a:avLst/>
          </a:prstGeom>
        </p:spPr>
        <p:txBody>
          <a:bodyPr vert="horz" wrap="square" lIns="0" tIns="287336"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6543" marR="4483" indent="-235336">
              <a:lnSpc>
                <a:spcPct val="100000"/>
              </a:lnSpc>
            </a:pPr>
            <a:r>
              <a:rPr lang="en-US" sz="3600" b="1" spc="-9" dirty="0">
                <a:latin typeface="Avenir Next" panose="020B0503020202020204" pitchFamily="34" charset="0"/>
                <a:cs typeface="Gill Sans MT"/>
              </a:rPr>
              <a:t>Secret </a:t>
            </a:r>
            <a:r>
              <a:rPr lang="en-US" sz="3600" b="1" spc="-26" dirty="0">
                <a:latin typeface="Avenir Next" panose="020B0503020202020204" pitchFamily="34" charset="0"/>
                <a:cs typeface="Gill Sans MT"/>
              </a:rPr>
              <a:t>keys </a:t>
            </a:r>
            <a:r>
              <a:rPr lang="en-US" sz="3600" b="1" dirty="0">
                <a:latin typeface="Avenir Next" panose="020B0503020202020204" pitchFamily="34" charset="0"/>
                <a:cs typeface="Gill Sans MT"/>
              </a:rPr>
              <a:t>could </a:t>
            </a:r>
            <a:r>
              <a:rPr lang="en-US" sz="3600" b="1" spc="-35" dirty="0">
                <a:latin typeface="Avenir Next" panose="020B0503020202020204" pitchFamily="34" charset="0"/>
                <a:cs typeface="Gill Sans MT"/>
              </a:rPr>
              <a:t>have </a:t>
            </a:r>
            <a:r>
              <a:rPr lang="en-US" sz="3600" b="1" dirty="0">
                <a:latin typeface="Avenir Next" panose="020B0503020202020204" pitchFamily="34" charset="0"/>
                <a:cs typeface="Gill Sans MT"/>
              </a:rPr>
              <a:t>been stolen </a:t>
            </a:r>
            <a:r>
              <a:rPr lang="en-US" sz="3600" b="1" spc="-18" dirty="0">
                <a:latin typeface="Avenir Next" panose="020B0503020202020204" pitchFamily="34" charset="0"/>
                <a:cs typeface="Gill Sans MT"/>
              </a:rPr>
              <a:t>from </a:t>
            </a:r>
            <a:r>
              <a:rPr lang="en-US" sz="3600" b="1" dirty="0">
                <a:latin typeface="Avenir Next" panose="020B0503020202020204" pitchFamily="34" charset="0"/>
                <a:cs typeface="Gill Sans MT"/>
              </a:rPr>
              <a:t>all Heartbleed-  </a:t>
            </a:r>
            <a:r>
              <a:rPr lang="en-US" sz="3600" b="1" spc="-4" dirty="0">
                <a:latin typeface="Avenir Next" panose="020B0503020202020204" pitchFamily="34" charset="0"/>
                <a:cs typeface="Gill Sans MT"/>
              </a:rPr>
              <a:t>vulnerable</a:t>
            </a:r>
            <a:r>
              <a:rPr lang="en-US" sz="3600" b="1" spc="-31" dirty="0">
                <a:latin typeface="Avenir Next" panose="020B0503020202020204" pitchFamily="34" charset="0"/>
                <a:cs typeface="Gill Sans MT"/>
              </a:rPr>
              <a:t> </a:t>
            </a:r>
            <a:r>
              <a:rPr lang="en-US" sz="3600" b="1" dirty="0">
                <a:latin typeface="Avenir Next" panose="020B0503020202020204" pitchFamily="34" charset="0"/>
                <a:cs typeface="Gill Sans MT"/>
              </a:rPr>
              <a:t>servers</a:t>
            </a:r>
          </a:p>
          <a:p>
            <a:pPr marL="246543" marR="276800" indent="-235336">
              <a:lnSpc>
                <a:spcPct val="100000"/>
              </a:lnSpc>
              <a:spcBef>
                <a:spcPts val="529"/>
              </a:spcBef>
            </a:pPr>
            <a:r>
              <a:rPr lang="en-US" sz="3600" spc="-106" dirty="0">
                <a:latin typeface="Avenir Next" panose="020B0503020202020204" pitchFamily="34" charset="0"/>
                <a:cs typeface="Gill Sans MT"/>
              </a:rPr>
              <a:t>We </a:t>
            </a:r>
            <a:r>
              <a:rPr lang="en-US" sz="3600" spc="-9" dirty="0">
                <a:latin typeface="Avenir Next" panose="020B0503020202020204" pitchFamily="34" charset="0"/>
                <a:cs typeface="Gill Sans MT"/>
              </a:rPr>
              <a:t>know </a:t>
            </a:r>
            <a:r>
              <a:rPr lang="en-US" sz="3600" dirty="0">
                <a:latin typeface="Avenir Next" panose="020B0503020202020204" pitchFamily="34" charset="0"/>
                <a:cs typeface="Gill Sans MT"/>
              </a:rPr>
              <a:t>that administrators should </a:t>
            </a:r>
            <a:r>
              <a:rPr lang="en-US" sz="3600" spc="-35" dirty="0">
                <a:latin typeface="Avenir Next" panose="020B0503020202020204" pitchFamily="34" charset="0"/>
                <a:cs typeface="Gill Sans MT"/>
              </a:rPr>
              <a:t>have </a:t>
            </a:r>
            <a:r>
              <a:rPr lang="en-US" sz="3600" dirty="0">
                <a:latin typeface="Avenir Next" panose="020B0503020202020204" pitchFamily="34" charset="0"/>
                <a:cs typeface="Gill Sans MT"/>
              </a:rPr>
              <a:t>done </a:t>
            </a:r>
            <a:r>
              <a:rPr lang="en-US" sz="3600" spc="-13" dirty="0">
                <a:latin typeface="Avenir Next" panose="020B0503020202020204" pitchFamily="34" charset="0"/>
                <a:cs typeface="Gill Sans MT"/>
              </a:rPr>
              <a:t>three  </a:t>
            </a:r>
            <a:r>
              <a:rPr lang="en-US" sz="3600" dirty="0">
                <a:latin typeface="Avenir Next" panose="020B0503020202020204" pitchFamily="34" charset="0"/>
                <a:cs typeface="Gill Sans MT"/>
              </a:rPr>
              <a:t>things</a:t>
            </a:r>
            <a:r>
              <a:rPr lang="en-US" sz="3600" spc="-22" dirty="0">
                <a:latin typeface="Avenir Next" panose="020B0503020202020204" pitchFamily="34" charset="0"/>
                <a:cs typeface="Gill Sans MT"/>
              </a:rPr>
              <a:t> </a:t>
            </a:r>
            <a:r>
              <a:rPr lang="en-US" sz="3600" dirty="0">
                <a:latin typeface="Avenir Next" panose="020B0503020202020204" pitchFamily="34" charset="0"/>
                <a:cs typeface="Gill Sans MT"/>
              </a:rPr>
              <a:t>on</a:t>
            </a:r>
            <a:r>
              <a:rPr lang="en-US" sz="3600" spc="-251" dirty="0">
                <a:latin typeface="Avenir Next" panose="020B0503020202020204" pitchFamily="34" charset="0"/>
                <a:cs typeface="Gill Sans MT"/>
              </a:rPr>
              <a:t> </a:t>
            </a:r>
            <a:r>
              <a:rPr lang="en-US" sz="3600" spc="-4" dirty="0">
                <a:latin typeface="Avenir Next" panose="020B0503020202020204" pitchFamily="34" charset="0"/>
                <a:cs typeface="Gill Sans MT"/>
              </a:rPr>
              <a:t>April</a:t>
            </a:r>
            <a:r>
              <a:rPr lang="en-US" sz="3600" spc="-26" dirty="0">
                <a:latin typeface="Avenir Next" panose="020B0503020202020204" pitchFamily="34" charset="0"/>
                <a:cs typeface="Gill Sans MT"/>
              </a:rPr>
              <a:t> </a:t>
            </a:r>
            <a:r>
              <a:rPr lang="en-US" sz="3600" dirty="0">
                <a:latin typeface="Avenir Next" panose="020B0503020202020204" pitchFamily="34" charset="0"/>
                <a:cs typeface="Gill Sans MT"/>
              </a:rPr>
              <a:t>7,</a:t>
            </a:r>
            <a:r>
              <a:rPr lang="en-US" sz="3600" spc="-251" dirty="0">
                <a:latin typeface="Avenir Next" panose="020B0503020202020204" pitchFamily="34" charset="0"/>
                <a:cs typeface="Gill Sans MT"/>
              </a:rPr>
              <a:t> </a:t>
            </a:r>
            <a:r>
              <a:rPr lang="en-US" sz="3600" dirty="0">
                <a:latin typeface="Avenir Next" panose="020B0503020202020204" pitchFamily="34" charset="0"/>
                <a:cs typeface="Gill Sans MT"/>
              </a:rPr>
              <a:t>2014:</a:t>
            </a:r>
          </a:p>
          <a:p>
            <a:pPr marL="818073" indent="-403433">
              <a:lnSpc>
                <a:spcPct val="100000"/>
              </a:lnSpc>
              <a:spcBef>
                <a:spcPts val="335"/>
              </a:spcBef>
              <a:buClr>
                <a:srgbClr val="9FB8CD"/>
              </a:buClr>
              <a:buSzPct val="76086"/>
              <a:buAutoNum type="arabicPeriod"/>
              <a:tabLst>
                <a:tab pos="817513" algn="l"/>
                <a:tab pos="818073" algn="l"/>
              </a:tabLst>
            </a:pPr>
            <a:r>
              <a:rPr lang="en-US" sz="3600" dirty="0">
                <a:solidFill>
                  <a:srgbClr val="464653"/>
                </a:solidFill>
                <a:latin typeface="Avenir Next" panose="020B0503020202020204" pitchFamily="34" charset="0"/>
                <a:cs typeface="Gill Sans MT"/>
              </a:rPr>
              <a:t>Patch their </a:t>
            </a:r>
            <a:r>
              <a:rPr lang="en-US" sz="3600" spc="-22" dirty="0">
                <a:solidFill>
                  <a:srgbClr val="464653"/>
                </a:solidFill>
                <a:latin typeface="Avenir Next" panose="020B0503020202020204" pitchFamily="34" charset="0"/>
                <a:cs typeface="Gill Sans MT"/>
              </a:rPr>
              <a:t>copy </a:t>
            </a:r>
            <a:r>
              <a:rPr lang="en-US" sz="3600" dirty="0">
                <a:solidFill>
                  <a:srgbClr val="464653"/>
                </a:solidFill>
                <a:latin typeface="Avenir Next" panose="020B0503020202020204" pitchFamily="34" charset="0"/>
                <a:cs typeface="Gill Sans MT"/>
              </a:rPr>
              <a:t>of</a:t>
            </a:r>
            <a:r>
              <a:rPr lang="en-US" sz="3600" spc="-53" dirty="0">
                <a:solidFill>
                  <a:srgbClr val="464653"/>
                </a:solidFill>
                <a:latin typeface="Avenir Next" panose="020B0503020202020204" pitchFamily="34" charset="0"/>
                <a:cs typeface="Gill Sans MT"/>
              </a:rPr>
              <a:t> </a:t>
            </a:r>
            <a:r>
              <a:rPr lang="en-US" sz="3600" dirty="0">
                <a:solidFill>
                  <a:srgbClr val="464653"/>
                </a:solidFill>
                <a:latin typeface="Avenir Next" panose="020B0503020202020204" pitchFamily="34" charset="0"/>
                <a:cs typeface="Gill Sans MT"/>
              </a:rPr>
              <a:t>OpenSSL</a:t>
            </a:r>
            <a:endParaRPr lang="en-US" sz="3600" dirty="0">
              <a:latin typeface="Avenir Next" panose="020B0503020202020204" pitchFamily="34" charset="0"/>
              <a:cs typeface="Gill Sans MT"/>
            </a:endParaRPr>
          </a:p>
          <a:p>
            <a:pPr marL="818073" indent="-403433">
              <a:lnSpc>
                <a:spcPct val="100000"/>
              </a:lnSpc>
              <a:spcBef>
                <a:spcPts val="476"/>
              </a:spcBef>
              <a:buClr>
                <a:srgbClr val="9FB8CD"/>
              </a:buClr>
              <a:buSzPct val="76086"/>
              <a:buAutoNum type="arabicPeriod"/>
              <a:tabLst>
                <a:tab pos="817513" algn="l"/>
                <a:tab pos="818073" algn="l"/>
              </a:tabLst>
            </a:pPr>
            <a:r>
              <a:rPr lang="en-US" sz="3600" dirty="0">
                <a:solidFill>
                  <a:srgbClr val="464653"/>
                </a:solidFill>
                <a:latin typeface="Avenir Next" panose="020B0503020202020204" pitchFamily="34" charset="0"/>
                <a:cs typeface="Gill Sans MT"/>
              </a:rPr>
              <a:t>Reissue their certificate with a </a:t>
            </a:r>
            <a:r>
              <a:rPr lang="en-US" sz="3600" spc="-13" dirty="0">
                <a:solidFill>
                  <a:srgbClr val="464653"/>
                </a:solidFill>
                <a:latin typeface="Avenir Next" panose="020B0503020202020204" pitchFamily="34" charset="0"/>
                <a:cs typeface="Gill Sans MT"/>
              </a:rPr>
              <a:t>new </a:t>
            </a:r>
            <a:r>
              <a:rPr lang="en-US" sz="3600" spc="-4" dirty="0">
                <a:solidFill>
                  <a:srgbClr val="464653"/>
                </a:solidFill>
                <a:latin typeface="Avenir Next" panose="020B0503020202020204" pitchFamily="34" charset="0"/>
                <a:cs typeface="Gill Sans MT"/>
              </a:rPr>
              <a:t>asymmetric</a:t>
            </a:r>
            <a:r>
              <a:rPr lang="en-US" sz="3600" spc="9" dirty="0">
                <a:solidFill>
                  <a:srgbClr val="464653"/>
                </a:solidFill>
                <a:latin typeface="Avenir Next" panose="020B0503020202020204" pitchFamily="34" charset="0"/>
                <a:cs typeface="Gill Sans MT"/>
              </a:rPr>
              <a:t> </a:t>
            </a:r>
            <a:r>
              <a:rPr lang="en-US" sz="3600" spc="-13" dirty="0">
                <a:solidFill>
                  <a:srgbClr val="464653"/>
                </a:solidFill>
                <a:latin typeface="Avenir Next" panose="020B0503020202020204" pitchFamily="34" charset="0"/>
                <a:cs typeface="Gill Sans MT"/>
              </a:rPr>
              <a:t>keypair</a:t>
            </a:r>
            <a:endParaRPr lang="en-US" sz="3600" dirty="0">
              <a:latin typeface="Avenir Next" panose="020B0503020202020204" pitchFamily="34" charset="0"/>
              <a:cs typeface="Gill Sans MT"/>
            </a:endParaRPr>
          </a:p>
          <a:p>
            <a:pPr marL="818073" indent="-403433">
              <a:lnSpc>
                <a:spcPct val="100000"/>
              </a:lnSpc>
              <a:spcBef>
                <a:spcPts val="476"/>
              </a:spcBef>
              <a:buClr>
                <a:srgbClr val="9FB8CD"/>
              </a:buClr>
              <a:buSzPct val="76086"/>
              <a:buAutoNum type="arabicPeriod"/>
              <a:tabLst>
                <a:tab pos="817513" algn="l"/>
                <a:tab pos="818073" algn="l"/>
              </a:tabLst>
            </a:pPr>
            <a:r>
              <a:rPr lang="en-US" sz="3600" spc="-26" dirty="0">
                <a:solidFill>
                  <a:srgbClr val="464653"/>
                </a:solidFill>
                <a:latin typeface="Avenir Next" panose="020B0503020202020204" pitchFamily="34" charset="0"/>
                <a:cs typeface="Gill Sans MT"/>
              </a:rPr>
              <a:t>Revoke </a:t>
            </a:r>
            <a:r>
              <a:rPr lang="en-US" sz="3600" dirty="0">
                <a:solidFill>
                  <a:srgbClr val="464653"/>
                </a:solidFill>
                <a:latin typeface="Avenir Next" panose="020B0503020202020204" pitchFamily="34" charset="0"/>
                <a:cs typeface="Gill Sans MT"/>
              </a:rPr>
              <a:t>their old </a:t>
            </a:r>
            <a:r>
              <a:rPr lang="en-US" sz="3600" spc="-4" dirty="0">
                <a:solidFill>
                  <a:srgbClr val="464653"/>
                </a:solidFill>
                <a:latin typeface="Avenir Next" panose="020B0503020202020204" pitchFamily="34" charset="0"/>
                <a:cs typeface="Gill Sans MT"/>
              </a:rPr>
              <a:t>(potentially compromised)</a:t>
            </a:r>
            <a:r>
              <a:rPr lang="en-US" sz="3600" spc="31" dirty="0">
                <a:solidFill>
                  <a:srgbClr val="464653"/>
                </a:solidFill>
                <a:latin typeface="Avenir Next" panose="020B0503020202020204" pitchFamily="34" charset="0"/>
                <a:cs typeface="Gill Sans MT"/>
              </a:rPr>
              <a:t> </a:t>
            </a:r>
            <a:r>
              <a:rPr lang="en-US" sz="3600" dirty="0">
                <a:solidFill>
                  <a:srgbClr val="464653"/>
                </a:solidFill>
                <a:latin typeface="Avenir Next" panose="020B0503020202020204" pitchFamily="34" charset="0"/>
                <a:cs typeface="Gill Sans MT"/>
              </a:rPr>
              <a:t>certificate</a:t>
            </a:r>
            <a:endParaRPr lang="en-US" sz="3600" dirty="0">
              <a:latin typeface="Avenir Next" panose="020B0503020202020204" pitchFamily="34" charset="0"/>
              <a:cs typeface="Gill Sans MT"/>
            </a:endParaRPr>
          </a:p>
          <a:p>
            <a:pPr marL="11206">
              <a:lnSpc>
                <a:spcPct val="100000"/>
              </a:lnSpc>
              <a:spcBef>
                <a:spcPts val="476"/>
              </a:spcBef>
            </a:pPr>
            <a:r>
              <a:rPr lang="en-US" sz="3600" b="1" spc="-4" dirty="0">
                <a:latin typeface="Avenir Next" panose="020B0503020202020204" pitchFamily="34" charset="0"/>
                <a:cs typeface="Gill Sans MT"/>
              </a:rPr>
              <a:t>Question:</a:t>
            </a:r>
            <a:r>
              <a:rPr lang="en-US" sz="3600" spc="-4" dirty="0">
                <a:latin typeface="Avenir Next" panose="020B0503020202020204" pitchFamily="34" charset="0"/>
                <a:cs typeface="Gill Sans MT"/>
              </a:rPr>
              <a:t> </a:t>
            </a:r>
            <a:r>
              <a:rPr lang="en-US" sz="3600" i="1" dirty="0">
                <a:latin typeface="Avenir Next" panose="020B0503020202020204" pitchFamily="34" charset="0"/>
                <a:cs typeface="Gill Sans MT"/>
              </a:rPr>
              <a:t>did administrators do these</a:t>
            </a:r>
            <a:r>
              <a:rPr lang="en-US" sz="3600" i="1" spc="-274" dirty="0">
                <a:latin typeface="Avenir Next" panose="020B0503020202020204" pitchFamily="34" charset="0"/>
                <a:cs typeface="Gill Sans MT"/>
              </a:rPr>
              <a:t> </a:t>
            </a:r>
            <a:r>
              <a:rPr lang="en-US" sz="3600" i="1" dirty="0">
                <a:latin typeface="Avenir Next" panose="020B0503020202020204" pitchFamily="34" charset="0"/>
                <a:cs typeface="Gill Sans MT"/>
              </a:rPr>
              <a:t>things?</a:t>
            </a:r>
          </a:p>
          <a:p>
            <a:pPr marL="468406" lvl="1">
              <a:lnSpc>
                <a:spcPct val="100000"/>
              </a:lnSpc>
              <a:spcBef>
                <a:spcPts val="476"/>
              </a:spcBef>
            </a:pPr>
            <a:r>
              <a:rPr lang="en-US" sz="3200" i="1" dirty="0">
                <a:solidFill>
                  <a:srgbClr val="464653"/>
                </a:solidFill>
                <a:latin typeface="Avenir Next" panose="020B0503020202020204" pitchFamily="34" charset="0"/>
                <a:cs typeface="Gill Sans MT"/>
              </a:rPr>
              <a:t>If </a:t>
            </a:r>
            <a:r>
              <a:rPr lang="en-US" sz="3200" i="1" spc="-22" dirty="0">
                <a:solidFill>
                  <a:srgbClr val="464653"/>
                </a:solidFill>
                <a:latin typeface="Avenir Next" panose="020B0503020202020204" pitchFamily="34" charset="0"/>
                <a:cs typeface="Gill Sans MT"/>
              </a:rPr>
              <a:t>so, </a:t>
            </a:r>
            <a:r>
              <a:rPr lang="en-US" sz="3200" i="1" spc="-9" dirty="0">
                <a:solidFill>
                  <a:srgbClr val="464653"/>
                </a:solidFill>
                <a:latin typeface="Avenir Next" panose="020B0503020202020204" pitchFamily="34" charset="0"/>
                <a:cs typeface="Gill Sans MT"/>
              </a:rPr>
              <a:t>how </a:t>
            </a:r>
            <a:r>
              <a:rPr lang="en-US" sz="3200" i="1" spc="-4" dirty="0">
                <a:solidFill>
                  <a:srgbClr val="464653"/>
                </a:solidFill>
                <a:latin typeface="Avenir Next" panose="020B0503020202020204" pitchFamily="34" charset="0"/>
                <a:cs typeface="Gill Sans MT"/>
              </a:rPr>
              <a:t>quickly </a:t>
            </a:r>
            <a:r>
              <a:rPr lang="en-US" sz="3200" i="1" dirty="0">
                <a:solidFill>
                  <a:srgbClr val="464653"/>
                </a:solidFill>
                <a:latin typeface="Avenir Next" panose="020B0503020202020204" pitchFamily="34" charset="0"/>
                <a:cs typeface="Gill Sans MT"/>
              </a:rPr>
              <a:t>did </a:t>
            </a:r>
            <a:r>
              <a:rPr lang="en-US" sz="3200" i="1" spc="-9" dirty="0">
                <a:solidFill>
                  <a:srgbClr val="464653"/>
                </a:solidFill>
                <a:latin typeface="Avenir Next" panose="020B0503020202020204" pitchFamily="34" charset="0"/>
                <a:cs typeface="Gill Sans MT"/>
              </a:rPr>
              <a:t>they</a:t>
            </a:r>
            <a:r>
              <a:rPr lang="en-US" sz="3200" i="1" spc="-207" dirty="0">
                <a:solidFill>
                  <a:srgbClr val="464653"/>
                </a:solidFill>
                <a:latin typeface="Avenir Next" panose="020B0503020202020204" pitchFamily="34" charset="0"/>
                <a:cs typeface="Gill Sans MT"/>
              </a:rPr>
              <a:t> </a:t>
            </a:r>
            <a:r>
              <a:rPr lang="en-US" sz="3200" i="1" spc="-9" dirty="0">
                <a:solidFill>
                  <a:srgbClr val="464653"/>
                </a:solidFill>
                <a:latin typeface="Avenir Next" panose="020B0503020202020204" pitchFamily="34" charset="0"/>
                <a:cs typeface="Gill Sans MT"/>
              </a:rPr>
              <a:t>respond?</a:t>
            </a:r>
            <a:endParaRPr lang="en-US" sz="3200" i="1" dirty="0">
              <a:latin typeface="Avenir Next" panose="020B0503020202020204" pitchFamily="34" charset="0"/>
              <a:cs typeface="Gill Sans MT"/>
            </a:endParaRPr>
          </a:p>
        </p:txBody>
      </p:sp>
    </p:spTree>
    <p:custDataLst>
      <p:tags r:id="rId1"/>
    </p:custDataLst>
    <p:extLst>
      <p:ext uri="{BB962C8B-B14F-4D97-AF65-F5344CB8AC3E}">
        <p14:creationId xmlns:p14="http://schemas.microsoft.com/office/powerpoint/2010/main" val="19204132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HeartBleed</a:t>
            </a:r>
            <a:endParaRPr lang="en-US" sz="4000" dirty="0">
              <a:solidFill>
                <a:schemeClr val="bg1"/>
              </a:solidFill>
              <a:latin typeface="Playfair Display Medium" pitchFamily="2" charset="77"/>
              <a:cs typeface="Courier New" panose="02070309020205020404" pitchFamily="49" charset="0"/>
            </a:endParaRPr>
          </a:p>
        </p:txBody>
      </p:sp>
      <p:sp>
        <p:nvSpPr>
          <p:cNvPr id="2" name="object 3">
            <a:extLst>
              <a:ext uri="{FF2B5EF4-FFF2-40B4-BE49-F238E27FC236}">
                <a16:creationId xmlns:a16="http://schemas.microsoft.com/office/drawing/2014/main" id="{B682E895-39D4-F1C8-A3D3-EE16C7DFE52D}"/>
              </a:ext>
            </a:extLst>
          </p:cNvPr>
          <p:cNvSpPr/>
          <p:nvPr/>
        </p:nvSpPr>
        <p:spPr>
          <a:xfrm>
            <a:off x="2206149" y="1378820"/>
            <a:ext cx="7678178" cy="4916502"/>
          </a:xfrm>
          <a:prstGeom prst="rect">
            <a:avLst/>
          </a:prstGeom>
          <a:blipFill>
            <a:blip r:embed="rId4" cstate="print"/>
            <a:stretch>
              <a:fillRect/>
            </a:stretch>
          </a:blipFill>
        </p:spPr>
        <p:txBody>
          <a:bodyPr wrap="square" lIns="0" tIns="0" rIns="0" bIns="0" rtlCol="0"/>
          <a:lstStyle/>
          <a:p>
            <a:endParaRPr sz="1588"/>
          </a:p>
        </p:txBody>
      </p:sp>
      <p:sp>
        <p:nvSpPr>
          <p:cNvPr id="3" name="object 4">
            <a:extLst>
              <a:ext uri="{FF2B5EF4-FFF2-40B4-BE49-F238E27FC236}">
                <a16:creationId xmlns:a16="http://schemas.microsoft.com/office/drawing/2014/main" id="{3CAC03EE-14F3-DB8A-AB7C-5FA56AE5D5B3}"/>
              </a:ext>
            </a:extLst>
          </p:cNvPr>
          <p:cNvSpPr/>
          <p:nvPr/>
        </p:nvSpPr>
        <p:spPr>
          <a:xfrm>
            <a:off x="7801064" y="3789045"/>
            <a:ext cx="2203637" cy="1026459"/>
          </a:xfrm>
          <a:custGeom>
            <a:avLst/>
            <a:gdLst/>
            <a:ahLst/>
            <a:cxnLst/>
            <a:rect l="l" t="t" r="r" b="b"/>
            <a:pathLst>
              <a:path w="2497454" h="1163320">
                <a:moveTo>
                  <a:pt x="1040536" y="807618"/>
                </a:moveTo>
                <a:lnTo>
                  <a:pt x="416204" y="807618"/>
                </a:lnTo>
                <a:lnTo>
                  <a:pt x="173926" y="1162850"/>
                </a:lnTo>
                <a:lnTo>
                  <a:pt x="1040536" y="807618"/>
                </a:lnTo>
                <a:close/>
              </a:path>
              <a:path w="2497454" h="1163320">
                <a:moveTo>
                  <a:pt x="2497289" y="0"/>
                </a:moveTo>
                <a:lnTo>
                  <a:pt x="0" y="0"/>
                </a:lnTo>
                <a:lnTo>
                  <a:pt x="0" y="807618"/>
                </a:lnTo>
                <a:lnTo>
                  <a:pt x="2497289" y="807618"/>
                </a:lnTo>
                <a:lnTo>
                  <a:pt x="2497289" y="0"/>
                </a:lnTo>
                <a:close/>
              </a:path>
            </a:pathLst>
          </a:custGeom>
          <a:solidFill>
            <a:srgbClr val="C00000"/>
          </a:solidFill>
        </p:spPr>
        <p:txBody>
          <a:bodyPr wrap="square" lIns="0" tIns="0" rIns="0" bIns="0" rtlCol="0"/>
          <a:lstStyle/>
          <a:p>
            <a:endParaRPr sz="1588">
              <a:solidFill>
                <a:schemeClr val="bg1"/>
              </a:solidFill>
            </a:endParaRPr>
          </a:p>
        </p:txBody>
      </p:sp>
      <p:sp>
        <p:nvSpPr>
          <p:cNvPr id="4" name="object 5">
            <a:extLst>
              <a:ext uri="{FF2B5EF4-FFF2-40B4-BE49-F238E27FC236}">
                <a16:creationId xmlns:a16="http://schemas.microsoft.com/office/drawing/2014/main" id="{A5F1D635-286A-8E78-9A1D-4FE61C21C0B8}"/>
              </a:ext>
            </a:extLst>
          </p:cNvPr>
          <p:cNvSpPr/>
          <p:nvPr/>
        </p:nvSpPr>
        <p:spPr>
          <a:xfrm>
            <a:off x="7801064" y="3789045"/>
            <a:ext cx="2203637" cy="1026459"/>
          </a:xfrm>
          <a:custGeom>
            <a:avLst/>
            <a:gdLst/>
            <a:ahLst/>
            <a:cxnLst/>
            <a:rect l="l" t="t" r="r" b="b"/>
            <a:pathLst>
              <a:path w="2497454" h="1163320">
                <a:moveTo>
                  <a:pt x="0" y="0"/>
                </a:moveTo>
                <a:lnTo>
                  <a:pt x="416214" y="0"/>
                </a:lnTo>
                <a:lnTo>
                  <a:pt x="1040539" y="0"/>
                </a:lnTo>
                <a:lnTo>
                  <a:pt x="2497288" y="0"/>
                </a:lnTo>
                <a:lnTo>
                  <a:pt x="2497288" y="471109"/>
                </a:lnTo>
                <a:lnTo>
                  <a:pt x="2497288" y="673013"/>
                </a:lnTo>
                <a:lnTo>
                  <a:pt x="2497288" y="807616"/>
                </a:lnTo>
                <a:lnTo>
                  <a:pt x="1040539" y="807616"/>
                </a:lnTo>
                <a:lnTo>
                  <a:pt x="173935" y="1162859"/>
                </a:lnTo>
                <a:lnTo>
                  <a:pt x="416214" y="807616"/>
                </a:lnTo>
                <a:lnTo>
                  <a:pt x="0" y="807616"/>
                </a:lnTo>
                <a:lnTo>
                  <a:pt x="0" y="673013"/>
                </a:lnTo>
                <a:lnTo>
                  <a:pt x="0" y="471109"/>
                </a:lnTo>
                <a:lnTo>
                  <a:pt x="0" y="0"/>
                </a:lnTo>
                <a:close/>
              </a:path>
            </a:pathLst>
          </a:custGeom>
          <a:ln w="19049">
            <a:solidFill>
              <a:srgbClr val="656D8A"/>
            </a:solidFill>
          </a:ln>
        </p:spPr>
        <p:txBody>
          <a:bodyPr wrap="square" lIns="0" tIns="0" rIns="0" bIns="0" rtlCol="0"/>
          <a:lstStyle/>
          <a:p>
            <a:endParaRPr sz="1588"/>
          </a:p>
        </p:txBody>
      </p:sp>
      <p:sp>
        <p:nvSpPr>
          <p:cNvPr id="7" name="object 6">
            <a:extLst>
              <a:ext uri="{FF2B5EF4-FFF2-40B4-BE49-F238E27FC236}">
                <a16:creationId xmlns:a16="http://schemas.microsoft.com/office/drawing/2014/main" id="{FC909C07-B19B-6214-02EB-ED9020F1E823}"/>
              </a:ext>
            </a:extLst>
          </p:cNvPr>
          <p:cNvSpPr txBox="1"/>
          <p:nvPr/>
        </p:nvSpPr>
        <p:spPr>
          <a:xfrm>
            <a:off x="7977532" y="3782277"/>
            <a:ext cx="1855134" cy="730969"/>
          </a:xfrm>
          <a:prstGeom prst="rect">
            <a:avLst/>
          </a:prstGeom>
        </p:spPr>
        <p:txBody>
          <a:bodyPr vert="horz" wrap="square" lIns="0" tIns="0" rIns="0" bIns="0" rtlCol="0">
            <a:spAutoFit/>
          </a:bodyPr>
          <a:lstStyle/>
          <a:p>
            <a:pPr algn="ctr">
              <a:lnSpc>
                <a:spcPts val="1880"/>
              </a:lnSpc>
            </a:pPr>
            <a:r>
              <a:rPr sz="1588" dirty="0">
                <a:solidFill>
                  <a:schemeClr val="bg1"/>
                </a:solidFill>
                <a:latin typeface="Gill Sans MT"/>
                <a:cs typeface="Gill Sans MT"/>
              </a:rPr>
              <a:t>23 </a:t>
            </a:r>
            <a:r>
              <a:rPr sz="1588" spc="-18" dirty="0">
                <a:solidFill>
                  <a:schemeClr val="bg1"/>
                </a:solidFill>
                <a:latin typeface="Gill Sans MT"/>
                <a:cs typeface="Gill Sans MT"/>
              </a:rPr>
              <a:t>days</a:t>
            </a:r>
            <a:r>
              <a:rPr sz="1588" spc="-84" dirty="0">
                <a:solidFill>
                  <a:schemeClr val="bg1"/>
                </a:solidFill>
                <a:latin typeface="Gill Sans MT"/>
                <a:cs typeface="Gill Sans MT"/>
              </a:rPr>
              <a:t> </a:t>
            </a:r>
            <a:r>
              <a:rPr sz="1588" dirty="0">
                <a:solidFill>
                  <a:schemeClr val="bg1"/>
                </a:solidFill>
                <a:latin typeface="Gill Sans MT"/>
                <a:cs typeface="Gill Sans MT"/>
              </a:rPr>
              <a:t>after</a:t>
            </a:r>
          </a:p>
          <a:p>
            <a:pPr marL="11206" marR="4483" algn="ctr">
              <a:lnSpc>
                <a:spcPts val="1941"/>
              </a:lnSpc>
              <a:spcBef>
                <a:spcPts val="9"/>
              </a:spcBef>
            </a:pPr>
            <a:r>
              <a:rPr sz="1588" dirty="0">
                <a:solidFill>
                  <a:schemeClr val="bg1"/>
                </a:solidFill>
                <a:latin typeface="Gill Sans MT"/>
                <a:cs typeface="Gill Sans MT"/>
              </a:rPr>
              <a:t>Heartbleed, 5% of  servers still</a:t>
            </a:r>
            <a:r>
              <a:rPr sz="1588" spc="-84" dirty="0">
                <a:solidFill>
                  <a:schemeClr val="bg1"/>
                </a:solidFill>
                <a:latin typeface="Gill Sans MT"/>
                <a:cs typeface="Gill Sans MT"/>
              </a:rPr>
              <a:t> </a:t>
            </a:r>
            <a:r>
              <a:rPr sz="1588" dirty="0">
                <a:solidFill>
                  <a:schemeClr val="bg1"/>
                </a:solidFill>
                <a:latin typeface="Gill Sans MT"/>
                <a:cs typeface="Gill Sans MT"/>
              </a:rPr>
              <a:t>unpatched</a:t>
            </a:r>
          </a:p>
        </p:txBody>
      </p:sp>
    </p:spTree>
    <p:custDataLst>
      <p:tags r:id="rId1"/>
    </p:custDataLst>
    <p:extLst>
      <p:ext uri="{BB962C8B-B14F-4D97-AF65-F5344CB8AC3E}">
        <p14:creationId xmlns:p14="http://schemas.microsoft.com/office/powerpoint/2010/main" val="4613720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HeartBleed</a:t>
            </a:r>
            <a:endParaRPr lang="en-US" sz="4000" dirty="0">
              <a:solidFill>
                <a:schemeClr val="bg1"/>
              </a:solidFill>
              <a:latin typeface="Playfair Display Medium" pitchFamily="2" charset="77"/>
              <a:cs typeface="Courier New" panose="02070309020205020404" pitchFamily="49" charset="0"/>
            </a:endParaRPr>
          </a:p>
        </p:txBody>
      </p:sp>
      <p:sp>
        <p:nvSpPr>
          <p:cNvPr id="6" name="object 4">
            <a:extLst>
              <a:ext uri="{FF2B5EF4-FFF2-40B4-BE49-F238E27FC236}">
                <a16:creationId xmlns:a16="http://schemas.microsoft.com/office/drawing/2014/main" id="{42505565-81B3-F82C-8BA4-699434644D5F}"/>
              </a:ext>
            </a:extLst>
          </p:cNvPr>
          <p:cNvSpPr/>
          <p:nvPr/>
        </p:nvSpPr>
        <p:spPr>
          <a:xfrm>
            <a:off x="2465294" y="1694329"/>
            <a:ext cx="7261412" cy="4356847"/>
          </a:xfrm>
          <a:prstGeom prst="rect">
            <a:avLst/>
          </a:prstGeom>
          <a:blipFill>
            <a:blip r:embed="rId4" cstate="print"/>
            <a:stretch>
              <a:fillRect/>
            </a:stretch>
          </a:blipFill>
        </p:spPr>
        <p:txBody>
          <a:bodyPr wrap="square" lIns="0" tIns="0" rIns="0" bIns="0" rtlCol="0"/>
          <a:lstStyle/>
          <a:p>
            <a:endParaRPr sz="1588"/>
          </a:p>
        </p:txBody>
      </p:sp>
      <p:sp>
        <p:nvSpPr>
          <p:cNvPr id="8" name="object 5">
            <a:extLst>
              <a:ext uri="{FF2B5EF4-FFF2-40B4-BE49-F238E27FC236}">
                <a16:creationId xmlns:a16="http://schemas.microsoft.com/office/drawing/2014/main" id="{1B633437-67AF-2BDA-2E28-947B2265D66C}"/>
              </a:ext>
            </a:extLst>
          </p:cNvPr>
          <p:cNvSpPr/>
          <p:nvPr/>
        </p:nvSpPr>
        <p:spPr>
          <a:xfrm>
            <a:off x="4652435" y="3377767"/>
            <a:ext cx="2587438" cy="1022537"/>
          </a:xfrm>
          <a:custGeom>
            <a:avLst/>
            <a:gdLst/>
            <a:ahLst/>
            <a:cxnLst/>
            <a:rect l="l" t="t" r="r" b="b"/>
            <a:pathLst>
              <a:path w="2932429" h="1158875">
                <a:moveTo>
                  <a:pt x="2931947" y="351053"/>
                </a:moveTo>
                <a:lnTo>
                  <a:pt x="434657" y="351053"/>
                </a:lnTo>
                <a:lnTo>
                  <a:pt x="434657" y="1158671"/>
                </a:lnTo>
                <a:lnTo>
                  <a:pt x="2931947" y="1158671"/>
                </a:lnTo>
                <a:lnTo>
                  <a:pt x="2931947" y="351053"/>
                </a:lnTo>
                <a:close/>
              </a:path>
              <a:path w="2932429" h="1158875">
                <a:moveTo>
                  <a:pt x="0" y="0"/>
                </a:moveTo>
                <a:lnTo>
                  <a:pt x="850861" y="351053"/>
                </a:lnTo>
                <a:lnTo>
                  <a:pt x="1475193" y="351053"/>
                </a:lnTo>
                <a:lnTo>
                  <a:pt x="0" y="0"/>
                </a:lnTo>
                <a:close/>
              </a:path>
            </a:pathLst>
          </a:custGeom>
          <a:solidFill>
            <a:srgbClr val="C00000"/>
          </a:solidFill>
        </p:spPr>
        <p:txBody>
          <a:bodyPr wrap="square" lIns="0" tIns="0" rIns="0" bIns="0" rtlCol="0"/>
          <a:lstStyle/>
          <a:p>
            <a:endParaRPr sz="1588">
              <a:solidFill>
                <a:schemeClr val="bg1"/>
              </a:solidFill>
            </a:endParaRPr>
          </a:p>
        </p:txBody>
      </p:sp>
      <p:sp>
        <p:nvSpPr>
          <p:cNvPr id="9" name="object 7">
            <a:extLst>
              <a:ext uri="{FF2B5EF4-FFF2-40B4-BE49-F238E27FC236}">
                <a16:creationId xmlns:a16="http://schemas.microsoft.com/office/drawing/2014/main" id="{8A8973F8-2B39-0B84-AF4F-8BEDA37CE992}"/>
              </a:ext>
            </a:extLst>
          </p:cNvPr>
          <p:cNvSpPr txBox="1"/>
          <p:nvPr/>
        </p:nvSpPr>
        <p:spPr>
          <a:xfrm>
            <a:off x="5168647" y="3815222"/>
            <a:ext cx="1942540" cy="487313"/>
          </a:xfrm>
          <a:prstGeom prst="rect">
            <a:avLst/>
          </a:prstGeom>
          <a:solidFill>
            <a:srgbClr val="C00000"/>
          </a:solidFill>
        </p:spPr>
        <p:txBody>
          <a:bodyPr vert="horz" wrap="square" lIns="0" tIns="0" rIns="0" bIns="0" rtlCol="0">
            <a:spAutoFit/>
          </a:bodyPr>
          <a:lstStyle/>
          <a:p>
            <a:pPr marL="25215" marR="4483" indent="-14568">
              <a:lnSpc>
                <a:spcPts val="1853"/>
              </a:lnSpc>
            </a:pPr>
            <a:r>
              <a:rPr sz="1588" dirty="0">
                <a:solidFill>
                  <a:schemeClr val="bg1"/>
                </a:solidFill>
                <a:latin typeface="Gill Sans MT"/>
                <a:cs typeface="Gill Sans MT"/>
              </a:rPr>
              <a:t>40% of vulnerable</a:t>
            </a:r>
            <a:r>
              <a:rPr sz="1588" spc="-79" dirty="0">
                <a:solidFill>
                  <a:schemeClr val="bg1"/>
                </a:solidFill>
                <a:latin typeface="Gill Sans MT"/>
                <a:cs typeface="Gill Sans MT"/>
              </a:rPr>
              <a:t> </a:t>
            </a:r>
            <a:r>
              <a:rPr sz="1588" spc="4" dirty="0">
                <a:solidFill>
                  <a:schemeClr val="bg1"/>
                </a:solidFill>
                <a:latin typeface="Gill Sans MT"/>
                <a:cs typeface="Gill Sans MT"/>
              </a:rPr>
              <a:t>certs  </a:t>
            </a:r>
            <a:r>
              <a:rPr sz="1588" spc="-22" dirty="0">
                <a:solidFill>
                  <a:schemeClr val="bg1"/>
                </a:solidFill>
                <a:latin typeface="Gill Sans MT"/>
                <a:cs typeface="Gill Sans MT"/>
              </a:rPr>
              <a:t>won’t </a:t>
            </a:r>
            <a:r>
              <a:rPr sz="1588" spc="-9" dirty="0">
                <a:solidFill>
                  <a:schemeClr val="bg1"/>
                </a:solidFill>
                <a:latin typeface="Gill Sans MT"/>
                <a:cs typeface="Gill Sans MT"/>
              </a:rPr>
              <a:t>expire for year</a:t>
            </a:r>
            <a:r>
              <a:rPr sz="1588" spc="-13" dirty="0">
                <a:solidFill>
                  <a:schemeClr val="bg1"/>
                </a:solidFill>
                <a:latin typeface="Gill Sans MT"/>
                <a:cs typeface="Gill Sans MT"/>
              </a:rPr>
              <a:t> </a:t>
            </a:r>
            <a:r>
              <a:rPr sz="1588" dirty="0">
                <a:solidFill>
                  <a:schemeClr val="bg1"/>
                </a:solidFill>
                <a:latin typeface="Gill Sans MT"/>
                <a:cs typeface="Gill Sans MT"/>
              </a:rPr>
              <a:t>:(</a:t>
            </a:r>
          </a:p>
        </p:txBody>
      </p:sp>
    </p:spTree>
    <p:custDataLst>
      <p:tags r:id="rId1"/>
    </p:custDataLst>
    <p:extLst>
      <p:ext uri="{BB962C8B-B14F-4D97-AF65-F5344CB8AC3E}">
        <p14:creationId xmlns:p14="http://schemas.microsoft.com/office/powerpoint/2010/main" val="17955867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8BFF0-68A3-505A-AEDD-6BE77616F125}"/>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Other TLS Attacks</a:t>
            </a:r>
          </a:p>
        </p:txBody>
      </p:sp>
      <p:sp>
        <p:nvSpPr>
          <p:cNvPr id="6" name="object 3">
            <a:extLst>
              <a:ext uri="{FF2B5EF4-FFF2-40B4-BE49-F238E27FC236}">
                <a16:creationId xmlns:a16="http://schemas.microsoft.com/office/drawing/2014/main" id="{6F6ABE63-449D-BF36-E89C-6B9275999117}"/>
              </a:ext>
            </a:extLst>
          </p:cNvPr>
          <p:cNvSpPr txBox="1">
            <a:spLocks/>
          </p:cNvSpPr>
          <p:nvPr/>
        </p:nvSpPr>
        <p:spPr>
          <a:xfrm>
            <a:off x="96079" y="702392"/>
            <a:ext cx="11963400" cy="3873174"/>
          </a:xfrm>
          <a:prstGeom prst="rect">
            <a:avLst/>
          </a:prstGeom>
        </p:spPr>
        <p:txBody>
          <a:bodyPr vert="horz" wrap="square" lIns="0" tIns="287336"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8445">
              <a:lnSpc>
                <a:spcPct val="100000"/>
              </a:lnSpc>
            </a:pPr>
            <a:r>
              <a:rPr lang="en-US" sz="3600" b="1" spc="-4" dirty="0">
                <a:latin typeface="Avenir Next" panose="020B0503020202020204" pitchFamily="34" charset="0"/>
              </a:rPr>
              <a:t>Other interesting </a:t>
            </a:r>
            <a:r>
              <a:rPr lang="en-US" sz="3600" b="1" dirty="0">
                <a:latin typeface="Avenir Next" panose="020B0503020202020204" pitchFamily="34" charset="0"/>
              </a:rPr>
              <a:t>attacks on</a:t>
            </a:r>
            <a:r>
              <a:rPr lang="en-US" sz="3600" b="1" spc="-331" dirty="0">
                <a:latin typeface="Avenir Next" panose="020B0503020202020204" pitchFamily="34" charset="0"/>
              </a:rPr>
              <a:t> </a:t>
            </a:r>
            <a:r>
              <a:rPr lang="en-US" sz="3600" b="1" dirty="0">
                <a:latin typeface="Avenir Next" panose="020B0503020202020204" pitchFamily="34" charset="0"/>
              </a:rPr>
              <a:t>TLS</a:t>
            </a:r>
            <a:endParaRPr lang="en-US" b="1" dirty="0">
              <a:latin typeface="Avenir Next" panose="020B0503020202020204" pitchFamily="34" charset="0"/>
              <a:cs typeface="Times New Roman"/>
            </a:endParaRPr>
          </a:p>
          <a:p>
            <a:pPr marL="535645" lvl="1">
              <a:lnSpc>
                <a:spcPct val="100000"/>
              </a:lnSpc>
            </a:pPr>
            <a:r>
              <a:rPr lang="en-US" sz="3200" dirty="0">
                <a:solidFill>
                  <a:srgbClr val="464653"/>
                </a:solidFill>
                <a:latin typeface="Avenir Next" panose="020B0503020202020204" pitchFamily="34" charset="0"/>
              </a:rPr>
              <a:t> TLS</a:t>
            </a:r>
            <a:r>
              <a:rPr lang="en-US" sz="3200" spc="-35" dirty="0">
                <a:solidFill>
                  <a:srgbClr val="464653"/>
                </a:solidFill>
                <a:latin typeface="Avenir Next" panose="020B0503020202020204" pitchFamily="34" charset="0"/>
              </a:rPr>
              <a:t> </a:t>
            </a:r>
            <a:r>
              <a:rPr lang="en-US" sz="3200" dirty="0">
                <a:solidFill>
                  <a:srgbClr val="464653"/>
                </a:solidFill>
                <a:latin typeface="Avenir Next" panose="020B0503020202020204" pitchFamily="34" charset="0"/>
              </a:rPr>
              <a:t>stripping</a:t>
            </a:r>
            <a:endParaRPr lang="en-US" sz="3200" dirty="0">
              <a:latin typeface="Avenir Next" panose="020B0503020202020204" pitchFamily="34" charset="0"/>
              <a:cs typeface="Times New Roman"/>
            </a:endParaRPr>
          </a:p>
          <a:p>
            <a:pPr marL="535645" lvl="1">
              <a:lnSpc>
                <a:spcPct val="100000"/>
              </a:lnSpc>
            </a:pPr>
            <a:r>
              <a:rPr lang="en-US" sz="3200" dirty="0">
                <a:solidFill>
                  <a:srgbClr val="464653"/>
                </a:solidFill>
                <a:latin typeface="Avenir Next" panose="020B0503020202020204" pitchFamily="34" charset="0"/>
                <a:cs typeface="Times New Roman"/>
              </a:rPr>
              <a:t> </a:t>
            </a:r>
            <a:r>
              <a:rPr lang="en-US" sz="3600" dirty="0">
                <a:solidFill>
                  <a:srgbClr val="464653"/>
                </a:solidFill>
                <a:latin typeface="Avenir Next" panose="020B0503020202020204" pitchFamily="34" charset="0"/>
              </a:rPr>
              <a:t>BEAST</a:t>
            </a:r>
            <a:endParaRPr lang="en-US" sz="3600" dirty="0">
              <a:latin typeface="Avenir Next" panose="020B0503020202020204" pitchFamily="34" charset="0"/>
              <a:cs typeface="Times New Roman"/>
            </a:endParaRPr>
          </a:p>
          <a:p>
            <a:pPr marL="535645" lvl="1">
              <a:lnSpc>
                <a:spcPct val="100000"/>
              </a:lnSpc>
            </a:pPr>
            <a:r>
              <a:rPr lang="en-US" sz="3600" dirty="0">
                <a:solidFill>
                  <a:srgbClr val="464653"/>
                </a:solidFill>
                <a:latin typeface="Avenir Next" panose="020B0503020202020204" pitchFamily="34" charset="0"/>
                <a:cs typeface="Times New Roman"/>
              </a:rPr>
              <a:t> </a:t>
            </a:r>
            <a:r>
              <a:rPr lang="en-US" sz="3600" dirty="0">
                <a:solidFill>
                  <a:srgbClr val="464653"/>
                </a:solidFill>
                <a:latin typeface="Avenir Next" panose="020B0503020202020204" pitchFamily="34" charset="0"/>
              </a:rPr>
              <a:t>CRIME</a:t>
            </a:r>
            <a:endParaRPr lang="en-US" sz="3600" dirty="0">
              <a:latin typeface="Avenir Next" panose="020B0503020202020204" pitchFamily="34" charset="0"/>
              <a:cs typeface="Times New Roman"/>
            </a:endParaRPr>
          </a:p>
          <a:p>
            <a:pPr marL="535645" lvl="1">
              <a:lnSpc>
                <a:spcPct val="100000"/>
              </a:lnSpc>
            </a:pPr>
            <a:r>
              <a:rPr lang="en-US" sz="3600" spc="-18" dirty="0">
                <a:solidFill>
                  <a:srgbClr val="464653"/>
                </a:solidFill>
                <a:latin typeface="Avenir Next" panose="020B0503020202020204" pitchFamily="34" charset="0"/>
                <a:cs typeface="Times New Roman"/>
              </a:rPr>
              <a:t> </a:t>
            </a:r>
            <a:r>
              <a:rPr lang="en-US" sz="3600" spc="-18" dirty="0">
                <a:solidFill>
                  <a:srgbClr val="464653"/>
                </a:solidFill>
                <a:latin typeface="Avenir Next" panose="020B0503020202020204" pitchFamily="34" charset="0"/>
              </a:rPr>
              <a:t>BREACH</a:t>
            </a:r>
            <a:endParaRPr lang="en-US" sz="3600" spc="-18" dirty="0">
              <a:latin typeface="Avenir Next" panose="020B0503020202020204" pitchFamily="34" charset="0"/>
              <a:cs typeface="Times New Roman"/>
            </a:endParaRPr>
          </a:p>
          <a:p>
            <a:pPr marL="535645" lvl="1">
              <a:lnSpc>
                <a:spcPct val="100000"/>
              </a:lnSpc>
            </a:pPr>
            <a:r>
              <a:rPr lang="en-US" sz="3600" spc="-18" dirty="0">
                <a:solidFill>
                  <a:srgbClr val="464653"/>
                </a:solidFill>
                <a:latin typeface="Avenir Next" panose="020B0503020202020204" pitchFamily="34" charset="0"/>
                <a:cs typeface="Times New Roman"/>
              </a:rPr>
              <a:t> </a:t>
            </a:r>
            <a:r>
              <a:rPr lang="en-US" sz="3600" dirty="0">
                <a:solidFill>
                  <a:srgbClr val="464653"/>
                </a:solidFill>
                <a:latin typeface="Avenir Next" panose="020B0503020202020204" pitchFamily="34" charset="0"/>
              </a:rPr>
              <a:t>Lucky</a:t>
            </a:r>
            <a:r>
              <a:rPr lang="en-US" sz="3600" spc="-282" dirty="0">
                <a:solidFill>
                  <a:srgbClr val="464653"/>
                </a:solidFill>
                <a:latin typeface="Avenir Next" panose="020B0503020202020204" pitchFamily="34" charset="0"/>
              </a:rPr>
              <a:t> </a:t>
            </a:r>
            <a:r>
              <a:rPr lang="en-US" sz="3600" spc="4" dirty="0">
                <a:solidFill>
                  <a:srgbClr val="464653"/>
                </a:solidFill>
                <a:latin typeface="Avenir Next" panose="020B0503020202020204" pitchFamily="34" charset="0"/>
              </a:rPr>
              <a:t>Thirteen</a:t>
            </a:r>
            <a:endParaRPr lang="en-US" sz="3600" dirty="0">
              <a:latin typeface="Avenir Next" panose="020B0503020202020204" pitchFamily="34" charset="0"/>
              <a:cs typeface="Times New Roman"/>
            </a:endParaRPr>
          </a:p>
        </p:txBody>
      </p:sp>
    </p:spTree>
    <p:custDataLst>
      <p:tags r:id="rId1"/>
    </p:custDataLst>
    <p:extLst>
      <p:ext uri="{BB962C8B-B14F-4D97-AF65-F5344CB8AC3E}">
        <p14:creationId xmlns:p14="http://schemas.microsoft.com/office/powerpoint/2010/main" val="6508356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CD481C5-D25D-4C29-930C-31B733F74661}"/>
              </a:ext>
            </a:extLst>
          </p:cNvPr>
          <p:cNvSpPr>
            <a:spLocks noGrp="1"/>
          </p:cNvSpPr>
          <p:nvPr>
            <p:ph type="title"/>
          </p:nvPr>
        </p:nvSpPr>
        <p:spPr>
          <a:xfrm>
            <a:off x="-8091" y="3758631"/>
            <a:ext cx="12200091" cy="1017851"/>
          </a:xfrm>
          <a:solidFill>
            <a:srgbClr val="C00000"/>
          </a:solidFill>
          <a:ln>
            <a:noFill/>
          </a:ln>
        </p:spPr>
        <p:txBody>
          <a:bodyPr>
            <a:normAutofit/>
          </a:bodyPr>
          <a:lstStyle/>
          <a:p>
            <a:pPr algn="ctr"/>
            <a:r>
              <a:rPr lang="en-US" sz="3200" dirty="0">
                <a:solidFill>
                  <a:schemeClr val="bg1"/>
                </a:solidFill>
                <a:latin typeface="Avenir Next" panose="020B0503020202020204" pitchFamily="34" charset="0"/>
              </a:rPr>
              <a:t>How can the MITM attacker read the secret message ?</a:t>
            </a:r>
          </a:p>
        </p:txBody>
      </p:sp>
      <p:pic>
        <p:nvPicPr>
          <p:cNvPr id="38" name="Content Placeholder 6" descr="A picture containing cup, coffee, sitting, microwave&#10;&#10;Description automatically generated">
            <a:extLst>
              <a:ext uri="{FF2B5EF4-FFF2-40B4-BE49-F238E27FC236}">
                <a16:creationId xmlns:a16="http://schemas.microsoft.com/office/drawing/2014/main" id="{C0C47918-882D-4A53-8995-C8F2324D281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462267" y="2689090"/>
            <a:ext cx="439822" cy="439822"/>
          </a:xfrm>
        </p:spPr>
      </p:pic>
      <p:grpSp>
        <p:nvGrpSpPr>
          <p:cNvPr id="22" name="Group 21">
            <a:extLst>
              <a:ext uri="{FF2B5EF4-FFF2-40B4-BE49-F238E27FC236}">
                <a16:creationId xmlns:a16="http://schemas.microsoft.com/office/drawing/2014/main" id="{2B8D6C08-DC17-415B-9789-7D9E25091852}"/>
              </a:ext>
            </a:extLst>
          </p:cNvPr>
          <p:cNvGrpSpPr/>
          <p:nvPr/>
        </p:nvGrpSpPr>
        <p:grpSpPr>
          <a:xfrm>
            <a:off x="3352979" y="2655989"/>
            <a:ext cx="5714953" cy="772963"/>
            <a:chOff x="2155012" y="3003237"/>
            <a:chExt cx="7850845" cy="1061849"/>
          </a:xfrm>
        </p:grpSpPr>
        <p:grpSp>
          <p:nvGrpSpPr>
            <p:cNvPr id="23" name="Group 22">
              <a:extLst>
                <a:ext uri="{FF2B5EF4-FFF2-40B4-BE49-F238E27FC236}">
                  <a16:creationId xmlns:a16="http://schemas.microsoft.com/office/drawing/2014/main" id="{AAE64F46-2EBD-41AB-9009-07CF79489941}"/>
                </a:ext>
              </a:extLst>
            </p:cNvPr>
            <p:cNvGrpSpPr/>
            <p:nvPr/>
          </p:nvGrpSpPr>
          <p:grpSpPr>
            <a:xfrm>
              <a:off x="2155012" y="3003237"/>
              <a:ext cx="7850845" cy="1061849"/>
              <a:chOff x="2155012" y="3003237"/>
              <a:chExt cx="7850845" cy="1061849"/>
            </a:xfrm>
          </p:grpSpPr>
          <p:sp>
            <p:nvSpPr>
              <p:cNvPr id="25" name="Rectangle 24">
                <a:extLst>
                  <a:ext uri="{FF2B5EF4-FFF2-40B4-BE49-F238E27FC236}">
                    <a16:creationId xmlns:a16="http://schemas.microsoft.com/office/drawing/2014/main" id="{0036BAEC-3B5B-459B-AC6F-ECE3C8B51C4A}"/>
                  </a:ext>
                </a:extLst>
              </p:cNvPr>
              <p:cNvSpPr/>
              <p:nvPr/>
            </p:nvSpPr>
            <p:spPr>
              <a:xfrm>
                <a:off x="3051938" y="3192517"/>
                <a:ext cx="6041102"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grpSp>
            <p:nvGrpSpPr>
              <p:cNvPr id="26" name="Group 25">
                <a:extLst>
                  <a:ext uri="{FF2B5EF4-FFF2-40B4-BE49-F238E27FC236}">
                    <a16:creationId xmlns:a16="http://schemas.microsoft.com/office/drawing/2014/main" id="{44183C62-AD13-489C-842A-0AC91FC87004}"/>
                  </a:ext>
                </a:extLst>
              </p:cNvPr>
              <p:cNvGrpSpPr/>
              <p:nvPr/>
            </p:nvGrpSpPr>
            <p:grpSpPr>
              <a:xfrm>
                <a:off x="2155012" y="3003237"/>
                <a:ext cx="7850845" cy="1061849"/>
                <a:chOff x="2155012" y="3003237"/>
                <a:chExt cx="7850845" cy="1061849"/>
              </a:xfrm>
            </p:grpSpPr>
            <p:grpSp>
              <p:nvGrpSpPr>
                <p:cNvPr id="27" name="Group 26">
                  <a:extLst>
                    <a:ext uri="{FF2B5EF4-FFF2-40B4-BE49-F238E27FC236}">
                      <a16:creationId xmlns:a16="http://schemas.microsoft.com/office/drawing/2014/main" id="{497F4DC4-F6A1-4067-9BD9-E2D6D70ABF69}"/>
                    </a:ext>
                  </a:extLst>
                </p:cNvPr>
                <p:cNvGrpSpPr/>
                <p:nvPr/>
              </p:nvGrpSpPr>
              <p:grpSpPr>
                <a:xfrm>
                  <a:off x="2155012" y="3003237"/>
                  <a:ext cx="7850845" cy="1061849"/>
                  <a:chOff x="2177928" y="4001294"/>
                  <a:chExt cx="7835909" cy="1061849"/>
                </a:xfrm>
              </p:grpSpPr>
              <p:pic>
                <p:nvPicPr>
                  <p:cNvPr id="31" name="Picture 30" descr="A picture containing photo, sitting, monitor, table&#10;&#10;Description generated with very high confidence">
                    <a:extLst>
                      <a:ext uri="{FF2B5EF4-FFF2-40B4-BE49-F238E27FC236}">
                        <a16:creationId xmlns:a16="http://schemas.microsoft.com/office/drawing/2014/main" id="{E7E815B4-8A70-4FF2-8152-43F6E3B2C422}"/>
                      </a:ext>
                    </a:extLst>
                  </p:cNvPr>
                  <p:cNvPicPr>
                    <a:picLocks noChangeAspect="1"/>
                  </p:cNvPicPr>
                  <p:nvPr/>
                </p:nvPicPr>
                <p:blipFill>
                  <a:blip r:embed="rId4"/>
                  <a:stretch>
                    <a:fillRect/>
                  </a:stretch>
                </p:blipFill>
                <p:spPr>
                  <a:xfrm>
                    <a:off x="2313432" y="4001294"/>
                    <a:ext cx="630751" cy="692580"/>
                  </a:xfrm>
                  <a:prstGeom prst="rect">
                    <a:avLst/>
                  </a:prstGeom>
                </p:spPr>
              </p:pic>
              <p:sp>
                <p:nvSpPr>
                  <p:cNvPr id="33" name="TextBox 6">
                    <a:extLst>
                      <a:ext uri="{FF2B5EF4-FFF2-40B4-BE49-F238E27FC236}">
                        <a16:creationId xmlns:a16="http://schemas.microsoft.com/office/drawing/2014/main" id="{1E5E3FE2-4E40-44F8-A0C9-1172C4CF6197}"/>
                      </a:ext>
                    </a:extLst>
                  </p:cNvPr>
                  <p:cNvSpPr txBox="1"/>
                  <p:nvPr/>
                </p:nvSpPr>
                <p:spPr>
                  <a:xfrm>
                    <a:off x="2177928" y="4693874"/>
                    <a:ext cx="916733"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34" name="TextBox 7">
                    <a:extLst>
                      <a:ext uri="{FF2B5EF4-FFF2-40B4-BE49-F238E27FC236}">
                        <a16:creationId xmlns:a16="http://schemas.microsoft.com/office/drawing/2014/main" id="{3DB6C6C9-64C7-4139-8A0E-6F4E250CE27A}"/>
                      </a:ext>
                    </a:extLst>
                  </p:cNvPr>
                  <p:cNvSpPr txBox="1"/>
                  <p:nvPr/>
                </p:nvSpPr>
                <p:spPr>
                  <a:xfrm>
                    <a:off x="9097106" y="4606060"/>
                    <a:ext cx="916731"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28" name="Group 27">
                  <a:extLst>
                    <a:ext uri="{FF2B5EF4-FFF2-40B4-BE49-F238E27FC236}">
                      <a16:creationId xmlns:a16="http://schemas.microsoft.com/office/drawing/2014/main" id="{594B40FC-5E07-4A36-8877-BFFFAB9DE48A}"/>
                    </a:ext>
                  </a:extLst>
                </p:cNvPr>
                <p:cNvGrpSpPr/>
                <p:nvPr/>
              </p:nvGrpSpPr>
              <p:grpSpPr>
                <a:xfrm>
                  <a:off x="5339623" y="3023204"/>
                  <a:ext cx="1244110" cy="1023587"/>
                  <a:chOff x="5476087" y="2322217"/>
                  <a:chExt cx="1244110" cy="1023587"/>
                </a:xfrm>
              </p:grpSpPr>
              <p:pic>
                <p:nvPicPr>
                  <p:cNvPr id="29" name="Picture 14" descr="A picture containing text&#10;&#10;Description generated with very high confidence">
                    <a:extLst>
                      <a:ext uri="{FF2B5EF4-FFF2-40B4-BE49-F238E27FC236}">
                        <a16:creationId xmlns:a16="http://schemas.microsoft.com/office/drawing/2014/main" id="{F2E69A07-B8AF-48CD-B1E4-1BF2E785F4C2}"/>
                      </a:ext>
                    </a:extLst>
                  </p:cNvPr>
                  <p:cNvPicPr>
                    <a:picLocks noChangeAspect="1"/>
                  </p:cNvPicPr>
                  <p:nvPr/>
                </p:nvPicPr>
                <p:blipFill>
                  <a:blip r:embed="rId5"/>
                  <a:stretch>
                    <a:fillRect/>
                  </a:stretch>
                </p:blipFill>
                <p:spPr>
                  <a:xfrm>
                    <a:off x="5728535" y="2322217"/>
                    <a:ext cx="739215" cy="748624"/>
                  </a:xfrm>
                  <a:prstGeom prst="rect">
                    <a:avLst/>
                  </a:prstGeom>
                </p:spPr>
              </p:pic>
              <p:sp>
                <p:nvSpPr>
                  <p:cNvPr id="30" name="TextBox 29">
                    <a:extLst>
                      <a:ext uri="{FF2B5EF4-FFF2-40B4-BE49-F238E27FC236}">
                        <a16:creationId xmlns:a16="http://schemas.microsoft.com/office/drawing/2014/main" id="{18EA9E42-3FC0-415D-9E05-0FEB8CB75E8E}"/>
                      </a:ext>
                    </a:extLst>
                  </p:cNvPr>
                  <p:cNvSpPr txBox="1"/>
                  <p:nvPr/>
                </p:nvSpPr>
                <p:spPr>
                  <a:xfrm>
                    <a:off x="5476087" y="2976535"/>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grpSp>
        <p:cxnSp>
          <p:nvCxnSpPr>
            <p:cNvPr id="24" name="Straight Arrow Connector 23">
              <a:extLst>
                <a:ext uri="{FF2B5EF4-FFF2-40B4-BE49-F238E27FC236}">
                  <a16:creationId xmlns:a16="http://schemas.microsoft.com/office/drawing/2014/main" id="{D5042A8E-2EAB-461E-BFD2-8865B06531E7}"/>
                </a:ext>
              </a:extLst>
            </p:cNvPr>
            <p:cNvCxnSpPr>
              <a:cxnSpLocks/>
            </p:cNvCxnSpPr>
            <p:nvPr/>
          </p:nvCxnSpPr>
          <p:spPr>
            <a:xfrm>
              <a:off x="2935946" y="3349527"/>
              <a:ext cx="6287539" cy="16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sp>
        <p:nvSpPr>
          <p:cNvPr id="3" name="TextBox 2">
            <a:extLst>
              <a:ext uri="{FF2B5EF4-FFF2-40B4-BE49-F238E27FC236}">
                <a16:creationId xmlns:a16="http://schemas.microsoft.com/office/drawing/2014/main" id="{A74D52E2-A58D-1F74-5501-51A58C3DE66A}"/>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36312668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3DA35A11-EA84-4B85-BEB7-5F60A36F8B8D}"/>
              </a:ext>
            </a:extLst>
          </p:cNvPr>
          <p:cNvGrpSpPr/>
          <p:nvPr>
            <p:custDataLst>
              <p:tags r:id="rId2"/>
            </p:custDataLst>
          </p:nvPr>
        </p:nvGrpSpPr>
        <p:grpSpPr>
          <a:xfrm>
            <a:off x="3131194" y="3996595"/>
            <a:ext cx="5413175" cy="795761"/>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7"/>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6"/>
              <a:chOff x="5549631" y="2270032"/>
              <a:chExt cx="1244110" cy="1059346"/>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8"/>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106017" y="1085802"/>
            <a:ext cx="10222851" cy="2575038"/>
          </a:xfrm>
          <a:prstGeom prst="rect">
            <a:avLst/>
          </a:prstGeom>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49625" indent="-249625">
              <a:buSzPts val="100"/>
              <a:buFont typeface="Wingdings" panose="05000000000000000000" pitchFamily="2" charset="2"/>
              <a:buChar char="q"/>
            </a:pPr>
            <a:r>
              <a:rPr lang="en-US" sz="2800" dirty="0">
                <a:noFill/>
                <a:latin typeface="Avenir Next" panose="020B0503020202020204" pitchFamily="34" charset="0"/>
              </a:rPr>
              <a:t> Attacker prevents Client from TLS session establishment with Server</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SzPts val="100"/>
              <a:buFont typeface="Wingdings" panose="05000000000000000000" pitchFamily="2" charset="2"/>
              <a:buChar char="q"/>
            </a:pPr>
            <a:r>
              <a:rPr lang="en-US" sz="2800" dirty="0">
                <a:noFill/>
                <a:latin typeface="Avenir Next" panose="020B0503020202020204" pitchFamily="34" charset="0"/>
              </a:rPr>
              <a:t> Creates TLS session 1 with Client impersonating Server </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SzPts val="100"/>
              <a:buFont typeface="Wingdings" panose="05000000000000000000" pitchFamily="2" charset="2"/>
              <a:buChar char="q"/>
            </a:pPr>
            <a:r>
              <a:rPr lang="en-US" sz="2800" dirty="0">
                <a:noFill/>
                <a:latin typeface="Avenir Next" panose="020B0503020202020204" pitchFamily="34" charset="0"/>
              </a:rPr>
              <a:t> At the same, establishes TLS session 2 with the Server</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8007419" y="4061152"/>
            <a:ext cx="438731" cy="438731"/>
          </a:xfrm>
        </p:spPr>
      </p:pic>
      <p:sp>
        <p:nvSpPr>
          <p:cNvPr id="4" name="TextBox 3">
            <a:extLst>
              <a:ext uri="{FF2B5EF4-FFF2-40B4-BE49-F238E27FC236}">
                <a16:creationId xmlns:a16="http://schemas.microsoft.com/office/drawing/2014/main" id="{16CBC9C2-536D-96A8-BD8C-9E67F1A39C5E}"/>
              </a:ext>
            </a:extLst>
          </p:cNvPr>
          <p:cNvSpPr txBox="1"/>
          <p:nvPr>
            <p:custDataLst>
              <p:tags r:id="rId5"/>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2790363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3DA35A11-EA84-4B85-BEB7-5F60A36F8B8D}"/>
              </a:ext>
            </a:extLst>
          </p:cNvPr>
          <p:cNvGrpSpPr/>
          <p:nvPr>
            <p:custDataLst>
              <p:tags r:id="rId2"/>
            </p:custDataLst>
          </p:nvPr>
        </p:nvGrpSpPr>
        <p:grpSpPr>
          <a:xfrm>
            <a:off x="3131194" y="3996595"/>
            <a:ext cx="5413175" cy="795761"/>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8"/>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6"/>
              <a:chOff x="5549631" y="2270032"/>
              <a:chExt cx="1244110" cy="1059346"/>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9"/>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custDataLst>
              <p:tags r:id="rId3"/>
            </p:custDataLst>
          </p:nvPr>
        </p:nvCxnSpPr>
        <p:spPr>
          <a:xfrm flipV="1">
            <a:off x="3591696" y="4269072"/>
            <a:ext cx="1938809" cy="305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Title 1">
            <a:extLst>
              <a:ext uri="{FF2B5EF4-FFF2-40B4-BE49-F238E27FC236}">
                <a16:creationId xmlns:a16="http://schemas.microsoft.com/office/drawing/2014/main" id="{AEBFE377-060C-4586-9016-51F0C1B66222}"/>
              </a:ext>
            </a:extLst>
          </p:cNvPr>
          <p:cNvSpPr txBox="1">
            <a:spLocks/>
          </p:cNvSpPr>
          <p:nvPr>
            <p:custDataLst>
              <p:tags r:id="rId4"/>
            </p:custDataLst>
          </p:nvPr>
        </p:nvSpPr>
        <p:spPr>
          <a:xfrm>
            <a:off x="106017" y="1085802"/>
            <a:ext cx="10222851" cy="2575038"/>
          </a:xfrm>
          <a:prstGeom prst="rect">
            <a:avLst/>
          </a:prstGeom>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Attacker prevents Client from TLS session establishment with Server</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SzPts val="100"/>
              <a:buFont typeface="Wingdings" panose="05000000000000000000" pitchFamily="2" charset="2"/>
              <a:buChar char="q"/>
            </a:pPr>
            <a:r>
              <a:rPr lang="en-US" sz="2800" dirty="0">
                <a:noFill/>
                <a:latin typeface="Avenir Next" panose="020B0503020202020204" pitchFamily="34" charset="0"/>
              </a:rPr>
              <a:t> Creates TLS session 1 with Client impersonating Server </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SzPts val="100"/>
              <a:buFont typeface="Wingdings" panose="05000000000000000000" pitchFamily="2" charset="2"/>
              <a:buChar char="q"/>
            </a:pPr>
            <a:r>
              <a:rPr lang="en-US" sz="2800" dirty="0">
                <a:noFill/>
                <a:latin typeface="Avenir Next" panose="020B0503020202020204" pitchFamily="34" charset="0"/>
              </a:rPr>
              <a:t> At the same, establishes TLS session 2 with the Server</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8007419" y="4061152"/>
            <a:ext cx="438731" cy="438731"/>
          </a:xfrm>
        </p:spPr>
      </p:pic>
      <p:sp>
        <p:nvSpPr>
          <p:cNvPr id="4" name="TextBox 3">
            <a:extLst>
              <a:ext uri="{FF2B5EF4-FFF2-40B4-BE49-F238E27FC236}">
                <a16:creationId xmlns:a16="http://schemas.microsoft.com/office/drawing/2014/main" id="{16CBC9C2-536D-96A8-BD8C-9E67F1A39C5E}"/>
              </a:ext>
            </a:extLst>
          </p:cNvPr>
          <p:cNvSpPr txBox="1"/>
          <p:nvPr>
            <p:custDataLst>
              <p:tags r:id="rId6"/>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26103468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7433D98E-EE05-4E52-AFDB-A5F02CE36BFB}"/>
              </a:ext>
            </a:extLst>
          </p:cNvPr>
          <p:cNvSpPr/>
          <p:nvPr>
            <p:custDataLst>
              <p:tags r:id="rId2"/>
            </p:custDataLst>
          </p:nvPr>
        </p:nvSpPr>
        <p:spPr>
          <a:xfrm>
            <a:off x="3702968" y="4170693"/>
            <a:ext cx="1718836" cy="22714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grpSp>
        <p:nvGrpSpPr>
          <p:cNvPr id="41" name="Group 40">
            <a:extLst>
              <a:ext uri="{FF2B5EF4-FFF2-40B4-BE49-F238E27FC236}">
                <a16:creationId xmlns:a16="http://schemas.microsoft.com/office/drawing/2014/main" id="{3DA35A11-EA84-4B85-BEB7-5F60A36F8B8D}"/>
              </a:ext>
            </a:extLst>
          </p:cNvPr>
          <p:cNvGrpSpPr/>
          <p:nvPr>
            <p:custDataLst>
              <p:tags r:id="rId3"/>
            </p:custDataLst>
          </p:nvPr>
        </p:nvGrpSpPr>
        <p:grpSpPr>
          <a:xfrm>
            <a:off x="3131194" y="3996595"/>
            <a:ext cx="5413175" cy="795761"/>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11"/>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6"/>
              <a:chOff x="5549631" y="2270032"/>
              <a:chExt cx="1244110" cy="1059346"/>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2"/>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custDataLst>
              <p:tags r:id="rId4"/>
            </p:custDataLst>
          </p:nvPr>
        </p:nvCxnSpPr>
        <p:spPr>
          <a:xfrm flipV="1">
            <a:off x="3591696" y="4269072"/>
            <a:ext cx="1938809" cy="305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custDataLst>
              <p:tags r:id="rId5"/>
            </p:custDataLst>
          </p:nvPr>
        </p:nvSpPr>
        <p:spPr>
          <a:xfrm>
            <a:off x="3935583" y="4512437"/>
            <a:ext cx="1101584" cy="293927"/>
          </a:xfrm>
          <a:prstGeom prst="rect">
            <a:avLst/>
          </a:prstGeom>
          <a:noFill/>
        </p:spPr>
        <p:txBody>
          <a:bodyPr wrap="none" rtlCol="0">
            <a:spAutoFit/>
          </a:bodyPr>
          <a:lstStyle/>
          <a:p>
            <a:r>
              <a:rPr lang="en-US" sz="1310" b="1" dirty="0"/>
              <a:t>TLS Session 1</a:t>
            </a:r>
          </a:p>
        </p:txBody>
      </p:sp>
      <p:sp>
        <p:nvSpPr>
          <p:cNvPr id="54" name="Title 1">
            <a:extLst>
              <a:ext uri="{FF2B5EF4-FFF2-40B4-BE49-F238E27FC236}">
                <a16:creationId xmlns:a16="http://schemas.microsoft.com/office/drawing/2014/main" id="{AEBFE377-060C-4586-9016-51F0C1B66222}"/>
              </a:ext>
            </a:extLst>
          </p:cNvPr>
          <p:cNvSpPr txBox="1">
            <a:spLocks/>
          </p:cNvSpPr>
          <p:nvPr>
            <p:custDataLst>
              <p:tags r:id="rId6"/>
            </p:custDataLst>
          </p:nvPr>
        </p:nvSpPr>
        <p:spPr>
          <a:xfrm>
            <a:off x="106017" y="1085802"/>
            <a:ext cx="10222851" cy="2575038"/>
          </a:xfrm>
          <a:prstGeom prst="rect">
            <a:avLst/>
          </a:prstGeom>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Attacker prevents Client from TLS session establishment with Server</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Creates TLS session 1 with Client impersonating Server </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SzPts val="100"/>
              <a:buFont typeface="Wingdings" panose="05000000000000000000" pitchFamily="2" charset="2"/>
              <a:buChar char="q"/>
            </a:pPr>
            <a:r>
              <a:rPr lang="en-US" sz="2800" dirty="0">
                <a:noFill/>
                <a:latin typeface="Avenir Next" panose="020B0503020202020204" pitchFamily="34" charset="0"/>
              </a:rPr>
              <a:t> At the same, establishes TLS session 2 with the Server</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7"/>
            </p:custDataLst>
          </p:nvPr>
        </p:nvPicPr>
        <p:blipFill>
          <a:blip r:embed="rId13" cstate="print">
            <a:extLst>
              <a:ext uri="{28A0092B-C50C-407E-A947-70E740481C1C}">
                <a14:useLocalDpi xmlns:a14="http://schemas.microsoft.com/office/drawing/2010/main" val="0"/>
              </a:ext>
            </a:extLst>
          </a:blip>
          <a:stretch>
            <a:fillRect/>
          </a:stretch>
        </p:blipFill>
        <p:spPr>
          <a:xfrm>
            <a:off x="8007419" y="4061152"/>
            <a:ext cx="438731" cy="438731"/>
          </a:xfrm>
        </p:spPr>
      </p:pic>
      <p:pic>
        <p:nvPicPr>
          <p:cNvPr id="3" name="Picture 2" descr="A close up of an animal&#10;&#10;Description automatically generated">
            <a:extLst>
              <a:ext uri="{FF2B5EF4-FFF2-40B4-BE49-F238E27FC236}">
                <a16:creationId xmlns:a16="http://schemas.microsoft.com/office/drawing/2014/main" id="{D64DB577-6C23-4436-B61E-A607B49E91E5}"/>
              </a:ext>
            </a:extLst>
          </p:cNvPr>
          <p:cNvPicPr>
            <a:picLocks noChangeAspect="1"/>
          </p:cNvPicPr>
          <p:nvPr>
            <p:custDataLst>
              <p:tags r:id="rId8"/>
            </p:custDataLst>
          </p:nvPr>
        </p:nvPicPr>
        <p:blipFill>
          <a:blip r:embed="rId14" cstate="print">
            <a:extLst>
              <a:ext uri="{28A0092B-C50C-407E-A947-70E740481C1C}">
                <a14:useLocalDpi xmlns:a14="http://schemas.microsoft.com/office/drawing/2010/main" val="0"/>
              </a:ext>
            </a:extLst>
          </a:blip>
          <a:stretch>
            <a:fillRect/>
          </a:stretch>
        </p:blipFill>
        <p:spPr>
          <a:xfrm>
            <a:off x="9728271" y="2059207"/>
            <a:ext cx="1201193" cy="1201193"/>
          </a:xfrm>
          <a:prstGeom prst="rect">
            <a:avLst/>
          </a:prstGeom>
        </p:spPr>
      </p:pic>
      <p:sp>
        <p:nvSpPr>
          <p:cNvPr id="4" name="TextBox 3">
            <a:extLst>
              <a:ext uri="{FF2B5EF4-FFF2-40B4-BE49-F238E27FC236}">
                <a16:creationId xmlns:a16="http://schemas.microsoft.com/office/drawing/2014/main" id="{16CBC9C2-536D-96A8-BD8C-9E67F1A39C5E}"/>
              </a:ext>
            </a:extLst>
          </p:cNvPr>
          <p:cNvSpPr txBox="1"/>
          <p:nvPr>
            <p:custDataLst>
              <p:tags r:id="rId9"/>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18202950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90166803-FFE5-44AE-B2EC-376F09B9D5C8}"/>
              </a:ext>
            </a:extLst>
          </p:cNvPr>
          <p:cNvSpPr/>
          <p:nvPr>
            <p:custDataLst>
              <p:tags r:id="rId2"/>
            </p:custDataLst>
          </p:nvPr>
        </p:nvSpPr>
        <p:spPr>
          <a:xfrm>
            <a:off x="6211462" y="4166945"/>
            <a:ext cx="1718836" cy="22714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sp>
        <p:nvSpPr>
          <p:cNvPr id="51" name="Rectangle 50">
            <a:extLst>
              <a:ext uri="{FF2B5EF4-FFF2-40B4-BE49-F238E27FC236}">
                <a16:creationId xmlns:a16="http://schemas.microsoft.com/office/drawing/2014/main" id="{7433D98E-EE05-4E52-AFDB-A5F02CE36BFB}"/>
              </a:ext>
            </a:extLst>
          </p:cNvPr>
          <p:cNvSpPr/>
          <p:nvPr>
            <p:custDataLst>
              <p:tags r:id="rId3"/>
            </p:custDataLst>
          </p:nvPr>
        </p:nvSpPr>
        <p:spPr>
          <a:xfrm>
            <a:off x="3702968" y="4170693"/>
            <a:ext cx="1718836" cy="22714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grpSp>
        <p:nvGrpSpPr>
          <p:cNvPr id="41" name="Group 40">
            <a:extLst>
              <a:ext uri="{FF2B5EF4-FFF2-40B4-BE49-F238E27FC236}">
                <a16:creationId xmlns:a16="http://schemas.microsoft.com/office/drawing/2014/main" id="{3DA35A11-EA84-4B85-BEB7-5F60A36F8B8D}"/>
              </a:ext>
            </a:extLst>
          </p:cNvPr>
          <p:cNvGrpSpPr/>
          <p:nvPr>
            <p:custDataLst>
              <p:tags r:id="rId4"/>
            </p:custDataLst>
          </p:nvPr>
        </p:nvGrpSpPr>
        <p:grpSpPr>
          <a:xfrm>
            <a:off x="3131194" y="3996595"/>
            <a:ext cx="5413175" cy="795761"/>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14"/>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6"/>
              <a:chOff x="5549631" y="2270032"/>
              <a:chExt cx="1244110" cy="1059346"/>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5"/>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custDataLst>
              <p:tags r:id="rId5"/>
            </p:custDataLst>
          </p:nvPr>
        </p:nvCxnSpPr>
        <p:spPr>
          <a:xfrm flipV="1">
            <a:off x="3591696" y="4269072"/>
            <a:ext cx="1938809" cy="305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custDataLst>
              <p:tags r:id="rId6"/>
            </p:custDataLst>
          </p:nvPr>
        </p:nvCxnSpPr>
        <p:spPr>
          <a:xfrm flipV="1">
            <a:off x="6095738" y="4266018"/>
            <a:ext cx="1938809" cy="305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custDataLst>
              <p:tags r:id="rId7"/>
            </p:custDataLst>
          </p:nvPr>
        </p:nvSpPr>
        <p:spPr>
          <a:xfrm>
            <a:off x="3935583" y="4512437"/>
            <a:ext cx="1101584" cy="293927"/>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custDataLst>
              <p:tags r:id="rId8"/>
            </p:custDataLst>
          </p:nvPr>
        </p:nvSpPr>
        <p:spPr>
          <a:xfrm>
            <a:off x="6508320" y="4450928"/>
            <a:ext cx="1101584" cy="293927"/>
          </a:xfrm>
          <a:prstGeom prst="rect">
            <a:avLst/>
          </a:prstGeom>
          <a:noFill/>
        </p:spPr>
        <p:txBody>
          <a:bodyPr wrap="none" rtlCol="0">
            <a:spAutoFit/>
          </a:bodyPr>
          <a:lstStyle/>
          <a:p>
            <a:r>
              <a:rPr lang="en-US" sz="1310" b="1" dirty="0"/>
              <a:t>TLS Session 2</a:t>
            </a:r>
          </a:p>
        </p:txBody>
      </p:sp>
      <p:sp>
        <p:nvSpPr>
          <p:cNvPr id="54" name="Title 1">
            <a:extLst>
              <a:ext uri="{FF2B5EF4-FFF2-40B4-BE49-F238E27FC236}">
                <a16:creationId xmlns:a16="http://schemas.microsoft.com/office/drawing/2014/main" id="{AEBFE377-060C-4586-9016-51F0C1B66222}"/>
              </a:ext>
            </a:extLst>
          </p:cNvPr>
          <p:cNvSpPr txBox="1">
            <a:spLocks/>
          </p:cNvSpPr>
          <p:nvPr>
            <p:custDataLst>
              <p:tags r:id="rId9"/>
            </p:custDataLst>
          </p:nvPr>
        </p:nvSpPr>
        <p:spPr>
          <a:xfrm>
            <a:off x="106017" y="1085802"/>
            <a:ext cx="10222851" cy="2575038"/>
          </a:xfrm>
          <a:prstGeom prst="rect">
            <a:avLst/>
          </a:prstGeom>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Attacker prevents Client from TLS session establishment with Server</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Creates TLS session 1 with Client impersonating Server </a:t>
            </a:r>
          </a:p>
          <a:p>
            <a:pPr marL="249625" indent="-249625">
              <a:buFont typeface="Wingdings" panose="05000000000000000000" pitchFamily="2" charset="2"/>
              <a:buChar char="q"/>
            </a:pPr>
            <a:endParaRPr lang="en-US" sz="2800" dirty="0">
              <a:solidFill>
                <a:schemeClr val="tx1"/>
              </a:solidFill>
              <a:latin typeface="Avenir Next" panose="020B0503020202020204" pitchFamily="34" charset="0"/>
            </a:endParaRPr>
          </a:p>
          <a:p>
            <a:pPr marL="249625" indent="-249625">
              <a:buFont typeface="Wingdings" panose="05000000000000000000" pitchFamily="2" charset="2"/>
              <a:buChar char="q"/>
            </a:pPr>
            <a:r>
              <a:rPr lang="en-US" sz="2800" dirty="0">
                <a:solidFill>
                  <a:schemeClr val="tx1"/>
                </a:solidFill>
                <a:latin typeface="Avenir Next" panose="020B0503020202020204" pitchFamily="34" charset="0"/>
              </a:rPr>
              <a:t> At the same, establishes TLS session 2 with the Server</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10"/>
            </p:custDataLst>
          </p:nvPr>
        </p:nvPicPr>
        <p:blipFill>
          <a:blip r:embed="rId16" cstate="print">
            <a:extLst>
              <a:ext uri="{28A0092B-C50C-407E-A947-70E740481C1C}">
                <a14:useLocalDpi xmlns:a14="http://schemas.microsoft.com/office/drawing/2010/main" val="0"/>
              </a:ext>
            </a:extLst>
          </a:blip>
          <a:stretch>
            <a:fillRect/>
          </a:stretch>
        </p:blipFill>
        <p:spPr>
          <a:xfrm>
            <a:off x="8007419" y="4061152"/>
            <a:ext cx="438731" cy="438731"/>
          </a:xfrm>
        </p:spPr>
      </p:pic>
      <p:pic>
        <p:nvPicPr>
          <p:cNvPr id="3" name="Picture 2" descr="A close up of an animal&#10;&#10;Description automatically generated">
            <a:extLst>
              <a:ext uri="{FF2B5EF4-FFF2-40B4-BE49-F238E27FC236}">
                <a16:creationId xmlns:a16="http://schemas.microsoft.com/office/drawing/2014/main" id="{D64DB577-6C23-4436-B61E-A607B49E91E5}"/>
              </a:ext>
            </a:extLst>
          </p:cNvPr>
          <p:cNvPicPr>
            <a:picLocks noChangeAspect="1"/>
          </p:cNvPicPr>
          <p:nvPr>
            <p:custDataLst>
              <p:tags r:id="rId11"/>
            </p:custDataLst>
          </p:nvPr>
        </p:nvPicPr>
        <p:blipFill>
          <a:blip r:embed="rId17" cstate="print">
            <a:extLst>
              <a:ext uri="{28A0092B-C50C-407E-A947-70E740481C1C}">
                <a14:useLocalDpi xmlns:a14="http://schemas.microsoft.com/office/drawing/2010/main" val="0"/>
              </a:ext>
            </a:extLst>
          </a:blip>
          <a:stretch>
            <a:fillRect/>
          </a:stretch>
        </p:blipFill>
        <p:spPr>
          <a:xfrm>
            <a:off x="9728271" y="2059207"/>
            <a:ext cx="1201193" cy="1201193"/>
          </a:xfrm>
          <a:prstGeom prst="rect">
            <a:avLst/>
          </a:prstGeom>
        </p:spPr>
      </p:pic>
      <p:sp>
        <p:nvSpPr>
          <p:cNvPr id="4" name="TextBox 3">
            <a:extLst>
              <a:ext uri="{FF2B5EF4-FFF2-40B4-BE49-F238E27FC236}">
                <a16:creationId xmlns:a16="http://schemas.microsoft.com/office/drawing/2014/main" id="{16CBC9C2-536D-96A8-BD8C-9E67F1A39C5E}"/>
              </a:ext>
            </a:extLst>
          </p:cNvPr>
          <p:cNvSpPr txBox="1"/>
          <p:nvPr>
            <p:custDataLst>
              <p:tags r:id="rId12"/>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24767224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9"/>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0"/>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15" name="TextBox 14">
            <a:extLst>
              <a:ext uri="{FF2B5EF4-FFF2-40B4-BE49-F238E27FC236}">
                <a16:creationId xmlns:a16="http://schemas.microsoft.com/office/drawing/2014/main" id="{3C9115FD-27C3-4E52-A846-C9496E6E8D01}"/>
              </a:ext>
            </a:extLst>
          </p:cNvPr>
          <p:cNvSpPr txBox="1"/>
          <p:nvPr>
            <p:custDataLst>
              <p:tags r:id="rId5"/>
            </p:custDataLst>
          </p:nvPr>
        </p:nvSpPr>
        <p:spPr>
          <a:xfrm>
            <a:off x="3742243" y="3564489"/>
            <a:ext cx="872355" cy="293927"/>
          </a:xfrm>
          <a:prstGeom prst="rect">
            <a:avLst/>
          </a:prstGeom>
          <a:noFill/>
        </p:spPr>
        <p:txBody>
          <a:bodyPr wrap="none" rtlCol="0">
            <a:spAutoFit/>
          </a:bodyPr>
          <a:lstStyle/>
          <a:p>
            <a:r>
              <a:rPr lang="en-US" sz="1310" b="1" dirty="0">
                <a:solidFill>
                  <a:srgbClr val="002060"/>
                </a:solidFill>
              </a:rPr>
              <a:t>Enc</a:t>
            </a:r>
            <a:r>
              <a:rPr lang="en-US" sz="1310" b="1" dirty="0"/>
              <a:t>(1234)</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6"/>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7"/>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6707566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9"/>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0"/>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15" name="TextBox 14">
            <a:extLst>
              <a:ext uri="{FF2B5EF4-FFF2-40B4-BE49-F238E27FC236}">
                <a16:creationId xmlns:a16="http://schemas.microsoft.com/office/drawing/2014/main" id="{3C9115FD-27C3-4E52-A846-C9496E6E8D01}"/>
              </a:ext>
            </a:extLst>
          </p:cNvPr>
          <p:cNvSpPr txBox="1"/>
          <p:nvPr>
            <p:custDataLst>
              <p:tags r:id="rId5"/>
            </p:custDataLst>
          </p:nvPr>
        </p:nvSpPr>
        <p:spPr>
          <a:xfrm>
            <a:off x="6128217" y="3548578"/>
            <a:ext cx="872355" cy="293927"/>
          </a:xfrm>
          <a:prstGeom prst="rect">
            <a:avLst/>
          </a:prstGeom>
          <a:noFill/>
        </p:spPr>
        <p:txBody>
          <a:bodyPr wrap="none" rtlCol="0">
            <a:spAutoFit/>
          </a:bodyPr>
          <a:lstStyle/>
          <a:p>
            <a:r>
              <a:rPr lang="en-US" sz="1310" b="1" dirty="0">
                <a:solidFill>
                  <a:srgbClr val="002060"/>
                </a:solidFill>
              </a:rPr>
              <a:t>Enc</a:t>
            </a:r>
            <a:r>
              <a:rPr lang="en-US" sz="1310" b="1" dirty="0"/>
              <a:t>(1234)</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6"/>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7"/>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10550383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9"/>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0"/>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16" name="TextBox 15">
            <a:extLst>
              <a:ext uri="{FF2B5EF4-FFF2-40B4-BE49-F238E27FC236}">
                <a16:creationId xmlns:a16="http://schemas.microsoft.com/office/drawing/2014/main" id="{A57D7D99-91FB-4D1D-A13F-EFC83F4D6A20}"/>
              </a:ext>
            </a:extLst>
          </p:cNvPr>
          <p:cNvSpPr txBox="1"/>
          <p:nvPr>
            <p:custDataLst>
              <p:tags r:id="rId5"/>
            </p:custDataLst>
          </p:nvPr>
        </p:nvSpPr>
        <p:spPr>
          <a:xfrm>
            <a:off x="5278241" y="2939798"/>
            <a:ext cx="1239442" cy="293927"/>
          </a:xfrm>
          <a:prstGeom prst="rect">
            <a:avLst/>
          </a:prstGeom>
          <a:noFill/>
        </p:spPr>
        <p:txBody>
          <a:bodyPr wrap="none" rtlCol="0">
            <a:spAutoFit/>
          </a:bodyPr>
          <a:lstStyle/>
          <a:p>
            <a:r>
              <a:rPr lang="en-US" sz="1310" b="1" dirty="0">
                <a:solidFill>
                  <a:srgbClr val="002060"/>
                </a:solidFill>
              </a:rPr>
              <a:t>Dec</a:t>
            </a:r>
            <a:r>
              <a:rPr lang="en-US" sz="1310" b="1" dirty="0"/>
              <a:t>(</a:t>
            </a:r>
            <a:r>
              <a:rPr lang="en-US" sz="1310" b="1" dirty="0">
                <a:solidFill>
                  <a:srgbClr val="002060"/>
                </a:solidFill>
              </a:rPr>
              <a:t>Enc</a:t>
            </a:r>
            <a:r>
              <a:rPr lang="en-US" sz="1310" b="1" dirty="0"/>
              <a:t>(1234))</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6"/>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7"/>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14709440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10"/>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1"/>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56" name="TextBox 55">
            <a:extLst>
              <a:ext uri="{FF2B5EF4-FFF2-40B4-BE49-F238E27FC236}">
                <a16:creationId xmlns:a16="http://schemas.microsoft.com/office/drawing/2014/main" id="{07352986-0A5F-42F9-BF0B-9523CBD6CB58}"/>
              </a:ext>
            </a:extLst>
          </p:cNvPr>
          <p:cNvSpPr txBox="1"/>
          <p:nvPr>
            <p:custDataLst>
              <p:tags r:id="rId5"/>
            </p:custDataLst>
          </p:nvPr>
        </p:nvSpPr>
        <p:spPr>
          <a:xfrm>
            <a:off x="5660872" y="3231843"/>
            <a:ext cx="524503" cy="293927"/>
          </a:xfrm>
          <a:prstGeom prst="rect">
            <a:avLst/>
          </a:prstGeom>
          <a:noFill/>
        </p:spPr>
        <p:txBody>
          <a:bodyPr wrap="none" rtlCol="0">
            <a:spAutoFit/>
          </a:bodyPr>
          <a:lstStyle/>
          <a:p>
            <a:r>
              <a:rPr lang="en-US" sz="1310" b="1" dirty="0"/>
              <a:t>1234</a:t>
            </a:r>
          </a:p>
        </p:txBody>
      </p:sp>
      <p:sp>
        <p:nvSpPr>
          <p:cNvPr id="18" name="TextBox 17">
            <a:extLst>
              <a:ext uri="{FF2B5EF4-FFF2-40B4-BE49-F238E27FC236}">
                <a16:creationId xmlns:a16="http://schemas.microsoft.com/office/drawing/2014/main" id="{87E6C32C-1CC6-413E-9168-A9B96D49A349}"/>
              </a:ext>
            </a:extLst>
          </p:cNvPr>
          <p:cNvSpPr txBox="1"/>
          <p:nvPr>
            <p:custDataLst>
              <p:tags r:id="rId6"/>
            </p:custDataLst>
          </p:nvPr>
        </p:nvSpPr>
        <p:spPr>
          <a:xfrm>
            <a:off x="4347550" y="4841597"/>
            <a:ext cx="2961773" cy="293927"/>
          </a:xfrm>
          <a:prstGeom prst="rect">
            <a:avLst/>
          </a:prstGeom>
          <a:noFill/>
        </p:spPr>
        <p:txBody>
          <a:bodyPr wrap="none" rtlCol="0">
            <a:spAutoFit/>
          </a:bodyPr>
          <a:lstStyle/>
          <a:p>
            <a:r>
              <a:rPr lang="en-US" sz="1310" b="1" dirty="0"/>
              <a:t>Attacker reads the message successfully</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7"/>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8"/>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14633989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10"/>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1"/>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58" name="TextBox 57">
            <a:extLst>
              <a:ext uri="{FF2B5EF4-FFF2-40B4-BE49-F238E27FC236}">
                <a16:creationId xmlns:a16="http://schemas.microsoft.com/office/drawing/2014/main" id="{712BD45F-A9B4-4CC9-BD76-7ADFDB026993}"/>
              </a:ext>
            </a:extLst>
          </p:cNvPr>
          <p:cNvSpPr txBox="1"/>
          <p:nvPr>
            <p:custDataLst>
              <p:tags r:id="rId5"/>
            </p:custDataLst>
          </p:nvPr>
        </p:nvSpPr>
        <p:spPr>
          <a:xfrm>
            <a:off x="5479141" y="3553115"/>
            <a:ext cx="872355" cy="293927"/>
          </a:xfrm>
          <a:prstGeom prst="rect">
            <a:avLst/>
          </a:prstGeom>
          <a:noFill/>
        </p:spPr>
        <p:txBody>
          <a:bodyPr wrap="none" rtlCol="0">
            <a:spAutoFit/>
          </a:bodyPr>
          <a:lstStyle/>
          <a:p>
            <a:r>
              <a:rPr lang="en-US" sz="1310" b="1" dirty="0">
                <a:solidFill>
                  <a:srgbClr val="C00000"/>
                </a:solidFill>
              </a:rPr>
              <a:t>Enc</a:t>
            </a:r>
            <a:r>
              <a:rPr lang="en-US" sz="1310" b="1" dirty="0"/>
              <a:t>(1234)</a:t>
            </a:r>
          </a:p>
        </p:txBody>
      </p:sp>
      <p:sp>
        <p:nvSpPr>
          <p:cNvPr id="18" name="TextBox 17">
            <a:extLst>
              <a:ext uri="{FF2B5EF4-FFF2-40B4-BE49-F238E27FC236}">
                <a16:creationId xmlns:a16="http://schemas.microsoft.com/office/drawing/2014/main" id="{87E6C32C-1CC6-413E-9168-A9B96D49A349}"/>
              </a:ext>
            </a:extLst>
          </p:cNvPr>
          <p:cNvSpPr txBox="1"/>
          <p:nvPr>
            <p:custDataLst>
              <p:tags r:id="rId6"/>
            </p:custDataLst>
          </p:nvPr>
        </p:nvSpPr>
        <p:spPr>
          <a:xfrm>
            <a:off x="4347550" y="4841597"/>
            <a:ext cx="2961773" cy="293927"/>
          </a:xfrm>
          <a:prstGeom prst="rect">
            <a:avLst/>
          </a:prstGeom>
          <a:noFill/>
        </p:spPr>
        <p:txBody>
          <a:bodyPr wrap="none" rtlCol="0">
            <a:spAutoFit/>
          </a:bodyPr>
          <a:lstStyle/>
          <a:p>
            <a:r>
              <a:rPr lang="en-US" sz="1310" b="1" dirty="0"/>
              <a:t>Attacker reads the message successfully</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7"/>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8"/>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37018616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18E5660-7A88-432E-86FD-13BAAB4C2756}"/>
              </a:ext>
            </a:extLst>
          </p:cNvPr>
          <p:cNvGrpSpPr/>
          <p:nvPr>
            <p:custDataLst>
              <p:tags r:id="rId2"/>
            </p:custDataLst>
          </p:nvPr>
        </p:nvGrpSpPr>
        <p:grpSpPr>
          <a:xfrm>
            <a:off x="3251696" y="3836925"/>
            <a:ext cx="5413175" cy="809768"/>
            <a:chOff x="2060762" y="3075981"/>
            <a:chExt cx="7436281" cy="1112408"/>
          </a:xfrm>
        </p:grpSpPr>
        <p:sp>
          <p:nvSpPr>
            <p:cNvPr id="52" name="Rectangle 51">
              <a:extLst>
                <a:ext uri="{FF2B5EF4-FFF2-40B4-BE49-F238E27FC236}">
                  <a16:creationId xmlns:a16="http://schemas.microsoft.com/office/drawing/2014/main" id="{90166803-FFE5-44AE-B2EC-376F09B9D5C8}"/>
                </a:ext>
              </a:extLst>
            </p:cNvPr>
            <p:cNvSpPr/>
            <p:nvPr/>
          </p:nvSpPr>
          <p:spPr>
            <a:xfrm>
              <a:off x="6292242" y="3309996"/>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51" name="Rectangle 50">
              <a:extLst>
                <a:ext uri="{FF2B5EF4-FFF2-40B4-BE49-F238E27FC236}">
                  <a16:creationId xmlns:a16="http://schemas.microsoft.com/office/drawing/2014/main" id="{7433D98E-EE05-4E52-AFDB-A5F02CE36BFB}"/>
                </a:ext>
              </a:extLst>
            </p:cNvPr>
            <p:cNvSpPr/>
            <p:nvPr/>
          </p:nvSpPr>
          <p:spPr>
            <a:xfrm>
              <a:off x="2846230" y="3315144"/>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41" name="Group 40">
              <a:extLst>
                <a:ext uri="{FF2B5EF4-FFF2-40B4-BE49-F238E27FC236}">
                  <a16:creationId xmlns:a16="http://schemas.microsoft.com/office/drawing/2014/main" id="{3DA35A11-EA84-4B85-BEB7-5F60A36F8B8D}"/>
                </a:ext>
              </a:extLst>
            </p:cNvPr>
            <p:cNvGrpSpPr/>
            <p:nvPr/>
          </p:nvGrpSpPr>
          <p:grpSpPr>
            <a:xfrm>
              <a:off x="2060762" y="3075981"/>
              <a:ext cx="7436281" cy="1093166"/>
              <a:chOff x="2290119" y="2971019"/>
              <a:chExt cx="7436281" cy="1093166"/>
            </a:xfrm>
          </p:grpSpPr>
          <p:grpSp>
            <p:nvGrpSpPr>
              <p:cNvPr id="42" name="Group 41">
                <a:extLst>
                  <a:ext uri="{FF2B5EF4-FFF2-40B4-BE49-F238E27FC236}">
                    <a16:creationId xmlns:a16="http://schemas.microsoft.com/office/drawing/2014/main" id="{A9A4E0D2-C12B-4DDA-99C6-F3D238F3DB63}"/>
                  </a:ext>
                </a:extLst>
              </p:cNvPr>
              <p:cNvGrpSpPr/>
              <p:nvPr/>
            </p:nvGrpSpPr>
            <p:grpSpPr>
              <a:xfrm>
                <a:off x="2290119" y="3003237"/>
                <a:ext cx="7436281" cy="1060948"/>
                <a:chOff x="2312778" y="4001294"/>
                <a:chExt cx="7422134" cy="1060948"/>
              </a:xfrm>
            </p:grpSpPr>
            <p:pic>
              <p:nvPicPr>
                <p:cNvPr id="46" name="Picture 45" descr="A picture containing photo, sitting, monitor, table&#10;&#10;Description generated with very high confidence">
                  <a:extLst>
                    <a:ext uri="{FF2B5EF4-FFF2-40B4-BE49-F238E27FC236}">
                      <a16:creationId xmlns:a16="http://schemas.microsoft.com/office/drawing/2014/main" id="{24B41037-D95F-4089-B5BF-88E62A4B9903}"/>
                    </a:ext>
                  </a:extLst>
                </p:cNvPr>
                <p:cNvPicPr>
                  <a:picLocks noChangeAspect="1"/>
                </p:cNvPicPr>
                <p:nvPr/>
              </p:nvPicPr>
              <p:blipFill>
                <a:blip r:embed="rId11"/>
                <a:stretch>
                  <a:fillRect/>
                </a:stretch>
              </p:blipFill>
              <p:spPr>
                <a:xfrm>
                  <a:off x="2313432" y="4001294"/>
                  <a:ext cx="630751" cy="692580"/>
                </a:xfrm>
                <a:prstGeom prst="rect">
                  <a:avLst/>
                </a:prstGeom>
              </p:spPr>
            </p:pic>
            <p:sp>
              <p:nvSpPr>
                <p:cNvPr id="48" name="TextBox 6">
                  <a:extLst>
                    <a:ext uri="{FF2B5EF4-FFF2-40B4-BE49-F238E27FC236}">
                      <a16:creationId xmlns:a16="http://schemas.microsoft.com/office/drawing/2014/main" id="{1E8BEC13-3E8C-4E4F-9D2E-544B70CF1514}"/>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49" name="TextBox 7">
                  <a:extLst>
                    <a:ext uri="{FF2B5EF4-FFF2-40B4-BE49-F238E27FC236}">
                      <a16:creationId xmlns:a16="http://schemas.microsoft.com/office/drawing/2014/main" id="{203713FA-6538-46BF-BFF6-0E44C678A655}"/>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43" name="Group 42">
                <a:extLst>
                  <a:ext uri="{FF2B5EF4-FFF2-40B4-BE49-F238E27FC236}">
                    <a16:creationId xmlns:a16="http://schemas.microsoft.com/office/drawing/2014/main" id="{EAA3A3E8-3A38-4956-A390-4B7CEF6278B9}"/>
                  </a:ext>
                </a:extLst>
              </p:cNvPr>
              <p:cNvGrpSpPr/>
              <p:nvPr/>
            </p:nvGrpSpPr>
            <p:grpSpPr>
              <a:xfrm>
                <a:off x="5413167" y="2971019"/>
                <a:ext cx="1244110" cy="1059345"/>
                <a:chOff x="5549631" y="2270032"/>
                <a:chExt cx="1244110" cy="1059345"/>
              </a:xfrm>
            </p:grpSpPr>
            <p:pic>
              <p:nvPicPr>
                <p:cNvPr id="44" name="Picture 14" descr="A picture containing text&#10;&#10;Description generated with very high confidence">
                  <a:extLst>
                    <a:ext uri="{FF2B5EF4-FFF2-40B4-BE49-F238E27FC236}">
                      <a16:creationId xmlns:a16="http://schemas.microsoft.com/office/drawing/2014/main" id="{544962B8-A22F-4AAF-9B8B-81DDBC491A98}"/>
                    </a:ext>
                  </a:extLst>
                </p:cNvPr>
                <p:cNvPicPr>
                  <a:picLocks noChangeAspect="1"/>
                </p:cNvPicPr>
                <p:nvPr/>
              </p:nvPicPr>
              <p:blipFill>
                <a:blip r:embed="rId12"/>
                <a:stretch>
                  <a:fillRect/>
                </a:stretch>
              </p:blipFill>
              <p:spPr>
                <a:xfrm>
                  <a:off x="5722606" y="2270032"/>
                  <a:ext cx="739215" cy="748624"/>
                </a:xfrm>
                <a:prstGeom prst="rect">
                  <a:avLst/>
                </a:prstGeom>
              </p:spPr>
            </p:pic>
            <p:sp>
              <p:nvSpPr>
                <p:cNvPr id="45" name="TextBox 44">
                  <a:extLst>
                    <a:ext uri="{FF2B5EF4-FFF2-40B4-BE49-F238E27FC236}">
                      <a16:creationId xmlns:a16="http://schemas.microsoft.com/office/drawing/2014/main" id="{EEDA7B4E-AC75-4B6A-8A32-2258D804E553}"/>
                    </a:ext>
                  </a:extLst>
                </p:cNvPr>
                <p:cNvSpPr txBox="1"/>
                <p:nvPr/>
              </p:nvSpPr>
              <p:spPr>
                <a:xfrm>
                  <a:off x="5549631" y="2960109"/>
                  <a:ext cx="1244110" cy="369268"/>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a:effectLst>
                        <a:outerShdw blurRad="38100" dist="38100" dir="2700000" algn="tl">
                          <a:srgbClr val="000000">
                            <a:alpha val="43137"/>
                          </a:srgbClr>
                        </a:outerShdw>
                      </a:effectLst>
                      <a:cs typeface="Calibri"/>
                    </a:rPr>
                    <a:t>Attacker</a:t>
                  </a:r>
                </a:p>
              </p:txBody>
            </p:sp>
          </p:grpSp>
        </p:grpSp>
        <p:cxnSp>
          <p:nvCxnSpPr>
            <p:cNvPr id="5" name="Straight Arrow Connector 4">
              <a:extLst>
                <a:ext uri="{FF2B5EF4-FFF2-40B4-BE49-F238E27FC236}">
                  <a16:creationId xmlns:a16="http://schemas.microsoft.com/office/drawing/2014/main" id="{7B3A652E-6609-46A9-9042-9A9A4690F43D}"/>
                </a:ext>
              </a:extLst>
            </p:cNvPr>
            <p:cNvCxnSpPr>
              <a:cxnSpLocks/>
              <a:stCxn id="46" idx="3"/>
              <a:endCxn id="44" idx="1"/>
            </p:cNvCxnSpPr>
            <p:nvPr/>
          </p:nvCxnSpPr>
          <p:spPr>
            <a:xfrm flipV="1">
              <a:off x="2693370" y="3450293"/>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ED03980-F150-46CC-9CE7-6147B8DC4390}"/>
                </a:ext>
              </a:extLst>
            </p:cNvPr>
            <p:cNvCxnSpPr>
              <a:cxnSpLocks/>
            </p:cNvCxnSpPr>
            <p:nvPr/>
          </p:nvCxnSpPr>
          <p:spPr>
            <a:xfrm flipV="1">
              <a:off x="6133267" y="3446097"/>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1C488E9-4DB2-4F91-8D12-D35912FA77ED}"/>
                </a:ext>
              </a:extLst>
            </p:cNvPr>
            <p:cNvSpPr txBox="1"/>
            <p:nvPr/>
          </p:nvSpPr>
          <p:spPr>
            <a:xfrm>
              <a:off x="3165783" y="3784611"/>
              <a:ext cx="1513287" cy="403778"/>
            </a:xfrm>
            <a:prstGeom prst="rect">
              <a:avLst/>
            </a:prstGeom>
            <a:noFill/>
          </p:spPr>
          <p:txBody>
            <a:bodyPr wrap="none" rtlCol="0">
              <a:spAutoFit/>
            </a:bodyPr>
            <a:lstStyle/>
            <a:p>
              <a:r>
                <a:rPr lang="en-US" sz="1310" b="1" dirty="0"/>
                <a:t>TLS Session 1</a:t>
              </a:r>
            </a:p>
          </p:txBody>
        </p:sp>
        <p:sp>
          <p:nvSpPr>
            <p:cNvPr id="53" name="TextBox 52">
              <a:extLst>
                <a:ext uri="{FF2B5EF4-FFF2-40B4-BE49-F238E27FC236}">
                  <a16:creationId xmlns:a16="http://schemas.microsoft.com/office/drawing/2014/main" id="{5F8D40E2-FB94-4983-ACDB-D8D30308F45B}"/>
                </a:ext>
              </a:extLst>
            </p:cNvPr>
            <p:cNvSpPr txBox="1"/>
            <p:nvPr/>
          </p:nvSpPr>
          <p:spPr>
            <a:xfrm>
              <a:off x="6700048" y="3700114"/>
              <a:ext cx="1513287" cy="403778"/>
            </a:xfrm>
            <a:prstGeom prst="rect">
              <a:avLst/>
            </a:prstGeom>
            <a:noFill/>
          </p:spPr>
          <p:txBody>
            <a:bodyPr wrap="none" rtlCol="0">
              <a:spAutoFit/>
            </a:bodyPr>
            <a:lstStyle/>
            <a:p>
              <a:r>
                <a:rPr lang="en-US" sz="1310" b="1" dirty="0"/>
                <a:t>TLS Session 2</a:t>
              </a:r>
            </a:p>
          </p:txBody>
        </p:sp>
      </p:grpSp>
      <p:sp>
        <p:nvSpPr>
          <p:cNvPr id="54" name="Title 1">
            <a:extLst>
              <a:ext uri="{FF2B5EF4-FFF2-40B4-BE49-F238E27FC236}">
                <a16:creationId xmlns:a16="http://schemas.microsoft.com/office/drawing/2014/main" id="{AEBFE377-060C-4586-9016-51F0C1B66222}"/>
              </a:ext>
            </a:extLst>
          </p:cNvPr>
          <p:cNvSpPr txBox="1">
            <a:spLocks/>
          </p:cNvSpPr>
          <p:nvPr>
            <p:custDataLst>
              <p:tags r:id="rId3"/>
            </p:custDataLst>
          </p:nvPr>
        </p:nvSpPr>
        <p:spPr>
          <a:xfrm>
            <a:off x="0" y="2189013"/>
            <a:ext cx="12191999" cy="517301"/>
          </a:xfrm>
          <a:prstGeom prst="rect">
            <a:avLst/>
          </a:prstGeom>
          <a:solidFill>
            <a:srgbClr val="C00000"/>
          </a:solidFill>
        </p:spPr>
        <p:txBody>
          <a:bodyPr vert="horz" lIns="66563" tIns="33281" rIns="66563" bIns="33281"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bg1"/>
                </a:solidFill>
                <a:latin typeface="Avenir Next" panose="020B0503020202020204" pitchFamily="34" charset="0"/>
              </a:rPr>
              <a:t>What happens when client sends an encrypted message to server ?</a:t>
            </a:r>
          </a:p>
        </p:txBody>
      </p:sp>
      <p:pic>
        <p:nvPicPr>
          <p:cNvPr id="55" name="Content Placeholder 6" descr="A picture containing cup, coffee, sitting, microwave&#10;&#10;Description automatically generated">
            <a:extLst>
              <a:ext uri="{FF2B5EF4-FFF2-40B4-BE49-F238E27FC236}">
                <a16:creationId xmlns:a16="http://schemas.microsoft.com/office/drawing/2014/main" id="{ADF63021-B6AA-43BB-85CA-18F112553ADD}"/>
              </a:ext>
            </a:extLst>
          </p:cNvPr>
          <p:cNvPicPr>
            <a:picLocks noGrp="1" noChangeAspect="1"/>
          </p:cNvPicPr>
          <p:nvPr>
            <p:ph idx="1"/>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8111889" y="3893092"/>
            <a:ext cx="438731" cy="438731"/>
          </a:xfrm>
        </p:spPr>
      </p:pic>
      <p:sp>
        <p:nvSpPr>
          <p:cNvPr id="58" name="TextBox 57">
            <a:extLst>
              <a:ext uri="{FF2B5EF4-FFF2-40B4-BE49-F238E27FC236}">
                <a16:creationId xmlns:a16="http://schemas.microsoft.com/office/drawing/2014/main" id="{712BD45F-A9B4-4CC9-BD76-7ADFDB026993}"/>
              </a:ext>
            </a:extLst>
          </p:cNvPr>
          <p:cNvSpPr txBox="1"/>
          <p:nvPr>
            <p:custDataLst>
              <p:tags r:id="rId5"/>
            </p:custDataLst>
          </p:nvPr>
        </p:nvSpPr>
        <p:spPr>
          <a:xfrm>
            <a:off x="8516047" y="3569025"/>
            <a:ext cx="872355" cy="293927"/>
          </a:xfrm>
          <a:prstGeom prst="rect">
            <a:avLst/>
          </a:prstGeom>
          <a:noFill/>
        </p:spPr>
        <p:txBody>
          <a:bodyPr wrap="none" rtlCol="0">
            <a:spAutoFit/>
          </a:bodyPr>
          <a:lstStyle/>
          <a:p>
            <a:r>
              <a:rPr lang="en-US" sz="1310" b="1" dirty="0">
                <a:solidFill>
                  <a:srgbClr val="C00000"/>
                </a:solidFill>
              </a:rPr>
              <a:t>Enc</a:t>
            </a:r>
            <a:r>
              <a:rPr lang="en-US" sz="1310" b="1" dirty="0"/>
              <a:t>(1234)</a:t>
            </a:r>
          </a:p>
        </p:txBody>
      </p:sp>
      <p:sp>
        <p:nvSpPr>
          <p:cNvPr id="18" name="TextBox 17">
            <a:extLst>
              <a:ext uri="{FF2B5EF4-FFF2-40B4-BE49-F238E27FC236}">
                <a16:creationId xmlns:a16="http://schemas.microsoft.com/office/drawing/2014/main" id="{87E6C32C-1CC6-413E-9168-A9B96D49A349}"/>
              </a:ext>
            </a:extLst>
          </p:cNvPr>
          <p:cNvSpPr txBox="1"/>
          <p:nvPr>
            <p:custDataLst>
              <p:tags r:id="rId6"/>
            </p:custDataLst>
          </p:nvPr>
        </p:nvSpPr>
        <p:spPr>
          <a:xfrm>
            <a:off x="4347550" y="4841597"/>
            <a:ext cx="2961773" cy="293927"/>
          </a:xfrm>
          <a:prstGeom prst="rect">
            <a:avLst/>
          </a:prstGeom>
          <a:noFill/>
        </p:spPr>
        <p:txBody>
          <a:bodyPr wrap="none" rtlCol="0">
            <a:spAutoFit/>
          </a:bodyPr>
          <a:lstStyle/>
          <a:p>
            <a:r>
              <a:rPr lang="en-US" sz="1310" b="1" dirty="0"/>
              <a:t>Attacker reads the message successfully</a:t>
            </a:r>
          </a:p>
        </p:txBody>
      </p:sp>
      <p:sp>
        <p:nvSpPr>
          <p:cNvPr id="61" name="TextBox 60">
            <a:extLst>
              <a:ext uri="{FF2B5EF4-FFF2-40B4-BE49-F238E27FC236}">
                <a16:creationId xmlns:a16="http://schemas.microsoft.com/office/drawing/2014/main" id="{3B39ABE2-7392-4B1D-8E23-97CE48C5CB26}"/>
              </a:ext>
            </a:extLst>
          </p:cNvPr>
          <p:cNvSpPr txBox="1"/>
          <p:nvPr>
            <p:custDataLst>
              <p:tags r:id="rId7"/>
            </p:custDataLst>
          </p:nvPr>
        </p:nvSpPr>
        <p:spPr>
          <a:xfrm>
            <a:off x="3760416" y="5125704"/>
            <a:ext cx="4131131" cy="293927"/>
          </a:xfrm>
          <a:prstGeom prst="rect">
            <a:avLst/>
          </a:prstGeom>
          <a:noFill/>
        </p:spPr>
        <p:txBody>
          <a:bodyPr wrap="none" rtlCol="0">
            <a:spAutoFit/>
          </a:bodyPr>
          <a:lstStyle/>
          <a:p>
            <a:r>
              <a:rPr lang="en-US" sz="1310" b="1" dirty="0"/>
              <a:t>Attacker re-encrypts and forwards the message to server</a:t>
            </a:r>
          </a:p>
        </p:txBody>
      </p:sp>
      <p:sp>
        <p:nvSpPr>
          <p:cNvPr id="2" name="Slide Number Placeholder 1">
            <a:extLst>
              <a:ext uri="{FF2B5EF4-FFF2-40B4-BE49-F238E27FC236}">
                <a16:creationId xmlns:a16="http://schemas.microsoft.com/office/drawing/2014/main" id="{C68F47D0-62BA-8644-A238-177CA31C10F6}"/>
              </a:ext>
            </a:extLst>
          </p:cNvPr>
          <p:cNvSpPr>
            <a:spLocks noGrp="1"/>
          </p:cNvSpPr>
          <p:nvPr>
            <p:ph type="sldNum" sz="quarter" idx="12"/>
            <p:custDataLst>
              <p:tags r:id="rId8"/>
            </p:custDataLst>
          </p:nvPr>
        </p:nvSpPr>
        <p:spPr/>
        <p:txBody>
          <a:bodyPr/>
          <a:lstStyle/>
          <a:p>
            <a:r>
              <a:rPr lang="en-US"/>
              <a:t>54</a:t>
            </a:r>
          </a:p>
        </p:txBody>
      </p:sp>
      <p:sp>
        <p:nvSpPr>
          <p:cNvPr id="3" name="TextBox 2">
            <a:extLst>
              <a:ext uri="{FF2B5EF4-FFF2-40B4-BE49-F238E27FC236}">
                <a16:creationId xmlns:a16="http://schemas.microsoft.com/office/drawing/2014/main" id="{B588AB46-C2CF-BE8E-72DC-94001E94D57B}"/>
              </a:ext>
            </a:extLst>
          </p:cNvPr>
          <p:cNvSpPr txBox="1"/>
          <p:nvPr>
            <p:custDataLst>
              <p:tags r:id="rId9"/>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1804116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42467D-38C0-4F27-8E71-C6D4ABF98EF5}"/>
              </a:ext>
            </a:extLst>
          </p:cNvPr>
          <p:cNvSpPr/>
          <p:nvPr>
            <p:custDataLst>
              <p:tags r:id="rId2"/>
            </p:custDataLst>
          </p:nvPr>
        </p:nvSpPr>
        <p:spPr>
          <a:xfrm>
            <a:off x="0" y="2053919"/>
            <a:ext cx="9982200" cy="204867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did attacker able to authenticate itself as Server to the Client ?</a:t>
            </a:r>
          </a:p>
        </p:txBody>
      </p:sp>
      <p:pic>
        <p:nvPicPr>
          <p:cNvPr id="31" name="Picture 30" descr="A close up of an animal&#10;&#10;Description automatically generated">
            <a:extLst>
              <a:ext uri="{FF2B5EF4-FFF2-40B4-BE49-F238E27FC236}">
                <a16:creationId xmlns:a16="http://schemas.microsoft.com/office/drawing/2014/main" id="{3562A51B-594C-4FB8-88F5-67E805F51860}"/>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822994" y="2477657"/>
            <a:ext cx="1201193" cy="1201193"/>
          </a:xfrm>
          <a:prstGeom prst="rect">
            <a:avLst/>
          </a:prstGeom>
        </p:spPr>
      </p:pic>
      <p:sp>
        <p:nvSpPr>
          <p:cNvPr id="3" name="Slide Number Placeholder 2">
            <a:extLst>
              <a:ext uri="{FF2B5EF4-FFF2-40B4-BE49-F238E27FC236}">
                <a16:creationId xmlns:a16="http://schemas.microsoft.com/office/drawing/2014/main" id="{256D63C2-3761-F34C-86C1-181DA25CC049}"/>
              </a:ext>
            </a:extLst>
          </p:cNvPr>
          <p:cNvSpPr>
            <a:spLocks noGrp="1"/>
          </p:cNvSpPr>
          <p:nvPr>
            <p:ph type="sldNum" sz="quarter" idx="12"/>
            <p:custDataLst>
              <p:tags r:id="rId4"/>
            </p:custDataLst>
          </p:nvPr>
        </p:nvSpPr>
        <p:spPr/>
        <p:txBody>
          <a:bodyPr/>
          <a:lstStyle/>
          <a:p>
            <a:r>
              <a:rPr lang="en-US"/>
              <a:t>55</a:t>
            </a:r>
          </a:p>
        </p:txBody>
      </p:sp>
      <p:sp>
        <p:nvSpPr>
          <p:cNvPr id="4" name="TextBox 3">
            <a:extLst>
              <a:ext uri="{FF2B5EF4-FFF2-40B4-BE49-F238E27FC236}">
                <a16:creationId xmlns:a16="http://schemas.microsoft.com/office/drawing/2014/main" id="{14A17777-7D4E-52CD-C0A7-08411D622AC8}"/>
              </a:ext>
            </a:extLst>
          </p:cNvPr>
          <p:cNvSpPr txBox="1"/>
          <p:nvPr>
            <p:custDataLst>
              <p:tags r:id="rId5"/>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34334273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42467D-38C0-4F27-8E71-C6D4ABF98EF5}"/>
              </a:ext>
            </a:extLst>
          </p:cNvPr>
          <p:cNvSpPr/>
          <p:nvPr>
            <p:custDataLst>
              <p:tags r:id="rId2"/>
            </p:custDataLst>
          </p:nvPr>
        </p:nvSpPr>
        <p:spPr>
          <a:xfrm>
            <a:off x="0" y="2053919"/>
            <a:ext cx="9982200" cy="204867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did attacker able to authenticate itself as Server to the Client ?</a:t>
            </a:r>
          </a:p>
        </p:txBody>
      </p:sp>
      <p:sp>
        <p:nvSpPr>
          <p:cNvPr id="30" name="Rectangle 29">
            <a:extLst>
              <a:ext uri="{FF2B5EF4-FFF2-40B4-BE49-F238E27FC236}">
                <a16:creationId xmlns:a16="http://schemas.microsoft.com/office/drawing/2014/main" id="{793AEACB-2445-403D-BC3A-87D9CB2D4A65}"/>
              </a:ext>
            </a:extLst>
          </p:cNvPr>
          <p:cNvSpPr/>
          <p:nvPr>
            <p:custDataLst>
              <p:tags r:id="rId3"/>
            </p:custDataLst>
          </p:nvPr>
        </p:nvSpPr>
        <p:spPr>
          <a:xfrm>
            <a:off x="0" y="4215875"/>
            <a:ext cx="9982200" cy="2323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Attacker somehow bypassed the certificate-based authentication</a:t>
            </a:r>
          </a:p>
        </p:txBody>
      </p:sp>
      <p:sp>
        <p:nvSpPr>
          <p:cNvPr id="3" name="Slide Number Placeholder 2">
            <a:extLst>
              <a:ext uri="{FF2B5EF4-FFF2-40B4-BE49-F238E27FC236}">
                <a16:creationId xmlns:a16="http://schemas.microsoft.com/office/drawing/2014/main" id="{256D63C2-3761-F34C-86C1-181DA25CC049}"/>
              </a:ext>
            </a:extLst>
          </p:cNvPr>
          <p:cNvSpPr>
            <a:spLocks noGrp="1"/>
          </p:cNvSpPr>
          <p:nvPr>
            <p:ph type="sldNum" sz="quarter" idx="12"/>
            <p:custDataLst>
              <p:tags r:id="rId4"/>
            </p:custDataLst>
          </p:nvPr>
        </p:nvSpPr>
        <p:spPr/>
        <p:txBody>
          <a:bodyPr/>
          <a:lstStyle/>
          <a:p>
            <a:r>
              <a:rPr lang="en-US"/>
              <a:t>55</a:t>
            </a:r>
          </a:p>
        </p:txBody>
      </p:sp>
      <p:sp>
        <p:nvSpPr>
          <p:cNvPr id="4" name="TextBox 3">
            <a:extLst>
              <a:ext uri="{FF2B5EF4-FFF2-40B4-BE49-F238E27FC236}">
                <a16:creationId xmlns:a16="http://schemas.microsoft.com/office/drawing/2014/main" id="{14A17777-7D4E-52CD-C0A7-08411D622AC8}"/>
              </a:ext>
            </a:extLst>
          </p:cNvPr>
          <p:cNvSpPr txBox="1"/>
          <p:nvPr>
            <p:custDataLst>
              <p:tags r:id="rId5"/>
            </p:custDataLst>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24334945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8"/>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grpSp>
        <p:nvGrpSpPr>
          <p:cNvPr id="10" name="Group 9">
            <a:extLst>
              <a:ext uri="{FF2B5EF4-FFF2-40B4-BE49-F238E27FC236}">
                <a16:creationId xmlns:a16="http://schemas.microsoft.com/office/drawing/2014/main" id="{D6050170-C406-4227-A6DE-826196B9ADA8}"/>
              </a:ext>
            </a:extLst>
          </p:cNvPr>
          <p:cNvGrpSpPr/>
          <p:nvPr>
            <p:custDataLst>
              <p:tags r:id="rId4"/>
            </p:custDataLst>
          </p:nvPr>
        </p:nvGrpSpPr>
        <p:grpSpPr>
          <a:xfrm>
            <a:off x="3614487" y="4676162"/>
            <a:ext cx="1647179" cy="1185268"/>
            <a:chOff x="2243299" y="4819848"/>
            <a:chExt cx="1476623" cy="1050069"/>
          </a:xfrm>
        </p:grpSpPr>
        <p:sp>
          <p:nvSpPr>
            <p:cNvPr id="7" name="Rectangle 6">
              <a:extLst>
                <a:ext uri="{FF2B5EF4-FFF2-40B4-BE49-F238E27FC236}">
                  <a16:creationId xmlns:a16="http://schemas.microsoft.com/office/drawing/2014/main" id="{8E4280ED-A2FC-4996-A733-1F68E8B3841E}"/>
                </a:ext>
              </a:extLst>
            </p:cNvPr>
            <p:cNvSpPr/>
            <p:nvPr/>
          </p:nvSpPr>
          <p:spPr>
            <a:xfrm>
              <a:off x="2243299" y="4964935"/>
              <a:ext cx="1372651" cy="9049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sp>
          <p:nvSpPr>
            <p:cNvPr id="9" name="Rectangle 8">
              <a:extLst>
                <a:ext uri="{FF2B5EF4-FFF2-40B4-BE49-F238E27FC236}">
                  <a16:creationId xmlns:a16="http://schemas.microsoft.com/office/drawing/2014/main" id="{3DBDF51E-64B3-4006-818C-8F9726BB51EC}"/>
                </a:ext>
              </a:extLst>
            </p:cNvPr>
            <p:cNvSpPr/>
            <p:nvPr/>
          </p:nvSpPr>
          <p:spPr>
            <a:xfrm>
              <a:off x="2347271" y="4819848"/>
              <a:ext cx="1372651" cy="9660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5"/>
            </p:custDataLst>
          </p:nvPr>
        </p:nvSpPr>
        <p:spPr/>
        <p:txBody>
          <a:bodyPr/>
          <a:lstStyle/>
          <a:p>
            <a:r>
              <a:rPr lang="en-US"/>
              <a:t>56</a:t>
            </a:r>
          </a:p>
        </p:txBody>
      </p:sp>
    </p:spTree>
    <p:custDataLst>
      <p:tags r:id="rId1"/>
    </p:custDataLst>
    <p:extLst>
      <p:ext uri="{BB962C8B-B14F-4D97-AF65-F5344CB8AC3E}">
        <p14:creationId xmlns:p14="http://schemas.microsoft.com/office/powerpoint/2010/main" val="41941992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8"/>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grpSp>
        <p:nvGrpSpPr>
          <p:cNvPr id="40" name="Group 39">
            <a:extLst>
              <a:ext uri="{FF2B5EF4-FFF2-40B4-BE49-F238E27FC236}">
                <a16:creationId xmlns:a16="http://schemas.microsoft.com/office/drawing/2014/main" id="{19B7964A-435C-4A05-96A6-4BCE9BFA637C}"/>
              </a:ext>
            </a:extLst>
          </p:cNvPr>
          <p:cNvGrpSpPr/>
          <p:nvPr>
            <p:custDataLst>
              <p:tags r:id="rId4"/>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5"/>
            </p:custDataLst>
          </p:nvPr>
        </p:nvSpPr>
        <p:spPr/>
        <p:txBody>
          <a:bodyPr/>
          <a:lstStyle/>
          <a:p>
            <a:r>
              <a:rPr lang="en-US"/>
              <a:t>56</a:t>
            </a:r>
          </a:p>
        </p:txBody>
      </p:sp>
    </p:spTree>
    <p:custDataLst>
      <p:tags r:id="rId1"/>
    </p:custDataLst>
    <p:extLst>
      <p:ext uri="{BB962C8B-B14F-4D97-AF65-F5344CB8AC3E}">
        <p14:creationId xmlns:p14="http://schemas.microsoft.com/office/powerpoint/2010/main" val="34011830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9"/>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17" name="Thought Bubble: Cloud 16">
            <a:extLst>
              <a:ext uri="{FF2B5EF4-FFF2-40B4-BE49-F238E27FC236}">
                <a16:creationId xmlns:a16="http://schemas.microsoft.com/office/drawing/2014/main" id="{31D8512F-EBDF-43FD-9AD7-39AB55FBF77C}"/>
              </a:ext>
            </a:extLst>
          </p:cNvPr>
          <p:cNvSpPr/>
          <p:nvPr>
            <p:custDataLst>
              <p:tags r:id="rId4"/>
            </p:custDataLst>
          </p:nvPr>
        </p:nvSpPr>
        <p:spPr>
          <a:xfrm>
            <a:off x="5832497" y="3511449"/>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Who is the root CA ?</a:t>
            </a:r>
          </a:p>
        </p:txBody>
      </p:sp>
      <p:grpSp>
        <p:nvGrpSpPr>
          <p:cNvPr id="40" name="Group 39">
            <a:extLst>
              <a:ext uri="{FF2B5EF4-FFF2-40B4-BE49-F238E27FC236}">
                <a16:creationId xmlns:a16="http://schemas.microsoft.com/office/drawing/2014/main" id="{19B7964A-435C-4A05-96A6-4BCE9BFA637C}"/>
              </a:ext>
            </a:extLst>
          </p:cNvPr>
          <p:cNvGrpSpPr/>
          <p:nvPr>
            <p:custDataLst>
              <p:tags r:id="rId5"/>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6"/>
            </p:custDataLst>
          </p:nvPr>
        </p:nvSpPr>
        <p:spPr/>
        <p:txBody>
          <a:bodyPr/>
          <a:lstStyle/>
          <a:p>
            <a:r>
              <a:rPr lang="en-US"/>
              <a:t>56</a:t>
            </a:r>
          </a:p>
        </p:txBody>
      </p:sp>
    </p:spTree>
    <p:custDataLst>
      <p:tags r:id="rId1"/>
    </p:custDataLst>
    <p:extLst>
      <p:ext uri="{BB962C8B-B14F-4D97-AF65-F5344CB8AC3E}">
        <p14:creationId xmlns:p14="http://schemas.microsoft.com/office/powerpoint/2010/main" val="2372021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10"/>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17" name="Thought Bubble: Cloud 16">
            <a:extLst>
              <a:ext uri="{FF2B5EF4-FFF2-40B4-BE49-F238E27FC236}">
                <a16:creationId xmlns:a16="http://schemas.microsoft.com/office/drawing/2014/main" id="{31D8512F-EBDF-43FD-9AD7-39AB55FBF77C}"/>
              </a:ext>
            </a:extLst>
          </p:cNvPr>
          <p:cNvSpPr/>
          <p:nvPr>
            <p:custDataLst>
              <p:tags r:id="rId4"/>
            </p:custDataLst>
          </p:nvPr>
        </p:nvSpPr>
        <p:spPr>
          <a:xfrm>
            <a:off x="5832497" y="3511449"/>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Who is the root CA ?</a:t>
            </a:r>
          </a:p>
        </p:txBody>
      </p:sp>
      <p:grpSp>
        <p:nvGrpSpPr>
          <p:cNvPr id="40" name="Group 39">
            <a:extLst>
              <a:ext uri="{FF2B5EF4-FFF2-40B4-BE49-F238E27FC236}">
                <a16:creationId xmlns:a16="http://schemas.microsoft.com/office/drawing/2014/main" id="{19B7964A-435C-4A05-96A6-4BCE9BFA637C}"/>
              </a:ext>
            </a:extLst>
          </p:cNvPr>
          <p:cNvGrpSpPr/>
          <p:nvPr>
            <p:custDataLst>
              <p:tags r:id="rId5"/>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6B02D5CC-2835-4CA3-A2A8-5EE2A46D534F}"/>
              </a:ext>
            </a:extLst>
          </p:cNvPr>
          <p:cNvGrpSpPr/>
          <p:nvPr>
            <p:custDataLst>
              <p:tags r:id="rId6"/>
            </p:custDataLst>
          </p:nvPr>
        </p:nvGrpSpPr>
        <p:grpSpPr>
          <a:xfrm>
            <a:off x="2467556" y="2467146"/>
            <a:ext cx="3310932" cy="2524729"/>
            <a:chOff x="1111470" y="2107664"/>
            <a:chExt cx="4548351" cy="3468315"/>
          </a:xfrm>
        </p:grpSpPr>
        <p:cxnSp>
          <p:nvCxnSpPr>
            <p:cNvPr id="19" name="Straight Arrow Connector 18">
              <a:extLst>
                <a:ext uri="{FF2B5EF4-FFF2-40B4-BE49-F238E27FC236}">
                  <a16:creationId xmlns:a16="http://schemas.microsoft.com/office/drawing/2014/main" id="{30E78743-3C42-4DF7-8D0A-DABC07498CD2}"/>
                </a:ext>
              </a:extLst>
            </p:cNvPr>
            <p:cNvCxnSpPr>
              <a:cxnSpLocks/>
            </p:cNvCxnSpPr>
            <p:nvPr/>
          </p:nvCxnSpPr>
          <p:spPr>
            <a:xfrm flipH="1" flipV="1">
              <a:off x="3618187" y="2367795"/>
              <a:ext cx="2041634" cy="3208184"/>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7623D313-FC8F-4A92-B260-1C10A5000F2B}"/>
                </a:ext>
              </a:extLst>
            </p:cNvPr>
            <p:cNvSpPr/>
            <p:nvPr/>
          </p:nvSpPr>
          <p:spPr>
            <a:xfrm>
              <a:off x="1111470" y="2107664"/>
              <a:ext cx="2706978" cy="260131"/>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7"/>
            </p:custDataLst>
          </p:nvPr>
        </p:nvSpPr>
        <p:spPr/>
        <p:txBody>
          <a:bodyPr/>
          <a:lstStyle/>
          <a:p>
            <a:r>
              <a:rPr lang="en-US"/>
              <a:t>56</a:t>
            </a:r>
          </a:p>
        </p:txBody>
      </p:sp>
    </p:spTree>
    <p:custDataLst>
      <p:tags r:id="rId1"/>
    </p:custDataLst>
    <p:extLst>
      <p:ext uri="{BB962C8B-B14F-4D97-AF65-F5344CB8AC3E}">
        <p14:creationId xmlns:p14="http://schemas.microsoft.com/office/powerpoint/2010/main" val="22762498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10"/>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17" name="Thought Bubble: Cloud 16">
            <a:extLst>
              <a:ext uri="{FF2B5EF4-FFF2-40B4-BE49-F238E27FC236}">
                <a16:creationId xmlns:a16="http://schemas.microsoft.com/office/drawing/2014/main" id="{31D8512F-EBDF-43FD-9AD7-39AB55FBF77C}"/>
              </a:ext>
            </a:extLst>
          </p:cNvPr>
          <p:cNvSpPr/>
          <p:nvPr>
            <p:custDataLst>
              <p:tags r:id="rId4"/>
            </p:custDataLst>
          </p:nvPr>
        </p:nvSpPr>
        <p:spPr>
          <a:xfrm>
            <a:off x="5832497" y="3511449"/>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Who is the root CA ?</a:t>
            </a:r>
          </a:p>
        </p:txBody>
      </p:sp>
      <p:sp>
        <p:nvSpPr>
          <p:cNvPr id="63" name="Thought Bubble: Cloud 62">
            <a:extLst>
              <a:ext uri="{FF2B5EF4-FFF2-40B4-BE49-F238E27FC236}">
                <a16:creationId xmlns:a16="http://schemas.microsoft.com/office/drawing/2014/main" id="{ED221955-C38E-429B-AAFB-A94284743BD9}"/>
              </a:ext>
            </a:extLst>
          </p:cNvPr>
          <p:cNvSpPr/>
          <p:nvPr>
            <p:custDataLst>
              <p:tags r:id="rId5"/>
            </p:custDataLst>
          </p:nvPr>
        </p:nvSpPr>
        <p:spPr>
          <a:xfrm>
            <a:off x="5832497" y="3506036"/>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Okay. CA1 is in my trusted CA store.</a:t>
            </a:r>
          </a:p>
        </p:txBody>
      </p:sp>
      <p:grpSp>
        <p:nvGrpSpPr>
          <p:cNvPr id="40" name="Group 39">
            <a:extLst>
              <a:ext uri="{FF2B5EF4-FFF2-40B4-BE49-F238E27FC236}">
                <a16:creationId xmlns:a16="http://schemas.microsoft.com/office/drawing/2014/main" id="{19B7964A-435C-4A05-96A6-4BCE9BFA637C}"/>
              </a:ext>
            </a:extLst>
          </p:cNvPr>
          <p:cNvGrpSpPr/>
          <p:nvPr>
            <p:custDataLst>
              <p:tags r:id="rId6"/>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7"/>
            </p:custDataLst>
          </p:nvPr>
        </p:nvSpPr>
        <p:spPr/>
        <p:txBody>
          <a:bodyPr/>
          <a:lstStyle/>
          <a:p>
            <a:r>
              <a:rPr lang="en-US"/>
              <a:t>56</a:t>
            </a:r>
          </a:p>
        </p:txBody>
      </p:sp>
    </p:spTree>
    <p:custDataLst>
      <p:tags r:id="rId1"/>
    </p:custDataLst>
    <p:extLst>
      <p:ext uri="{BB962C8B-B14F-4D97-AF65-F5344CB8AC3E}">
        <p14:creationId xmlns:p14="http://schemas.microsoft.com/office/powerpoint/2010/main" val="40450829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11"/>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63" name="Thought Bubble: Cloud 62">
            <a:extLst>
              <a:ext uri="{FF2B5EF4-FFF2-40B4-BE49-F238E27FC236}">
                <a16:creationId xmlns:a16="http://schemas.microsoft.com/office/drawing/2014/main" id="{ED221955-C38E-429B-AAFB-A94284743BD9}"/>
              </a:ext>
            </a:extLst>
          </p:cNvPr>
          <p:cNvSpPr/>
          <p:nvPr>
            <p:custDataLst>
              <p:tags r:id="rId4"/>
            </p:custDataLst>
          </p:nvPr>
        </p:nvSpPr>
        <p:spPr>
          <a:xfrm>
            <a:off x="5832497" y="3506036"/>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Okay. CA1 is in my trusted CA store.</a:t>
            </a:r>
          </a:p>
        </p:txBody>
      </p:sp>
      <p:grpSp>
        <p:nvGrpSpPr>
          <p:cNvPr id="40" name="Group 39">
            <a:extLst>
              <a:ext uri="{FF2B5EF4-FFF2-40B4-BE49-F238E27FC236}">
                <a16:creationId xmlns:a16="http://schemas.microsoft.com/office/drawing/2014/main" id="{19B7964A-435C-4A05-96A6-4BCE9BFA637C}"/>
              </a:ext>
            </a:extLst>
          </p:cNvPr>
          <p:cNvGrpSpPr/>
          <p:nvPr>
            <p:custDataLst>
              <p:tags r:id="rId5"/>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4D68BE57-C373-4EDC-800E-FF14DD7B3803}"/>
              </a:ext>
            </a:extLst>
          </p:cNvPr>
          <p:cNvGrpSpPr/>
          <p:nvPr>
            <p:custDataLst>
              <p:tags r:id="rId6"/>
            </p:custDataLst>
          </p:nvPr>
        </p:nvGrpSpPr>
        <p:grpSpPr>
          <a:xfrm>
            <a:off x="2503027" y="2927969"/>
            <a:ext cx="1970521" cy="752427"/>
            <a:chOff x="1111470" y="2107664"/>
            <a:chExt cx="2706978" cy="1033637"/>
          </a:xfrm>
        </p:grpSpPr>
        <p:sp>
          <p:nvSpPr>
            <p:cNvPr id="66" name="Rectangle 65">
              <a:extLst>
                <a:ext uri="{FF2B5EF4-FFF2-40B4-BE49-F238E27FC236}">
                  <a16:creationId xmlns:a16="http://schemas.microsoft.com/office/drawing/2014/main" id="{54707E70-1514-4B11-9618-0EBCEAF0D390}"/>
                </a:ext>
              </a:extLst>
            </p:cNvPr>
            <p:cNvSpPr/>
            <p:nvPr/>
          </p:nvSpPr>
          <p:spPr>
            <a:xfrm>
              <a:off x="1111470" y="2107664"/>
              <a:ext cx="2706978" cy="260131"/>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cxnSp>
          <p:nvCxnSpPr>
            <p:cNvPr id="67" name="Straight Arrow Connector 66">
              <a:extLst>
                <a:ext uri="{FF2B5EF4-FFF2-40B4-BE49-F238E27FC236}">
                  <a16:creationId xmlns:a16="http://schemas.microsoft.com/office/drawing/2014/main" id="{28A58FF2-7D8D-4A98-99C7-3EB8B6D18B30}"/>
                </a:ext>
              </a:extLst>
            </p:cNvPr>
            <p:cNvCxnSpPr>
              <a:cxnSpLocks/>
            </p:cNvCxnSpPr>
            <p:nvPr/>
          </p:nvCxnSpPr>
          <p:spPr>
            <a:xfrm flipV="1">
              <a:off x="3804808" y="2367795"/>
              <a:ext cx="1" cy="773506"/>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73" name="Group 72">
            <a:extLst>
              <a:ext uri="{FF2B5EF4-FFF2-40B4-BE49-F238E27FC236}">
                <a16:creationId xmlns:a16="http://schemas.microsoft.com/office/drawing/2014/main" id="{56AD18E8-E505-4AF4-9E4E-CBEA809E010A}"/>
              </a:ext>
            </a:extLst>
          </p:cNvPr>
          <p:cNvGrpSpPr/>
          <p:nvPr>
            <p:custDataLst>
              <p:tags r:id="rId7"/>
            </p:custDataLst>
          </p:nvPr>
        </p:nvGrpSpPr>
        <p:grpSpPr>
          <a:xfrm>
            <a:off x="4686934" y="3080114"/>
            <a:ext cx="2419553" cy="648167"/>
            <a:chOff x="494618" y="2107664"/>
            <a:chExt cx="3323830" cy="890411"/>
          </a:xfrm>
        </p:grpSpPr>
        <p:sp>
          <p:nvSpPr>
            <p:cNvPr id="74" name="Rectangle 73">
              <a:extLst>
                <a:ext uri="{FF2B5EF4-FFF2-40B4-BE49-F238E27FC236}">
                  <a16:creationId xmlns:a16="http://schemas.microsoft.com/office/drawing/2014/main" id="{692F2DE7-F016-4579-87C4-8A7A5A9ED300}"/>
                </a:ext>
              </a:extLst>
            </p:cNvPr>
            <p:cNvSpPr/>
            <p:nvPr/>
          </p:nvSpPr>
          <p:spPr>
            <a:xfrm>
              <a:off x="1111470" y="2107664"/>
              <a:ext cx="2706978" cy="260131"/>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cxnSp>
          <p:nvCxnSpPr>
            <p:cNvPr id="75" name="Straight Arrow Connector 74">
              <a:extLst>
                <a:ext uri="{FF2B5EF4-FFF2-40B4-BE49-F238E27FC236}">
                  <a16:creationId xmlns:a16="http://schemas.microsoft.com/office/drawing/2014/main" id="{C8567364-3363-4D94-B1B4-064C9B2AF37D}"/>
                </a:ext>
              </a:extLst>
            </p:cNvPr>
            <p:cNvCxnSpPr>
              <a:cxnSpLocks/>
            </p:cNvCxnSpPr>
            <p:nvPr/>
          </p:nvCxnSpPr>
          <p:spPr>
            <a:xfrm flipV="1">
              <a:off x="494618" y="2367795"/>
              <a:ext cx="603214" cy="630280"/>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8"/>
            </p:custDataLst>
          </p:nvPr>
        </p:nvSpPr>
        <p:spPr/>
        <p:txBody>
          <a:bodyPr/>
          <a:lstStyle/>
          <a:p>
            <a:r>
              <a:rPr lang="en-US"/>
              <a:t>56</a:t>
            </a:r>
          </a:p>
        </p:txBody>
      </p:sp>
    </p:spTree>
    <p:custDataLst>
      <p:tags r:id="rId1"/>
    </p:custDataLst>
    <p:extLst>
      <p:ext uri="{BB962C8B-B14F-4D97-AF65-F5344CB8AC3E}">
        <p14:creationId xmlns:p14="http://schemas.microsoft.com/office/powerpoint/2010/main" val="32443688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12"/>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63" name="Thought Bubble: Cloud 62">
            <a:extLst>
              <a:ext uri="{FF2B5EF4-FFF2-40B4-BE49-F238E27FC236}">
                <a16:creationId xmlns:a16="http://schemas.microsoft.com/office/drawing/2014/main" id="{ED221955-C38E-429B-AAFB-A94284743BD9}"/>
              </a:ext>
            </a:extLst>
          </p:cNvPr>
          <p:cNvSpPr/>
          <p:nvPr>
            <p:custDataLst>
              <p:tags r:id="rId4"/>
            </p:custDataLst>
          </p:nvPr>
        </p:nvSpPr>
        <p:spPr>
          <a:xfrm>
            <a:off x="5832497" y="3506036"/>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Okay. CA1 is in my trusted CA store.</a:t>
            </a:r>
          </a:p>
        </p:txBody>
      </p:sp>
      <p:pic>
        <p:nvPicPr>
          <p:cNvPr id="32" name="Graphic 31" descr="Thumbs up sign">
            <a:extLst>
              <a:ext uri="{FF2B5EF4-FFF2-40B4-BE49-F238E27FC236}">
                <a16:creationId xmlns:a16="http://schemas.microsoft.com/office/drawing/2014/main" id="{D576A36B-DFE2-42BE-B13A-8321755F86D0}"/>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304865" y="3705544"/>
            <a:ext cx="382403" cy="382403"/>
          </a:xfrm>
          <a:prstGeom prst="rect">
            <a:avLst/>
          </a:prstGeom>
        </p:spPr>
      </p:pic>
      <p:grpSp>
        <p:nvGrpSpPr>
          <p:cNvPr id="40" name="Group 39">
            <a:extLst>
              <a:ext uri="{FF2B5EF4-FFF2-40B4-BE49-F238E27FC236}">
                <a16:creationId xmlns:a16="http://schemas.microsoft.com/office/drawing/2014/main" id="{19B7964A-435C-4A05-96A6-4BCE9BFA637C}"/>
              </a:ext>
            </a:extLst>
          </p:cNvPr>
          <p:cNvGrpSpPr/>
          <p:nvPr>
            <p:custDataLst>
              <p:tags r:id="rId6"/>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4D68BE57-C373-4EDC-800E-FF14DD7B3803}"/>
              </a:ext>
            </a:extLst>
          </p:cNvPr>
          <p:cNvGrpSpPr/>
          <p:nvPr>
            <p:custDataLst>
              <p:tags r:id="rId7"/>
            </p:custDataLst>
          </p:nvPr>
        </p:nvGrpSpPr>
        <p:grpSpPr>
          <a:xfrm>
            <a:off x="2503027" y="2927969"/>
            <a:ext cx="1970521" cy="752427"/>
            <a:chOff x="1111470" y="2107664"/>
            <a:chExt cx="2706978" cy="1033637"/>
          </a:xfrm>
        </p:grpSpPr>
        <p:sp>
          <p:nvSpPr>
            <p:cNvPr id="66" name="Rectangle 65">
              <a:extLst>
                <a:ext uri="{FF2B5EF4-FFF2-40B4-BE49-F238E27FC236}">
                  <a16:creationId xmlns:a16="http://schemas.microsoft.com/office/drawing/2014/main" id="{54707E70-1514-4B11-9618-0EBCEAF0D390}"/>
                </a:ext>
              </a:extLst>
            </p:cNvPr>
            <p:cNvSpPr/>
            <p:nvPr/>
          </p:nvSpPr>
          <p:spPr>
            <a:xfrm>
              <a:off x="1111470" y="2107664"/>
              <a:ext cx="2706978" cy="260131"/>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dirty="0"/>
            </a:p>
          </p:txBody>
        </p:sp>
        <p:cxnSp>
          <p:nvCxnSpPr>
            <p:cNvPr id="67" name="Straight Arrow Connector 66">
              <a:extLst>
                <a:ext uri="{FF2B5EF4-FFF2-40B4-BE49-F238E27FC236}">
                  <a16:creationId xmlns:a16="http://schemas.microsoft.com/office/drawing/2014/main" id="{28A58FF2-7D8D-4A98-99C7-3EB8B6D18B30}"/>
                </a:ext>
              </a:extLst>
            </p:cNvPr>
            <p:cNvCxnSpPr>
              <a:cxnSpLocks/>
            </p:cNvCxnSpPr>
            <p:nvPr/>
          </p:nvCxnSpPr>
          <p:spPr>
            <a:xfrm flipV="1">
              <a:off x="3804808" y="2367795"/>
              <a:ext cx="1" cy="773506"/>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73" name="Group 72">
            <a:extLst>
              <a:ext uri="{FF2B5EF4-FFF2-40B4-BE49-F238E27FC236}">
                <a16:creationId xmlns:a16="http://schemas.microsoft.com/office/drawing/2014/main" id="{56AD18E8-E505-4AF4-9E4E-CBEA809E010A}"/>
              </a:ext>
            </a:extLst>
          </p:cNvPr>
          <p:cNvGrpSpPr/>
          <p:nvPr>
            <p:custDataLst>
              <p:tags r:id="rId8"/>
            </p:custDataLst>
          </p:nvPr>
        </p:nvGrpSpPr>
        <p:grpSpPr>
          <a:xfrm>
            <a:off x="4686934" y="3080114"/>
            <a:ext cx="2419553" cy="648167"/>
            <a:chOff x="494618" y="2107664"/>
            <a:chExt cx="3323830" cy="890411"/>
          </a:xfrm>
        </p:grpSpPr>
        <p:sp>
          <p:nvSpPr>
            <p:cNvPr id="74" name="Rectangle 73">
              <a:extLst>
                <a:ext uri="{FF2B5EF4-FFF2-40B4-BE49-F238E27FC236}">
                  <a16:creationId xmlns:a16="http://schemas.microsoft.com/office/drawing/2014/main" id="{692F2DE7-F016-4579-87C4-8A7A5A9ED300}"/>
                </a:ext>
              </a:extLst>
            </p:cNvPr>
            <p:cNvSpPr/>
            <p:nvPr/>
          </p:nvSpPr>
          <p:spPr>
            <a:xfrm>
              <a:off x="1111470" y="2107664"/>
              <a:ext cx="2706978" cy="260131"/>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cxnSp>
          <p:nvCxnSpPr>
            <p:cNvPr id="75" name="Straight Arrow Connector 74">
              <a:extLst>
                <a:ext uri="{FF2B5EF4-FFF2-40B4-BE49-F238E27FC236}">
                  <a16:creationId xmlns:a16="http://schemas.microsoft.com/office/drawing/2014/main" id="{C8567364-3363-4D94-B1B4-064C9B2AF37D}"/>
                </a:ext>
              </a:extLst>
            </p:cNvPr>
            <p:cNvCxnSpPr>
              <a:cxnSpLocks/>
            </p:cNvCxnSpPr>
            <p:nvPr/>
          </p:nvCxnSpPr>
          <p:spPr>
            <a:xfrm flipV="1">
              <a:off x="494618" y="2367795"/>
              <a:ext cx="603214" cy="630280"/>
            </a:xfrm>
            <a:prstGeom prst="straightConnector1">
              <a:avLst/>
            </a:prstGeom>
            <a:ln w="38100">
              <a:headEnd type="triangle" w="med" len="med"/>
              <a:tailEnd type="none" w="med" len="med"/>
            </a:ln>
          </p:spPr>
          <p:style>
            <a:lnRef idx="1">
              <a:schemeClr val="dk1"/>
            </a:lnRef>
            <a:fillRef idx="0">
              <a:schemeClr val="dk1"/>
            </a:fillRef>
            <a:effectRef idx="0">
              <a:schemeClr val="dk1"/>
            </a:effectRef>
            <a:fontRef idx="minor">
              <a:schemeClr val="tx1"/>
            </a:fontRef>
          </p:style>
        </p:cxnSp>
      </p:grpSp>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9"/>
            </p:custDataLst>
          </p:nvPr>
        </p:nvSpPr>
        <p:spPr/>
        <p:txBody>
          <a:bodyPr/>
          <a:lstStyle/>
          <a:p>
            <a:r>
              <a:rPr lang="en-US"/>
              <a:t>56</a:t>
            </a:r>
          </a:p>
        </p:txBody>
      </p:sp>
    </p:spTree>
    <p:custDataLst>
      <p:tags r:id="rId1"/>
    </p:custDataLst>
    <p:extLst>
      <p:ext uri="{BB962C8B-B14F-4D97-AF65-F5344CB8AC3E}">
        <p14:creationId xmlns:p14="http://schemas.microsoft.com/office/powerpoint/2010/main" val="24766395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5278A58-4EE9-457D-BE4D-3A16A34FFEB3}"/>
              </a:ext>
            </a:extLst>
          </p:cNvPr>
          <p:cNvSpPr txBox="1">
            <a:spLocks/>
          </p:cNvSpPr>
          <p:nvPr>
            <p:custDataLst>
              <p:tags r:id="rId2"/>
            </p:custDataLst>
          </p:nvPr>
        </p:nvSpPr>
        <p:spPr>
          <a:xfrm>
            <a:off x="0" y="978152"/>
            <a:ext cx="12192000" cy="932412"/>
          </a:xfrm>
          <a:prstGeom prst="rect">
            <a:avLst/>
          </a:prstGeom>
          <a:solidFill>
            <a:srgbClr val="C00000"/>
          </a:solidFill>
          <a:ln>
            <a:noFill/>
          </a:ln>
        </p:spPr>
        <p:txBody>
          <a:bodyPr vert="horz" lIns="66563" tIns="33281" rIns="66563" bIns="33281"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chemeClr val="bg1"/>
                </a:solidFill>
                <a:effectLst>
                  <a:outerShdw blurRad="38100" dist="38100" dir="2700000" algn="tl">
                    <a:srgbClr val="000000">
                      <a:alpha val="43137"/>
                    </a:srgbClr>
                  </a:outerShdw>
                </a:effectLst>
                <a:latin typeface="Avenir Next" panose="020B0503020202020204" pitchFamily="34" charset="0"/>
                <a:cs typeface="Calibri Light"/>
              </a:rPr>
              <a:t>How does client trust a server certificate ?</a:t>
            </a:r>
          </a:p>
        </p:txBody>
      </p:sp>
      <p:grpSp>
        <p:nvGrpSpPr>
          <p:cNvPr id="4" name="Group 3">
            <a:extLst>
              <a:ext uri="{FF2B5EF4-FFF2-40B4-BE49-F238E27FC236}">
                <a16:creationId xmlns:a16="http://schemas.microsoft.com/office/drawing/2014/main" id="{611A4A6F-EDE3-4A48-B3D4-8423F15696DC}"/>
              </a:ext>
            </a:extLst>
          </p:cNvPr>
          <p:cNvGrpSpPr/>
          <p:nvPr>
            <p:custDataLst>
              <p:tags r:id="rId3"/>
            </p:custDataLst>
          </p:nvPr>
        </p:nvGrpSpPr>
        <p:grpSpPr>
          <a:xfrm>
            <a:off x="5685010" y="4724466"/>
            <a:ext cx="999209" cy="1079584"/>
            <a:chOff x="5584228" y="4975992"/>
            <a:chExt cx="631953" cy="940415"/>
          </a:xfrm>
        </p:grpSpPr>
        <p:pic>
          <p:nvPicPr>
            <p:cNvPr id="111" name="Picture 110" descr="A picture containing photo, sitting, monitor, table&#10;&#10;Description generated with very high confidence">
              <a:extLst>
                <a:ext uri="{FF2B5EF4-FFF2-40B4-BE49-F238E27FC236}">
                  <a16:creationId xmlns:a16="http://schemas.microsoft.com/office/drawing/2014/main" id="{D531567C-B09E-40F1-A12A-93CFD83F40BE}"/>
                </a:ext>
              </a:extLst>
            </p:cNvPr>
            <p:cNvPicPr>
              <a:picLocks noChangeAspect="1"/>
            </p:cNvPicPr>
            <p:nvPr/>
          </p:nvPicPr>
          <p:blipFill>
            <a:blip r:embed="rId10"/>
            <a:stretch>
              <a:fillRect/>
            </a:stretch>
          </p:blipFill>
          <p:spPr>
            <a:xfrm>
              <a:off x="5584228" y="5223827"/>
              <a:ext cx="631953" cy="692580"/>
            </a:xfrm>
            <a:prstGeom prst="rect">
              <a:avLst/>
            </a:prstGeom>
          </p:spPr>
        </p:pic>
        <p:sp>
          <p:nvSpPr>
            <p:cNvPr id="120" name="TextBox 119">
              <a:extLst>
                <a:ext uri="{FF2B5EF4-FFF2-40B4-BE49-F238E27FC236}">
                  <a16:creationId xmlns:a16="http://schemas.microsoft.com/office/drawing/2014/main" id="{7092AB96-7B30-4AA5-896D-FB9F2528227F}"/>
                </a:ext>
              </a:extLst>
            </p:cNvPr>
            <p:cNvSpPr txBox="1"/>
            <p:nvPr/>
          </p:nvSpPr>
          <p:spPr>
            <a:xfrm>
              <a:off x="5678216" y="4975992"/>
              <a:ext cx="371303" cy="256037"/>
            </a:xfrm>
            <a:prstGeom prst="rect">
              <a:avLst/>
            </a:prstGeom>
            <a:noFill/>
          </p:spPr>
          <p:txBody>
            <a:bodyPr wrap="none" rtlCol="0">
              <a:spAutoFit/>
            </a:bodyPr>
            <a:lstStyle/>
            <a:p>
              <a:r>
                <a:rPr lang="en-US" sz="1310" b="1" dirty="0">
                  <a:effectLst>
                    <a:outerShdw blurRad="38100" dist="38100" dir="2700000" algn="tl">
                      <a:srgbClr val="000000">
                        <a:alpha val="43137"/>
                      </a:srgbClr>
                    </a:outerShdw>
                  </a:effectLst>
                </a:rPr>
                <a:t>Client</a:t>
              </a:r>
            </a:p>
          </p:txBody>
        </p:sp>
      </p:grpSp>
      <p:sp>
        <p:nvSpPr>
          <p:cNvPr id="80" name="Thought Bubble: Cloud 79">
            <a:extLst>
              <a:ext uri="{FF2B5EF4-FFF2-40B4-BE49-F238E27FC236}">
                <a16:creationId xmlns:a16="http://schemas.microsoft.com/office/drawing/2014/main" id="{F9D642DB-7996-460A-9FF9-8E47C7605EB6}"/>
              </a:ext>
            </a:extLst>
          </p:cNvPr>
          <p:cNvSpPr/>
          <p:nvPr>
            <p:custDataLst>
              <p:tags r:id="rId4"/>
            </p:custDataLst>
          </p:nvPr>
        </p:nvSpPr>
        <p:spPr>
          <a:xfrm>
            <a:off x="5832497" y="3495789"/>
            <a:ext cx="3204214" cy="1357771"/>
          </a:xfrm>
          <a:prstGeom prst="cloudCallou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10" b="1" dirty="0">
                <a:solidFill>
                  <a:schemeClr val="tx1"/>
                </a:solidFill>
              </a:rPr>
              <a:t>Looks okay. I trust the server certificate.</a:t>
            </a:r>
          </a:p>
        </p:txBody>
      </p:sp>
      <p:grpSp>
        <p:nvGrpSpPr>
          <p:cNvPr id="40" name="Group 39">
            <a:extLst>
              <a:ext uri="{FF2B5EF4-FFF2-40B4-BE49-F238E27FC236}">
                <a16:creationId xmlns:a16="http://schemas.microsoft.com/office/drawing/2014/main" id="{19B7964A-435C-4A05-96A6-4BCE9BFA637C}"/>
              </a:ext>
            </a:extLst>
          </p:cNvPr>
          <p:cNvGrpSpPr/>
          <p:nvPr>
            <p:custDataLst>
              <p:tags r:id="rId5"/>
            </p:custDataLst>
          </p:nvPr>
        </p:nvGrpSpPr>
        <p:grpSpPr>
          <a:xfrm>
            <a:off x="2658931" y="2318452"/>
            <a:ext cx="4208406" cy="1092904"/>
            <a:chOff x="1374369" y="1903399"/>
            <a:chExt cx="5781245" cy="1501362"/>
          </a:xfrm>
        </p:grpSpPr>
        <p:grpSp>
          <p:nvGrpSpPr>
            <p:cNvPr id="21" name="Group 20">
              <a:extLst>
                <a:ext uri="{FF2B5EF4-FFF2-40B4-BE49-F238E27FC236}">
                  <a16:creationId xmlns:a16="http://schemas.microsoft.com/office/drawing/2014/main" id="{2A9291AB-2CB8-417C-ADF5-8B7DD15EBEDC}"/>
                </a:ext>
              </a:extLst>
            </p:cNvPr>
            <p:cNvGrpSpPr/>
            <p:nvPr/>
          </p:nvGrpSpPr>
          <p:grpSpPr>
            <a:xfrm>
              <a:off x="1374369" y="1903399"/>
              <a:ext cx="5781245" cy="1501362"/>
              <a:chOff x="1366486" y="1927638"/>
              <a:chExt cx="5781245" cy="1501362"/>
            </a:xfrm>
          </p:grpSpPr>
          <p:sp>
            <p:nvSpPr>
              <p:cNvPr id="44" name="Rectangle 43">
                <a:extLst>
                  <a:ext uri="{FF2B5EF4-FFF2-40B4-BE49-F238E27FC236}">
                    <a16:creationId xmlns:a16="http://schemas.microsoft.com/office/drawing/2014/main" id="{3C37FB3D-0920-4281-B5F3-2E3E9B97857F}"/>
                  </a:ext>
                </a:extLst>
              </p:cNvPr>
              <p:cNvSpPr/>
              <p:nvPr/>
            </p:nvSpPr>
            <p:spPr>
              <a:xfrm>
                <a:off x="5044268" y="1927638"/>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www.g.com </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3/13/20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sp>
            <p:nvSpPr>
              <p:cNvPr id="46" name="Rectangle 45">
                <a:extLst>
                  <a:ext uri="{FF2B5EF4-FFF2-40B4-BE49-F238E27FC236}">
                    <a16:creationId xmlns:a16="http://schemas.microsoft.com/office/drawing/2014/main" id="{8E71B908-9ADA-49DB-801E-D12A303F28A6}"/>
                  </a:ext>
                </a:extLst>
              </p:cNvPr>
              <p:cNvSpPr/>
              <p:nvPr/>
            </p:nvSpPr>
            <p:spPr>
              <a:xfrm>
                <a:off x="1366486" y="1930967"/>
                <a:ext cx="2103463" cy="1498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19" b="1" dirty="0">
                    <a:solidFill>
                      <a:schemeClr val="tx1"/>
                    </a:solidFill>
                  </a:rPr>
                  <a:t>Subject:    CA1</a:t>
                </a:r>
              </a:p>
              <a:p>
                <a:r>
                  <a:rPr lang="en-US" sz="1019" b="1" dirty="0">
                    <a:solidFill>
                      <a:schemeClr val="tx1"/>
                    </a:solidFill>
                  </a:rPr>
                  <a:t>Issuer :     CA1</a:t>
                </a:r>
              </a:p>
              <a:p>
                <a:r>
                  <a:rPr lang="en-US" sz="1019" b="1" dirty="0" err="1">
                    <a:solidFill>
                      <a:schemeClr val="tx1"/>
                    </a:solidFill>
                  </a:rPr>
                  <a:t>ValidTo</a:t>
                </a:r>
                <a:r>
                  <a:rPr lang="en-US" sz="1019" b="1" dirty="0">
                    <a:solidFill>
                      <a:schemeClr val="tx1"/>
                    </a:solidFill>
                  </a:rPr>
                  <a:t> :    3/13/40</a:t>
                </a:r>
              </a:p>
              <a:p>
                <a:r>
                  <a:rPr lang="en-US" sz="1019" b="1" dirty="0" err="1">
                    <a:solidFill>
                      <a:schemeClr val="tx1"/>
                    </a:solidFill>
                  </a:rPr>
                  <a:t>PublicKey</a:t>
                </a:r>
                <a:r>
                  <a:rPr lang="en-US" sz="1019" b="1" dirty="0">
                    <a:solidFill>
                      <a:schemeClr val="tx1"/>
                    </a:solidFill>
                  </a:rPr>
                  <a:t> :    @@@@</a:t>
                </a:r>
              </a:p>
              <a:p>
                <a:r>
                  <a:rPr lang="en-US" sz="1019" b="1" dirty="0">
                    <a:solidFill>
                      <a:schemeClr val="tx1"/>
                    </a:solidFill>
                  </a:rPr>
                  <a:t>Signature :    #$!(#$</a:t>
                </a:r>
              </a:p>
            </p:txBody>
          </p:sp>
        </p:grpSp>
        <p:cxnSp>
          <p:nvCxnSpPr>
            <p:cNvPr id="37" name="Connector: Elbow 36">
              <a:extLst>
                <a:ext uri="{FF2B5EF4-FFF2-40B4-BE49-F238E27FC236}">
                  <a16:creationId xmlns:a16="http://schemas.microsoft.com/office/drawing/2014/main" id="{3E4B7F3E-BB76-470F-9C7D-140FFB9D188D}"/>
                </a:ext>
              </a:extLst>
            </p:cNvPr>
            <p:cNvCxnSpPr>
              <a:cxnSpLocks/>
              <a:stCxn id="46" idx="0"/>
              <a:endCxn id="44" idx="0"/>
            </p:cNvCxnSpPr>
            <p:nvPr/>
          </p:nvCxnSpPr>
          <p:spPr>
            <a:xfrm rot="5400000" flipH="1" flipV="1">
              <a:off x="4263328" y="66173"/>
              <a:ext cx="3329" cy="3677782"/>
            </a:xfrm>
            <a:prstGeom prst="bentConnector3">
              <a:avLst>
                <a:gd name="adj1" fmla="val 10755572"/>
              </a:avLst>
            </a:prstGeom>
            <a:ln w="28575"/>
          </p:spPr>
          <p:style>
            <a:lnRef idx="1">
              <a:schemeClr val="accent1"/>
            </a:lnRef>
            <a:fillRef idx="0">
              <a:schemeClr val="accent1"/>
            </a:fillRef>
            <a:effectRef idx="0">
              <a:schemeClr val="accent1"/>
            </a:effectRef>
            <a:fontRef idx="minor">
              <a:schemeClr val="tx1"/>
            </a:fontRef>
          </p:style>
        </p:cxnSp>
      </p:grpSp>
      <p:pic>
        <p:nvPicPr>
          <p:cNvPr id="42" name="Graphic 41" descr="Checkmark">
            <a:extLst>
              <a:ext uri="{FF2B5EF4-FFF2-40B4-BE49-F238E27FC236}">
                <a16:creationId xmlns:a16="http://schemas.microsoft.com/office/drawing/2014/main" id="{32D0A33D-4B28-45FE-8F94-876B03262528}"/>
              </a:ext>
            </a:extLst>
          </p:cNvPr>
          <p:cNvPicPr>
            <a:picLocks noChangeAspect="1"/>
          </p:cNvPicPr>
          <p:nvPr>
            <p:custDataLst>
              <p:tags r:id="rId6"/>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80956" y="2396371"/>
            <a:ext cx="452386" cy="452386"/>
          </a:xfrm>
          <a:prstGeom prst="rect">
            <a:avLst/>
          </a:prstGeom>
        </p:spPr>
      </p:pic>
      <p:sp>
        <p:nvSpPr>
          <p:cNvPr id="2" name="Slide Number Placeholder 1">
            <a:extLst>
              <a:ext uri="{FF2B5EF4-FFF2-40B4-BE49-F238E27FC236}">
                <a16:creationId xmlns:a16="http://schemas.microsoft.com/office/drawing/2014/main" id="{272ECCB0-121C-494F-8DE1-F13E9C3CE501}"/>
              </a:ext>
            </a:extLst>
          </p:cNvPr>
          <p:cNvSpPr>
            <a:spLocks noGrp="1"/>
          </p:cNvSpPr>
          <p:nvPr>
            <p:ph type="sldNum" sz="quarter" idx="12"/>
            <p:custDataLst>
              <p:tags r:id="rId7"/>
            </p:custDataLst>
          </p:nvPr>
        </p:nvSpPr>
        <p:spPr/>
        <p:txBody>
          <a:bodyPr/>
          <a:lstStyle/>
          <a:p>
            <a:r>
              <a:rPr lang="en-US"/>
              <a:t>56</a:t>
            </a:r>
          </a:p>
        </p:txBody>
      </p:sp>
    </p:spTree>
    <p:custDataLst>
      <p:tags r:id="rId1"/>
    </p:custDataLst>
    <p:extLst>
      <p:ext uri="{BB962C8B-B14F-4D97-AF65-F5344CB8AC3E}">
        <p14:creationId xmlns:p14="http://schemas.microsoft.com/office/powerpoint/2010/main" val="20152500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nvSpPr>
        <p:spPr>
          <a:xfrm>
            <a:off x="0" y="2346475"/>
            <a:ext cx="12191999" cy="26678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the attacker bypass this CA trust model?</a:t>
            </a:r>
          </a:p>
        </p:txBody>
      </p:sp>
    </p:spTree>
    <p:custDataLst>
      <p:tags r:id="rId1"/>
    </p:custDataLst>
    <p:extLst>
      <p:ext uri="{BB962C8B-B14F-4D97-AF65-F5344CB8AC3E}">
        <p14:creationId xmlns:p14="http://schemas.microsoft.com/office/powerpoint/2010/main" val="18839093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nvSpPr>
        <p:spPr>
          <a:xfrm>
            <a:off x="0" y="2346475"/>
            <a:ext cx="12191999" cy="262129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Attacker can send a fake certificate to the client </a:t>
            </a:r>
          </a:p>
          <a:p>
            <a:pPr algn="ctr"/>
            <a:r>
              <a:rPr lang="en-US" sz="40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signed by client’s trusted CA </a:t>
            </a:r>
          </a:p>
        </p:txBody>
      </p:sp>
    </p:spTree>
    <p:custDataLst>
      <p:tags r:id="rId1"/>
    </p:custDataLst>
    <p:extLst>
      <p:ext uri="{BB962C8B-B14F-4D97-AF65-F5344CB8AC3E}">
        <p14:creationId xmlns:p14="http://schemas.microsoft.com/office/powerpoint/2010/main" val="29130408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nvSpPr>
        <p:spPr>
          <a:xfrm>
            <a:off x="0" y="2346475"/>
            <a:ext cx="12191999" cy="26678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But, it’s difficult to compromise a trusted CA</a:t>
            </a:r>
          </a:p>
        </p:txBody>
      </p:sp>
      <p:sp>
        <p:nvSpPr>
          <p:cNvPr id="2" name="Slide Number Placeholder 1">
            <a:extLst>
              <a:ext uri="{FF2B5EF4-FFF2-40B4-BE49-F238E27FC236}">
                <a16:creationId xmlns:a16="http://schemas.microsoft.com/office/drawing/2014/main" id="{AB5C9538-098D-394A-9F03-9DFFA4A2CD94}"/>
              </a:ext>
            </a:extLst>
          </p:cNvPr>
          <p:cNvSpPr>
            <a:spLocks noGrp="1"/>
          </p:cNvSpPr>
          <p:nvPr>
            <p:ph type="sldNum" sz="quarter" idx="12"/>
          </p:nvPr>
        </p:nvSpPr>
        <p:spPr/>
        <p:txBody>
          <a:bodyPr/>
          <a:lstStyle/>
          <a:p>
            <a:r>
              <a:rPr lang="en-US"/>
              <a:t>59</a:t>
            </a:r>
          </a:p>
        </p:txBody>
      </p:sp>
    </p:spTree>
    <p:custDataLst>
      <p:tags r:id="rId1"/>
    </p:custDataLst>
    <p:extLst>
      <p:ext uri="{BB962C8B-B14F-4D97-AF65-F5344CB8AC3E}">
        <p14:creationId xmlns:p14="http://schemas.microsoft.com/office/powerpoint/2010/main" val="24451410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nvSpPr>
        <p:spPr>
          <a:xfrm>
            <a:off x="0" y="2346475"/>
            <a:ext cx="12191999" cy="266784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Alternatively, attacker may install its own root CA certificate to clients trusted store</a:t>
            </a:r>
          </a:p>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and</a:t>
            </a:r>
          </a:p>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send a self-signed certificate to client</a:t>
            </a:r>
          </a:p>
        </p:txBody>
      </p:sp>
    </p:spTree>
    <p:custDataLst>
      <p:tags r:id="rId1"/>
    </p:custDataLst>
    <p:extLst>
      <p:ext uri="{BB962C8B-B14F-4D97-AF65-F5344CB8AC3E}">
        <p14:creationId xmlns:p14="http://schemas.microsoft.com/office/powerpoint/2010/main" val="20442112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custDataLst>
              <p:tags r:id="rId2"/>
            </p:custDataLst>
          </p:nvPr>
        </p:nvSpPr>
        <p:spPr>
          <a:xfrm>
            <a:off x="0" y="622852"/>
            <a:ext cx="12191999" cy="4744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attacker install its own root certificate to client’s trusted CA store ?</a:t>
            </a:r>
          </a:p>
          <a:p>
            <a:pPr algn="ctr"/>
            <a:endPar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endParaRP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Using Malware</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Users are the weakest link</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Organizational/corporate system</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Other software (Antivirus, parental-control, etc.)</a:t>
            </a:r>
          </a:p>
        </p:txBody>
      </p:sp>
    </p:spTree>
    <p:custDataLst>
      <p:tags r:id="rId1"/>
    </p:custDataLst>
    <p:extLst>
      <p:ext uri="{BB962C8B-B14F-4D97-AF65-F5344CB8AC3E}">
        <p14:creationId xmlns:p14="http://schemas.microsoft.com/office/powerpoint/2010/main" val="37483678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custDataLst>
              <p:tags r:id="rId2"/>
            </p:custDataLst>
          </p:nvPr>
        </p:nvSpPr>
        <p:spPr>
          <a:xfrm>
            <a:off x="0" y="622852"/>
            <a:ext cx="12191999" cy="4744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attacker install its own root certificate to client’s trusted CA store ?</a:t>
            </a:r>
          </a:p>
          <a:p>
            <a:pPr algn="ctr"/>
            <a:endPar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endParaRP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Using Malware</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Users are the weakest link</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Organizational/corporate system</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Other software (Antivirus, parental-control, etc.)</a:t>
            </a:r>
          </a:p>
        </p:txBody>
      </p:sp>
    </p:spTree>
    <p:custDataLst>
      <p:tags r:id="rId1"/>
    </p:custDataLst>
    <p:extLst>
      <p:ext uri="{BB962C8B-B14F-4D97-AF65-F5344CB8AC3E}">
        <p14:creationId xmlns:p14="http://schemas.microsoft.com/office/powerpoint/2010/main" val="33846391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custDataLst>
              <p:tags r:id="rId2"/>
            </p:custDataLst>
          </p:nvPr>
        </p:nvSpPr>
        <p:spPr>
          <a:xfrm>
            <a:off x="0" y="622852"/>
            <a:ext cx="12191999" cy="4744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attacker install its own root certificate to client’s trusted CA store ?</a:t>
            </a:r>
          </a:p>
          <a:p>
            <a:pPr algn="ctr"/>
            <a:endPar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endParaRP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Using Malware</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Users are the weakest link</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Organizational/corporate system</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Other software (Antivirus, parental-control, etc.)</a:t>
            </a:r>
          </a:p>
        </p:txBody>
      </p:sp>
    </p:spTree>
    <p:custDataLst>
      <p:tags r:id="rId1"/>
    </p:custDataLst>
    <p:extLst>
      <p:ext uri="{BB962C8B-B14F-4D97-AF65-F5344CB8AC3E}">
        <p14:creationId xmlns:p14="http://schemas.microsoft.com/office/powerpoint/2010/main" val="24482135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custDataLst>
              <p:tags r:id="rId2"/>
            </p:custDataLst>
          </p:nvPr>
        </p:nvSpPr>
        <p:spPr>
          <a:xfrm>
            <a:off x="0" y="622852"/>
            <a:ext cx="12191999" cy="4744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attacker install its own root certificate to client’s trusted CA store ?</a:t>
            </a:r>
          </a:p>
          <a:p>
            <a:pPr algn="ctr"/>
            <a:endPar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endParaRP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Using Malware</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Users are the weakest link</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Organizational/corporate system</a:t>
            </a:r>
          </a:p>
          <a:p>
            <a:pPr marL="374437" indent="-374437" algn="ctr">
              <a:buSzPts val="100"/>
              <a:buAutoNum type="arabicPeriod"/>
            </a:pPr>
            <a:r>
              <a:rPr lang="en-US" sz="3200" b="1" dirty="0">
                <a:ln w="0">
                  <a:noFill/>
                </a:ln>
                <a:noFill/>
                <a:effectLst>
                  <a:outerShdw blurRad="38100" dist="19050" dir="2700000" algn="tl" rotWithShape="0">
                    <a:schemeClr val="dk1">
                      <a:alpha val="40000"/>
                    </a:schemeClr>
                  </a:outerShdw>
                </a:effectLst>
                <a:latin typeface="Avenir Next" panose="020B0503020202020204" pitchFamily="34" charset="0"/>
              </a:rPr>
              <a:t> Other software (Antivirus, parental-control, etc.)</a:t>
            </a:r>
          </a:p>
        </p:txBody>
      </p:sp>
    </p:spTree>
    <p:custDataLst>
      <p:tags r:id="rId1"/>
    </p:custDataLst>
    <p:extLst>
      <p:ext uri="{BB962C8B-B14F-4D97-AF65-F5344CB8AC3E}">
        <p14:creationId xmlns:p14="http://schemas.microsoft.com/office/powerpoint/2010/main" val="2366450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B03CF5-E7A2-41F8-837F-34879B9C3DA6}"/>
              </a:ext>
            </a:extLst>
          </p:cNvPr>
          <p:cNvSpPr/>
          <p:nvPr>
            <p:custDataLst>
              <p:tags r:id="rId2"/>
            </p:custDataLst>
          </p:nvPr>
        </p:nvSpPr>
        <p:spPr>
          <a:xfrm>
            <a:off x="0" y="622852"/>
            <a:ext cx="12191999" cy="47442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How can attacker install its own root certificate to client’s trusted CA store ?</a:t>
            </a:r>
          </a:p>
          <a:p>
            <a:pPr algn="ctr"/>
            <a:endPar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endParaRP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Using Malware</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Users are the weakest link</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Organizational/corporate system</a:t>
            </a:r>
          </a:p>
          <a:p>
            <a:pPr marL="374437" indent="-374437" algn="ctr">
              <a:buAutoNum type="arabicPeriod"/>
            </a:pPr>
            <a:r>
              <a:rPr lang="en-US" sz="3200" b="1" dirty="0">
                <a:ln w="0"/>
                <a:solidFill>
                  <a:schemeClr val="bg1"/>
                </a:solidFill>
                <a:effectLst>
                  <a:outerShdw blurRad="38100" dist="19050" dir="2700000" algn="tl" rotWithShape="0">
                    <a:schemeClr val="dk1">
                      <a:alpha val="40000"/>
                    </a:schemeClr>
                  </a:outerShdw>
                </a:effectLst>
                <a:latin typeface="Avenir Next" panose="020B0503020202020204" pitchFamily="34" charset="0"/>
              </a:rPr>
              <a:t> Other software (Antivirus, parental-control, etc.)</a:t>
            </a:r>
          </a:p>
        </p:txBody>
      </p:sp>
    </p:spTree>
    <p:custDataLst>
      <p:tags r:id="rId1"/>
    </p:custDataLst>
    <p:extLst>
      <p:ext uri="{BB962C8B-B14F-4D97-AF65-F5344CB8AC3E}">
        <p14:creationId xmlns:p14="http://schemas.microsoft.com/office/powerpoint/2010/main" val="22671369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Content Placeholder 43">
            <a:extLst>
              <a:ext uri="{FF2B5EF4-FFF2-40B4-BE49-F238E27FC236}">
                <a16:creationId xmlns:a16="http://schemas.microsoft.com/office/drawing/2014/main" id="{C386F719-31CA-46DA-B09B-2109571F358F}"/>
              </a:ext>
            </a:extLst>
          </p:cNvPr>
          <p:cNvSpPr>
            <a:spLocks noGrp="1"/>
          </p:cNvSpPr>
          <p:nvPr>
            <p:ph idx="1"/>
          </p:nvPr>
        </p:nvSpPr>
        <p:spPr>
          <a:xfrm>
            <a:off x="1" y="861391"/>
            <a:ext cx="12192000" cy="5996609"/>
          </a:xfrm>
        </p:spPr>
        <p:txBody>
          <a:bodyPr>
            <a:noAutofit/>
          </a:bodyPr>
          <a:lstStyle/>
          <a:p>
            <a:pPr>
              <a:buFont typeface="Wingdings" panose="05000000000000000000" pitchFamily="2" charset="2"/>
              <a:buChar char="q"/>
            </a:pPr>
            <a:r>
              <a:rPr lang="en-US" sz="3200" dirty="0">
                <a:latin typeface="Avenir Next" panose="020B0503020202020204" pitchFamily="34" charset="0"/>
              </a:rPr>
              <a:t> TLS interception breaks end-to-end security of TLS</a:t>
            </a:r>
          </a:p>
          <a:p>
            <a:pPr>
              <a:buFont typeface="Wingdings" panose="05000000000000000000" pitchFamily="2" charset="2"/>
              <a:buChar char="q"/>
            </a:pPr>
            <a:endParaRPr lang="en-US" sz="3200" dirty="0">
              <a:latin typeface="Avenir Next" panose="020B0503020202020204" pitchFamily="34" charset="0"/>
            </a:endParaRPr>
          </a:p>
          <a:p>
            <a:pPr>
              <a:buFont typeface="Wingdings" panose="05000000000000000000" pitchFamily="2" charset="2"/>
              <a:buChar char="q"/>
            </a:pPr>
            <a:r>
              <a:rPr lang="en-US" sz="3200" dirty="0">
                <a:latin typeface="Avenir Next" panose="020B0503020202020204" pitchFamily="34" charset="0"/>
              </a:rPr>
              <a:t> This technique is used for both good and bad purposes</a:t>
            </a:r>
          </a:p>
          <a:p>
            <a:pPr>
              <a:buFont typeface="Wingdings" panose="05000000000000000000" pitchFamily="2" charset="2"/>
              <a:buChar char="q"/>
            </a:pPr>
            <a:endParaRPr lang="en-US" sz="3200" dirty="0">
              <a:latin typeface="Avenir Next" panose="020B0503020202020204" pitchFamily="34" charset="0"/>
            </a:endParaRPr>
          </a:p>
          <a:p>
            <a:pPr>
              <a:buFont typeface="Wingdings" panose="05000000000000000000" pitchFamily="2" charset="2"/>
              <a:buChar char="q"/>
            </a:pPr>
            <a:r>
              <a:rPr lang="en-US" sz="3200" dirty="0">
                <a:latin typeface="Avenir Next" panose="020B0503020202020204" pitchFamily="34" charset="0"/>
              </a:rPr>
              <a:t> For example, </a:t>
            </a:r>
          </a:p>
          <a:p>
            <a:pPr lvl="1">
              <a:buFont typeface="Wingdings" panose="05000000000000000000" pitchFamily="2" charset="2"/>
              <a:buChar char="Ø"/>
            </a:pPr>
            <a:r>
              <a:rPr lang="en-US" sz="3200" b="1" dirty="0">
                <a:latin typeface="Avenir Next" panose="020B0503020202020204" pitchFamily="34" charset="0"/>
              </a:rPr>
              <a:t>Good :</a:t>
            </a:r>
            <a:r>
              <a:rPr lang="en-US" sz="3200" dirty="0">
                <a:latin typeface="Avenir Next" panose="020B0503020202020204" pitchFamily="34" charset="0"/>
              </a:rPr>
              <a:t> to inspect encrypted traffic and block malicious contents</a:t>
            </a:r>
          </a:p>
          <a:p>
            <a:pPr lvl="1">
              <a:buFont typeface="Wingdings" panose="05000000000000000000" pitchFamily="2" charset="2"/>
              <a:buChar char="Ø"/>
            </a:pPr>
            <a:r>
              <a:rPr lang="en-US" sz="3200" b="1" dirty="0">
                <a:latin typeface="Avenir Next" panose="020B0503020202020204" pitchFamily="34" charset="0"/>
              </a:rPr>
              <a:t>Bad :</a:t>
            </a:r>
            <a:r>
              <a:rPr lang="en-US" sz="3200" dirty="0">
                <a:latin typeface="Avenir Next" panose="020B0503020202020204" pitchFamily="34" charset="0"/>
              </a:rPr>
              <a:t>  to steal secret information</a:t>
            </a:r>
          </a:p>
          <a:p>
            <a:pPr>
              <a:buFont typeface="Wingdings" panose="05000000000000000000" pitchFamily="2" charset="2"/>
              <a:buChar char="q"/>
            </a:pPr>
            <a:endParaRPr lang="en-US" sz="3200" dirty="0">
              <a:latin typeface="Avenir Next" panose="020B0503020202020204" pitchFamily="34" charset="0"/>
            </a:endParaRPr>
          </a:p>
          <a:p>
            <a:pPr>
              <a:buFont typeface="Wingdings" panose="05000000000000000000" pitchFamily="2" charset="2"/>
              <a:buChar char="q"/>
            </a:pPr>
            <a:endParaRPr lang="en-US" sz="3200" dirty="0">
              <a:latin typeface="Avenir Next" panose="020B0503020202020204" pitchFamily="34" charset="0"/>
            </a:endParaRPr>
          </a:p>
          <a:p>
            <a:pPr>
              <a:buFont typeface="Wingdings" panose="05000000000000000000" pitchFamily="2" charset="2"/>
              <a:buChar char="q"/>
            </a:pPr>
            <a:endParaRPr lang="en-US" sz="3200" dirty="0">
              <a:latin typeface="Avenir Next" panose="020B0503020202020204" pitchFamily="34" charset="0"/>
            </a:endParaRPr>
          </a:p>
          <a:p>
            <a:pPr>
              <a:buFont typeface="Wingdings" panose="05000000000000000000" pitchFamily="2" charset="2"/>
              <a:buChar char="q"/>
            </a:pPr>
            <a:endParaRPr lang="en-US" sz="3200" dirty="0">
              <a:latin typeface="Avenir Next" panose="020B0503020202020204" pitchFamily="34" charset="0"/>
            </a:endParaRPr>
          </a:p>
        </p:txBody>
      </p:sp>
      <p:sp>
        <p:nvSpPr>
          <p:cNvPr id="45" name="Content Placeholder 43">
            <a:extLst>
              <a:ext uri="{FF2B5EF4-FFF2-40B4-BE49-F238E27FC236}">
                <a16:creationId xmlns:a16="http://schemas.microsoft.com/office/drawing/2014/main" id="{2FD7FFA8-FAD0-4AC7-92CC-E951824F8E11}"/>
              </a:ext>
            </a:extLst>
          </p:cNvPr>
          <p:cNvSpPr txBox="1">
            <a:spLocks/>
          </p:cNvSpPr>
          <p:nvPr/>
        </p:nvSpPr>
        <p:spPr>
          <a:xfrm>
            <a:off x="2584232" y="3867014"/>
            <a:ext cx="7582811" cy="1861084"/>
          </a:xfrm>
          <a:prstGeom prst="rect">
            <a:avLst/>
          </a:prstGeom>
        </p:spPr>
        <p:txBody>
          <a:bodyPr vert="horz" lIns="66563" tIns="33281" rIns="66563" bIns="33281"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038" dirty="0"/>
          </a:p>
          <a:p>
            <a:pPr marL="0" indent="0">
              <a:buNone/>
            </a:pPr>
            <a:endParaRPr lang="en-US" sz="2038" dirty="0"/>
          </a:p>
          <a:p>
            <a:pPr marL="0" indent="0">
              <a:buNone/>
            </a:pPr>
            <a:endParaRPr lang="en-US" sz="2038" dirty="0"/>
          </a:p>
          <a:p>
            <a:endParaRPr lang="en-US" sz="2038" dirty="0"/>
          </a:p>
          <a:p>
            <a:endParaRPr lang="en-US" sz="2038" dirty="0"/>
          </a:p>
          <a:p>
            <a:endParaRPr lang="en-US" sz="2038" dirty="0"/>
          </a:p>
          <a:p>
            <a:endParaRPr lang="en-US" sz="2038" dirty="0"/>
          </a:p>
        </p:txBody>
      </p:sp>
      <p:sp>
        <p:nvSpPr>
          <p:cNvPr id="3" name="TextBox 2">
            <a:extLst>
              <a:ext uri="{FF2B5EF4-FFF2-40B4-BE49-F238E27FC236}">
                <a16:creationId xmlns:a16="http://schemas.microsoft.com/office/drawing/2014/main" id="{C42C4F1F-7662-EBB6-E29D-50A93A8EB4E7}"/>
              </a:ext>
            </a:extLst>
          </p:cNvPr>
          <p:cNvSpPr txBox="1"/>
          <p:nvPr/>
        </p:nvSpPr>
        <p:spPr>
          <a:xfrm>
            <a:off x="-8091" y="-5493"/>
            <a:ext cx="6289621"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a:t>
            </a:r>
          </a:p>
        </p:txBody>
      </p:sp>
    </p:spTree>
    <p:custDataLst>
      <p:tags r:id="rId1"/>
    </p:custDataLst>
    <p:extLst>
      <p:ext uri="{BB962C8B-B14F-4D97-AF65-F5344CB8AC3E}">
        <p14:creationId xmlns:p14="http://schemas.microsoft.com/office/powerpoint/2010/main" val="39775705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Content Placeholder 43">
            <a:extLst>
              <a:ext uri="{FF2B5EF4-FFF2-40B4-BE49-F238E27FC236}">
                <a16:creationId xmlns:a16="http://schemas.microsoft.com/office/drawing/2014/main" id="{C386F719-31CA-46DA-B09B-2109571F358F}"/>
              </a:ext>
            </a:extLst>
          </p:cNvPr>
          <p:cNvSpPr>
            <a:spLocks noGrp="1"/>
          </p:cNvSpPr>
          <p:nvPr>
            <p:ph idx="1"/>
          </p:nvPr>
        </p:nvSpPr>
        <p:spPr>
          <a:xfrm>
            <a:off x="0" y="919958"/>
            <a:ext cx="12192000" cy="2771567"/>
          </a:xfrm>
        </p:spPr>
        <p:txBody>
          <a:bodyPr>
            <a:normAutofit fontScale="92500"/>
          </a:bodyPr>
          <a:lstStyle/>
          <a:p>
            <a:pPr>
              <a:buFont typeface="Wingdings" panose="05000000000000000000" pitchFamily="2" charset="2"/>
              <a:buChar char="q"/>
            </a:pPr>
            <a:r>
              <a:rPr lang="en-US" sz="3200" dirty="0">
                <a:latin typeface="Avenir Next" panose="020B0503020202020204" pitchFamily="34" charset="0"/>
              </a:rPr>
              <a:t> Historically,  due to TLS interception overall security of the connection reduces</a:t>
            </a:r>
          </a:p>
          <a:p>
            <a:pPr>
              <a:buFont typeface="Wingdings" panose="05000000000000000000" pitchFamily="2" charset="2"/>
              <a:buChar char="q"/>
            </a:pPr>
            <a:r>
              <a:rPr lang="en-US" sz="3200" dirty="0">
                <a:latin typeface="Avenir Next" panose="020B0503020202020204" pitchFamily="34" charset="0"/>
              </a:rPr>
              <a:t> For example, </a:t>
            </a:r>
          </a:p>
          <a:p>
            <a:pPr lvl="1">
              <a:buFont typeface="Wingdings" panose="05000000000000000000" pitchFamily="2" charset="2"/>
              <a:buChar char="Ø"/>
            </a:pPr>
            <a:r>
              <a:rPr lang="en-US" sz="2800" dirty="0">
                <a:latin typeface="Avenir Next" panose="020B0503020202020204" pitchFamily="34" charset="0"/>
              </a:rPr>
              <a:t> What if the middlebox doesn’t validate server certificate in TLS session 2 ?</a:t>
            </a:r>
          </a:p>
          <a:p>
            <a:pPr lvl="1">
              <a:buFont typeface="Wingdings" panose="05000000000000000000" pitchFamily="2" charset="2"/>
              <a:buChar char="Ø"/>
            </a:pPr>
            <a:r>
              <a:rPr lang="en-US" sz="2800" dirty="0">
                <a:latin typeface="Avenir Next" panose="020B0503020202020204" pitchFamily="34" charset="0"/>
              </a:rPr>
              <a:t> What if the middle box uses weak encryption algorithms in TLS session 2 ?</a:t>
            </a:r>
            <a:endParaRPr lang="en-US" sz="3200" dirty="0">
              <a:latin typeface="Avenir Next" panose="020B0503020202020204" pitchFamily="34" charset="0"/>
            </a:endParaRPr>
          </a:p>
        </p:txBody>
      </p:sp>
      <p:sp>
        <p:nvSpPr>
          <p:cNvPr id="45" name="Content Placeholder 43">
            <a:extLst>
              <a:ext uri="{FF2B5EF4-FFF2-40B4-BE49-F238E27FC236}">
                <a16:creationId xmlns:a16="http://schemas.microsoft.com/office/drawing/2014/main" id="{2FD7FFA8-FAD0-4AC7-92CC-E951824F8E11}"/>
              </a:ext>
            </a:extLst>
          </p:cNvPr>
          <p:cNvSpPr txBox="1">
            <a:spLocks/>
          </p:cNvSpPr>
          <p:nvPr/>
        </p:nvSpPr>
        <p:spPr>
          <a:xfrm>
            <a:off x="2584232" y="3867014"/>
            <a:ext cx="7582811" cy="1861084"/>
          </a:xfrm>
          <a:prstGeom prst="rect">
            <a:avLst/>
          </a:prstGeom>
        </p:spPr>
        <p:txBody>
          <a:bodyPr vert="horz" lIns="66563" tIns="33281" rIns="66563" bIns="33281"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038" b="1" dirty="0"/>
          </a:p>
          <a:p>
            <a:pPr marL="0" indent="0">
              <a:buNone/>
            </a:pPr>
            <a:endParaRPr lang="en-US" sz="2038" b="1" dirty="0"/>
          </a:p>
          <a:p>
            <a:pPr marL="0" indent="0">
              <a:buNone/>
            </a:pPr>
            <a:endParaRPr lang="en-US" sz="2038" b="1" dirty="0"/>
          </a:p>
          <a:p>
            <a:endParaRPr lang="en-US" sz="2038" b="1" dirty="0"/>
          </a:p>
          <a:p>
            <a:endParaRPr lang="en-US" sz="2038" b="1" dirty="0"/>
          </a:p>
          <a:p>
            <a:endParaRPr lang="en-US" sz="2038" b="1" dirty="0"/>
          </a:p>
          <a:p>
            <a:endParaRPr lang="en-US" sz="2038" b="1" dirty="0"/>
          </a:p>
        </p:txBody>
      </p:sp>
      <p:grpSp>
        <p:nvGrpSpPr>
          <p:cNvPr id="3" name="Group 2">
            <a:extLst>
              <a:ext uri="{FF2B5EF4-FFF2-40B4-BE49-F238E27FC236}">
                <a16:creationId xmlns:a16="http://schemas.microsoft.com/office/drawing/2014/main" id="{6EA053CA-3F9F-4D05-B30F-0E356C72442E}"/>
              </a:ext>
            </a:extLst>
          </p:cNvPr>
          <p:cNvGrpSpPr/>
          <p:nvPr/>
        </p:nvGrpSpPr>
        <p:grpSpPr>
          <a:xfrm>
            <a:off x="3389413" y="4476287"/>
            <a:ext cx="5413175" cy="806344"/>
            <a:chOff x="2377859" y="3551279"/>
            <a:chExt cx="7436281" cy="1107706"/>
          </a:xfrm>
        </p:grpSpPr>
        <p:sp>
          <p:nvSpPr>
            <p:cNvPr id="5" name="Rectangle 4">
              <a:extLst>
                <a:ext uri="{FF2B5EF4-FFF2-40B4-BE49-F238E27FC236}">
                  <a16:creationId xmlns:a16="http://schemas.microsoft.com/office/drawing/2014/main" id="{C47153C4-3658-4677-8B7B-CD798831F279}"/>
                </a:ext>
              </a:extLst>
            </p:cNvPr>
            <p:cNvSpPr/>
            <p:nvPr/>
          </p:nvSpPr>
          <p:spPr>
            <a:xfrm>
              <a:off x="6609339" y="3780590"/>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6" name="Rectangle 5">
              <a:extLst>
                <a:ext uri="{FF2B5EF4-FFF2-40B4-BE49-F238E27FC236}">
                  <a16:creationId xmlns:a16="http://schemas.microsoft.com/office/drawing/2014/main" id="{3A66752B-2AAA-45E0-A157-213ED2780CAF}"/>
                </a:ext>
              </a:extLst>
            </p:cNvPr>
            <p:cNvSpPr/>
            <p:nvPr/>
          </p:nvSpPr>
          <p:spPr>
            <a:xfrm>
              <a:off x="3163327" y="3785738"/>
              <a:ext cx="2361229" cy="31203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35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grpSp>
          <p:nvGrpSpPr>
            <p:cNvPr id="8" name="Group 7">
              <a:extLst>
                <a:ext uri="{FF2B5EF4-FFF2-40B4-BE49-F238E27FC236}">
                  <a16:creationId xmlns:a16="http://schemas.microsoft.com/office/drawing/2014/main" id="{D81D2D47-5A19-4743-8178-42DFB48BAF4C}"/>
                </a:ext>
              </a:extLst>
            </p:cNvPr>
            <p:cNvGrpSpPr/>
            <p:nvPr/>
          </p:nvGrpSpPr>
          <p:grpSpPr>
            <a:xfrm>
              <a:off x="2377859" y="3551279"/>
              <a:ext cx="7436281" cy="1088462"/>
              <a:chOff x="2290119" y="2975723"/>
              <a:chExt cx="7436281" cy="1088462"/>
            </a:xfrm>
          </p:grpSpPr>
          <p:grpSp>
            <p:nvGrpSpPr>
              <p:cNvPr id="9" name="Group 8">
                <a:extLst>
                  <a:ext uri="{FF2B5EF4-FFF2-40B4-BE49-F238E27FC236}">
                    <a16:creationId xmlns:a16="http://schemas.microsoft.com/office/drawing/2014/main" id="{820F0CBE-30F3-4D00-A8D7-47E58EBC73D1}"/>
                  </a:ext>
                </a:extLst>
              </p:cNvPr>
              <p:cNvGrpSpPr/>
              <p:nvPr/>
            </p:nvGrpSpPr>
            <p:grpSpPr>
              <a:xfrm>
                <a:off x="2290119" y="3003237"/>
                <a:ext cx="7436281" cy="1060948"/>
                <a:chOff x="2312778" y="4001294"/>
                <a:chExt cx="7422134" cy="1060948"/>
              </a:xfrm>
            </p:grpSpPr>
            <p:pic>
              <p:nvPicPr>
                <p:cNvPr id="13" name="Picture 12" descr="A picture containing photo, sitting, monitor, table&#10;&#10;Description generated with very high confidence">
                  <a:extLst>
                    <a:ext uri="{FF2B5EF4-FFF2-40B4-BE49-F238E27FC236}">
                      <a16:creationId xmlns:a16="http://schemas.microsoft.com/office/drawing/2014/main" id="{B8CEFF1E-250D-465A-93EE-BE3365C456B9}"/>
                    </a:ext>
                  </a:extLst>
                </p:cNvPr>
                <p:cNvPicPr>
                  <a:picLocks noChangeAspect="1"/>
                </p:cNvPicPr>
                <p:nvPr/>
              </p:nvPicPr>
              <p:blipFill>
                <a:blip r:embed="rId3"/>
                <a:stretch>
                  <a:fillRect/>
                </a:stretch>
              </p:blipFill>
              <p:spPr>
                <a:xfrm>
                  <a:off x="2313432" y="4001294"/>
                  <a:ext cx="630751" cy="692580"/>
                </a:xfrm>
                <a:prstGeom prst="rect">
                  <a:avLst/>
                </a:prstGeom>
              </p:spPr>
            </p:pic>
            <p:sp>
              <p:nvSpPr>
                <p:cNvPr id="14" name="TextBox 6">
                  <a:extLst>
                    <a:ext uri="{FF2B5EF4-FFF2-40B4-BE49-F238E27FC236}">
                      <a16:creationId xmlns:a16="http://schemas.microsoft.com/office/drawing/2014/main" id="{A6C4DBBD-C083-47D4-B862-7E1FC14973F9}"/>
                    </a:ext>
                  </a:extLst>
                </p:cNvPr>
                <p:cNvSpPr txBox="1"/>
                <p:nvPr/>
              </p:nvSpPr>
              <p:spPr>
                <a:xfrm>
                  <a:off x="2312778" y="4692973"/>
                  <a:ext cx="831306"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Client</a:t>
                  </a:r>
                </a:p>
              </p:txBody>
            </p:sp>
            <p:sp>
              <p:nvSpPr>
                <p:cNvPr id="15" name="TextBox 7">
                  <a:extLst>
                    <a:ext uri="{FF2B5EF4-FFF2-40B4-BE49-F238E27FC236}">
                      <a16:creationId xmlns:a16="http://schemas.microsoft.com/office/drawing/2014/main" id="{2C4C562F-8427-431A-A4C5-917633A013D4}"/>
                    </a:ext>
                  </a:extLst>
                </p:cNvPr>
                <p:cNvSpPr txBox="1"/>
                <p:nvPr/>
              </p:nvSpPr>
              <p:spPr>
                <a:xfrm>
                  <a:off x="8783123" y="4584463"/>
                  <a:ext cx="951789" cy="369269"/>
                </a:xfrm>
                <a:prstGeom prst="rect">
                  <a:avLst/>
                </a:prstGeom>
                <a:noFill/>
              </p:spPr>
              <p:txBody>
                <a:bodyPr rot="0" spcFirstLastPara="0" vert="horz" wrap="square" lIns="66563" tIns="33281" rIns="66563" bIns="33281"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310" b="1" dirty="0">
                      <a:effectLst>
                        <a:outerShdw blurRad="38100" dist="38100" dir="2700000" algn="tl">
                          <a:srgbClr val="000000">
                            <a:alpha val="43137"/>
                          </a:srgbClr>
                        </a:outerShdw>
                      </a:effectLst>
                      <a:cs typeface="Calibri"/>
                    </a:rPr>
                    <a:t>Server</a:t>
                  </a:r>
                </a:p>
              </p:txBody>
            </p:sp>
          </p:grpSp>
          <p:grpSp>
            <p:nvGrpSpPr>
              <p:cNvPr id="10" name="Group 9">
                <a:extLst>
                  <a:ext uri="{FF2B5EF4-FFF2-40B4-BE49-F238E27FC236}">
                    <a16:creationId xmlns:a16="http://schemas.microsoft.com/office/drawing/2014/main" id="{6B20DC5E-154F-4171-AA41-9BE0F0A888C2}"/>
                  </a:ext>
                </a:extLst>
              </p:cNvPr>
              <p:cNvGrpSpPr/>
              <p:nvPr/>
            </p:nvGrpSpPr>
            <p:grpSpPr>
              <a:xfrm>
                <a:off x="5238531" y="2975723"/>
                <a:ext cx="1418746" cy="1054642"/>
                <a:chOff x="5374995" y="2274736"/>
                <a:chExt cx="1418746" cy="1054642"/>
              </a:xfrm>
            </p:grpSpPr>
            <p:pic>
              <p:nvPicPr>
                <p:cNvPr id="11" name="Picture 14" descr="Server">
                  <a:extLst>
                    <a:ext uri="{FF2B5EF4-FFF2-40B4-BE49-F238E27FC236}">
                      <a16:creationId xmlns:a16="http://schemas.microsoft.com/office/drawing/2014/main" id="{C0246613-0237-485F-9AE9-8ABA6B0E5E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686520" y="2274736"/>
                  <a:ext cx="775302" cy="775302"/>
                </a:xfrm>
                <a:prstGeom prst="rect">
                  <a:avLst/>
                </a:prstGeom>
              </p:spPr>
            </p:pic>
            <p:sp>
              <p:nvSpPr>
                <p:cNvPr id="12" name="TextBox 11">
                  <a:extLst>
                    <a:ext uri="{FF2B5EF4-FFF2-40B4-BE49-F238E27FC236}">
                      <a16:creationId xmlns:a16="http://schemas.microsoft.com/office/drawing/2014/main" id="{2777F0B1-0CC8-4454-9562-5CB0E2342A12}"/>
                    </a:ext>
                  </a:extLst>
                </p:cNvPr>
                <p:cNvSpPr txBox="1"/>
                <p:nvPr/>
              </p:nvSpPr>
              <p:spPr>
                <a:xfrm>
                  <a:off x="5374995" y="2960109"/>
                  <a:ext cx="1418746" cy="369269"/>
                </a:xfrm>
                <a:prstGeom prst="rect">
                  <a:avLst/>
                </a:prstGeom>
                <a:noFill/>
              </p:spPr>
              <p:txBody>
                <a:bodyPr rot="0" spcFirstLastPara="0" vertOverflow="overflow" horzOverflow="overflow" vert="horz" wrap="square" lIns="66563" tIns="33281" rIns="66563" bIns="33281" numCol="1" spcCol="0" rtlCol="0" fromWordArt="0" anchor="t" anchorCtr="0" forceAA="0" compatLnSpc="1">
                  <a:prstTxWarp prst="textNoShape">
                    <a:avLst/>
                  </a:prstTxWarp>
                  <a:spAutoFit/>
                </a:bodyPr>
                <a:lstStyle/>
                <a:p>
                  <a:pPr algn="l"/>
                  <a:r>
                    <a:rPr lang="en-US" sz="1310" b="1" dirty="0" err="1">
                      <a:effectLst>
                        <a:outerShdw blurRad="38100" dist="38100" dir="2700000" algn="tl">
                          <a:srgbClr val="000000">
                            <a:alpha val="43137"/>
                          </a:srgbClr>
                        </a:outerShdw>
                      </a:effectLst>
                      <a:cs typeface="Calibri"/>
                    </a:rPr>
                    <a:t>MiddleBox</a:t>
                  </a:r>
                  <a:endParaRPr lang="en-US" sz="1310" b="1" dirty="0">
                    <a:effectLst>
                      <a:outerShdw blurRad="38100" dist="38100" dir="2700000" algn="tl">
                        <a:srgbClr val="000000">
                          <a:alpha val="43137"/>
                        </a:srgbClr>
                      </a:outerShdw>
                    </a:effectLst>
                    <a:cs typeface="Calibri"/>
                  </a:endParaRPr>
                </a:p>
              </p:txBody>
            </p:sp>
          </p:grpSp>
        </p:grpSp>
        <p:cxnSp>
          <p:nvCxnSpPr>
            <p:cNvPr id="16" name="Straight Arrow Connector 15">
              <a:extLst>
                <a:ext uri="{FF2B5EF4-FFF2-40B4-BE49-F238E27FC236}">
                  <a16:creationId xmlns:a16="http://schemas.microsoft.com/office/drawing/2014/main" id="{64F59C00-7452-4DE7-85B2-28F12624F27B}"/>
                </a:ext>
              </a:extLst>
            </p:cNvPr>
            <p:cNvCxnSpPr>
              <a:cxnSpLocks/>
              <a:stCxn id="13" idx="3"/>
              <a:endCxn id="11" idx="1"/>
            </p:cNvCxnSpPr>
            <p:nvPr/>
          </p:nvCxnSpPr>
          <p:spPr>
            <a:xfrm>
              <a:off x="3010467" y="3925083"/>
              <a:ext cx="2627329" cy="13847"/>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DB17062-1856-4027-BDA4-2E4F8C1A137B}"/>
                </a:ext>
              </a:extLst>
            </p:cNvPr>
            <p:cNvCxnSpPr>
              <a:cxnSpLocks/>
            </p:cNvCxnSpPr>
            <p:nvPr/>
          </p:nvCxnSpPr>
          <p:spPr>
            <a:xfrm flipV="1">
              <a:off x="6450364" y="3916691"/>
              <a:ext cx="2663415" cy="419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1F6CF2C-A83F-4A8D-81A9-6636168C7A9D}"/>
                </a:ext>
              </a:extLst>
            </p:cNvPr>
            <p:cNvSpPr txBox="1"/>
            <p:nvPr/>
          </p:nvSpPr>
          <p:spPr>
            <a:xfrm>
              <a:off x="3482880" y="4255206"/>
              <a:ext cx="1513287" cy="403779"/>
            </a:xfrm>
            <a:prstGeom prst="rect">
              <a:avLst/>
            </a:prstGeom>
            <a:noFill/>
          </p:spPr>
          <p:txBody>
            <a:bodyPr wrap="none" rtlCol="0">
              <a:spAutoFit/>
            </a:bodyPr>
            <a:lstStyle/>
            <a:p>
              <a:r>
                <a:rPr lang="en-US" sz="1310" b="1" dirty="0"/>
                <a:t>TLS Session 1</a:t>
              </a:r>
            </a:p>
          </p:txBody>
        </p:sp>
        <p:sp>
          <p:nvSpPr>
            <p:cNvPr id="19" name="TextBox 18">
              <a:extLst>
                <a:ext uri="{FF2B5EF4-FFF2-40B4-BE49-F238E27FC236}">
                  <a16:creationId xmlns:a16="http://schemas.microsoft.com/office/drawing/2014/main" id="{D05F6230-7B43-4A1A-8E2E-B3C483011D5E}"/>
                </a:ext>
              </a:extLst>
            </p:cNvPr>
            <p:cNvSpPr txBox="1"/>
            <p:nvPr/>
          </p:nvSpPr>
          <p:spPr>
            <a:xfrm>
              <a:off x="7017145" y="4170707"/>
              <a:ext cx="1513287" cy="403779"/>
            </a:xfrm>
            <a:prstGeom prst="rect">
              <a:avLst/>
            </a:prstGeom>
            <a:noFill/>
          </p:spPr>
          <p:txBody>
            <a:bodyPr wrap="none" rtlCol="0">
              <a:spAutoFit/>
            </a:bodyPr>
            <a:lstStyle/>
            <a:p>
              <a:r>
                <a:rPr lang="en-US" sz="1310" b="1" dirty="0"/>
                <a:t>TLS Session 2</a:t>
              </a:r>
            </a:p>
          </p:txBody>
        </p:sp>
        <p:pic>
          <p:nvPicPr>
            <p:cNvPr id="20" name="Content Placeholder 6" descr="A picture containing cup, coffee, sitting, microwave&#10;&#10;Description automatically generated">
              <a:extLst>
                <a:ext uri="{FF2B5EF4-FFF2-40B4-BE49-F238E27FC236}">
                  <a16:creationId xmlns:a16="http://schemas.microsoft.com/office/drawing/2014/main" id="{0392AC43-D8FA-44EE-BDBC-D53F547C568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83807" y="3557761"/>
              <a:ext cx="604200" cy="604200"/>
            </a:xfrm>
            <a:prstGeom prst="rect">
              <a:avLst/>
            </a:prstGeom>
          </p:spPr>
        </p:pic>
      </p:grpSp>
      <p:sp>
        <p:nvSpPr>
          <p:cNvPr id="4" name="Oval 3">
            <a:extLst>
              <a:ext uri="{FF2B5EF4-FFF2-40B4-BE49-F238E27FC236}">
                <a16:creationId xmlns:a16="http://schemas.microsoft.com/office/drawing/2014/main" id="{48BDB738-6959-4300-860D-50C85F7CE340}"/>
              </a:ext>
            </a:extLst>
          </p:cNvPr>
          <p:cNvSpPr/>
          <p:nvPr/>
        </p:nvSpPr>
        <p:spPr>
          <a:xfrm>
            <a:off x="6353957" y="4268934"/>
            <a:ext cx="1916991" cy="1057242"/>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10" b="1"/>
          </a:p>
        </p:txBody>
      </p:sp>
      <p:sp>
        <p:nvSpPr>
          <p:cNvPr id="21" name="TextBox 20">
            <a:extLst>
              <a:ext uri="{FF2B5EF4-FFF2-40B4-BE49-F238E27FC236}">
                <a16:creationId xmlns:a16="http://schemas.microsoft.com/office/drawing/2014/main" id="{FC3D38E2-8E6C-BA86-4A06-CB89F4DFE6A9}"/>
              </a:ext>
            </a:extLst>
          </p:cNvPr>
          <p:cNvSpPr txBox="1"/>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1360687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590BA29-7D13-4D76-9130-495E569832BB}"/>
              </a:ext>
            </a:extLst>
          </p:cNvPr>
          <p:cNvSpPr txBox="1"/>
          <p:nvPr>
            <p:custDataLst>
              <p:tags r:id="rId2"/>
            </p:custDataLst>
          </p:nvPr>
        </p:nvSpPr>
        <p:spPr>
          <a:xfrm>
            <a:off x="-8090" y="903382"/>
            <a:ext cx="12200090" cy="3108543"/>
          </a:xfrm>
          <a:prstGeom prst="rect">
            <a:avLst/>
          </a:prstGeom>
          <a:noFill/>
        </p:spPr>
        <p:txBody>
          <a:bodyPr wrap="square" rtlCol="0">
            <a:spAutoFit/>
          </a:bodyPr>
          <a:lstStyle/>
          <a:p>
            <a:pPr marL="208021" indent="-208021">
              <a:buFont typeface="Wingdings" panose="05000000000000000000" pitchFamily="2" charset="2"/>
              <a:buChar char="q"/>
            </a:pPr>
            <a:r>
              <a:rPr lang="en-US" sz="2800" dirty="0">
                <a:latin typeface="Avenir Next" panose="020B0503020202020204" pitchFamily="34" charset="0"/>
              </a:rPr>
              <a:t> In 2017, </a:t>
            </a:r>
            <a:r>
              <a:rPr lang="en-US" sz="2800" dirty="0" err="1">
                <a:latin typeface="Avenir Next" panose="020B0503020202020204" pitchFamily="34" charset="0"/>
              </a:rPr>
              <a:t>Durumeric</a:t>
            </a:r>
            <a:r>
              <a:rPr lang="en-US" sz="2800" dirty="0">
                <a:latin typeface="Avenir Next" panose="020B0503020202020204" pitchFamily="34" charset="0"/>
              </a:rPr>
              <a:t> </a:t>
            </a:r>
            <a:r>
              <a:rPr lang="en-US" sz="2800" i="1" dirty="0">
                <a:latin typeface="Avenir Next" panose="020B0503020202020204" pitchFamily="34" charset="0"/>
              </a:rPr>
              <a:t>et. al. did </a:t>
            </a:r>
            <a:r>
              <a:rPr lang="en-US" sz="2800" dirty="0">
                <a:latin typeface="Avenir Next" panose="020B0503020202020204" pitchFamily="34" charset="0"/>
              </a:rPr>
              <a:t>security analysis of HTTPS Interception </a:t>
            </a:r>
            <a:r>
              <a:rPr lang="en-US" sz="2800" baseline="30000" dirty="0">
                <a:latin typeface="Avenir Next" panose="020B0503020202020204" pitchFamily="34" charset="0"/>
              </a:rPr>
              <a:t>*</a:t>
            </a:r>
            <a:endParaRPr lang="en-US" sz="2800" dirty="0">
              <a:latin typeface="Avenir Next" panose="020B0503020202020204" pitchFamily="34" charset="0"/>
            </a:endParaRPr>
          </a:p>
          <a:p>
            <a:pPr marL="208021" indent="-208021">
              <a:buFont typeface="Wingdings" panose="05000000000000000000" pitchFamily="2" charset="2"/>
              <a:buChar char="q"/>
            </a:pPr>
            <a:endParaRPr lang="en-US" sz="2800" dirty="0">
              <a:latin typeface="Avenir Next" panose="020B0503020202020204" pitchFamily="34" charset="0"/>
            </a:endParaRPr>
          </a:p>
          <a:p>
            <a:pPr marL="208021" indent="-208021">
              <a:buSzPts val="100"/>
              <a:buFont typeface="Wingdings" panose="05000000000000000000" pitchFamily="2" charset="2"/>
              <a:buChar char="q"/>
            </a:pPr>
            <a:r>
              <a:rPr lang="en-GB" sz="2800" dirty="0">
                <a:noFill/>
                <a:latin typeface="Avenir Next" panose="020B0503020202020204" pitchFamily="34" charset="0"/>
              </a:rPr>
              <a:t> 5%-10% of all HTTPS connections are intercepted </a:t>
            </a: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SzPts val="100"/>
              <a:buFont typeface="Wingdings" panose="05000000000000000000" pitchFamily="2" charset="2"/>
              <a:buChar char="q"/>
            </a:pPr>
            <a:r>
              <a:rPr lang="en-US" sz="2800" dirty="0">
                <a:noFill/>
                <a:latin typeface="Avenir Next" panose="020B0503020202020204" pitchFamily="34" charset="0"/>
              </a:rPr>
              <a:t> Investigated 12 Middle-boxes and 20 client-side interception products</a:t>
            </a:r>
            <a:endParaRPr lang="en-GB" sz="2800" dirty="0">
              <a:noFill/>
              <a:latin typeface="Avenir Next" panose="020B0503020202020204" pitchFamily="34" charset="0"/>
            </a:endParaRP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SzPts val="100"/>
              <a:buFont typeface="Wingdings" panose="05000000000000000000" pitchFamily="2" charset="2"/>
              <a:buChar char="q"/>
            </a:pPr>
            <a:r>
              <a:rPr lang="en-GB" sz="2800" dirty="0">
                <a:noFill/>
                <a:latin typeface="Avenir Next" panose="020B0503020202020204" pitchFamily="34" charset="0"/>
              </a:rPr>
              <a:t> Most </a:t>
            </a:r>
            <a:r>
              <a:rPr lang="en-US" sz="2800" dirty="0">
                <a:noFill/>
                <a:latin typeface="Avenir Next" panose="020B0503020202020204" pitchFamily="34" charset="0"/>
              </a:rPr>
              <a:t>of the tested products significantly severely decrease security</a:t>
            </a:r>
          </a:p>
        </p:txBody>
      </p:sp>
      <p:sp>
        <p:nvSpPr>
          <p:cNvPr id="3" name="TextBox 2">
            <a:extLst>
              <a:ext uri="{FF2B5EF4-FFF2-40B4-BE49-F238E27FC236}">
                <a16:creationId xmlns:a16="http://schemas.microsoft.com/office/drawing/2014/main" id="{DC3F8E6A-55F0-8BCE-5E4C-80AFB7FEC62F}"/>
              </a:ext>
            </a:extLst>
          </p:cNvPr>
          <p:cNvSpPr txBox="1"/>
          <p:nvPr>
            <p:custDataLst>
              <p:tags r:id="rId3"/>
            </p:custDataLst>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25979872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590BA29-7D13-4D76-9130-495E569832BB}"/>
              </a:ext>
            </a:extLst>
          </p:cNvPr>
          <p:cNvSpPr txBox="1"/>
          <p:nvPr>
            <p:custDataLst>
              <p:tags r:id="rId2"/>
            </p:custDataLst>
          </p:nvPr>
        </p:nvSpPr>
        <p:spPr>
          <a:xfrm>
            <a:off x="-8090" y="903382"/>
            <a:ext cx="12200090" cy="3108543"/>
          </a:xfrm>
          <a:prstGeom prst="rect">
            <a:avLst/>
          </a:prstGeom>
          <a:noFill/>
        </p:spPr>
        <p:txBody>
          <a:bodyPr wrap="square" rtlCol="0">
            <a:spAutoFit/>
          </a:bodyPr>
          <a:lstStyle/>
          <a:p>
            <a:pPr marL="208021" indent="-208021">
              <a:buFont typeface="Wingdings" panose="05000000000000000000" pitchFamily="2" charset="2"/>
              <a:buChar char="q"/>
            </a:pPr>
            <a:r>
              <a:rPr lang="en-US" sz="2800" dirty="0">
                <a:latin typeface="Avenir Next" panose="020B0503020202020204" pitchFamily="34" charset="0"/>
              </a:rPr>
              <a:t> In 2017, </a:t>
            </a:r>
            <a:r>
              <a:rPr lang="en-US" sz="2800" dirty="0" err="1">
                <a:latin typeface="Avenir Next" panose="020B0503020202020204" pitchFamily="34" charset="0"/>
              </a:rPr>
              <a:t>Durumeric</a:t>
            </a:r>
            <a:r>
              <a:rPr lang="en-US" sz="2800" dirty="0">
                <a:latin typeface="Avenir Next" panose="020B0503020202020204" pitchFamily="34" charset="0"/>
              </a:rPr>
              <a:t> </a:t>
            </a:r>
            <a:r>
              <a:rPr lang="en-US" sz="2800" i="1" dirty="0">
                <a:latin typeface="Avenir Next" panose="020B0503020202020204" pitchFamily="34" charset="0"/>
              </a:rPr>
              <a:t>et. al. did </a:t>
            </a:r>
            <a:r>
              <a:rPr lang="en-US" sz="2800" dirty="0">
                <a:latin typeface="Avenir Next" panose="020B0503020202020204" pitchFamily="34" charset="0"/>
              </a:rPr>
              <a:t>security analysis of HTTPS Interception </a:t>
            </a:r>
            <a:r>
              <a:rPr lang="en-US" sz="2800" baseline="30000" dirty="0">
                <a:latin typeface="Avenir Next" panose="020B0503020202020204" pitchFamily="34" charset="0"/>
              </a:rPr>
              <a:t>*</a:t>
            </a:r>
            <a:endParaRPr lang="en-US" sz="2800" dirty="0">
              <a:latin typeface="Avenir Next" panose="020B0503020202020204" pitchFamily="34" charset="0"/>
            </a:endParaRPr>
          </a:p>
          <a:p>
            <a:pPr marL="208021" indent="-208021">
              <a:buFont typeface="Wingdings" panose="05000000000000000000" pitchFamily="2" charset="2"/>
              <a:buChar char="q"/>
            </a:pPr>
            <a:endParaRPr lang="en-US" sz="2800" dirty="0">
              <a:latin typeface="Avenir Next" panose="020B0503020202020204" pitchFamily="34" charset="0"/>
            </a:endParaRPr>
          </a:p>
          <a:p>
            <a:pPr marL="208021" indent="-208021">
              <a:buFont typeface="Wingdings" panose="05000000000000000000" pitchFamily="2" charset="2"/>
              <a:buChar char="q"/>
            </a:pPr>
            <a:r>
              <a:rPr lang="en-GB" sz="2800" dirty="0">
                <a:latin typeface="Avenir Next" panose="020B0503020202020204" pitchFamily="34" charset="0"/>
              </a:rPr>
              <a:t> 5%-10% of all HTTPS connections are intercepted </a:t>
            </a: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SzPts val="100"/>
              <a:buFont typeface="Wingdings" panose="05000000000000000000" pitchFamily="2" charset="2"/>
              <a:buChar char="q"/>
            </a:pPr>
            <a:r>
              <a:rPr lang="en-US" sz="2800" dirty="0">
                <a:noFill/>
                <a:latin typeface="Avenir Next" panose="020B0503020202020204" pitchFamily="34" charset="0"/>
              </a:rPr>
              <a:t> Investigated 12 Middle-boxes and 20 client-side interception products</a:t>
            </a:r>
            <a:endParaRPr lang="en-GB" sz="2800" dirty="0">
              <a:noFill/>
              <a:latin typeface="Avenir Next" panose="020B0503020202020204" pitchFamily="34" charset="0"/>
            </a:endParaRP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SzPts val="100"/>
              <a:buFont typeface="Wingdings" panose="05000000000000000000" pitchFamily="2" charset="2"/>
              <a:buChar char="q"/>
            </a:pPr>
            <a:r>
              <a:rPr lang="en-GB" sz="2800" dirty="0">
                <a:noFill/>
                <a:latin typeface="Avenir Next" panose="020B0503020202020204" pitchFamily="34" charset="0"/>
              </a:rPr>
              <a:t> Most </a:t>
            </a:r>
            <a:r>
              <a:rPr lang="en-US" sz="2800" dirty="0">
                <a:noFill/>
                <a:latin typeface="Avenir Next" panose="020B0503020202020204" pitchFamily="34" charset="0"/>
              </a:rPr>
              <a:t>of the tested products significantly severely decrease security</a:t>
            </a:r>
          </a:p>
        </p:txBody>
      </p:sp>
      <p:sp>
        <p:nvSpPr>
          <p:cNvPr id="3" name="TextBox 2">
            <a:extLst>
              <a:ext uri="{FF2B5EF4-FFF2-40B4-BE49-F238E27FC236}">
                <a16:creationId xmlns:a16="http://schemas.microsoft.com/office/drawing/2014/main" id="{DC3F8E6A-55F0-8BCE-5E4C-80AFB7FEC62F}"/>
              </a:ext>
            </a:extLst>
          </p:cNvPr>
          <p:cNvSpPr txBox="1"/>
          <p:nvPr>
            <p:custDataLst>
              <p:tags r:id="rId3"/>
            </p:custDataLst>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1872097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CAF116-3934-44A0-ACFD-997880849E22}"/>
              </a:ext>
            </a:extLst>
          </p:cNvPr>
          <p:cNvPicPr>
            <a:picLocks noChangeAspect="1"/>
          </p:cNvPicPr>
          <p:nvPr>
            <p:custDataLst>
              <p:tags r:id="rId2"/>
            </p:custDataLst>
          </p:nvPr>
        </p:nvPicPr>
        <p:blipFill>
          <a:blip r:embed="rId8"/>
          <a:stretch>
            <a:fillRect/>
          </a:stretch>
        </p:blipFill>
        <p:spPr>
          <a:xfrm>
            <a:off x="4310338" y="4011925"/>
            <a:ext cx="3571324" cy="1338379"/>
          </a:xfrm>
          <a:prstGeom prst="rect">
            <a:avLst/>
          </a:prstGeom>
        </p:spPr>
      </p:pic>
      <p:sp>
        <p:nvSpPr>
          <p:cNvPr id="10" name="TextBox 9">
            <a:extLst>
              <a:ext uri="{FF2B5EF4-FFF2-40B4-BE49-F238E27FC236}">
                <a16:creationId xmlns:a16="http://schemas.microsoft.com/office/drawing/2014/main" id="{1D2E1C94-03E5-45B4-952B-D6F1639BEFE2}"/>
              </a:ext>
            </a:extLst>
          </p:cNvPr>
          <p:cNvSpPr txBox="1"/>
          <p:nvPr>
            <p:custDataLst>
              <p:tags r:id="rId3"/>
            </p:custDataLst>
          </p:nvPr>
        </p:nvSpPr>
        <p:spPr>
          <a:xfrm>
            <a:off x="-8091" y="5954618"/>
            <a:ext cx="12192000" cy="830997"/>
          </a:xfrm>
          <a:prstGeom prst="rect">
            <a:avLst/>
          </a:prstGeom>
          <a:noFill/>
        </p:spPr>
        <p:txBody>
          <a:bodyPr wrap="square" rtlCol="0">
            <a:spAutoFit/>
          </a:bodyPr>
          <a:lstStyle/>
          <a:p>
            <a:pPr algn="ctr"/>
            <a:r>
              <a:rPr 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Zakir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Durumeric</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Zane Ma, Drew Springall, Richard Barnes, Nick Sullivan, Elie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Bursztein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Michael Bailey, J Alex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Halderman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and Vern Paxson</a:t>
            </a:r>
            <a:r>
              <a:rPr 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The security impact of https interception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In NDSS Symposium. NDSS, 2017.</a:t>
            </a:r>
          </a:p>
        </p:txBody>
      </p:sp>
      <p:sp>
        <p:nvSpPr>
          <p:cNvPr id="11" name="TextBox 10">
            <a:extLst>
              <a:ext uri="{FF2B5EF4-FFF2-40B4-BE49-F238E27FC236}">
                <a16:creationId xmlns:a16="http://schemas.microsoft.com/office/drawing/2014/main" id="{7590BA29-7D13-4D76-9130-495E569832BB}"/>
              </a:ext>
            </a:extLst>
          </p:cNvPr>
          <p:cNvSpPr txBox="1"/>
          <p:nvPr>
            <p:custDataLst>
              <p:tags r:id="rId4"/>
            </p:custDataLst>
          </p:nvPr>
        </p:nvSpPr>
        <p:spPr>
          <a:xfrm>
            <a:off x="-8090" y="903382"/>
            <a:ext cx="12200090" cy="3108543"/>
          </a:xfrm>
          <a:prstGeom prst="rect">
            <a:avLst/>
          </a:prstGeom>
          <a:noFill/>
        </p:spPr>
        <p:txBody>
          <a:bodyPr wrap="square" rtlCol="0">
            <a:spAutoFit/>
          </a:bodyPr>
          <a:lstStyle/>
          <a:p>
            <a:pPr marL="208021" indent="-208021">
              <a:buFont typeface="Wingdings" panose="05000000000000000000" pitchFamily="2" charset="2"/>
              <a:buChar char="q"/>
            </a:pPr>
            <a:r>
              <a:rPr lang="en-US" sz="2800" dirty="0">
                <a:latin typeface="Avenir Next" panose="020B0503020202020204" pitchFamily="34" charset="0"/>
              </a:rPr>
              <a:t> In 2017, </a:t>
            </a:r>
            <a:r>
              <a:rPr lang="en-US" sz="2800" dirty="0" err="1">
                <a:latin typeface="Avenir Next" panose="020B0503020202020204" pitchFamily="34" charset="0"/>
              </a:rPr>
              <a:t>Durumeric</a:t>
            </a:r>
            <a:r>
              <a:rPr lang="en-US" sz="2800" dirty="0">
                <a:latin typeface="Avenir Next" panose="020B0503020202020204" pitchFamily="34" charset="0"/>
              </a:rPr>
              <a:t> </a:t>
            </a:r>
            <a:r>
              <a:rPr lang="en-US" sz="2800" i="1" dirty="0">
                <a:latin typeface="Avenir Next" panose="020B0503020202020204" pitchFamily="34" charset="0"/>
              </a:rPr>
              <a:t>et. al. did </a:t>
            </a:r>
            <a:r>
              <a:rPr lang="en-US" sz="2800" dirty="0">
                <a:latin typeface="Avenir Next" panose="020B0503020202020204" pitchFamily="34" charset="0"/>
              </a:rPr>
              <a:t>security analysis of HTTPS Interception </a:t>
            </a:r>
            <a:r>
              <a:rPr lang="en-US" sz="2800" baseline="30000" dirty="0">
                <a:latin typeface="Avenir Next" panose="020B0503020202020204" pitchFamily="34" charset="0"/>
              </a:rPr>
              <a:t>*</a:t>
            </a:r>
            <a:endParaRPr lang="en-US" sz="2800" dirty="0">
              <a:latin typeface="Avenir Next" panose="020B0503020202020204" pitchFamily="34" charset="0"/>
            </a:endParaRPr>
          </a:p>
          <a:p>
            <a:pPr marL="208021" indent="-208021">
              <a:buFont typeface="Wingdings" panose="05000000000000000000" pitchFamily="2" charset="2"/>
              <a:buChar char="q"/>
            </a:pPr>
            <a:endParaRPr lang="en-US" sz="2800" dirty="0">
              <a:latin typeface="Avenir Next" panose="020B0503020202020204" pitchFamily="34" charset="0"/>
            </a:endParaRPr>
          </a:p>
          <a:p>
            <a:pPr marL="208021" indent="-208021">
              <a:buFont typeface="Wingdings" panose="05000000000000000000" pitchFamily="2" charset="2"/>
              <a:buChar char="q"/>
            </a:pPr>
            <a:r>
              <a:rPr lang="en-GB" sz="2800" dirty="0">
                <a:latin typeface="Avenir Next" panose="020B0503020202020204" pitchFamily="34" charset="0"/>
              </a:rPr>
              <a:t> 5%-10% of all HTTPS connections are intercepted </a:t>
            </a: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Font typeface="Wingdings" panose="05000000000000000000" pitchFamily="2" charset="2"/>
              <a:buChar char="q"/>
            </a:pPr>
            <a:r>
              <a:rPr lang="en-US" sz="2800" dirty="0">
                <a:latin typeface="Avenir Next" panose="020B0503020202020204" pitchFamily="34" charset="0"/>
              </a:rPr>
              <a:t> Investigated 12 Middle-boxes and 20 client-side interception products</a:t>
            </a:r>
            <a:endParaRPr lang="en-GB" sz="2800" dirty="0">
              <a:latin typeface="Avenir Next" panose="020B0503020202020204" pitchFamily="34" charset="0"/>
            </a:endParaRP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Font typeface="Wingdings" panose="05000000000000000000" pitchFamily="2" charset="2"/>
              <a:buChar char="q"/>
            </a:pPr>
            <a:r>
              <a:rPr lang="en-GB" sz="2800" dirty="0">
                <a:latin typeface="Avenir Next" panose="020B0503020202020204" pitchFamily="34" charset="0"/>
              </a:rPr>
              <a:t> Most </a:t>
            </a:r>
            <a:r>
              <a:rPr lang="en-US" sz="2800" dirty="0">
                <a:latin typeface="Avenir Next" panose="020B0503020202020204" pitchFamily="34" charset="0"/>
              </a:rPr>
              <a:t>of the tested products significantly severely decrease security</a:t>
            </a:r>
          </a:p>
        </p:txBody>
      </p:sp>
      <p:sp>
        <p:nvSpPr>
          <p:cNvPr id="3" name="TextBox 2">
            <a:extLst>
              <a:ext uri="{FF2B5EF4-FFF2-40B4-BE49-F238E27FC236}">
                <a16:creationId xmlns:a16="http://schemas.microsoft.com/office/drawing/2014/main" id="{DC3F8E6A-55F0-8BCE-5E4C-80AFB7FEC62F}"/>
              </a:ext>
            </a:extLst>
          </p:cNvPr>
          <p:cNvSpPr txBox="1"/>
          <p:nvPr>
            <p:custDataLst>
              <p:tags r:id="rId5"/>
            </p:custDataLst>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32937265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CAF116-3934-44A0-ACFD-997880849E22}"/>
              </a:ext>
            </a:extLst>
          </p:cNvPr>
          <p:cNvPicPr>
            <a:picLocks noChangeAspect="1"/>
          </p:cNvPicPr>
          <p:nvPr>
            <p:custDataLst>
              <p:tags r:id="rId2"/>
            </p:custDataLst>
          </p:nvPr>
        </p:nvPicPr>
        <p:blipFill>
          <a:blip r:embed="rId9"/>
          <a:stretch>
            <a:fillRect/>
          </a:stretch>
        </p:blipFill>
        <p:spPr>
          <a:xfrm>
            <a:off x="4310338" y="4011925"/>
            <a:ext cx="3571324" cy="1338379"/>
          </a:xfrm>
          <a:prstGeom prst="rect">
            <a:avLst/>
          </a:prstGeom>
        </p:spPr>
      </p:pic>
      <p:sp>
        <p:nvSpPr>
          <p:cNvPr id="10" name="TextBox 9">
            <a:extLst>
              <a:ext uri="{FF2B5EF4-FFF2-40B4-BE49-F238E27FC236}">
                <a16:creationId xmlns:a16="http://schemas.microsoft.com/office/drawing/2014/main" id="{1D2E1C94-03E5-45B4-952B-D6F1639BEFE2}"/>
              </a:ext>
            </a:extLst>
          </p:cNvPr>
          <p:cNvSpPr txBox="1"/>
          <p:nvPr>
            <p:custDataLst>
              <p:tags r:id="rId3"/>
            </p:custDataLst>
          </p:nvPr>
        </p:nvSpPr>
        <p:spPr>
          <a:xfrm>
            <a:off x="-8091" y="5954618"/>
            <a:ext cx="12192000" cy="830997"/>
          </a:xfrm>
          <a:prstGeom prst="rect">
            <a:avLst/>
          </a:prstGeom>
          <a:noFill/>
        </p:spPr>
        <p:txBody>
          <a:bodyPr wrap="square" rtlCol="0">
            <a:spAutoFit/>
          </a:bodyPr>
          <a:lstStyle/>
          <a:p>
            <a:pPr algn="ctr"/>
            <a:r>
              <a:rPr 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Zakir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Durumeric</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Zane Ma, Drew Springall, Richard Barnes, Nick Sullivan, Elie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Bursztein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Michael Bailey, J Alex </a:t>
            </a:r>
            <a:r>
              <a:rPr lang="en-US" sz="16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Halderman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and Vern Paxson</a:t>
            </a:r>
            <a:r>
              <a:rPr 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The security impact of https interception</a:t>
            </a:r>
            <a:r>
              <a:rPr lang="en-US" sz="16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In NDSS Symposium. NDSS, 2017.</a:t>
            </a:r>
          </a:p>
        </p:txBody>
      </p:sp>
      <p:sp>
        <p:nvSpPr>
          <p:cNvPr id="11" name="TextBox 10">
            <a:extLst>
              <a:ext uri="{FF2B5EF4-FFF2-40B4-BE49-F238E27FC236}">
                <a16:creationId xmlns:a16="http://schemas.microsoft.com/office/drawing/2014/main" id="{7590BA29-7D13-4D76-9130-495E569832BB}"/>
              </a:ext>
            </a:extLst>
          </p:cNvPr>
          <p:cNvSpPr txBox="1"/>
          <p:nvPr>
            <p:custDataLst>
              <p:tags r:id="rId4"/>
            </p:custDataLst>
          </p:nvPr>
        </p:nvSpPr>
        <p:spPr>
          <a:xfrm>
            <a:off x="-8090" y="903382"/>
            <a:ext cx="12200090" cy="3108543"/>
          </a:xfrm>
          <a:prstGeom prst="rect">
            <a:avLst/>
          </a:prstGeom>
          <a:noFill/>
        </p:spPr>
        <p:txBody>
          <a:bodyPr wrap="square" rtlCol="0">
            <a:spAutoFit/>
          </a:bodyPr>
          <a:lstStyle/>
          <a:p>
            <a:pPr marL="208021" indent="-208021">
              <a:buFont typeface="Wingdings" panose="05000000000000000000" pitchFamily="2" charset="2"/>
              <a:buChar char="q"/>
            </a:pPr>
            <a:r>
              <a:rPr lang="en-US" sz="2800" dirty="0">
                <a:latin typeface="Avenir Next" panose="020B0503020202020204" pitchFamily="34" charset="0"/>
              </a:rPr>
              <a:t> In 2017, </a:t>
            </a:r>
            <a:r>
              <a:rPr lang="en-US" sz="2800" dirty="0" err="1">
                <a:latin typeface="Avenir Next" panose="020B0503020202020204" pitchFamily="34" charset="0"/>
              </a:rPr>
              <a:t>Durumeric</a:t>
            </a:r>
            <a:r>
              <a:rPr lang="en-US" sz="2800" dirty="0">
                <a:latin typeface="Avenir Next" panose="020B0503020202020204" pitchFamily="34" charset="0"/>
              </a:rPr>
              <a:t> </a:t>
            </a:r>
            <a:r>
              <a:rPr lang="en-US" sz="2800" i="1" dirty="0">
                <a:latin typeface="Avenir Next" panose="020B0503020202020204" pitchFamily="34" charset="0"/>
              </a:rPr>
              <a:t>et. al. did </a:t>
            </a:r>
            <a:r>
              <a:rPr lang="en-US" sz="2800" dirty="0">
                <a:latin typeface="Avenir Next" panose="020B0503020202020204" pitchFamily="34" charset="0"/>
              </a:rPr>
              <a:t>security analysis of HTTPS Interception </a:t>
            </a:r>
            <a:r>
              <a:rPr lang="en-US" sz="2800" baseline="30000" dirty="0">
                <a:latin typeface="Avenir Next" panose="020B0503020202020204" pitchFamily="34" charset="0"/>
              </a:rPr>
              <a:t>*</a:t>
            </a:r>
            <a:endParaRPr lang="en-US" sz="2800" dirty="0">
              <a:latin typeface="Avenir Next" panose="020B0503020202020204" pitchFamily="34" charset="0"/>
            </a:endParaRPr>
          </a:p>
          <a:p>
            <a:pPr marL="208021" indent="-208021">
              <a:buFont typeface="Wingdings" panose="05000000000000000000" pitchFamily="2" charset="2"/>
              <a:buChar char="q"/>
            </a:pPr>
            <a:endParaRPr lang="en-US" sz="2800" dirty="0">
              <a:latin typeface="Avenir Next" panose="020B0503020202020204" pitchFamily="34" charset="0"/>
            </a:endParaRPr>
          </a:p>
          <a:p>
            <a:pPr marL="208021" indent="-208021">
              <a:buFont typeface="Wingdings" panose="05000000000000000000" pitchFamily="2" charset="2"/>
              <a:buChar char="q"/>
            </a:pPr>
            <a:r>
              <a:rPr lang="en-GB" sz="2800" dirty="0">
                <a:latin typeface="Avenir Next" panose="020B0503020202020204" pitchFamily="34" charset="0"/>
              </a:rPr>
              <a:t> 5%-10% of all HTTPS connections are intercepted </a:t>
            </a: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Font typeface="Wingdings" panose="05000000000000000000" pitchFamily="2" charset="2"/>
              <a:buChar char="q"/>
            </a:pPr>
            <a:r>
              <a:rPr lang="en-US" sz="2800" dirty="0">
                <a:latin typeface="Avenir Next" panose="020B0503020202020204" pitchFamily="34" charset="0"/>
              </a:rPr>
              <a:t> Investigated 12 Middle-boxes and 20 client-side interception products</a:t>
            </a:r>
            <a:endParaRPr lang="en-GB" sz="2800" dirty="0">
              <a:latin typeface="Avenir Next" panose="020B0503020202020204" pitchFamily="34" charset="0"/>
            </a:endParaRPr>
          </a:p>
          <a:p>
            <a:pPr marL="208021" indent="-208021">
              <a:buFont typeface="Wingdings" panose="05000000000000000000" pitchFamily="2" charset="2"/>
              <a:buChar char="q"/>
            </a:pPr>
            <a:endParaRPr lang="en-GB" sz="2800" dirty="0">
              <a:latin typeface="Avenir Next" panose="020B0503020202020204" pitchFamily="34" charset="0"/>
            </a:endParaRPr>
          </a:p>
          <a:p>
            <a:pPr marL="208021" indent="-208021">
              <a:buFont typeface="Wingdings" panose="05000000000000000000" pitchFamily="2" charset="2"/>
              <a:buChar char="q"/>
            </a:pPr>
            <a:r>
              <a:rPr lang="en-GB" sz="2800" dirty="0">
                <a:latin typeface="Avenir Next" panose="020B0503020202020204" pitchFamily="34" charset="0"/>
              </a:rPr>
              <a:t> Most </a:t>
            </a:r>
            <a:r>
              <a:rPr lang="en-US" sz="2800" dirty="0">
                <a:latin typeface="Avenir Next" panose="020B0503020202020204" pitchFamily="34" charset="0"/>
              </a:rPr>
              <a:t>of the tested products significantly severely decrease security</a:t>
            </a:r>
          </a:p>
        </p:txBody>
      </p:sp>
      <p:sp>
        <p:nvSpPr>
          <p:cNvPr id="9" name="Rectangle 8">
            <a:extLst>
              <a:ext uri="{FF2B5EF4-FFF2-40B4-BE49-F238E27FC236}">
                <a16:creationId xmlns:a16="http://schemas.microsoft.com/office/drawing/2014/main" id="{F4E6CDAB-9A8A-45C7-9BAC-242953AF5B96}"/>
              </a:ext>
            </a:extLst>
          </p:cNvPr>
          <p:cNvSpPr/>
          <p:nvPr>
            <p:custDataLst>
              <p:tags r:id="rId5"/>
            </p:custDataLst>
          </p:nvPr>
        </p:nvSpPr>
        <p:spPr>
          <a:xfrm>
            <a:off x="6194242" y="4011926"/>
            <a:ext cx="1687420" cy="1237607"/>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b="1" dirty="0"/>
          </a:p>
        </p:txBody>
      </p:sp>
      <p:sp>
        <p:nvSpPr>
          <p:cNvPr id="3" name="TextBox 2">
            <a:extLst>
              <a:ext uri="{FF2B5EF4-FFF2-40B4-BE49-F238E27FC236}">
                <a16:creationId xmlns:a16="http://schemas.microsoft.com/office/drawing/2014/main" id="{DC3F8E6A-55F0-8BCE-5E4C-80AFB7FEC62F}"/>
              </a:ext>
            </a:extLst>
          </p:cNvPr>
          <p:cNvSpPr txBox="1"/>
          <p:nvPr>
            <p:custDataLst>
              <p:tags r:id="rId6"/>
            </p:custDataLst>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315629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C4DF21-7D8F-44DD-8B11-2A29E495FBDB}"/>
              </a:ext>
            </a:extLst>
          </p:cNvPr>
          <p:cNvPicPr>
            <a:picLocks noChangeAspect="1"/>
          </p:cNvPicPr>
          <p:nvPr>
            <p:custDataLst>
              <p:tags r:id="rId2"/>
            </p:custDataLst>
          </p:nvPr>
        </p:nvPicPr>
        <p:blipFill>
          <a:blip r:embed="rId13"/>
          <a:stretch>
            <a:fillRect/>
          </a:stretch>
        </p:blipFill>
        <p:spPr>
          <a:xfrm>
            <a:off x="1946627" y="3979536"/>
            <a:ext cx="4149373" cy="1245940"/>
          </a:xfrm>
          <a:prstGeom prst="rect">
            <a:avLst/>
          </a:prstGeom>
        </p:spPr>
      </p:pic>
      <p:pic>
        <p:nvPicPr>
          <p:cNvPr id="5" name="Picture 4">
            <a:extLst>
              <a:ext uri="{FF2B5EF4-FFF2-40B4-BE49-F238E27FC236}">
                <a16:creationId xmlns:a16="http://schemas.microsoft.com/office/drawing/2014/main" id="{DB4289E3-D3E6-46B9-94E9-7AC7C3DECEA6}"/>
              </a:ext>
            </a:extLst>
          </p:cNvPr>
          <p:cNvPicPr>
            <a:picLocks noChangeAspect="1"/>
          </p:cNvPicPr>
          <p:nvPr>
            <p:custDataLst>
              <p:tags r:id="rId3"/>
            </p:custDataLst>
          </p:nvPr>
        </p:nvPicPr>
        <p:blipFill>
          <a:blip r:embed="rId14"/>
          <a:stretch>
            <a:fillRect/>
          </a:stretch>
        </p:blipFill>
        <p:spPr>
          <a:xfrm>
            <a:off x="5678846" y="1962075"/>
            <a:ext cx="4925430" cy="3281392"/>
          </a:xfrm>
          <a:prstGeom prst="rect">
            <a:avLst/>
          </a:prstGeom>
        </p:spPr>
      </p:pic>
      <p:sp>
        <p:nvSpPr>
          <p:cNvPr id="2" name="TextBox 1">
            <a:extLst>
              <a:ext uri="{FF2B5EF4-FFF2-40B4-BE49-F238E27FC236}">
                <a16:creationId xmlns:a16="http://schemas.microsoft.com/office/drawing/2014/main" id="{321CDDEC-2BAE-4B2C-A7D0-94A9F434F5CE}"/>
              </a:ext>
            </a:extLst>
          </p:cNvPr>
          <p:cNvSpPr txBox="1"/>
          <p:nvPr>
            <p:custDataLst>
              <p:tags r:id="rId4"/>
            </p:custDataLst>
          </p:nvPr>
        </p:nvSpPr>
        <p:spPr>
          <a:xfrm>
            <a:off x="2147394" y="2066383"/>
            <a:ext cx="3335717" cy="495520"/>
          </a:xfrm>
          <a:prstGeom prst="rect">
            <a:avLst/>
          </a:prstGeom>
          <a:noFill/>
        </p:spPr>
        <p:txBody>
          <a:bodyPr wrap="square" rtlCol="0">
            <a:spAutoFit/>
          </a:bodyPr>
          <a:lstStyle/>
          <a:p>
            <a:r>
              <a:rPr lang="en-US" sz="1310" b="1" dirty="0">
                <a:solidFill>
                  <a:schemeClr val="tx1">
                    <a:lumMod val="75000"/>
                    <a:lumOff val="25000"/>
                  </a:schemeClr>
                </a:solidFill>
              </a:rPr>
              <a:t>Detailed results for the tested Interception products</a:t>
            </a:r>
          </a:p>
        </p:txBody>
      </p:sp>
      <p:sp>
        <p:nvSpPr>
          <p:cNvPr id="7" name="Rectangle 6">
            <a:extLst>
              <a:ext uri="{FF2B5EF4-FFF2-40B4-BE49-F238E27FC236}">
                <a16:creationId xmlns:a16="http://schemas.microsoft.com/office/drawing/2014/main" id="{3EFC9643-BA5A-41B0-931F-401D1C7C6A81}"/>
              </a:ext>
            </a:extLst>
          </p:cNvPr>
          <p:cNvSpPr/>
          <p:nvPr>
            <p:custDataLst>
              <p:tags r:id="rId5"/>
            </p:custDataLst>
          </p:nvPr>
        </p:nvSpPr>
        <p:spPr>
          <a:xfrm>
            <a:off x="2031453" y="4844808"/>
            <a:ext cx="3557906" cy="81858"/>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sp>
        <p:nvSpPr>
          <p:cNvPr id="6" name="TextBox 5">
            <a:extLst>
              <a:ext uri="{FF2B5EF4-FFF2-40B4-BE49-F238E27FC236}">
                <a16:creationId xmlns:a16="http://schemas.microsoft.com/office/drawing/2014/main" id="{C86112BB-B773-4767-9791-880D355052E4}"/>
              </a:ext>
            </a:extLst>
          </p:cNvPr>
          <p:cNvSpPr txBox="1"/>
          <p:nvPr>
            <p:custDataLst>
              <p:tags r:id="rId6"/>
            </p:custDataLst>
          </p:nvPr>
        </p:nvSpPr>
        <p:spPr>
          <a:xfrm>
            <a:off x="0" y="5833553"/>
            <a:ext cx="12192000" cy="923330"/>
          </a:xfrm>
          <a:prstGeom prst="rect">
            <a:avLst/>
          </a:prstGeom>
          <a:noFill/>
        </p:spPr>
        <p:txBody>
          <a:bodyPr wrap="square" rtlCol="0">
            <a:spAutoFit/>
          </a:bodyPr>
          <a:lstStyle/>
          <a:p>
            <a:pPr algn="ctr"/>
            <a:r>
              <a:rPr 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Zakir </a:t>
            </a:r>
            <a:r>
              <a:rPr lang="en-US"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Durumeric</a:t>
            </a:r>
            <a:r>
              <a:rPr lang="en-US"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Zane Ma, Drew Springall, Richard Barnes, Nick Sullivan, Elie </a:t>
            </a:r>
            <a:r>
              <a:rPr lang="en-US"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Bursztein</a:t>
            </a:r>
            <a:r>
              <a:rPr lang="en-US"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Michael Bailey, J Alex </a:t>
            </a:r>
            <a:r>
              <a:rPr lang="en-US"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Halderman</a:t>
            </a:r>
            <a:r>
              <a:rPr lang="en-US"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and Vern Paxson</a:t>
            </a:r>
            <a:r>
              <a:rPr 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The security impact of https interception</a:t>
            </a:r>
            <a:r>
              <a:rPr lang="en-US"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In NDSS Symposium. NDSS, 2017.</a:t>
            </a:r>
          </a:p>
        </p:txBody>
      </p:sp>
      <p:sp>
        <p:nvSpPr>
          <p:cNvPr id="10" name="Rectangle 9">
            <a:extLst>
              <a:ext uri="{FF2B5EF4-FFF2-40B4-BE49-F238E27FC236}">
                <a16:creationId xmlns:a16="http://schemas.microsoft.com/office/drawing/2014/main" id="{E60B7E76-04D1-4BA4-8321-1164F33EA005}"/>
              </a:ext>
            </a:extLst>
          </p:cNvPr>
          <p:cNvSpPr/>
          <p:nvPr>
            <p:custDataLst>
              <p:tags r:id="rId7"/>
            </p:custDataLst>
          </p:nvPr>
        </p:nvSpPr>
        <p:spPr>
          <a:xfrm>
            <a:off x="2549069" y="2855027"/>
            <a:ext cx="7492749" cy="331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pic>
        <p:nvPicPr>
          <p:cNvPr id="9" name="Picture 8">
            <a:extLst>
              <a:ext uri="{FF2B5EF4-FFF2-40B4-BE49-F238E27FC236}">
                <a16:creationId xmlns:a16="http://schemas.microsoft.com/office/drawing/2014/main" id="{C66BB4DE-4D0C-4D50-9BE9-FE0AA796DFBF}"/>
              </a:ext>
            </a:extLst>
          </p:cNvPr>
          <p:cNvPicPr>
            <a:picLocks noChangeAspect="1"/>
          </p:cNvPicPr>
          <p:nvPr>
            <p:custDataLst>
              <p:tags r:id="rId8"/>
            </p:custDataLst>
          </p:nvPr>
        </p:nvPicPr>
        <p:blipFill>
          <a:blip r:embed="rId15"/>
          <a:stretch>
            <a:fillRect/>
          </a:stretch>
        </p:blipFill>
        <p:spPr>
          <a:xfrm>
            <a:off x="2767550" y="2924690"/>
            <a:ext cx="7055786" cy="172535"/>
          </a:xfrm>
          <a:prstGeom prst="rect">
            <a:avLst/>
          </a:prstGeom>
        </p:spPr>
      </p:pic>
      <p:cxnSp>
        <p:nvCxnSpPr>
          <p:cNvPr id="12" name="Straight Arrow Connector 11">
            <a:extLst>
              <a:ext uri="{FF2B5EF4-FFF2-40B4-BE49-F238E27FC236}">
                <a16:creationId xmlns:a16="http://schemas.microsoft.com/office/drawing/2014/main" id="{5AF1FF45-DCFD-4325-8ACA-2F7075F91E47}"/>
              </a:ext>
            </a:extLst>
          </p:cNvPr>
          <p:cNvCxnSpPr>
            <a:cxnSpLocks/>
          </p:cNvCxnSpPr>
          <p:nvPr>
            <p:custDataLst>
              <p:tags r:id="rId9"/>
            </p:custDataLst>
          </p:nvPr>
        </p:nvCxnSpPr>
        <p:spPr>
          <a:xfrm flipV="1">
            <a:off x="3826185" y="3214545"/>
            <a:ext cx="565490" cy="16302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1A99AB2-6B81-C1A5-3BDE-922CC97E521D}"/>
              </a:ext>
            </a:extLst>
          </p:cNvPr>
          <p:cNvSpPr txBox="1"/>
          <p:nvPr>
            <p:custDataLst>
              <p:tags r:id="rId10"/>
            </p:custDataLst>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TLS Interception: Security Impact</a:t>
            </a:r>
          </a:p>
        </p:txBody>
      </p:sp>
    </p:spTree>
    <p:custDataLst>
      <p:tags r:id="rId1"/>
    </p:custDataLst>
    <p:extLst>
      <p:ext uri="{BB962C8B-B14F-4D97-AF65-F5344CB8AC3E}">
        <p14:creationId xmlns:p14="http://schemas.microsoft.com/office/powerpoint/2010/main" val="2339074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117E9D-5E7C-410B-9983-2DAE7B24D94F}"/>
              </a:ext>
            </a:extLst>
          </p:cNvPr>
          <p:cNvSpPr>
            <a:spLocks noGrp="1"/>
          </p:cNvSpPr>
          <p:nvPr>
            <p:ph type="title"/>
            <p:custDataLst>
              <p:tags r:id="rId2"/>
            </p:custDataLst>
          </p:nvPr>
        </p:nvSpPr>
        <p:spPr>
          <a:xfrm>
            <a:off x="0" y="1537252"/>
            <a:ext cx="12191999" cy="1375907"/>
          </a:xfrm>
          <a:solidFill>
            <a:srgbClr val="C00000"/>
          </a:solidFill>
        </p:spPr>
        <p:txBody>
          <a:bodyPr>
            <a:noAutofit/>
          </a:bodyPr>
          <a:lstStyle/>
          <a:p>
            <a:pPr algn="ctr"/>
            <a:r>
              <a:rPr lang="en-US" sz="3200" b="1" dirty="0">
                <a:solidFill>
                  <a:schemeClr val="bg1"/>
                </a:solidFill>
                <a:latin typeface="Avenir Next" panose="020B0503020202020204" pitchFamily="34" charset="0"/>
              </a:rPr>
              <a:t>What weaknesses of certificate-based authentication </a:t>
            </a:r>
            <a:br>
              <a:rPr lang="en-US" sz="3200" b="1" dirty="0">
                <a:solidFill>
                  <a:schemeClr val="bg1"/>
                </a:solidFill>
                <a:latin typeface="Avenir Next" panose="020B0503020202020204" pitchFamily="34" charset="0"/>
              </a:rPr>
            </a:br>
            <a:r>
              <a:rPr lang="en-US" sz="3200" b="1" dirty="0">
                <a:solidFill>
                  <a:schemeClr val="bg1"/>
                </a:solidFill>
                <a:latin typeface="Avenir Next" panose="020B0503020202020204" pitchFamily="34" charset="0"/>
              </a:rPr>
              <a:t>does TLS interception exploit?</a:t>
            </a:r>
          </a:p>
        </p:txBody>
      </p:sp>
      <p:sp>
        <p:nvSpPr>
          <p:cNvPr id="2" name="Slide Number Placeholder 1">
            <a:extLst>
              <a:ext uri="{FF2B5EF4-FFF2-40B4-BE49-F238E27FC236}">
                <a16:creationId xmlns:a16="http://schemas.microsoft.com/office/drawing/2014/main" id="{3BCE7F15-AA5D-3A45-8C22-4EF5C6D814A6}"/>
              </a:ext>
            </a:extLst>
          </p:cNvPr>
          <p:cNvSpPr>
            <a:spLocks noGrp="1"/>
          </p:cNvSpPr>
          <p:nvPr>
            <p:ph type="sldNum" sz="quarter" idx="12"/>
            <p:custDataLst>
              <p:tags r:id="rId3"/>
            </p:custDataLst>
          </p:nvPr>
        </p:nvSpPr>
        <p:spPr/>
        <p:txBody>
          <a:bodyPr/>
          <a:lstStyle/>
          <a:p>
            <a:r>
              <a:rPr lang="en-US"/>
              <a:t>66</a:t>
            </a:r>
          </a:p>
        </p:txBody>
      </p:sp>
      <p:sp>
        <p:nvSpPr>
          <p:cNvPr id="4" name="Content Placeholder 3">
            <a:extLst>
              <a:ext uri="{FF2B5EF4-FFF2-40B4-BE49-F238E27FC236}">
                <a16:creationId xmlns:a16="http://schemas.microsoft.com/office/drawing/2014/main" id="{C7FFD301-6CF3-ABC5-2D78-9FAB401C3596}"/>
              </a:ext>
            </a:extLst>
          </p:cNvPr>
          <p:cNvSpPr>
            <a:spLocks noGrp="1"/>
          </p:cNvSpPr>
          <p:nvPr>
            <p:ph idx="1"/>
          </p:nvPr>
        </p:nvSpPr>
        <p:spPr/>
        <p:txBody>
          <a:bodyPr/>
          <a:lstStyle/>
          <a:p>
            <a:endParaRPr lang="en-US"/>
          </a:p>
        </p:txBody>
      </p:sp>
    </p:spTree>
    <p:custDataLst>
      <p:tags r:id="rId1"/>
    </p:custDataLst>
    <p:extLst>
      <p:ext uri="{BB962C8B-B14F-4D97-AF65-F5344CB8AC3E}">
        <p14:creationId xmlns:p14="http://schemas.microsoft.com/office/powerpoint/2010/main" val="30927376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117E9D-5E7C-410B-9983-2DAE7B24D94F}"/>
              </a:ext>
            </a:extLst>
          </p:cNvPr>
          <p:cNvSpPr>
            <a:spLocks noGrp="1"/>
          </p:cNvSpPr>
          <p:nvPr>
            <p:ph type="title"/>
            <p:custDataLst>
              <p:tags r:id="rId2"/>
            </p:custDataLst>
          </p:nvPr>
        </p:nvSpPr>
        <p:spPr>
          <a:xfrm>
            <a:off x="0" y="1537252"/>
            <a:ext cx="12191999" cy="1375907"/>
          </a:xfrm>
          <a:solidFill>
            <a:srgbClr val="C00000"/>
          </a:solidFill>
        </p:spPr>
        <p:txBody>
          <a:bodyPr>
            <a:noAutofit/>
          </a:bodyPr>
          <a:lstStyle/>
          <a:p>
            <a:pPr algn="ctr"/>
            <a:r>
              <a:rPr lang="en-US" sz="3200" b="1" dirty="0">
                <a:solidFill>
                  <a:schemeClr val="bg1"/>
                </a:solidFill>
                <a:latin typeface="Avenir Next" panose="020B0503020202020204" pitchFamily="34" charset="0"/>
              </a:rPr>
              <a:t>What weaknesses of certificate-based authentication </a:t>
            </a:r>
            <a:br>
              <a:rPr lang="en-US" sz="3200" b="1" dirty="0">
                <a:solidFill>
                  <a:schemeClr val="bg1"/>
                </a:solidFill>
                <a:latin typeface="Avenir Next" panose="020B0503020202020204" pitchFamily="34" charset="0"/>
              </a:rPr>
            </a:br>
            <a:r>
              <a:rPr lang="en-US" sz="3200" b="1" dirty="0">
                <a:solidFill>
                  <a:schemeClr val="bg1"/>
                </a:solidFill>
                <a:latin typeface="Avenir Next" panose="020B0503020202020204" pitchFamily="34" charset="0"/>
              </a:rPr>
              <a:t>does TLS interception exploit?</a:t>
            </a:r>
          </a:p>
        </p:txBody>
      </p:sp>
      <p:sp>
        <p:nvSpPr>
          <p:cNvPr id="7" name="Content Placeholder 2">
            <a:extLst>
              <a:ext uri="{FF2B5EF4-FFF2-40B4-BE49-F238E27FC236}">
                <a16:creationId xmlns:a16="http://schemas.microsoft.com/office/drawing/2014/main" id="{B53E8EA1-2712-4DE9-92F3-8E8E930075BD}"/>
              </a:ext>
            </a:extLst>
          </p:cNvPr>
          <p:cNvSpPr>
            <a:spLocks noGrp="1"/>
          </p:cNvSpPr>
          <p:nvPr>
            <p:ph idx="1"/>
            <p:custDataLst>
              <p:tags r:id="rId3"/>
            </p:custDataLst>
          </p:nvPr>
        </p:nvSpPr>
        <p:spPr>
          <a:xfrm>
            <a:off x="2499841" y="3162032"/>
            <a:ext cx="7821996" cy="2258107"/>
          </a:xfrm>
          <a:solidFill>
            <a:schemeClr val="accent3">
              <a:lumMod val="20000"/>
              <a:lumOff val="80000"/>
            </a:schemeClr>
          </a:solidFill>
          <a:ln w="28575">
            <a:solidFill>
              <a:schemeClr val="tx1"/>
            </a:solidFill>
          </a:ln>
        </p:spPr>
        <p:txBody>
          <a:bodyPr>
            <a:noAutofit/>
          </a:bodyPr>
          <a:lstStyle/>
          <a:p>
            <a:pPr lvl="1">
              <a:buFont typeface="Wingdings" panose="05000000000000000000" pitchFamily="2" charset="2"/>
              <a:buChar char="q"/>
            </a:pPr>
            <a:r>
              <a:rPr lang="en-US" sz="3600" b="1" dirty="0">
                <a:latin typeface="Avenir Next" panose="020B0503020202020204" pitchFamily="34" charset="0"/>
              </a:rPr>
              <a:t> CA trust is breakable</a:t>
            </a:r>
            <a:br>
              <a:rPr lang="en-US" sz="3600" b="1" dirty="0">
                <a:latin typeface="Avenir Next" panose="020B0503020202020204" pitchFamily="34" charset="0"/>
              </a:rPr>
            </a:br>
            <a:endParaRPr lang="en-US" sz="3600" b="1" dirty="0">
              <a:latin typeface="Avenir Next" panose="020B0503020202020204" pitchFamily="34" charset="0"/>
            </a:endParaRPr>
          </a:p>
          <a:p>
            <a:pPr lvl="1">
              <a:buFont typeface="Wingdings" panose="05000000000000000000" pitchFamily="2" charset="2"/>
              <a:buChar char="q"/>
            </a:pPr>
            <a:r>
              <a:rPr lang="en-US" sz="3600" b="1" dirty="0">
                <a:latin typeface="Avenir Next" panose="020B0503020202020204" pitchFamily="34" charset="0"/>
              </a:rPr>
              <a:t> Library developers can be careless</a:t>
            </a:r>
          </a:p>
        </p:txBody>
      </p:sp>
      <p:sp>
        <p:nvSpPr>
          <p:cNvPr id="2" name="Slide Number Placeholder 1">
            <a:extLst>
              <a:ext uri="{FF2B5EF4-FFF2-40B4-BE49-F238E27FC236}">
                <a16:creationId xmlns:a16="http://schemas.microsoft.com/office/drawing/2014/main" id="{3BCE7F15-AA5D-3A45-8C22-4EF5C6D814A6}"/>
              </a:ext>
            </a:extLst>
          </p:cNvPr>
          <p:cNvSpPr>
            <a:spLocks noGrp="1"/>
          </p:cNvSpPr>
          <p:nvPr>
            <p:ph type="sldNum" sz="quarter" idx="12"/>
            <p:custDataLst>
              <p:tags r:id="rId4"/>
            </p:custDataLst>
          </p:nvPr>
        </p:nvSpPr>
        <p:spPr/>
        <p:txBody>
          <a:bodyPr/>
          <a:lstStyle/>
          <a:p>
            <a:r>
              <a:rPr lang="en-US"/>
              <a:t>66</a:t>
            </a:r>
          </a:p>
        </p:txBody>
      </p:sp>
    </p:spTree>
    <p:custDataLst>
      <p:tags r:id="rId1"/>
    </p:custDataLst>
    <p:extLst>
      <p:ext uri="{BB962C8B-B14F-4D97-AF65-F5344CB8AC3E}">
        <p14:creationId xmlns:p14="http://schemas.microsoft.com/office/powerpoint/2010/main" val="3388105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117E9D-5E7C-410B-9983-2DAE7B24D94F}"/>
              </a:ext>
            </a:extLst>
          </p:cNvPr>
          <p:cNvSpPr>
            <a:spLocks noGrp="1"/>
          </p:cNvSpPr>
          <p:nvPr>
            <p:ph type="title"/>
            <p:custDataLst>
              <p:tags r:id="rId2"/>
            </p:custDataLst>
          </p:nvPr>
        </p:nvSpPr>
        <p:spPr>
          <a:xfrm>
            <a:off x="2108528" y="2346562"/>
            <a:ext cx="7654738" cy="677494"/>
          </a:xfrm>
          <a:solidFill>
            <a:srgbClr val="C00000"/>
          </a:solidFill>
        </p:spPr>
        <p:txBody>
          <a:bodyPr>
            <a:normAutofit/>
          </a:bodyPr>
          <a:lstStyle/>
          <a:p>
            <a:pPr algn="ctr"/>
            <a:r>
              <a:rPr lang="en-US" sz="3200" b="1" dirty="0">
                <a:solidFill>
                  <a:schemeClr val="bg1"/>
                </a:solidFill>
                <a:latin typeface="Avenir Next" panose="020B0503020202020204" pitchFamily="34" charset="0"/>
              </a:rPr>
              <a:t>There are some existing solutions</a:t>
            </a:r>
          </a:p>
        </p:txBody>
      </p:sp>
      <p:sp>
        <p:nvSpPr>
          <p:cNvPr id="7" name="Content Placeholder 2">
            <a:extLst>
              <a:ext uri="{FF2B5EF4-FFF2-40B4-BE49-F238E27FC236}">
                <a16:creationId xmlns:a16="http://schemas.microsoft.com/office/drawing/2014/main" id="{B53E8EA1-2712-4DE9-92F3-8E8E930075BD}"/>
              </a:ext>
            </a:extLst>
          </p:cNvPr>
          <p:cNvSpPr>
            <a:spLocks noGrp="1"/>
          </p:cNvSpPr>
          <p:nvPr>
            <p:ph idx="1"/>
            <p:custDataLst>
              <p:tags r:id="rId3"/>
            </p:custDataLst>
          </p:nvPr>
        </p:nvSpPr>
        <p:spPr>
          <a:xfrm>
            <a:off x="4034181" y="3024056"/>
            <a:ext cx="3803433" cy="696646"/>
          </a:xfrm>
          <a:solidFill>
            <a:schemeClr val="accent3">
              <a:lumMod val="20000"/>
              <a:lumOff val="80000"/>
            </a:schemeClr>
          </a:solidFill>
          <a:ln w="28575">
            <a:solidFill>
              <a:schemeClr val="tx1"/>
            </a:solidFill>
          </a:ln>
        </p:spPr>
        <p:txBody>
          <a:bodyPr>
            <a:noAutofit/>
          </a:bodyPr>
          <a:lstStyle/>
          <a:p>
            <a:pPr lvl="1">
              <a:buFont typeface="Wingdings" panose="05000000000000000000" pitchFamily="2" charset="2"/>
              <a:buChar char="q"/>
            </a:pPr>
            <a:r>
              <a:rPr lang="en-US" sz="1747" b="1" dirty="0"/>
              <a:t>DNS based authentication</a:t>
            </a:r>
          </a:p>
          <a:p>
            <a:pPr lvl="1">
              <a:buFont typeface="Wingdings" panose="05000000000000000000" pitchFamily="2" charset="2"/>
              <a:buChar char="q"/>
            </a:pPr>
            <a:r>
              <a:rPr lang="en-US" sz="1747" b="1" dirty="0"/>
              <a:t>Certificate pinning, etc.</a:t>
            </a:r>
          </a:p>
          <a:p>
            <a:pPr lvl="1">
              <a:buFont typeface="Wingdings" panose="05000000000000000000" pitchFamily="2" charset="2"/>
              <a:buChar char="q"/>
            </a:pPr>
            <a:endParaRPr lang="en-US" sz="1747" b="1" dirty="0"/>
          </a:p>
        </p:txBody>
      </p:sp>
      <p:sp>
        <p:nvSpPr>
          <p:cNvPr id="4" name="Content Placeholder 2">
            <a:extLst>
              <a:ext uri="{FF2B5EF4-FFF2-40B4-BE49-F238E27FC236}">
                <a16:creationId xmlns:a16="http://schemas.microsoft.com/office/drawing/2014/main" id="{952E5A41-29E9-4C70-8E5C-9A6BE48A00CF}"/>
              </a:ext>
            </a:extLst>
          </p:cNvPr>
          <p:cNvSpPr txBox="1">
            <a:spLocks/>
          </p:cNvSpPr>
          <p:nvPr>
            <p:custDataLst>
              <p:tags r:id="rId4"/>
            </p:custDataLst>
          </p:nvPr>
        </p:nvSpPr>
        <p:spPr>
          <a:xfrm>
            <a:off x="4388004" y="3805356"/>
            <a:ext cx="3319658" cy="677494"/>
          </a:xfrm>
          <a:prstGeom prst="rect">
            <a:avLst/>
          </a:prstGeom>
        </p:spPr>
        <p:txBody>
          <a:bodyPr vert="horz" lIns="66563" tIns="33281" rIns="66563" bIns="33281"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32832" lvl="1" indent="0">
              <a:buNone/>
            </a:pPr>
            <a:endParaRPr lang="en-US" sz="1165" b="1"/>
          </a:p>
        </p:txBody>
      </p:sp>
    </p:spTree>
    <p:custDataLst>
      <p:tags r:id="rId1"/>
    </p:custDataLst>
    <p:extLst>
      <p:ext uri="{BB962C8B-B14F-4D97-AF65-F5344CB8AC3E}">
        <p14:creationId xmlns:p14="http://schemas.microsoft.com/office/powerpoint/2010/main" val="30014848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117E9D-5E7C-410B-9983-2DAE7B24D94F}"/>
              </a:ext>
            </a:extLst>
          </p:cNvPr>
          <p:cNvSpPr>
            <a:spLocks noGrp="1"/>
          </p:cNvSpPr>
          <p:nvPr>
            <p:ph type="title"/>
            <p:custDataLst>
              <p:tags r:id="rId2"/>
            </p:custDataLst>
          </p:nvPr>
        </p:nvSpPr>
        <p:spPr>
          <a:xfrm>
            <a:off x="2108528" y="2346562"/>
            <a:ext cx="7654738" cy="677494"/>
          </a:xfrm>
          <a:solidFill>
            <a:srgbClr val="C00000"/>
          </a:solidFill>
        </p:spPr>
        <p:txBody>
          <a:bodyPr>
            <a:normAutofit/>
          </a:bodyPr>
          <a:lstStyle/>
          <a:p>
            <a:pPr algn="ctr"/>
            <a:r>
              <a:rPr lang="en-US" sz="3200" b="1" dirty="0">
                <a:solidFill>
                  <a:schemeClr val="bg1"/>
                </a:solidFill>
                <a:latin typeface="Avenir Next" panose="020B0503020202020204" pitchFamily="34" charset="0"/>
              </a:rPr>
              <a:t>There are some existing solutions</a:t>
            </a:r>
          </a:p>
        </p:txBody>
      </p:sp>
      <p:sp>
        <p:nvSpPr>
          <p:cNvPr id="7" name="Content Placeholder 2">
            <a:extLst>
              <a:ext uri="{FF2B5EF4-FFF2-40B4-BE49-F238E27FC236}">
                <a16:creationId xmlns:a16="http://schemas.microsoft.com/office/drawing/2014/main" id="{B53E8EA1-2712-4DE9-92F3-8E8E930075BD}"/>
              </a:ext>
            </a:extLst>
          </p:cNvPr>
          <p:cNvSpPr>
            <a:spLocks noGrp="1"/>
          </p:cNvSpPr>
          <p:nvPr>
            <p:ph idx="1"/>
            <p:custDataLst>
              <p:tags r:id="rId3"/>
            </p:custDataLst>
          </p:nvPr>
        </p:nvSpPr>
        <p:spPr>
          <a:xfrm>
            <a:off x="4034181" y="3024056"/>
            <a:ext cx="3803433" cy="696646"/>
          </a:xfrm>
          <a:solidFill>
            <a:schemeClr val="accent3">
              <a:lumMod val="20000"/>
              <a:lumOff val="80000"/>
            </a:schemeClr>
          </a:solidFill>
          <a:ln w="28575">
            <a:solidFill>
              <a:schemeClr val="tx1"/>
            </a:solidFill>
          </a:ln>
        </p:spPr>
        <p:txBody>
          <a:bodyPr>
            <a:noAutofit/>
          </a:bodyPr>
          <a:lstStyle/>
          <a:p>
            <a:pPr lvl="1">
              <a:buFont typeface="Wingdings" panose="05000000000000000000" pitchFamily="2" charset="2"/>
              <a:buChar char="q"/>
            </a:pPr>
            <a:r>
              <a:rPr lang="en-US" sz="1747" b="1" dirty="0"/>
              <a:t>DNS based authentication</a:t>
            </a:r>
          </a:p>
          <a:p>
            <a:pPr lvl="1">
              <a:buFont typeface="Wingdings" panose="05000000000000000000" pitchFamily="2" charset="2"/>
              <a:buChar char="q"/>
            </a:pPr>
            <a:r>
              <a:rPr lang="en-US" sz="1747" b="1" dirty="0"/>
              <a:t>Certificate pinning, etc.</a:t>
            </a:r>
          </a:p>
          <a:p>
            <a:pPr lvl="1">
              <a:buFont typeface="Wingdings" panose="05000000000000000000" pitchFamily="2" charset="2"/>
              <a:buChar char="q"/>
            </a:pPr>
            <a:endParaRPr lang="en-US" sz="1747" b="1" dirty="0"/>
          </a:p>
        </p:txBody>
      </p:sp>
      <p:sp>
        <p:nvSpPr>
          <p:cNvPr id="4" name="Content Placeholder 2">
            <a:extLst>
              <a:ext uri="{FF2B5EF4-FFF2-40B4-BE49-F238E27FC236}">
                <a16:creationId xmlns:a16="http://schemas.microsoft.com/office/drawing/2014/main" id="{952E5A41-29E9-4C70-8E5C-9A6BE48A00CF}"/>
              </a:ext>
            </a:extLst>
          </p:cNvPr>
          <p:cNvSpPr txBox="1">
            <a:spLocks/>
          </p:cNvSpPr>
          <p:nvPr>
            <p:custDataLst>
              <p:tags r:id="rId4"/>
            </p:custDataLst>
          </p:nvPr>
        </p:nvSpPr>
        <p:spPr>
          <a:xfrm>
            <a:off x="4388004" y="3805356"/>
            <a:ext cx="3319658" cy="677494"/>
          </a:xfrm>
          <a:prstGeom prst="rect">
            <a:avLst/>
          </a:prstGeom>
        </p:spPr>
        <p:txBody>
          <a:bodyPr vert="horz" lIns="66563" tIns="33281" rIns="66563" bIns="33281"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32832" lvl="1" indent="0">
              <a:buNone/>
            </a:pPr>
            <a:endParaRPr lang="en-US" sz="1165" b="1"/>
          </a:p>
        </p:txBody>
      </p:sp>
      <p:sp>
        <p:nvSpPr>
          <p:cNvPr id="2" name="TextBox 1">
            <a:extLst>
              <a:ext uri="{FF2B5EF4-FFF2-40B4-BE49-F238E27FC236}">
                <a16:creationId xmlns:a16="http://schemas.microsoft.com/office/drawing/2014/main" id="{6C65067C-8A2A-489B-99E7-72A8A6294CDF}"/>
              </a:ext>
            </a:extLst>
          </p:cNvPr>
          <p:cNvSpPr txBox="1"/>
          <p:nvPr>
            <p:custDataLst>
              <p:tags r:id="rId5"/>
            </p:custDataLst>
          </p:nvPr>
        </p:nvSpPr>
        <p:spPr>
          <a:xfrm>
            <a:off x="1" y="3933743"/>
            <a:ext cx="12192000" cy="523220"/>
          </a:xfrm>
          <a:prstGeom prst="rect">
            <a:avLst/>
          </a:prstGeom>
          <a:noFill/>
        </p:spPr>
        <p:txBody>
          <a:bodyPr wrap="square" rtlCol="0" anchor="t">
            <a:spAutoFit/>
          </a:bodyPr>
          <a:lstStyle/>
          <a:p>
            <a:pPr algn="ctr"/>
            <a:r>
              <a:rPr lang="en-US" sz="2800" b="1" dirty="0">
                <a:solidFill>
                  <a:schemeClr val="tx1">
                    <a:lumMod val="75000"/>
                    <a:lumOff val="25000"/>
                  </a:schemeClr>
                </a:solidFill>
                <a:latin typeface="Avenir Next" panose="020B0503020202020204" pitchFamily="34" charset="0"/>
              </a:rPr>
              <a:t>But again, we have to rely on </a:t>
            </a:r>
            <a:r>
              <a:rPr lang="en-US" sz="2800" b="1" dirty="0">
                <a:solidFill>
                  <a:srgbClr val="C00000"/>
                </a:solidFill>
                <a:latin typeface="Avenir Next" panose="020B0503020202020204" pitchFamily="34" charset="0"/>
              </a:rPr>
              <a:t>DNS servers </a:t>
            </a:r>
            <a:r>
              <a:rPr lang="en-US" sz="2800" b="1" dirty="0">
                <a:solidFill>
                  <a:schemeClr val="tx1">
                    <a:lumMod val="75000"/>
                    <a:lumOff val="25000"/>
                  </a:schemeClr>
                </a:solidFill>
                <a:latin typeface="Avenir Next" panose="020B0503020202020204" pitchFamily="34" charset="0"/>
              </a:rPr>
              <a:t>and </a:t>
            </a:r>
            <a:r>
              <a:rPr lang="en-US" sz="2800" b="1" dirty="0">
                <a:solidFill>
                  <a:srgbClr val="C00000"/>
                </a:solidFill>
                <a:latin typeface="Avenir Next" panose="020B0503020202020204" pitchFamily="34" charset="0"/>
              </a:rPr>
              <a:t>application developers</a:t>
            </a:r>
          </a:p>
        </p:txBody>
      </p:sp>
    </p:spTree>
    <p:custDataLst>
      <p:tags r:id="rId1"/>
    </p:custDataLst>
    <p:extLst>
      <p:ext uri="{BB962C8B-B14F-4D97-AF65-F5344CB8AC3E}">
        <p14:creationId xmlns:p14="http://schemas.microsoft.com/office/powerpoint/2010/main" val="8789421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B117E9D-5E7C-410B-9983-2DAE7B24D94F}"/>
              </a:ext>
            </a:extLst>
          </p:cNvPr>
          <p:cNvSpPr>
            <a:spLocks noGrp="1"/>
          </p:cNvSpPr>
          <p:nvPr>
            <p:ph type="title"/>
            <p:custDataLst>
              <p:tags r:id="rId2"/>
            </p:custDataLst>
          </p:nvPr>
        </p:nvSpPr>
        <p:spPr>
          <a:xfrm>
            <a:off x="2108528" y="2346562"/>
            <a:ext cx="7654738" cy="677494"/>
          </a:xfrm>
          <a:solidFill>
            <a:srgbClr val="C00000"/>
          </a:solidFill>
        </p:spPr>
        <p:txBody>
          <a:bodyPr>
            <a:normAutofit/>
          </a:bodyPr>
          <a:lstStyle/>
          <a:p>
            <a:pPr algn="ctr"/>
            <a:r>
              <a:rPr lang="en-US" sz="3200" b="1" dirty="0">
                <a:solidFill>
                  <a:schemeClr val="bg1"/>
                </a:solidFill>
                <a:latin typeface="Avenir Next" panose="020B0503020202020204" pitchFamily="34" charset="0"/>
              </a:rPr>
              <a:t>There are some existing solutions</a:t>
            </a:r>
          </a:p>
        </p:txBody>
      </p:sp>
      <p:sp>
        <p:nvSpPr>
          <p:cNvPr id="7" name="Content Placeholder 2">
            <a:extLst>
              <a:ext uri="{FF2B5EF4-FFF2-40B4-BE49-F238E27FC236}">
                <a16:creationId xmlns:a16="http://schemas.microsoft.com/office/drawing/2014/main" id="{B53E8EA1-2712-4DE9-92F3-8E8E930075BD}"/>
              </a:ext>
            </a:extLst>
          </p:cNvPr>
          <p:cNvSpPr>
            <a:spLocks noGrp="1"/>
          </p:cNvSpPr>
          <p:nvPr>
            <p:ph idx="1"/>
            <p:custDataLst>
              <p:tags r:id="rId3"/>
            </p:custDataLst>
          </p:nvPr>
        </p:nvSpPr>
        <p:spPr>
          <a:xfrm>
            <a:off x="4034181" y="3024056"/>
            <a:ext cx="3803433" cy="696646"/>
          </a:xfrm>
          <a:solidFill>
            <a:schemeClr val="accent3">
              <a:lumMod val="20000"/>
              <a:lumOff val="80000"/>
            </a:schemeClr>
          </a:solidFill>
          <a:ln w="28575">
            <a:solidFill>
              <a:schemeClr val="tx1"/>
            </a:solidFill>
          </a:ln>
        </p:spPr>
        <p:txBody>
          <a:bodyPr>
            <a:noAutofit/>
          </a:bodyPr>
          <a:lstStyle/>
          <a:p>
            <a:pPr lvl="1">
              <a:buFont typeface="Wingdings" panose="05000000000000000000" pitchFamily="2" charset="2"/>
              <a:buChar char="q"/>
            </a:pPr>
            <a:r>
              <a:rPr lang="en-US" sz="1747" b="1" dirty="0"/>
              <a:t>DNS based authentication</a:t>
            </a:r>
          </a:p>
          <a:p>
            <a:pPr lvl="1">
              <a:buFont typeface="Wingdings" panose="05000000000000000000" pitchFamily="2" charset="2"/>
              <a:buChar char="q"/>
            </a:pPr>
            <a:r>
              <a:rPr lang="en-US" sz="1747" b="1" dirty="0"/>
              <a:t>Certificate pinning, etc.</a:t>
            </a:r>
          </a:p>
          <a:p>
            <a:pPr lvl="1">
              <a:buFont typeface="Wingdings" panose="05000000000000000000" pitchFamily="2" charset="2"/>
              <a:buChar char="q"/>
            </a:pPr>
            <a:endParaRPr lang="en-US" sz="1747" b="1" dirty="0"/>
          </a:p>
        </p:txBody>
      </p:sp>
      <p:sp>
        <p:nvSpPr>
          <p:cNvPr id="4" name="Content Placeholder 2">
            <a:extLst>
              <a:ext uri="{FF2B5EF4-FFF2-40B4-BE49-F238E27FC236}">
                <a16:creationId xmlns:a16="http://schemas.microsoft.com/office/drawing/2014/main" id="{952E5A41-29E9-4C70-8E5C-9A6BE48A00CF}"/>
              </a:ext>
            </a:extLst>
          </p:cNvPr>
          <p:cNvSpPr txBox="1">
            <a:spLocks/>
          </p:cNvSpPr>
          <p:nvPr>
            <p:custDataLst>
              <p:tags r:id="rId4"/>
            </p:custDataLst>
          </p:nvPr>
        </p:nvSpPr>
        <p:spPr>
          <a:xfrm>
            <a:off x="4388004" y="3805356"/>
            <a:ext cx="3319658" cy="677494"/>
          </a:xfrm>
          <a:prstGeom prst="rect">
            <a:avLst/>
          </a:prstGeom>
        </p:spPr>
        <p:txBody>
          <a:bodyPr vert="horz" lIns="66563" tIns="33281" rIns="66563" bIns="33281"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332832" lvl="1" indent="0">
              <a:buNone/>
            </a:pPr>
            <a:endParaRPr lang="en-US" sz="1165" b="1"/>
          </a:p>
        </p:txBody>
      </p:sp>
      <p:sp>
        <p:nvSpPr>
          <p:cNvPr id="2" name="TextBox 1">
            <a:extLst>
              <a:ext uri="{FF2B5EF4-FFF2-40B4-BE49-F238E27FC236}">
                <a16:creationId xmlns:a16="http://schemas.microsoft.com/office/drawing/2014/main" id="{6C65067C-8A2A-489B-99E7-72A8A6294CDF}"/>
              </a:ext>
            </a:extLst>
          </p:cNvPr>
          <p:cNvSpPr txBox="1"/>
          <p:nvPr>
            <p:custDataLst>
              <p:tags r:id="rId5"/>
            </p:custDataLst>
          </p:nvPr>
        </p:nvSpPr>
        <p:spPr>
          <a:xfrm>
            <a:off x="1" y="3933743"/>
            <a:ext cx="12192000" cy="523220"/>
          </a:xfrm>
          <a:prstGeom prst="rect">
            <a:avLst/>
          </a:prstGeom>
          <a:noFill/>
        </p:spPr>
        <p:txBody>
          <a:bodyPr wrap="square" rtlCol="0" anchor="t">
            <a:spAutoFit/>
          </a:bodyPr>
          <a:lstStyle/>
          <a:p>
            <a:pPr algn="ctr"/>
            <a:r>
              <a:rPr lang="en-US" sz="2800" b="1" dirty="0">
                <a:solidFill>
                  <a:schemeClr val="tx1">
                    <a:lumMod val="75000"/>
                    <a:lumOff val="25000"/>
                  </a:schemeClr>
                </a:solidFill>
                <a:latin typeface="Avenir Next" panose="020B0503020202020204" pitchFamily="34" charset="0"/>
              </a:rPr>
              <a:t>But again, we have to rely on </a:t>
            </a:r>
            <a:r>
              <a:rPr lang="en-US" sz="2800" b="1" dirty="0">
                <a:solidFill>
                  <a:srgbClr val="C00000"/>
                </a:solidFill>
                <a:latin typeface="Avenir Next" panose="020B0503020202020204" pitchFamily="34" charset="0"/>
              </a:rPr>
              <a:t>DNS servers </a:t>
            </a:r>
            <a:r>
              <a:rPr lang="en-US" sz="2800" b="1" dirty="0">
                <a:solidFill>
                  <a:schemeClr val="tx1">
                    <a:lumMod val="75000"/>
                    <a:lumOff val="25000"/>
                  </a:schemeClr>
                </a:solidFill>
                <a:latin typeface="Avenir Next" panose="020B0503020202020204" pitchFamily="34" charset="0"/>
              </a:rPr>
              <a:t>and </a:t>
            </a:r>
            <a:r>
              <a:rPr lang="en-US" sz="2800" b="1" dirty="0">
                <a:solidFill>
                  <a:srgbClr val="C00000"/>
                </a:solidFill>
                <a:latin typeface="Avenir Next" panose="020B0503020202020204" pitchFamily="34" charset="0"/>
              </a:rPr>
              <a:t>application developers</a:t>
            </a:r>
          </a:p>
        </p:txBody>
      </p:sp>
      <p:sp>
        <p:nvSpPr>
          <p:cNvPr id="3" name="TextBox 2">
            <a:extLst>
              <a:ext uri="{FF2B5EF4-FFF2-40B4-BE49-F238E27FC236}">
                <a16:creationId xmlns:a16="http://schemas.microsoft.com/office/drawing/2014/main" id="{AB785016-AB36-446B-8171-D35A3BC63412}"/>
              </a:ext>
            </a:extLst>
          </p:cNvPr>
          <p:cNvSpPr txBox="1"/>
          <p:nvPr>
            <p:custDataLst>
              <p:tags r:id="rId6"/>
            </p:custDataLst>
          </p:nvPr>
        </p:nvSpPr>
        <p:spPr>
          <a:xfrm>
            <a:off x="3365031" y="4559789"/>
            <a:ext cx="4780411" cy="405945"/>
          </a:xfrm>
          <a:prstGeom prst="rect">
            <a:avLst/>
          </a:prstGeom>
          <a:solidFill>
            <a:schemeClr val="accent3">
              <a:lumMod val="20000"/>
              <a:lumOff val="80000"/>
            </a:schemeClr>
          </a:solidFill>
          <a:ln w="28575">
            <a:solidFill>
              <a:schemeClr val="tx1"/>
            </a:solidFill>
          </a:ln>
        </p:spPr>
        <p:txBody>
          <a:bodyPr wrap="none" rtlCol="0">
            <a:spAutoFit/>
          </a:bodyPr>
          <a:lstStyle/>
          <a:p>
            <a:r>
              <a:rPr lang="en-US" sz="2038" b="1" dirty="0">
                <a:solidFill>
                  <a:schemeClr val="tx1">
                    <a:lumMod val="75000"/>
                    <a:lumOff val="25000"/>
                  </a:schemeClr>
                </a:solidFill>
              </a:rPr>
              <a:t>Alternative option : </a:t>
            </a:r>
            <a:r>
              <a:rPr lang="en-US" sz="2038" b="1" dirty="0" err="1">
                <a:solidFill>
                  <a:srgbClr val="7030A0"/>
                </a:solidFill>
              </a:rPr>
              <a:t>TrustBase</a:t>
            </a:r>
            <a:r>
              <a:rPr lang="en-US" sz="2038" b="1" dirty="0">
                <a:solidFill>
                  <a:schemeClr val="tx1">
                    <a:lumMod val="75000"/>
                    <a:lumOff val="25000"/>
                  </a:schemeClr>
                </a:solidFill>
              </a:rPr>
              <a:t> architecture</a:t>
            </a:r>
          </a:p>
        </p:txBody>
      </p:sp>
    </p:spTree>
    <p:custDataLst>
      <p:tags r:id="rId1"/>
    </p:custDataLst>
    <p:extLst>
      <p:ext uri="{BB962C8B-B14F-4D97-AF65-F5344CB8AC3E}">
        <p14:creationId xmlns:p14="http://schemas.microsoft.com/office/powerpoint/2010/main" val="28364239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4E0931-B1C8-4DFB-B131-90FF819A803D}"/>
              </a:ext>
            </a:extLst>
          </p:cNvPr>
          <p:cNvSpPr txBox="1"/>
          <p:nvPr>
            <p:custDataLst>
              <p:tags r:id="rId2"/>
            </p:custDataLst>
          </p:nvPr>
        </p:nvSpPr>
        <p:spPr>
          <a:xfrm>
            <a:off x="612438" y="1024358"/>
            <a:ext cx="11439157" cy="2677656"/>
          </a:xfrm>
          <a:prstGeom prst="rect">
            <a:avLst/>
          </a:prstGeom>
          <a:noFill/>
        </p:spPr>
        <p:txBody>
          <a:bodyPr wrap="none" rtlCol="0">
            <a:spAutoFit/>
          </a:bodyPr>
          <a:lstStyle/>
          <a:p>
            <a:pPr marL="208021" indent="-208021">
              <a:buFont typeface="Wingdings" panose="05000000000000000000" pitchFamily="2" charset="2"/>
              <a:buChar char="q"/>
            </a:pPr>
            <a:r>
              <a:rPr lang="en-US" sz="2800" b="1" dirty="0">
                <a:latin typeface="Avenir Next" panose="020B0503020202020204" pitchFamily="34" charset="0"/>
                <a:ea typeface="+mn-lt"/>
                <a:cs typeface="+mn-lt"/>
              </a:rPr>
              <a:t> An architecture to strengthen certificate-based authentication </a:t>
            </a:r>
            <a:r>
              <a:rPr lang="en-US" sz="2800" b="1" baseline="30000" dirty="0">
                <a:latin typeface="Avenir Next" panose="020B0503020202020204" pitchFamily="34" charset="0"/>
              </a:rPr>
              <a:t>*</a:t>
            </a:r>
            <a:endParaRPr lang="en-US" sz="2800" b="1" baseline="-25000" dirty="0">
              <a:latin typeface="Avenir Next" panose="020B0503020202020204" pitchFamily="34" charset="0"/>
              <a:ea typeface="+mn-lt"/>
              <a:cs typeface="+mn-lt"/>
            </a:endParaRPr>
          </a:p>
          <a:p>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ea typeface="+mn-lt"/>
                <a:cs typeface="+mn-lt"/>
              </a:rPr>
              <a:t>As an operating system service</a:t>
            </a:r>
          </a:p>
          <a:p>
            <a:pPr marL="540853" lvl="1" indent="-208021">
              <a:buFont typeface="Wingdings" panose="05000000000000000000" pitchFamily="2" charset="2"/>
              <a:buChar char="Ø"/>
            </a:pPr>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cs typeface="Calibri"/>
              </a:rPr>
              <a:t>With user’s control over authentication policies</a:t>
            </a:r>
          </a:p>
          <a:p>
            <a:pPr marL="208021" indent="-208021">
              <a:buFont typeface="Wingdings" panose="05000000000000000000" pitchFamily="2" charset="2"/>
              <a:buChar char="q"/>
            </a:pPr>
            <a:endParaRPr lang="en-US" sz="2800" b="1" dirty="0">
              <a:latin typeface="Avenir Next" panose="020B0503020202020204" pitchFamily="34" charset="0"/>
            </a:endParaRPr>
          </a:p>
        </p:txBody>
      </p:sp>
      <p:sp>
        <p:nvSpPr>
          <p:cNvPr id="5" name="TextBox 4">
            <a:extLst>
              <a:ext uri="{FF2B5EF4-FFF2-40B4-BE49-F238E27FC236}">
                <a16:creationId xmlns:a16="http://schemas.microsoft.com/office/drawing/2014/main" id="{4DB953EF-9433-4CC2-A56E-D5435722C811}"/>
              </a:ext>
            </a:extLst>
          </p:cNvPr>
          <p:cNvSpPr txBox="1"/>
          <p:nvPr>
            <p:custDataLst>
              <p:tags r:id="rId3"/>
            </p:custDataLst>
          </p:nvPr>
        </p:nvSpPr>
        <p:spPr>
          <a:xfrm>
            <a:off x="70203" y="5768090"/>
            <a:ext cx="12051594" cy="954107"/>
          </a:xfrm>
          <a:prstGeom prst="rect">
            <a:avLst/>
          </a:prstGeom>
          <a:noFill/>
        </p:spPr>
        <p:txBody>
          <a:bodyPr wrap="square" rtlCol="0">
            <a:spAutoFit/>
          </a:bodyPr>
          <a:lstStyle/>
          <a:p>
            <a:pPr algn="ct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Mark O’Neill,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Heidbrink</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Ruoti</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Jordan Whitehead, Dan Bunker, Luke Dickinson, Travis Hendershot, Joshua Reynolds, Kent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Seamons</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and Daniel Zappala. </a:t>
            </a:r>
            <a:r>
              <a:rPr lang="en-US" sz="1400" b="1"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Trustbase</a:t>
            </a: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 architecture to repair and strengthen certificate-based authentication</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In USENIX Security Symposium. USENIX, 2017</a:t>
            </a:r>
          </a:p>
          <a:p>
            <a:pPr algn="ctr"/>
            <a:endParaRPr lang="en-US" sz="1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9FD4C7CA-4D73-484C-CBF9-03CE93CB8655}"/>
              </a:ext>
            </a:extLst>
          </p:cNvPr>
          <p:cNvSpPr txBox="1"/>
          <p:nvPr>
            <p:custDataLst>
              <p:tags r:id="rId4"/>
            </p:custDataLst>
          </p:nvPr>
        </p:nvSpPr>
        <p:spPr>
          <a:xfrm>
            <a:off x="-8091" y="0"/>
            <a:ext cx="8300857"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TrustBase</a:t>
            </a:r>
            <a:r>
              <a:rPr lang="en-US" sz="4000" dirty="0">
                <a:solidFill>
                  <a:schemeClr val="bg1"/>
                </a:solidFill>
                <a:latin typeface="Playfair Display Medium" pitchFamily="2" charset="77"/>
                <a:cs typeface="Courier New" panose="02070309020205020404" pitchFamily="49" charset="0"/>
              </a:rPr>
              <a:t> Architecture</a:t>
            </a:r>
          </a:p>
        </p:txBody>
      </p:sp>
    </p:spTree>
    <p:custDataLst>
      <p:tags r:id="rId1"/>
    </p:custDataLst>
    <p:extLst>
      <p:ext uri="{BB962C8B-B14F-4D97-AF65-F5344CB8AC3E}">
        <p14:creationId xmlns:p14="http://schemas.microsoft.com/office/powerpoint/2010/main" val="41791939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C07E41-7FCD-4C8B-94DB-034869ECEF05}"/>
              </a:ext>
            </a:extLst>
          </p:cNvPr>
          <p:cNvPicPr>
            <a:picLocks noChangeAspect="1"/>
          </p:cNvPicPr>
          <p:nvPr>
            <p:custDataLst>
              <p:tags r:id="rId2"/>
            </p:custDataLst>
          </p:nvPr>
        </p:nvPicPr>
        <p:blipFill>
          <a:blip r:embed="rId8"/>
          <a:stretch>
            <a:fillRect/>
          </a:stretch>
        </p:blipFill>
        <p:spPr>
          <a:xfrm>
            <a:off x="3784657" y="3284897"/>
            <a:ext cx="4237399" cy="1963673"/>
          </a:xfrm>
          <a:prstGeom prst="rect">
            <a:avLst/>
          </a:prstGeom>
        </p:spPr>
      </p:pic>
      <p:sp>
        <p:nvSpPr>
          <p:cNvPr id="4" name="TextBox 3">
            <a:extLst>
              <a:ext uri="{FF2B5EF4-FFF2-40B4-BE49-F238E27FC236}">
                <a16:creationId xmlns:a16="http://schemas.microsoft.com/office/drawing/2014/main" id="{1C4E0931-B1C8-4DFB-B131-90FF819A803D}"/>
              </a:ext>
            </a:extLst>
          </p:cNvPr>
          <p:cNvSpPr txBox="1"/>
          <p:nvPr>
            <p:custDataLst>
              <p:tags r:id="rId3"/>
            </p:custDataLst>
          </p:nvPr>
        </p:nvSpPr>
        <p:spPr>
          <a:xfrm>
            <a:off x="612438" y="1024358"/>
            <a:ext cx="11439157" cy="2677656"/>
          </a:xfrm>
          <a:prstGeom prst="rect">
            <a:avLst/>
          </a:prstGeom>
          <a:noFill/>
        </p:spPr>
        <p:txBody>
          <a:bodyPr wrap="none" rtlCol="0">
            <a:spAutoFit/>
          </a:bodyPr>
          <a:lstStyle/>
          <a:p>
            <a:pPr marL="208021" indent="-208021">
              <a:buFont typeface="Wingdings" panose="05000000000000000000" pitchFamily="2" charset="2"/>
              <a:buChar char="q"/>
            </a:pPr>
            <a:r>
              <a:rPr lang="en-US" sz="2800" b="1" dirty="0">
                <a:latin typeface="Avenir Next" panose="020B0503020202020204" pitchFamily="34" charset="0"/>
                <a:ea typeface="+mn-lt"/>
                <a:cs typeface="+mn-lt"/>
              </a:rPr>
              <a:t> An architecture to strengthen certificate-based authentication </a:t>
            </a:r>
            <a:r>
              <a:rPr lang="en-US" sz="2800" b="1" baseline="30000" dirty="0">
                <a:latin typeface="Avenir Next" panose="020B0503020202020204" pitchFamily="34" charset="0"/>
              </a:rPr>
              <a:t>*</a:t>
            </a:r>
            <a:endParaRPr lang="en-US" sz="2800" b="1" baseline="-25000" dirty="0">
              <a:latin typeface="Avenir Next" panose="020B0503020202020204" pitchFamily="34" charset="0"/>
              <a:ea typeface="+mn-lt"/>
              <a:cs typeface="+mn-lt"/>
            </a:endParaRPr>
          </a:p>
          <a:p>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ea typeface="+mn-lt"/>
                <a:cs typeface="+mn-lt"/>
              </a:rPr>
              <a:t>As an operating system service</a:t>
            </a:r>
          </a:p>
          <a:p>
            <a:pPr marL="540853" lvl="1" indent="-208021">
              <a:buFont typeface="Wingdings" panose="05000000000000000000" pitchFamily="2" charset="2"/>
              <a:buChar char="Ø"/>
            </a:pPr>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cs typeface="Calibri"/>
              </a:rPr>
              <a:t>With user’s control over authentication policies</a:t>
            </a:r>
          </a:p>
          <a:p>
            <a:pPr marL="208021" indent="-208021">
              <a:buFont typeface="Wingdings" panose="05000000000000000000" pitchFamily="2" charset="2"/>
              <a:buChar char="q"/>
            </a:pPr>
            <a:endParaRPr lang="en-US" sz="2800" b="1" dirty="0">
              <a:latin typeface="Avenir Next" panose="020B0503020202020204" pitchFamily="34" charset="0"/>
            </a:endParaRPr>
          </a:p>
        </p:txBody>
      </p:sp>
      <p:sp>
        <p:nvSpPr>
          <p:cNvPr id="5" name="TextBox 4">
            <a:extLst>
              <a:ext uri="{FF2B5EF4-FFF2-40B4-BE49-F238E27FC236}">
                <a16:creationId xmlns:a16="http://schemas.microsoft.com/office/drawing/2014/main" id="{4DB953EF-9433-4CC2-A56E-D5435722C811}"/>
              </a:ext>
            </a:extLst>
          </p:cNvPr>
          <p:cNvSpPr txBox="1"/>
          <p:nvPr>
            <p:custDataLst>
              <p:tags r:id="rId4"/>
            </p:custDataLst>
          </p:nvPr>
        </p:nvSpPr>
        <p:spPr>
          <a:xfrm>
            <a:off x="70203" y="5768090"/>
            <a:ext cx="12051594" cy="954107"/>
          </a:xfrm>
          <a:prstGeom prst="rect">
            <a:avLst/>
          </a:prstGeom>
          <a:noFill/>
        </p:spPr>
        <p:txBody>
          <a:bodyPr wrap="square" rtlCol="0">
            <a:spAutoFit/>
          </a:bodyPr>
          <a:lstStyle/>
          <a:p>
            <a:pPr algn="ct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Mark O’Neill,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Heidbrink</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Ruoti</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Jordan Whitehead, Dan Bunker, Luke Dickinson, Travis Hendershot, Joshua Reynolds, Kent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Seamons</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and Daniel Zappala. </a:t>
            </a:r>
            <a:r>
              <a:rPr lang="en-US" sz="1400" b="1"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Trustbase</a:t>
            </a: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 architecture to repair and strengthen certificate-based authentication</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In USENIX Security Symposium. USENIX, 2017</a:t>
            </a:r>
          </a:p>
          <a:p>
            <a:pPr algn="ctr"/>
            <a:endParaRPr lang="en-US" sz="1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9FD4C7CA-4D73-484C-CBF9-03CE93CB8655}"/>
              </a:ext>
            </a:extLst>
          </p:cNvPr>
          <p:cNvSpPr txBox="1"/>
          <p:nvPr>
            <p:custDataLst>
              <p:tags r:id="rId5"/>
            </p:custDataLst>
          </p:nvPr>
        </p:nvSpPr>
        <p:spPr>
          <a:xfrm>
            <a:off x="-8091" y="0"/>
            <a:ext cx="8300857"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TrustBase</a:t>
            </a:r>
            <a:r>
              <a:rPr lang="en-US" sz="4000" dirty="0">
                <a:solidFill>
                  <a:schemeClr val="bg1"/>
                </a:solidFill>
                <a:latin typeface="Playfair Display Medium" pitchFamily="2" charset="77"/>
                <a:cs typeface="Courier New" panose="02070309020205020404" pitchFamily="49" charset="0"/>
              </a:rPr>
              <a:t> Architecture</a:t>
            </a:r>
          </a:p>
        </p:txBody>
      </p:sp>
    </p:spTree>
    <p:custDataLst>
      <p:tags r:id="rId1"/>
    </p:custDataLst>
    <p:extLst>
      <p:ext uri="{BB962C8B-B14F-4D97-AF65-F5344CB8AC3E}">
        <p14:creationId xmlns:p14="http://schemas.microsoft.com/office/powerpoint/2010/main" val="12693737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C07E41-7FCD-4C8B-94DB-034869ECEF05}"/>
              </a:ext>
            </a:extLst>
          </p:cNvPr>
          <p:cNvPicPr>
            <a:picLocks noChangeAspect="1"/>
          </p:cNvPicPr>
          <p:nvPr>
            <p:custDataLst>
              <p:tags r:id="rId2"/>
            </p:custDataLst>
          </p:nvPr>
        </p:nvPicPr>
        <p:blipFill>
          <a:blip r:embed="rId9"/>
          <a:stretch>
            <a:fillRect/>
          </a:stretch>
        </p:blipFill>
        <p:spPr>
          <a:xfrm>
            <a:off x="3784657" y="3284897"/>
            <a:ext cx="4237399" cy="1963673"/>
          </a:xfrm>
          <a:prstGeom prst="rect">
            <a:avLst/>
          </a:prstGeom>
        </p:spPr>
      </p:pic>
      <p:sp>
        <p:nvSpPr>
          <p:cNvPr id="4" name="TextBox 3">
            <a:extLst>
              <a:ext uri="{FF2B5EF4-FFF2-40B4-BE49-F238E27FC236}">
                <a16:creationId xmlns:a16="http://schemas.microsoft.com/office/drawing/2014/main" id="{1C4E0931-B1C8-4DFB-B131-90FF819A803D}"/>
              </a:ext>
            </a:extLst>
          </p:cNvPr>
          <p:cNvSpPr txBox="1"/>
          <p:nvPr>
            <p:custDataLst>
              <p:tags r:id="rId3"/>
            </p:custDataLst>
          </p:nvPr>
        </p:nvSpPr>
        <p:spPr>
          <a:xfrm>
            <a:off x="612438" y="1024358"/>
            <a:ext cx="11439157" cy="2677656"/>
          </a:xfrm>
          <a:prstGeom prst="rect">
            <a:avLst/>
          </a:prstGeom>
          <a:noFill/>
        </p:spPr>
        <p:txBody>
          <a:bodyPr wrap="none" rtlCol="0">
            <a:spAutoFit/>
          </a:bodyPr>
          <a:lstStyle/>
          <a:p>
            <a:pPr marL="208021" indent="-208021">
              <a:buFont typeface="Wingdings" panose="05000000000000000000" pitchFamily="2" charset="2"/>
              <a:buChar char="q"/>
            </a:pPr>
            <a:r>
              <a:rPr lang="en-US" sz="2800" b="1" dirty="0">
                <a:latin typeface="Avenir Next" panose="020B0503020202020204" pitchFamily="34" charset="0"/>
                <a:ea typeface="+mn-lt"/>
                <a:cs typeface="+mn-lt"/>
              </a:rPr>
              <a:t> An architecture to strengthen certificate-based authentication </a:t>
            </a:r>
            <a:r>
              <a:rPr lang="en-US" sz="2800" b="1" baseline="30000" dirty="0">
                <a:latin typeface="Avenir Next" panose="020B0503020202020204" pitchFamily="34" charset="0"/>
              </a:rPr>
              <a:t>*</a:t>
            </a:r>
            <a:endParaRPr lang="en-US" sz="2800" b="1" baseline="-25000" dirty="0">
              <a:latin typeface="Avenir Next" panose="020B0503020202020204" pitchFamily="34" charset="0"/>
              <a:ea typeface="+mn-lt"/>
              <a:cs typeface="+mn-lt"/>
            </a:endParaRPr>
          </a:p>
          <a:p>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ea typeface="+mn-lt"/>
                <a:cs typeface="+mn-lt"/>
              </a:rPr>
              <a:t>As an operating system service</a:t>
            </a:r>
          </a:p>
          <a:p>
            <a:pPr marL="540853" lvl="1" indent="-208021">
              <a:buFont typeface="Wingdings" panose="05000000000000000000" pitchFamily="2" charset="2"/>
              <a:buChar char="Ø"/>
            </a:pPr>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cs typeface="Calibri"/>
              </a:rPr>
              <a:t>With user’s control over authentication policies</a:t>
            </a:r>
          </a:p>
          <a:p>
            <a:pPr marL="208021" indent="-208021">
              <a:buFont typeface="Wingdings" panose="05000000000000000000" pitchFamily="2" charset="2"/>
              <a:buChar char="q"/>
            </a:pPr>
            <a:endParaRPr lang="en-US" sz="2800" b="1" dirty="0">
              <a:latin typeface="Avenir Next" panose="020B0503020202020204" pitchFamily="34" charset="0"/>
            </a:endParaRPr>
          </a:p>
        </p:txBody>
      </p:sp>
      <p:sp>
        <p:nvSpPr>
          <p:cNvPr id="5" name="TextBox 4">
            <a:extLst>
              <a:ext uri="{FF2B5EF4-FFF2-40B4-BE49-F238E27FC236}">
                <a16:creationId xmlns:a16="http://schemas.microsoft.com/office/drawing/2014/main" id="{4DB953EF-9433-4CC2-A56E-D5435722C811}"/>
              </a:ext>
            </a:extLst>
          </p:cNvPr>
          <p:cNvSpPr txBox="1"/>
          <p:nvPr>
            <p:custDataLst>
              <p:tags r:id="rId4"/>
            </p:custDataLst>
          </p:nvPr>
        </p:nvSpPr>
        <p:spPr>
          <a:xfrm>
            <a:off x="70203" y="5768090"/>
            <a:ext cx="12051594" cy="954107"/>
          </a:xfrm>
          <a:prstGeom prst="rect">
            <a:avLst/>
          </a:prstGeom>
          <a:noFill/>
        </p:spPr>
        <p:txBody>
          <a:bodyPr wrap="square" rtlCol="0">
            <a:spAutoFit/>
          </a:bodyPr>
          <a:lstStyle/>
          <a:p>
            <a:pPr algn="ct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Mark O’Neill,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Heidbrink</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Ruoti</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Jordan Whitehead, Dan Bunker, Luke Dickinson, Travis Hendershot, Joshua Reynolds, Kent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Seamons</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and Daniel Zappala. </a:t>
            </a:r>
            <a:r>
              <a:rPr lang="en-US" sz="1400" b="1"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Trustbase</a:t>
            </a: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 architecture to repair and strengthen certificate-based authentication</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In USENIX Security Symposium. USENIX, 2017</a:t>
            </a:r>
          </a:p>
          <a:p>
            <a:pPr algn="ctr"/>
            <a:endParaRPr lang="en-US" sz="1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6" name="Rectangle 5">
            <a:extLst>
              <a:ext uri="{FF2B5EF4-FFF2-40B4-BE49-F238E27FC236}">
                <a16:creationId xmlns:a16="http://schemas.microsoft.com/office/drawing/2014/main" id="{FA3ED0E0-866C-463E-A50E-62081CA0D571}"/>
              </a:ext>
            </a:extLst>
          </p:cNvPr>
          <p:cNvSpPr/>
          <p:nvPr>
            <p:custDataLst>
              <p:tags r:id="rId5"/>
            </p:custDataLst>
          </p:nvPr>
        </p:nvSpPr>
        <p:spPr>
          <a:xfrm>
            <a:off x="5128474" y="4266493"/>
            <a:ext cx="660174" cy="894781"/>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sp>
        <p:nvSpPr>
          <p:cNvPr id="9" name="TextBox 8">
            <a:extLst>
              <a:ext uri="{FF2B5EF4-FFF2-40B4-BE49-F238E27FC236}">
                <a16:creationId xmlns:a16="http://schemas.microsoft.com/office/drawing/2014/main" id="{9FD4C7CA-4D73-484C-CBF9-03CE93CB8655}"/>
              </a:ext>
            </a:extLst>
          </p:cNvPr>
          <p:cNvSpPr txBox="1"/>
          <p:nvPr>
            <p:custDataLst>
              <p:tags r:id="rId6"/>
            </p:custDataLst>
          </p:nvPr>
        </p:nvSpPr>
        <p:spPr>
          <a:xfrm>
            <a:off x="-8091" y="0"/>
            <a:ext cx="8300857"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TrustBase</a:t>
            </a:r>
            <a:r>
              <a:rPr lang="en-US" sz="4000" dirty="0">
                <a:solidFill>
                  <a:schemeClr val="bg1"/>
                </a:solidFill>
                <a:latin typeface="Playfair Display Medium" pitchFamily="2" charset="77"/>
                <a:cs typeface="Courier New" panose="02070309020205020404" pitchFamily="49" charset="0"/>
              </a:rPr>
              <a:t> Architecture</a:t>
            </a:r>
          </a:p>
        </p:txBody>
      </p:sp>
    </p:spTree>
    <p:custDataLst>
      <p:tags r:id="rId1"/>
    </p:custDataLst>
    <p:extLst>
      <p:ext uri="{BB962C8B-B14F-4D97-AF65-F5344CB8AC3E}">
        <p14:creationId xmlns:p14="http://schemas.microsoft.com/office/powerpoint/2010/main" val="8894394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C07E41-7FCD-4C8B-94DB-034869ECEF05}"/>
              </a:ext>
            </a:extLst>
          </p:cNvPr>
          <p:cNvPicPr>
            <a:picLocks noChangeAspect="1"/>
          </p:cNvPicPr>
          <p:nvPr>
            <p:custDataLst>
              <p:tags r:id="rId2"/>
            </p:custDataLst>
          </p:nvPr>
        </p:nvPicPr>
        <p:blipFill>
          <a:blip r:embed="rId8"/>
          <a:stretch>
            <a:fillRect/>
          </a:stretch>
        </p:blipFill>
        <p:spPr>
          <a:xfrm>
            <a:off x="3784657" y="3284897"/>
            <a:ext cx="4237399" cy="1963673"/>
          </a:xfrm>
          <a:prstGeom prst="rect">
            <a:avLst/>
          </a:prstGeom>
        </p:spPr>
      </p:pic>
      <p:sp>
        <p:nvSpPr>
          <p:cNvPr id="4" name="TextBox 3">
            <a:extLst>
              <a:ext uri="{FF2B5EF4-FFF2-40B4-BE49-F238E27FC236}">
                <a16:creationId xmlns:a16="http://schemas.microsoft.com/office/drawing/2014/main" id="{1C4E0931-B1C8-4DFB-B131-90FF819A803D}"/>
              </a:ext>
            </a:extLst>
          </p:cNvPr>
          <p:cNvSpPr txBox="1"/>
          <p:nvPr>
            <p:custDataLst>
              <p:tags r:id="rId3"/>
            </p:custDataLst>
          </p:nvPr>
        </p:nvSpPr>
        <p:spPr>
          <a:xfrm>
            <a:off x="612438" y="1024358"/>
            <a:ext cx="11439157" cy="2677656"/>
          </a:xfrm>
          <a:prstGeom prst="rect">
            <a:avLst/>
          </a:prstGeom>
          <a:noFill/>
        </p:spPr>
        <p:txBody>
          <a:bodyPr wrap="none" rtlCol="0">
            <a:spAutoFit/>
          </a:bodyPr>
          <a:lstStyle/>
          <a:p>
            <a:pPr marL="208021" indent="-208021">
              <a:buFont typeface="Wingdings" panose="05000000000000000000" pitchFamily="2" charset="2"/>
              <a:buChar char="q"/>
            </a:pPr>
            <a:r>
              <a:rPr lang="en-US" sz="2800" b="1" dirty="0">
                <a:latin typeface="Avenir Next" panose="020B0503020202020204" pitchFamily="34" charset="0"/>
                <a:ea typeface="+mn-lt"/>
                <a:cs typeface="+mn-lt"/>
              </a:rPr>
              <a:t> An architecture to strengthen certificate-based authentication </a:t>
            </a:r>
            <a:r>
              <a:rPr lang="en-US" sz="2800" b="1" baseline="30000" dirty="0">
                <a:latin typeface="Avenir Next" panose="020B0503020202020204" pitchFamily="34" charset="0"/>
              </a:rPr>
              <a:t>*</a:t>
            </a:r>
            <a:endParaRPr lang="en-US" sz="2800" b="1" baseline="-25000" dirty="0">
              <a:latin typeface="Avenir Next" panose="020B0503020202020204" pitchFamily="34" charset="0"/>
              <a:ea typeface="+mn-lt"/>
              <a:cs typeface="+mn-lt"/>
            </a:endParaRPr>
          </a:p>
          <a:p>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ea typeface="+mn-lt"/>
                <a:cs typeface="+mn-lt"/>
              </a:rPr>
              <a:t>As an operating system service</a:t>
            </a:r>
          </a:p>
          <a:p>
            <a:pPr marL="540853" lvl="1" indent="-208021">
              <a:buFont typeface="Wingdings" panose="05000000000000000000" pitchFamily="2" charset="2"/>
              <a:buChar char="Ø"/>
            </a:pPr>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cs typeface="Calibri"/>
              </a:rPr>
              <a:t>With user’s control over authentication policies</a:t>
            </a:r>
          </a:p>
          <a:p>
            <a:pPr marL="208021" indent="-208021">
              <a:buFont typeface="Wingdings" panose="05000000000000000000" pitchFamily="2" charset="2"/>
              <a:buChar char="q"/>
            </a:pPr>
            <a:endParaRPr lang="en-US" sz="2800" b="1" dirty="0">
              <a:latin typeface="Avenir Next" panose="020B0503020202020204" pitchFamily="34" charset="0"/>
            </a:endParaRPr>
          </a:p>
        </p:txBody>
      </p:sp>
      <p:sp>
        <p:nvSpPr>
          <p:cNvPr id="5" name="TextBox 4">
            <a:extLst>
              <a:ext uri="{FF2B5EF4-FFF2-40B4-BE49-F238E27FC236}">
                <a16:creationId xmlns:a16="http://schemas.microsoft.com/office/drawing/2014/main" id="{4DB953EF-9433-4CC2-A56E-D5435722C811}"/>
              </a:ext>
            </a:extLst>
          </p:cNvPr>
          <p:cNvSpPr txBox="1"/>
          <p:nvPr>
            <p:custDataLst>
              <p:tags r:id="rId4"/>
            </p:custDataLst>
          </p:nvPr>
        </p:nvSpPr>
        <p:spPr>
          <a:xfrm>
            <a:off x="70203" y="5768090"/>
            <a:ext cx="12051594" cy="954107"/>
          </a:xfrm>
          <a:prstGeom prst="rect">
            <a:avLst/>
          </a:prstGeom>
          <a:noFill/>
        </p:spPr>
        <p:txBody>
          <a:bodyPr wrap="square" rtlCol="0">
            <a:spAutoFit/>
          </a:bodyPr>
          <a:lstStyle/>
          <a:p>
            <a:pPr algn="ct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Mark O’Neill,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Heidbrink</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Ruoti</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Jordan Whitehead, Dan Bunker, Luke Dickinson, Travis Hendershot, Joshua Reynolds, Kent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Seamons</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and Daniel Zappala. </a:t>
            </a:r>
            <a:r>
              <a:rPr lang="en-US" sz="1400" b="1"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Trustbase</a:t>
            </a: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 architecture to repair and strengthen certificate-based authentication</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In USENIX Security Symposium. USENIX, 2017</a:t>
            </a:r>
          </a:p>
          <a:p>
            <a:pPr algn="ctr"/>
            <a:endParaRPr lang="en-US" sz="1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9FD4C7CA-4D73-484C-CBF9-03CE93CB8655}"/>
              </a:ext>
            </a:extLst>
          </p:cNvPr>
          <p:cNvSpPr txBox="1"/>
          <p:nvPr>
            <p:custDataLst>
              <p:tags r:id="rId5"/>
            </p:custDataLst>
          </p:nvPr>
        </p:nvSpPr>
        <p:spPr>
          <a:xfrm>
            <a:off x="-8091" y="0"/>
            <a:ext cx="8300857"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TrustBase</a:t>
            </a:r>
            <a:r>
              <a:rPr lang="en-US" sz="4000" dirty="0">
                <a:solidFill>
                  <a:schemeClr val="bg1"/>
                </a:solidFill>
                <a:latin typeface="Playfair Display Medium" pitchFamily="2" charset="77"/>
                <a:cs typeface="Courier New" panose="02070309020205020404" pitchFamily="49" charset="0"/>
              </a:rPr>
              <a:t> Architecture</a:t>
            </a:r>
          </a:p>
        </p:txBody>
      </p:sp>
    </p:spTree>
    <p:custDataLst>
      <p:tags r:id="rId1"/>
    </p:custDataLst>
    <p:extLst>
      <p:ext uri="{BB962C8B-B14F-4D97-AF65-F5344CB8AC3E}">
        <p14:creationId xmlns:p14="http://schemas.microsoft.com/office/powerpoint/2010/main" val="20166162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C07E41-7FCD-4C8B-94DB-034869ECEF05}"/>
              </a:ext>
            </a:extLst>
          </p:cNvPr>
          <p:cNvPicPr>
            <a:picLocks noChangeAspect="1"/>
          </p:cNvPicPr>
          <p:nvPr>
            <p:custDataLst>
              <p:tags r:id="rId2"/>
            </p:custDataLst>
          </p:nvPr>
        </p:nvPicPr>
        <p:blipFill>
          <a:blip r:embed="rId9"/>
          <a:stretch>
            <a:fillRect/>
          </a:stretch>
        </p:blipFill>
        <p:spPr>
          <a:xfrm>
            <a:off x="3784657" y="3284897"/>
            <a:ext cx="4237399" cy="1963673"/>
          </a:xfrm>
          <a:prstGeom prst="rect">
            <a:avLst/>
          </a:prstGeom>
        </p:spPr>
      </p:pic>
      <p:sp>
        <p:nvSpPr>
          <p:cNvPr id="4" name="TextBox 3">
            <a:extLst>
              <a:ext uri="{FF2B5EF4-FFF2-40B4-BE49-F238E27FC236}">
                <a16:creationId xmlns:a16="http://schemas.microsoft.com/office/drawing/2014/main" id="{1C4E0931-B1C8-4DFB-B131-90FF819A803D}"/>
              </a:ext>
            </a:extLst>
          </p:cNvPr>
          <p:cNvSpPr txBox="1"/>
          <p:nvPr>
            <p:custDataLst>
              <p:tags r:id="rId3"/>
            </p:custDataLst>
          </p:nvPr>
        </p:nvSpPr>
        <p:spPr>
          <a:xfrm>
            <a:off x="612438" y="1024358"/>
            <a:ext cx="11439157" cy="2677656"/>
          </a:xfrm>
          <a:prstGeom prst="rect">
            <a:avLst/>
          </a:prstGeom>
          <a:noFill/>
        </p:spPr>
        <p:txBody>
          <a:bodyPr wrap="none" rtlCol="0">
            <a:spAutoFit/>
          </a:bodyPr>
          <a:lstStyle/>
          <a:p>
            <a:pPr marL="208021" indent="-208021">
              <a:buFont typeface="Wingdings" panose="05000000000000000000" pitchFamily="2" charset="2"/>
              <a:buChar char="q"/>
            </a:pPr>
            <a:r>
              <a:rPr lang="en-US" sz="2800" b="1" dirty="0">
                <a:latin typeface="Avenir Next" panose="020B0503020202020204" pitchFamily="34" charset="0"/>
                <a:ea typeface="+mn-lt"/>
                <a:cs typeface="+mn-lt"/>
              </a:rPr>
              <a:t> An architecture to strengthen certificate-based authentication </a:t>
            </a:r>
            <a:r>
              <a:rPr lang="en-US" sz="2800" b="1" baseline="30000" dirty="0">
                <a:latin typeface="Avenir Next" panose="020B0503020202020204" pitchFamily="34" charset="0"/>
              </a:rPr>
              <a:t>*</a:t>
            </a:r>
            <a:endParaRPr lang="en-US" sz="2800" b="1" baseline="-25000" dirty="0">
              <a:latin typeface="Avenir Next" panose="020B0503020202020204" pitchFamily="34" charset="0"/>
              <a:ea typeface="+mn-lt"/>
              <a:cs typeface="+mn-lt"/>
            </a:endParaRPr>
          </a:p>
          <a:p>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ea typeface="+mn-lt"/>
                <a:cs typeface="+mn-lt"/>
              </a:rPr>
              <a:t>As an operating system service</a:t>
            </a:r>
          </a:p>
          <a:p>
            <a:pPr marL="540853" lvl="1" indent="-208021">
              <a:buFont typeface="Wingdings" panose="05000000000000000000" pitchFamily="2" charset="2"/>
              <a:buChar char="Ø"/>
            </a:pPr>
            <a:endParaRPr lang="en-US" sz="2800" b="1" dirty="0">
              <a:latin typeface="Avenir Next" panose="020B0503020202020204" pitchFamily="34" charset="0"/>
              <a:ea typeface="+mn-lt"/>
              <a:cs typeface="+mn-lt"/>
            </a:endParaRPr>
          </a:p>
          <a:p>
            <a:pPr marL="540853" lvl="1" indent="-208021">
              <a:buFont typeface="Wingdings" panose="05000000000000000000" pitchFamily="2" charset="2"/>
              <a:buChar char="Ø"/>
            </a:pPr>
            <a:r>
              <a:rPr lang="en-US" sz="2800" b="1" dirty="0">
                <a:latin typeface="Avenir Next" panose="020B0503020202020204" pitchFamily="34" charset="0"/>
                <a:cs typeface="Calibri"/>
              </a:rPr>
              <a:t>With user’s control over authentication policies</a:t>
            </a:r>
          </a:p>
          <a:p>
            <a:pPr marL="208021" indent="-208021">
              <a:buFont typeface="Wingdings" panose="05000000000000000000" pitchFamily="2" charset="2"/>
              <a:buChar char="q"/>
            </a:pPr>
            <a:endParaRPr lang="en-US" sz="2800" b="1" dirty="0">
              <a:latin typeface="Avenir Next" panose="020B0503020202020204" pitchFamily="34" charset="0"/>
            </a:endParaRPr>
          </a:p>
        </p:txBody>
      </p:sp>
      <p:sp>
        <p:nvSpPr>
          <p:cNvPr id="5" name="TextBox 4">
            <a:extLst>
              <a:ext uri="{FF2B5EF4-FFF2-40B4-BE49-F238E27FC236}">
                <a16:creationId xmlns:a16="http://schemas.microsoft.com/office/drawing/2014/main" id="{4DB953EF-9433-4CC2-A56E-D5435722C811}"/>
              </a:ext>
            </a:extLst>
          </p:cNvPr>
          <p:cNvSpPr txBox="1"/>
          <p:nvPr>
            <p:custDataLst>
              <p:tags r:id="rId4"/>
            </p:custDataLst>
          </p:nvPr>
        </p:nvSpPr>
        <p:spPr>
          <a:xfrm>
            <a:off x="70203" y="5768090"/>
            <a:ext cx="12051594" cy="954107"/>
          </a:xfrm>
          <a:prstGeom prst="rect">
            <a:avLst/>
          </a:prstGeom>
          <a:noFill/>
        </p:spPr>
        <p:txBody>
          <a:bodyPr wrap="square" rtlCol="0">
            <a:spAutoFit/>
          </a:bodyPr>
          <a:lstStyle/>
          <a:p>
            <a:pPr algn="ct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Mark O’Neill,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Heidbrink</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Scott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Ruoti</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Jordan Whitehead, Dan Bunker, Luke Dickinson, Travis Hendershot, Joshua Reynolds, Kent </a:t>
            </a:r>
            <a:r>
              <a:rPr lang="en-US" sz="1400"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Seamons</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and Daniel Zappala. </a:t>
            </a:r>
            <a:r>
              <a:rPr lang="en-US" sz="1400" b="1" dirty="0" err="1">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Trustbase</a:t>
            </a:r>
            <a:r>
              <a:rPr lang="en-US" sz="1400" b="1"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an architecture to repair and strengthen certificate-based authentication</a:t>
            </a:r>
            <a:r>
              <a:rPr lang="en-US" sz="1400" dirty="0">
                <a:effectLst>
                  <a:outerShdw blurRad="38100" dist="38100" dir="2700000" algn="tl">
                    <a:srgbClr val="000000">
                      <a:alpha val="43137"/>
                    </a:srgbClr>
                  </a:outerShdw>
                </a:effectLst>
                <a:latin typeface="Courier New" panose="02070309020205020404" pitchFamily="49" charset="0"/>
                <a:ea typeface="+mn-lt"/>
                <a:cs typeface="Courier New" panose="02070309020205020404" pitchFamily="49" charset="0"/>
              </a:rPr>
              <a:t>. In USENIX Security Symposium. USENIX, 2017</a:t>
            </a:r>
          </a:p>
          <a:p>
            <a:pPr algn="ctr"/>
            <a:endParaRPr lang="en-US" sz="1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7" name="Rectangle 6">
            <a:extLst>
              <a:ext uri="{FF2B5EF4-FFF2-40B4-BE49-F238E27FC236}">
                <a16:creationId xmlns:a16="http://schemas.microsoft.com/office/drawing/2014/main" id="{EE298FD9-A59F-47E7-975A-06FFF5D25375}"/>
              </a:ext>
            </a:extLst>
          </p:cNvPr>
          <p:cNvSpPr/>
          <p:nvPr>
            <p:custDataLst>
              <p:tags r:id="rId5"/>
            </p:custDataLst>
          </p:nvPr>
        </p:nvSpPr>
        <p:spPr>
          <a:xfrm>
            <a:off x="6001930" y="3429000"/>
            <a:ext cx="660174" cy="1713981"/>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10"/>
          </a:p>
        </p:txBody>
      </p:sp>
      <p:sp>
        <p:nvSpPr>
          <p:cNvPr id="9" name="TextBox 8">
            <a:extLst>
              <a:ext uri="{FF2B5EF4-FFF2-40B4-BE49-F238E27FC236}">
                <a16:creationId xmlns:a16="http://schemas.microsoft.com/office/drawing/2014/main" id="{9FD4C7CA-4D73-484C-CBF9-03CE93CB8655}"/>
              </a:ext>
            </a:extLst>
          </p:cNvPr>
          <p:cNvSpPr txBox="1"/>
          <p:nvPr>
            <p:custDataLst>
              <p:tags r:id="rId6"/>
            </p:custDataLst>
          </p:nvPr>
        </p:nvSpPr>
        <p:spPr>
          <a:xfrm>
            <a:off x="-8091" y="0"/>
            <a:ext cx="8300857" cy="707886"/>
          </a:xfrm>
          <a:prstGeom prst="rect">
            <a:avLst/>
          </a:prstGeom>
          <a:solidFill>
            <a:srgbClr val="C00000"/>
          </a:solidFill>
        </p:spPr>
        <p:txBody>
          <a:bodyPr wrap="square">
            <a:spAutoFit/>
          </a:bodyPr>
          <a:lstStyle/>
          <a:p>
            <a:pPr algn="ctr"/>
            <a:r>
              <a:rPr lang="en-US" sz="4000" dirty="0" err="1">
                <a:solidFill>
                  <a:schemeClr val="bg1"/>
                </a:solidFill>
                <a:latin typeface="Playfair Display Medium" pitchFamily="2" charset="77"/>
                <a:cs typeface="Courier New" panose="02070309020205020404" pitchFamily="49" charset="0"/>
              </a:rPr>
              <a:t>TrustBase</a:t>
            </a:r>
            <a:r>
              <a:rPr lang="en-US" sz="4000" dirty="0">
                <a:solidFill>
                  <a:schemeClr val="bg1"/>
                </a:solidFill>
                <a:latin typeface="Playfair Display Medium" pitchFamily="2" charset="77"/>
                <a:cs typeface="Courier New" panose="02070309020205020404" pitchFamily="49" charset="0"/>
              </a:rPr>
              <a:t> Architecture</a:t>
            </a:r>
          </a:p>
        </p:txBody>
      </p:sp>
    </p:spTree>
    <p:custDataLst>
      <p:tags r:id="rId1"/>
    </p:custDataLst>
    <p:extLst>
      <p:ext uri="{BB962C8B-B14F-4D97-AF65-F5344CB8AC3E}">
        <p14:creationId xmlns:p14="http://schemas.microsoft.com/office/powerpoint/2010/main" val="218754297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7674" y="992743"/>
            <a:ext cx="7192326" cy="5922134"/>
          </a:xfrm>
          <a:prstGeom prst="rect">
            <a:avLst/>
          </a:prstGeom>
        </p:spPr>
        <p:txBody>
          <a:bodyPr vert="horz" wrap="square" lIns="0" tIns="0" rIns="0" bIns="0" rtlCol="0">
            <a:spAutoFit/>
          </a:bodyPr>
          <a:lstStyle/>
          <a:p>
            <a:pPr marL="468407" marR="300334" indent="-457200">
              <a:buFont typeface="Arial" panose="020B0604020202020204" pitchFamily="34" charset="0"/>
              <a:buChar char="•"/>
            </a:pPr>
            <a:r>
              <a:rPr sz="2800" b="1" dirty="0">
                <a:latin typeface="Avenir Next" panose="020B0503020202020204" pitchFamily="34" charset="0"/>
                <a:cs typeface="Gill Sans MT"/>
              </a:rPr>
              <a:t>TLS is </a:t>
            </a:r>
            <a:r>
              <a:rPr sz="2800" b="1" spc="-4" dirty="0">
                <a:latin typeface="Avenir Next" panose="020B0503020202020204" pitchFamily="34" charset="0"/>
                <a:cs typeface="Gill Sans MT"/>
              </a:rPr>
              <a:t>crucial </a:t>
            </a:r>
            <a:r>
              <a:rPr sz="2800" b="1" spc="-9" dirty="0">
                <a:latin typeface="Avenir Next" panose="020B0503020202020204" pitchFamily="34" charset="0"/>
                <a:cs typeface="Gill Sans MT"/>
              </a:rPr>
              <a:t>for </a:t>
            </a:r>
            <a:r>
              <a:rPr sz="2800" b="1" dirty="0">
                <a:latin typeface="Avenir Next" panose="020B0503020202020204" pitchFamily="34" charset="0"/>
                <a:cs typeface="Gill Sans MT"/>
              </a:rPr>
              <a:t>maintaining security and  privacy on the</a:t>
            </a:r>
            <a:r>
              <a:rPr sz="2800" b="1" spc="-371" dirty="0">
                <a:latin typeface="Avenir Next" panose="020B0503020202020204" pitchFamily="34" charset="0"/>
                <a:cs typeface="Gill Sans MT"/>
              </a:rPr>
              <a:t> </a:t>
            </a:r>
            <a:r>
              <a:rPr sz="2800" b="1" spc="-71" dirty="0">
                <a:latin typeface="Avenir Next" panose="020B0503020202020204" pitchFamily="34" charset="0"/>
                <a:cs typeface="Gill Sans MT"/>
              </a:rPr>
              <a:t>Web</a:t>
            </a:r>
            <a:endParaRPr lang="en-US" sz="2800" b="1" dirty="0">
              <a:latin typeface="Avenir Next" panose="020B0503020202020204" pitchFamily="34" charset="0"/>
              <a:cs typeface="Gill Sans MT"/>
            </a:endParaRPr>
          </a:p>
          <a:p>
            <a:pPr marL="925607" marR="300334" lvl="1" indent="-457200">
              <a:buFont typeface="Arial" panose="020B0604020202020204" pitchFamily="34" charset="0"/>
              <a:buChar char="•"/>
            </a:pPr>
            <a:r>
              <a:rPr sz="2800" spc="-4" dirty="0">
                <a:solidFill>
                  <a:srgbClr val="464653"/>
                </a:solidFill>
                <a:latin typeface="Avenir Next" panose="020B0503020202020204" pitchFamily="34" charset="0"/>
                <a:cs typeface="Gill Sans MT"/>
              </a:rPr>
              <a:t>Mature, </a:t>
            </a:r>
            <a:r>
              <a:rPr sz="2800" spc="-13" dirty="0">
                <a:solidFill>
                  <a:srgbClr val="464653"/>
                </a:solidFill>
                <a:latin typeface="Avenir Next" panose="020B0503020202020204" pitchFamily="34" charset="0"/>
                <a:cs typeface="Gill Sans MT"/>
              </a:rPr>
              <a:t>well </a:t>
            </a:r>
            <a:r>
              <a:rPr sz="2800" spc="4" dirty="0">
                <a:solidFill>
                  <a:srgbClr val="464653"/>
                </a:solidFill>
                <a:latin typeface="Avenir Next" panose="020B0503020202020204" pitchFamily="34" charset="0"/>
                <a:cs typeface="Gill Sans MT"/>
              </a:rPr>
              <a:t>supported</a:t>
            </a:r>
            <a:r>
              <a:rPr sz="2800" spc="-216" dirty="0">
                <a:solidFill>
                  <a:srgbClr val="464653"/>
                </a:solidFill>
                <a:latin typeface="Avenir Next" panose="020B0503020202020204" pitchFamily="34" charset="0"/>
                <a:cs typeface="Gill Sans MT"/>
              </a:rPr>
              <a:t> </a:t>
            </a:r>
            <a:r>
              <a:rPr sz="2800" spc="-9" dirty="0">
                <a:solidFill>
                  <a:srgbClr val="464653"/>
                </a:solidFill>
                <a:latin typeface="Avenir Next" panose="020B0503020202020204" pitchFamily="34" charset="0"/>
                <a:cs typeface="Gill Sans MT"/>
              </a:rPr>
              <a:t>protocol</a:t>
            </a:r>
            <a:endParaRPr lang="en-US" sz="2800" spc="-9" dirty="0">
              <a:latin typeface="Avenir Next" panose="020B0503020202020204" pitchFamily="34" charset="0"/>
              <a:cs typeface="Gill Sans MT"/>
            </a:endParaRPr>
          </a:p>
          <a:p>
            <a:pPr marL="925607" marR="300334" lvl="1" indent="-457200">
              <a:buFont typeface="Arial" panose="020B0604020202020204" pitchFamily="34" charset="0"/>
              <a:buChar char="•"/>
            </a:pPr>
            <a:r>
              <a:rPr sz="2800" dirty="0">
                <a:solidFill>
                  <a:srgbClr val="464653"/>
                </a:solidFill>
                <a:latin typeface="Avenir Next" panose="020B0503020202020204" pitchFamily="34" charset="0"/>
                <a:cs typeface="Gill Sans MT"/>
              </a:rPr>
              <a:t>Its security was </a:t>
            </a:r>
            <a:r>
              <a:rPr sz="2800" spc="-22" dirty="0">
                <a:solidFill>
                  <a:srgbClr val="464653"/>
                </a:solidFill>
                <a:latin typeface="Avenir Next" panose="020B0503020202020204" pitchFamily="34" charset="0"/>
                <a:cs typeface="Gill Sans MT"/>
              </a:rPr>
              <a:t>proven </a:t>
            </a:r>
            <a:r>
              <a:rPr sz="2800" dirty="0">
                <a:solidFill>
                  <a:srgbClr val="464653"/>
                </a:solidFill>
                <a:latin typeface="Avenir Next" panose="020B0503020202020204" pitchFamily="34" charset="0"/>
                <a:cs typeface="Gill Sans MT"/>
              </a:rPr>
              <a:t>as of</a:t>
            </a:r>
            <a:r>
              <a:rPr sz="2800" spc="-40" dirty="0">
                <a:solidFill>
                  <a:srgbClr val="464653"/>
                </a:solidFill>
                <a:latin typeface="Avenir Next" panose="020B0503020202020204" pitchFamily="34" charset="0"/>
                <a:cs typeface="Gill Sans MT"/>
              </a:rPr>
              <a:t> </a:t>
            </a:r>
            <a:r>
              <a:rPr sz="2800" dirty="0">
                <a:solidFill>
                  <a:srgbClr val="464653"/>
                </a:solidFill>
                <a:latin typeface="Avenir Next" panose="020B0503020202020204" pitchFamily="34" charset="0"/>
                <a:cs typeface="Gill Sans MT"/>
              </a:rPr>
              <a:t>2014</a:t>
            </a:r>
            <a:endParaRPr sz="2800" dirty="0">
              <a:latin typeface="Avenir Next" panose="020B0503020202020204" pitchFamily="34" charset="0"/>
              <a:cs typeface="Gill Sans MT"/>
            </a:endParaRPr>
          </a:p>
          <a:p>
            <a:pPr marL="468406" indent="-457200">
              <a:spcBef>
                <a:spcPts val="476"/>
              </a:spcBef>
              <a:buFont typeface="Arial" panose="020B0604020202020204" pitchFamily="34" charset="0"/>
              <a:buChar char="•"/>
            </a:pPr>
            <a:r>
              <a:rPr sz="2800" b="1" spc="-4" dirty="0" err="1">
                <a:latin typeface="Avenir Next" panose="020B0503020202020204" pitchFamily="34" charset="0"/>
                <a:cs typeface="Gill Sans MT"/>
              </a:rPr>
              <a:t>Unfortunately,TLS</a:t>
            </a:r>
            <a:r>
              <a:rPr sz="2800" b="1" spc="-4" dirty="0">
                <a:latin typeface="Avenir Next" panose="020B0503020202020204" pitchFamily="34" charset="0"/>
                <a:cs typeface="Gill Sans MT"/>
              </a:rPr>
              <a:t> </a:t>
            </a:r>
            <a:r>
              <a:rPr sz="2800" b="1" dirty="0">
                <a:latin typeface="Avenir Next" panose="020B0503020202020204" pitchFamily="34" charset="0"/>
                <a:cs typeface="Gill Sans MT"/>
              </a:rPr>
              <a:t>is plagued </a:t>
            </a:r>
            <a:r>
              <a:rPr sz="2800" b="1" spc="-13" dirty="0">
                <a:latin typeface="Avenir Next" panose="020B0503020202020204" pitchFamily="34" charset="0"/>
                <a:cs typeface="Gill Sans MT"/>
              </a:rPr>
              <a:t>by many</a:t>
            </a:r>
            <a:r>
              <a:rPr sz="2800" b="1" spc="-57" dirty="0">
                <a:latin typeface="Avenir Next" panose="020B0503020202020204" pitchFamily="34" charset="0"/>
                <a:cs typeface="Gill Sans MT"/>
              </a:rPr>
              <a:t> </a:t>
            </a:r>
            <a:r>
              <a:rPr sz="2800" b="1" dirty="0">
                <a:latin typeface="Avenir Next" panose="020B0503020202020204" pitchFamily="34" charset="0"/>
                <a:cs typeface="Gill Sans MT"/>
              </a:rPr>
              <a:t>issues</a:t>
            </a:r>
            <a:endParaRPr lang="en-US" sz="2800" b="1" dirty="0">
              <a:latin typeface="Avenir Next" panose="020B0503020202020204" pitchFamily="34" charset="0"/>
              <a:cs typeface="Gill Sans MT"/>
            </a:endParaRPr>
          </a:p>
          <a:p>
            <a:pPr marL="925606" lvl="1" indent="-457200">
              <a:spcBef>
                <a:spcPts val="476"/>
              </a:spcBef>
              <a:buFont typeface="Arial" panose="020B0604020202020204" pitchFamily="34" charset="0"/>
              <a:buChar char="•"/>
            </a:pPr>
            <a:r>
              <a:rPr sz="2800" spc="-13" dirty="0">
                <a:solidFill>
                  <a:srgbClr val="464653"/>
                </a:solidFill>
                <a:latin typeface="Avenir Next" panose="020B0503020202020204" pitchFamily="34" charset="0"/>
                <a:cs typeface="Gill Sans MT"/>
              </a:rPr>
              <a:t>Many </a:t>
            </a:r>
            <a:r>
              <a:rPr sz="2800" spc="-9" dirty="0">
                <a:solidFill>
                  <a:srgbClr val="464653"/>
                </a:solidFill>
                <a:latin typeface="Avenir Next" panose="020B0503020202020204" pitchFamily="34" charset="0"/>
                <a:cs typeface="Gill Sans MT"/>
              </a:rPr>
              <a:t>different </a:t>
            </a:r>
            <a:r>
              <a:rPr sz="2800" spc="-13" dirty="0">
                <a:solidFill>
                  <a:srgbClr val="464653"/>
                </a:solidFill>
                <a:latin typeface="Avenir Next" panose="020B0503020202020204" pitchFamily="34" charset="0"/>
                <a:cs typeface="Gill Sans MT"/>
              </a:rPr>
              <a:t>protocol-level </a:t>
            </a:r>
            <a:r>
              <a:rPr sz="2800" dirty="0">
                <a:solidFill>
                  <a:srgbClr val="464653"/>
                </a:solidFill>
                <a:latin typeface="Avenir Next" panose="020B0503020202020204" pitchFamily="34" charset="0"/>
                <a:cs typeface="Gill Sans MT"/>
              </a:rPr>
              <a:t>issues that enable  MitM</a:t>
            </a:r>
            <a:r>
              <a:rPr sz="2800" spc="-88" dirty="0">
                <a:solidFill>
                  <a:srgbClr val="464653"/>
                </a:solidFill>
                <a:latin typeface="Avenir Next" panose="020B0503020202020204" pitchFamily="34" charset="0"/>
                <a:cs typeface="Gill Sans MT"/>
              </a:rPr>
              <a:t> </a:t>
            </a:r>
            <a:r>
              <a:rPr sz="2800" dirty="0">
                <a:solidFill>
                  <a:srgbClr val="464653"/>
                </a:solidFill>
                <a:latin typeface="Avenir Next" panose="020B0503020202020204" pitchFamily="34" charset="0"/>
                <a:cs typeface="Gill Sans MT"/>
              </a:rPr>
              <a:t>attacks</a:t>
            </a:r>
            <a:endParaRPr lang="en-US" sz="2800" dirty="0">
              <a:latin typeface="Avenir Next" panose="020B0503020202020204" pitchFamily="34" charset="0"/>
              <a:cs typeface="Gill Sans MT"/>
            </a:endParaRPr>
          </a:p>
          <a:p>
            <a:pPr marL="925606" lvl="1" indent="-457200">
              <a:spcBef>
                <a:spcPts val="476"/>
              </a:spcBef>
              <a:buFont typeface="Arial" panose="020B0604020202020204" pitchFamily="34" charset="0"/>
              <a:buChar char="•"/>
            </a:pPr>
            <a:r>
              <a:rPr sz="2800" dirty="0">
                <a:solidFill>
                  <a:srgbClr val="464653"/>
                </a:solidFill>
                <a:latin typeface="Avenir Next" panose="020B0503020202020204" pitchFamily="34" charset="0"/>
                <a:cs typeface="Gill Sans MT"/>
              </a:rPr>
              <a:t>TLS implementations </a:t>
            </a:r>
            <a:r>
              <a:rPr sz="2800" spc="-18" dirty="0">
                <a:solidFill>
                  <a:srgbClr val="464653"/>
                </a:solidFill>
                <a:latin typeface="Avenir Next" panose="020B0503020202020204" pitchFamily="34" charset="0"/>
                <a:cs typeface="Gill Sans MT"/>
              </a:rPr>
              <a:t>are</a:t>
            </a:r>
            <a:r>
              <a:rPr sz="2800" spc="-44" dirty="0">
                <a:solidFill>
                  <a:srgbClr val="464653"/>
                </a:solidFill>
                <a:latin typeface="Avenir Next" panose="020B0503020202020204" pitchFamily="34" charset="0"/>
                <a:cs typeface="Gill Sans MT"/>
              </a:rPr>
              <a:t> </a:t>
            </a:r>
            <a:r>
              <a:rPr sz="2800" spc="4" dirty="0">
                <a:solidFill>
                  <a:srgbClr val="464653"/>
                </a:solidFill>
                <a:latin typeface="Avenir Next" panose="020B0503020202020204" pitchFamily="34" charset="0"/>
                <a:cs typeface="Gill Sans MT"/>
              </a:rPr>
              <a:t>buggy</a:t>
            </a:r>
            <a:endParaRPr lang="en-US" sz="2800" spc="4" dirty="0">
              <a:latin typeface="Avenir Next" panose="020B0503020202020204" pitchFamily="34" charset="0"/>
              <a:cs typeface="Gill Sans MT"/>
            </a:endParaRPr>
          </a:p>
          <a:p>
            <a:pPr marL="925606" lvl="1" indent="-457200">
              <a:spcBef>
                <a:spcPts val="476"/>
              </a:spcBef>
              <a:buFont typeface="Arial" panose="020B0604020202020204" pitchFamily="34" charset="0"/>
              <a:buChar char="•"/>
            </a:pPr>
            <a:r>
              <a:rPr sz="2800" dirty="0">
                <a:solidFill>
                  <a:srgbClr val="464653"/>
                </a:solidFill>
                <a:latin typeface="Avenir Next" panose="020B0503020202020204" pitchFamily="34" charset="0"/>
                <a:cs typeface="Gill Sans MT"/>
              </a:rPr>
              <a:t>Human beings fail to </a:t>
            </a:r>
            <a:r>
              <a:rPr sz="2800" spc="-18" dirty="0">
                <a:solidFill>
                  <a:srgbClr val="464653"/>
                </a:solidFill>
                <a:latin typeface="Avenir Next" panose="020B0503020202020204" pitchFamily="34" charset="0"/>
                <a:cs typeface="Gill Sans MT"/>
              </a:rPr>
              <a:t>reissue/revoke </a:t>
            </a:r>
            <a:r>
              <a:rPr sz="2800" dirty="0">
                <a:solidFill>
                  <a:srgbClr val="464653"/>
                </a:solidFill>
                <a:latin typeface="Avenir Next" panose="020B0503020202020204" pitchFamily="34" charset="0"/>
                <a:cs typeface="Gill Sans MT"/>
              </a:rPr>
              <a:t>certificates  </a:t>
            </a:r>
            <a:r>
              <a:rPr sz="2800" spc="-13" dirty="0">
                <a:solidFill>
                  <a:srgbClr val="464653"/>
                </a:solidFill>
                <a:latin typeface="Avenir Next" panose="020B0503020202020204" pitchFamily="34" charset="0"/>
                <a:cs typeface="Gill Sans MT"/>
              </a:rPr>
              <a:t>properly</a:t>
            </a:r>
            <a:endParaRPr lang="en-US" sz="2800" dirty="0">
              <a:latin typeface="Avenir Next" panose="020B0503020202020204" pitchFamily="34" charset="0"/>
              <a:cs typeface="Gill Sans MT"/>
            </a:endParaRPr>
          </a:p>
          <a:p>
            <a:pPr marL="925606" lvl="1" indent="-457200">
              <a:spcBef>
                <a:spcPts val="476"/>
              </a:spcBef>
              <a:buFont typeface="Arial" panose="020B0604020202020204" pitchFamily="34" charset="0"/>
              <a:buChar char="•"/>
            </a:pPr>
            <a:r>
              <a:rPr sz="2800" spc="-13" dirty="0">
                <a:solidFill>
                  <a:srgbClr val="464653"/>
                </a:solidFill>
                <a:latin typeface="Avenir Next" panose="020B0503020202020204" pitchFamily="34" charset="0"/>
                <a:cs typeface="Gill Sans MT"/>
              </a:rPr>
              <a:t>Browsers </a:t>
            </a:r>
            <a:r>
              <a:rPr sz="2800" dirty="0">
                <a:solidFill>
                  <a:srgbClr val="464653"/>
                </a:solidFill>
                <a:latin typeface="Avenir Next" panose="020B0503020202020204" pitchFamily="34" charset="0"/>
                <a:cs typeface="Gill Sans MT"/>
              </a:rPr>
              <a:t>fail to </a:t>
            </a:r>
            <a:r>
              <a:rPr sz="2800" spc="-4" dirty="0">
                <a:solidFill>
                  <a:srgbClr val="464653"/>
                </a:solidFill>
                <a:latin typeface="Avenir Next" panose="020B0503020202020204" pitchFamily="34" charset="0"/>
                <a:cs typeface="Gill Sans MT"/>
              </a:rPr>
              <a:t>perform </a:t>
            </a:r>
            <a:r>
              <a:rPr sz="2800" spc="-13" dirty="0">
                <a:solidFill>
                  <a:srgbClr val="464653"/>
                </a:solidFill>
                <a:latin typeface="Avenir Next" panose="020B0503020202020204" pitchFamily="34" charset="0"/>
                <a:cs typeface="Gill Sans MT"/>
              </a:rPr>
              <a:t>revocation </a:t>
            </a:r>
            <a:r>
              <a:rPr sz="2800" dirty="0">
                <a:solidFill>
                  <a:srgbClr val="464653"/>
                </a:solidFill>
                <a:latin typeface="Avenir Next" panose="020B0503020202020204" pitchFamily="34" charset="0"/>
                <a:cs typeface="Gill Sans MT"/>
              </a:rPr>
              <a:t>checks</a:t>
            </a:r>
            <a:endParaRPr sz="2800" dirty="0">
              <a:latin typeface="Avenir Next" panose="020B0503020202020204" pitchFamily="34" charset="0"/>
              <a:cs typeface="Gill Sans MT"/>
            </a:endParaRPr>
          </a:p>
        </p:txBody>
      </p:sp>
      <p:sp>
        <p:nvSpPr>
          <p:cNvPr id="4" name="object 4"/>
          <p:cNvSpPr/>
          <p:nvPr/>
        </p:nvSpPr>
        <p:spPr>
          <a:xfrm>
            <a:off x="7896012" y="1554524"/>
            <a:ext cx="2221946" cy="2400199"/>
          </a:xfrm>
          <a:prstGeom prst="rect">
            <a:avLst/>
          </a:prstGeom>
          <a:blipFill>
            <a:blip r:embed="rId3" cstate="print"/>
            <a:stretch>
              <a:fillRect/>
            </a:stretch>
          </a:blipFill>
        </p:spPr>
        <p:txBody>
          <a:bodyPr wrap="square" lIns="0" tIns="0" rIns="0" bIns="0" rtlCol="0"/>
          <a:lstStyle/>
          <a:p>
            <a:endParaRPr sz="1588"/>
          </a:p>
        </p:txBody>
      </p:sp>
      <p:sp>
        <p:nvSpPr>
          <p:cNvPr id="7" name="TextBox 6">
            <a:extLst>
              <a:ext uri="{FF2B5EF4-FFF2-40B4-BE49-F238E27FC236}">
                <a16:creationId xmlns:a16="http://schemas.microsoft.com/office/drawing/2014/main" id="{A7BBEE8A-793B-063A-977A-78D85ABEAC23}"/>
              </a:ext>
            </a:extLst>
          </p:cNvPr>
          <p:cNvSpPr txBox="1"/>
          <p:nvPr/>
        </p:nvSpPr>
        <p:spPr>
          <a:xfrm>
            <a:off x="-8091" y="0"/>
            <a:ext cx="8300857" cy="707886"/>
          </a:xfrm>
          <a:prstGeom prst="rect">
            <a:avLst/>
          </a:prstGeom>
          <a:solidFill>
            <a:srgbClr val="C00000"/>
          </a:solidFill>
        </p:spPr>
        <p:txBody>
          <a:bodyPr wrap="square">
            <a:spAutoFit/>
          </a:bodyPr>
          <a:lstStyle/>
          <a:p>
            <a:pPr algn="ctr"/>
            <a:r>
              <a:rPr lang="en-US" sz="4000" dirty="0">
                <a:solidFill>
                  <a:schemeClr val="bg1"/>
                </a:solidFill>
                <a:latin typeface="Playfair Display Medium" pitchFamily="2" charset="77"/>
                <a:cs typeface="Courier New" panose="02070309020205020404" pitchFamily="49" charset="0"/>
              </a:rPr>
              <a:t>Take-home Lessons</a:t>
            </a:r>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20AC7-3436-F6B8-751D-B713742D8C02}"/>
              </a:ext>
            </a:extLst>
          </p:cNvPr>
          <p:cNvSpPr>
            <a:spLocks noGrp="1"/>
          </p:cNvSpPr>
          <p:nvPr>
            <p:ph idx="1"/>
          </p:nvPr>
        </p:nvSpPr>
        <p:spPr/>
        <p:txBody>
          <a:bodyPr>
            <a:normAutofit/>
          </a:bodyPr>
          <a:lstStyle/>
          <a:p>
            <a:pPr marL="0" indent="0" algn="ctr">
              <a:buNone/>
            </a:pPr>
            <a:r>
              <a:rPr lang="en-US" sz="8000" dirty="0">
                <a:latin typeface="Playfair Display Medium" pitchFamily="2" charset="77"/>
              </a:rPr>
              <a:t>Backup Slides</a:t>
            </a:r>
          </a:p>
        </p:txBody>
      </p:sp>
    </p:spTree>
    <p:custDataLst>
      <p:tags r:id="rId1"/>
    </p:custDataLst>
    <p:extLst>
      <p:ext uri="{BB962C8B-B14F-4D97-AF65-F5344CB8AC3E}">
        <p14:creationId xmlns:p14="http://schemas.microsoft.com/office/powerpoint/2010/main" val="22049596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p:cNvSpPr>
                <a:spLocks noGrp="1"/>
              </p:cNvSpPr>
              <p:nvPr>
                <p:ph idx="1"/>
              </p:nvPr>
            </p:nvSpPr>
            <p:spPr>
              <a:xfrm>
                <a:off x="1981200" y="1149351"/>
                <a:ext cx="8310282" cy="4981575"/>
              </a:xfrm>
            </p:spPr>
            <p:txBody>
              <a:bodyPr/>
              <a:lstStyle/>
              <a:p>
                <a:r>
                  <a:rPr lang="en-US" dirty="0"/>
                  <a:t>Resume </a:t>
                </a:r>
                <a:r>
                  <a:rPr lang="en-US" u="sng" dirty="0"/>
                  <a:t>only</a:t>
                </a:r>
                <a:r>
                  <a:rPr lang="en-US" dirty="0"/>
                  <a:t> using Pre-Shared Key (PSK)</a:t>
                </a:r>
              </a:p>
              <a:p>
                <a:pPr lvl="1"/>
                <a:r>
                  <a:rPr lang="en-US" dirty="0"/>
                  <a:t>Essentially, build-in ticket mechanism</a:t>
                </a:r>
              </a:p>
              <a:p>
                <a:pPr lvl="1"/>
                <a:r>
                  <a:rPr lang="en-US" dirty="0"/>
                  <a:t>Optional use of DH for PFS (ephemeral key)</a:t>
                </a:r>
              </a:p>
              <a:p>
                <a:pPr lvl="2"/>
                <a:r>
                  <a:rPr lang="en-US" dirty="0"/>
                  <a:t>Add </a:t>
                </a:r>
                <a14:m>
                  <m:oMath xmlns:m="http://schemas.openxmlformats.org/officeDocument/2006/math">
                    <m:d>
                      <m:dPr>
                        <m:begChr m:val="{"/>
                        <m:endChr m:val="}"/>
                        <m:ctrlPr>
                          <a:rPr lang="en-US" altLang="he-IL" i="1">
                            <a:solidFill>
                              <a:srgbClr val="FF00FF"/>
                            </a:solidFill>
                            <a:latin typeface="Cambria Math" panose="02040503050406030204" pitchFamily="18" charset="0"/>
                            <a:cs typeface="Times New Roman" panose="02020603050405020304" pitchFamily="18" charset="0"/>
                          </a:rPr>
                        </m:ctrlPr>
                      </m:dPr>
                      <m:e>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b="1"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𝟏</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𝟏</m:t>
                            </m:r>
                          </m:sup>
                        </m:sSubSup>
                        <m:r>
                          <a:rPr lang="en-US" altLang="he-IL" b="1" i="1">
                            <a:solidFill>
                              <a:srgbClr val="FF00FF"/>
                            </a:solidFill>
                            <a:latin typeface="Cambria Math" panose="02040503050406030204" pitchFamily="18" charset="0"/>
                            <a:cs typeface="Times New Roman" panose="02020603050405020304" pitchFamily="18" charset="0"/>
                          </a:rPr>
                          <m:t>,</m:t>
                        </m:r>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𝟐</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𝟐</m:t>
                            </m:r>
                          </m:sup>
                        </m:sSubSup>
                        <m:r>
                          <a:rPr lang="en-US" altLang="he-IL" b="1" i="1">
                            <a:solidFill>
                              <a:srgbClr val="FF00FF"/>
                            </a:solidFill>
                            <a:latin typeface="Cambria Math" panose="02040503050406030204" pitchFamily="18" charset="0"/>
                            <a:cs typeface="Times New Roman" panose="02020603050405020304" pitchFamily="18" charset="0"/>
                          </a:rPr>
                          <m:t>…</m:t>
                        </m:r>
                      </m:e>
                    </m:d>
                  </m:oMath>
                </a14:m>
                <a:r>
                  <a:rPr lang="en-US" dirty="0"/>
                  <a:t> to client-hello</a:t>
                </a:r>
              </a:p>
              <a:p>
                <a:pPr lvl="2"/>
                <a:r>
                  <a:rPr lang="en-US" dirty="0"/>
                  <a:t>Use PSK to authenticate key-shares and derive key</a:t>
                </a:r>
              </a:p>
            </p:txBody>
          </p:sp>
        </mc:Choice>
        <mc:Fallback xmlns="">
          <p:sp>
            <p:nvSpPr>
              <p:cNvPr id="3" name="מציין מיקום תוכן 2"/>
              <p:cNvSpPr>
                <a:spLocks noGrp="1" noRot="1" noChangeAspect="1" noMove="1" noResize="1" noEditPoints="1" noAdjustHandles="1" noChangeArrowheads="1" noChangeShapeType="1" noTextEdit="1"/>
              </p:cNvSpPr>
              <p:nvPr>
                <p:ph idx="1"/>
              </p:nvPr>
            </p:nvSpPr>
            <p:spPr>
              <a:xfrm>
                <a:off x="1981200" y="1149351"/>
                <a:ext cx="8310282" cy="4981575"/>
              </a:xfrm>
              <a:blipFill>
                <a:blip r:embed="rId4"/>
                <a:stretch>
                  <a:fillRect l="-1374" t="-2036"/>
                </a:stretch>
              </a:blipFill>
            </p:spPr>
            <p:txBody>
              <a:bodyPr/>
              <a:lstStyle/>
              <a:p>
                <a:r>
                  <a:rPr lang="en-US">
                    <a:noFill/>
                  </a:rPr>
                  <a:t> </a:t>
                </a:r>
              </a:p>
            </p:txBody>
          </p:sp>
        </mc:Fallback>
      </mc:AlternateContent>
      <p:sp>
        <p:nvSpPr>
          <p:cNvPr id="4" name="מציין מיקום של תאריך 3"/>
          <p:cNvSpPr>
            <a:spLocks noGrp="1"/>
          </p:cNvSpPr>
          <p:nvPr>
            <p:ph type="dt" sz="half" idx="10"/>
          </p:nvPr>
        </p:nvSpPr>
        <p:spPr/>
        <p:txBody>
          <a:bodyPr/>
          <a:lstStyle/>
          <a:p>
            <a:pPr>
              <a:defRPr/>
            </a:pPr>
            <a:r>
              <a:rPr lang="en-US" altLang="en-US"/>
              <a:t>2/27/25</a:t>
            </a:r>
          </a:p>
        </p:txBody>
      </p:sp>
      <p:sp>
        <p:nvSpPr>
          <p:cNvPr id="5" name="מציין מיקום של מספר שקופית 4"/>
          <p:cNvSpPr>
            <a:spLocks noGrp="1"/>
          </p:cNvSpPr>
          <p:nvPr>
            <p:ph type="sldNum" sz="quarter" idx="11"/>
          </p:nvPr>
        </p:nvSpPr>
        <p:spPr/>
        <p:txBody>
          <a:bodyPr/>
          <a:lstStyle/>
          <a:p>
            <a:r>
              <a:rPr lang="he-IL" altLang="en-US"/>
              <a:t>71</a:t>
            </a:r>
            <a:endParaRPr lang="en-US" altLang="en-US"/>
          </a:p>
        </p:txBody>
      </p:sp>
      <p:sp>
        <p:nvSpPr>
          <p:cNvPr id="6" name="Freeform 3"/>
          <p:cNvSpPr>
            <a:spLocks noEditPoints="1"/>
          </p:cNvSpPr>
          <p:nvPr/>
        </p:nvSpPr>
        <p:spPr bwMode="auto">
          <a:xfrm>
            <a:off x="2636347" y="4219675"/>
            <a:ext cx="6578600" cy="69850"/>
          </a:xfrm>
          <a:custGeom>
            <a:avLst/>
            <a:gdLst>
              <a:gd name="T0" fmla="*/ 2 w 2277"/>
              <a:gd name="T1" fmla="*/ 11 h 25"/>
              <a:gd name="T2" fmla="*/ 2256 w 2277"/>
              <a:gd name="T3" fmla="*/ 11 h 25"/>
              <a:gd name="T4" fmla="*/ 2258 w 2277"/>
              <a:gd name="T5" fmla="*/ 12 h 25"/>
              <a:gd name="T6" fmla="*/ 2256 w 2277"/>
              <a:gd name="T7" fmla="*/ 14 h 25"/>
              <a:gd name="T8" fmla="*/ 2 w 2277"/>
              <a:gd name="T9" fmla="*/ 14 h 25"/>
              <a:gd name="T10" fmla="*/ 0 w 2277"/>
              <a:gd name="T11" fmla="*/ 12 h 25"/>
              <a:gd name="T12" fmla="*/ 2 w 2277"/>
              <a:gd name="T13" fmla="*/ 11 h 25"/>
              <a:gd name="T14" fmla="*/ 2252 w 2277"/>
              <a:gd name="T15" fmla="*/ 0 h 25"/>
              <a:gd name="T16" fmla="*/ 2277 w 2277"/>
              <a:gd name="T17" fmla="*/ 12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8" y="11"/>
                  <a:pt x="2258" y="12"/>
                </a:cubicBezTo>
                <a:cubicBezTo>
                  <a:pt x="2258" y="13"/>
                  <a:pt x="2257" y="14"/>
                  <a:pt x="2256" y="14"/>
                </a:cubicBezTo>
                <a:lnTo>
                  <a:pt x="2" y="14"/>
                </a:lnTo>
                <a:cubicBezTo>
                  <a:pt x="1" y="14"/>
                  <a:pt x="0" y="13"/>
                  <a:pt x="0" y="12"/>
                </a:cubicBezTo>
                <a:cubicBezTo>
                  <a:pt x="0" y="11"/>
                  <a:pt x="1" y="11"/>
                  <a:pt x="2" y="11"/>
                </a:cubicBezTo>
                <a:close/>
                <a:moveTo>
                  <a:pt x="2252" y="0"/>
                </a:moveTo>
                <a:lnTo>
                  <a:pt x="2277" y="12"/>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7" name="Rectangle 4"/>
          <p:cNvSpPr>
            <a:spLocks noChangeArrowheads="1"/>
          </p:cNvSpPr>
          <p:nvPr/>
        </p:nvSpPr>
        <p:spPr bwMode="auto">
          <a:xfrm>
            <a:off x="1780786" y="4052194"/>
            <a:ext cx="73738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Client</a:t>
            </a:r>
            <a:endParaRPr lang="en-US" altLang="he-IL" sz="2400"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a:off x="9416366" y="3998374"/>
            <a:ext cx="7982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Server</a:t>
            </a:r>
            <a:endParaRPr lang="en-US" altLang="he-IL" sz="2400"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3167841" y="3841171"/>
            <a:ext cx="54151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ClientHello </a:t>
            </a:r>
            <a:r>
              <a:rPr lang="en-US" altLang="he-IL" dirty="0">
                <a:solidFill>
                  <a:srgbClr val="000000"/>
                </a:solidFill>
                <a:latin typeface="Times New Roman" panose="02020603050405020304" pitchFamily="18" charset="0"/>
                <a:cs typeface="Times New Roman" panose="02020603050405020304" pitchFamily="18" charset="0"/>
              </a:rPr>
              <a:t>(cipher-suites,</a:t>
            </a:r>
            <a:r>
              <a:rPr lang="en-US" altLang="he-IL" dirty="0">
                <a:solidFill>
                  <a:srgbClr val="FF00FF"/>
                </a:solidFill>
                <a:latin typeface="Times New Roman" panose="02020603050405020304" pitchFamily="18" charset="0"/>
                <a:cs typeface="Times New Roman" panose="02020603050405020304" pitchFamily="18" charset="0"/>
              </a:rPr>
              <a:t>, PSK-ticket,</a:t>
            </a:r>
            <a:r>
              <a:rPr lang="en-US" altLang="he-IL"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Client_random</a:t>
            </a:r>
            <a:r>
              <a:rPr lang="en-US" altLang="he-IL" dirty="0">
                <a:solidFill>
                  <a:srgbClr val="000000"/>
                </a:solidFill>
                <a:latin typeface="Times New Roman" panose="02020603050405020304" pitchFamily="18" charset="0"/>
                <a:cs typeface="Times New Roman" panose="02020603050405020304" pitchFamily="18" charset="0"/>
              </a:rPr>
              <a:t>)</a:t>
            </a:r>
            <a:endParaRPr lang="en-US" altLang="he-IL" dirty="0">
              <a:latin typeface="Times New Roman" panose="02020603050405020304" pitchFamily="18" charset="0"/>
              <a:cs typeface="Times New Roman" panose="02020603050405020304" pitchFamily="18" charset="0"/>
            </a:endParaRPr>
          </a:p>
        </p:txBody>
      </p:sp>
      <p:sp>
        <p:nvSpPr>
          <p:cNvPr id="10" name="Freeform 7"/>
          <p:cNvSpPr>
            <a:spLocks noEditPoints="1"/>
          </p:cNvSpPr>
          <p:nvPr/>
        </p:nvSpPr>
        <p:spPr bwMode="auto">
          <a:xfrm>
            <a:off x="2608655" y="5808720"/>
            <a:ext cx="6580188" cy="68263"/>
          </a:xfrm>
          <a:custGeom>
            <a:avLst/>
            <a:gdLst>
              <a:gd name="T0" fmla="*/ 2 w 2277"/>
              <a:gd name="T1" fmla="*/ 11 h 25"/>
              <a:gd name="T2" fmla="*/ 2256 w 2277"/>
              <a:gd name="T3" fmla="*/ 11 h 25"/>
              <a:gd name="T4" fmla="*/ 2257 w 2277"/>
              <a:gd name="T5" fmla="*/ 13 h 25"/>
              <a:gd name="T6" fmla="*/ 2256 w 2277"/>
              <a:gd name="T7" fmla="*/ 14 h 25"/>
              <a:gd name="T8" fmla="*/ 2 w 2277"/>
              <a:gd name="T9" fmla="*/ 14 h 25"/>
              <a:gd name="T10" fmla="*/ 0 w 2277"/>
              <a:gd name="T11" fmla="*/ 13 h 25"/>
              <a:gd name="T12" fmla="*/ 2 w 2277"/>
              <a:gd name="T13" fmla="*/ 11 h 25"/>
              <a:gd name="T14" fmla="*/ 2252 w 2277"/>
              <a:gd name="T15" fmla="*/ 0 h 25"/>
              <a:gd name="T16" fmla="*/ 2277 w 2277"/>
              <a:gd name="T17" fmla="*/ 13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7" y="12"/>
                  <a:pt x="2257" y="13"/>
                </a:cubicBezTo>
                <a:cubicBezTo>
                  <a:pt x="2257" y="14"/>
                  <a:pt x="2257" y="14"/>
                  <a:pt x="2256" y="14"/>
                </a:cubicBezTo>
                <a:lnTo>
                  <a:pt x="2" y="14"/>
                </a:lnTo>
                <a:cubicBezTo>
                  <a:pt x="1" y="14"/>
                  <a:pt x="0" y="14"/>
                  <a:pt x="0" y="13"/>
                </a:cubicBezTo>
                <a:cubicBezTo>
                  <a:pt x="0" y="12"/>
                  <a:pt x="1" y="11"/>
                  <a:pt x="2" y="11"/>
                </a:cubicBezTo>
                <a:close/>
                <a:moveTo>
                  <a:pt x="2252" y="0"/>
                </a:moveTo>
                <a:lnTo>
                  <a:pt x="2277" y="13"/>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11" name="Rectangle 8"/>
          <p:cNvSpPr>
            <a:spLocks noChangeArrowheads="1"/>
          </p:cNvSpPr>
          <p:nvPr/>
        </p:nvSpPr>
        <p:spPr bwMode="auto">
          <a:xfrm>
            <a:off x="4647498" y="5422957"/>
            <a:ext cx="31819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Application data (protected)</a:t>
            </a:r>
            <a:endParaRPr lang="en-US" altLang="he-IL" sz="2000" dirty="0">
              <a:solidFill>
                <a:srgbClr val="000000"/>
              </a:solidFill>
              <a:latin typeface="Times New Roman" panose="02020603050405020304" pitchFamily="18" charset="0"/>
              <a:cs typeface="Times New Roman" panose="02020603050405020304" pitchFamily="18" charset="0"/>
            </a:endParaRPr>
          </a:p>
        </p:txBody>
      </p:sp>
      <p:sp>
        <p:nvSpPr>
          <p:cNvPr id="12" name="Freeform 9"/>
          <p:cNvSpPr>
            <a:spLocks noEditPoints="1"/>
          </p:cNvSpPr>
          <p:nvPr/>
        </p:nvSpPr>
        <p:spPr bwMode="auto">
          <a:xfrm>
            <a:off x="2651519" y="5070712"/>
            <a:ext cx="6577013" cy="68263"/>
          </a:xfrm>
          <a:custGeom>
            <a:avLst/>
            <a:gdLst>
              <a:gd name="T0" fmla="*/ 2275 w 2276"/>
              <a:gd name="T1" fmla="*/ 14 h 25"/>
              <a:gd name="T2" fmla="*/ 21 w 2276"/>
              <a:gd name="T3" fmla="*/ 14 h 25"/>
              <a:gd name="T4" fmla="*/ 19 w 2276"/>
              <a:gd name="T5" fmla="*/ 13 h 25"/>
              <a:gd name="T6" fmla="*/ 21 w 2276"/>
              <a:gd name="T7" fmla="*/ 11 h 25"/>
              <a:gd name="T8" fmla="*/ 2275 w 2276"/>
              <a:gd name="T9" fmla="*/ 11 h 25"/>
              <a:gd name="T10" fmla="*/ 2276 w 2276"/>
              <a:gd name="T11" fmla="*/ 13 h 25"/>
              <a:gd name="T12" fmla="*/ 2275 w 2276"/>
              <a:gd name="T13" fmla="*/ 14 h 25"/>
              <a:gd name="T14" fmla="*/ 25 w 2276"/>
              <a:gd name="T15" fmla="*/ 25 h 25"/>
              <a:gd name="T16" fmla="*/ 0 w 2276"/>
              <a:gd name="T17" fmla="*/ 13 h 25"/>
              <a:gd name="T18" fmla="*/ 25 w 2276"/>
              <a:gd name="T19" fmla="*/ 0 h 25"/>
              <a:gd name="T20" fmla="*/ 25 w 2276"/>
              <a:gd name="T2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6" h="25">
                <a:moveTo>
                  <a:pt x="2275" y="14"/>
                </a:moveTo>
                <a:lnTo>
                  <a:pt x="21" y="14"/>
                </a:lnTo>
                <a:cubicBezTo>
                  <a:pt x="20" y="14"/>
                  <a:pt x="19" y="14"/>
                  <a:pt x="19" y="13"/>
                </a:cubicBezTo>
                <a:cubicBezTo>
                  <a:pt x="19" y="12"/>
                  <a:pt x="20" y="11"/>
                  <a:pt x="21" y="11"/>
                </a:cubicBezTo>
                <a:lnTo>
                  <a:pt x="2275" y="11"/>
                </a:lnTo>
                <a:cubicBezTo>
                  <a:pt x="2276" y="11"/>
                  <a:pt x="2276" y="12"/>
                  <a:pt x="2276" y="13"/>
                </a:cubicBezTo>
                <a:cubicBezTo>
                  <a:pt x="2276" y="14"/>
                  <a:pt x="2276" y="14"/>
                  <a:pt x="2275" y="14"/>
                </a:cubicBezTo>
                <a:close/>
                <a:moveTo>
                  <a:pt x="25" y="25"/>
                </a:moveTo>
                <a:lnTo>
                  <a:pt x="0" y="13"/>
                </a:lnTo>
                <a:lnTo>
                  <a:pt x="25" y="0"/>
                </a:lnTo>
                <a:lnTo>
                  <a:pt x="25" y="25"/>
                </a:lnTo>
                <a:close/>
              </a:path>
            </a:pathLst>
          </a:custGeom>
          <a:solidFill>
            <a:srgbClr val="000000"/>
          </a:solidFill>
          <a:ln w="22225">
            <a:solidFill>
              <a:srgbClr val="000000"/>
            </a:solidFill>
            <a:prstDash val="solid"/>
            <a:round/>
            <a:headEnd/>
            <a:tailEnd/>
          </a:ln>
        </p:spPr>
        <p:txBody>
          <a:bodyPr/>
          <a:lstStyle/>
          <a:p>
            <a:endParaRPr lang="he-IL"/>
          </a:p>
        </p:txBody>
      </p:sp>
      <p:sp>
        <p:nvSpPr>
          <p:cNvPr id="13" name="Rectangle 10"/>
          <p:cNvSpPr>
            <a:spLocks noChangeArrowheads="1"/>
          </p:cNvSpPr>
          <p:nvPr/>
        </p:nvSpPr>
        <p:spPr bwMode="auto">
          <a:xfrm>
            <a:off x="3285562" y="4733188"/>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a:solidFill>
                  <a:srgbClr val="000000"/>
                </a:solidFill>
                <a:latin typeface="Times New Roman" panose="02020603050405020304" pitchFamily="18" charset="0"/>
                <a:cs typeface="Times New Roman" panose="02020603050405020304" pitchFamily="18" charset="0"/>
              </a:rPr>
              <a:t>Finished </a:t>
            </a:r>
            <a:r>
              <a:rPr lang="en-US" altLang="he-IL" sz="2000">
                <a:solidFill>
                  <a:srgbClr val="000000"/>
                </a:solidFill>
                <a:latin typeface="Times New Roman" panose="02020603050405020304" pitchFamily="18" charset="0"/>
                <a:cs typeface="Times New Roman" panose="02020603050405020304" pitchFamily="18" charset="0"/>
              </a:rPr>
              <a:t>(Confirmation -MAC of handshake messages)</a:t>
            </a:r>
          </a:p>
        </p:txBody>
      </p:sp>
      <mc:AlternateContent xmlns:mc="http://schemas.openxmlformats.org/markup-compatibility/2006" xmlns:a14="http://schemas.microsoft.com/office/drawing/2010/main">
        <mc:Choice Requires="a14">
          <p:sp>
            <p:nvSpPr>
              <p:cNvPr id="14" name="Rectangle 12"/>
              <p:cNvSpPr>
                <a:spLocks noChangeArrowheads="1"/>
              </p:cNvSpPr>
              <p:nvPr/>
            </p:nvSpPr>
            <p:spPr bwMode="auto">
              <a:xfrm>
                <a:off x="1825647" y="4425412"/>
                <a:ext cx="8698663" cy="6155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ServerHello: </a:t>
                </a:r>
                <a:r>
                  <a:rPr lang="en-US" altLang="he-IL" i="1" dirty="0" err="1">
                    <a:solidFill>
                      <a:srgbClr val="000000"/>
                    </a:solidFill>
                    <a:latin typeface="Times New Roman" panose="02020603050405020304" pitchFamily="18" charset="0"/>
                    <a:cs typeface="Times New Roman" panose="02020603050405020304" pitchFamily="18" charset="0"/>
                  </a:rPr>
                  <a:t>Server_random</a:t>
                </a:r>
                <a:r>
                  <a:rPr lang="en-US" altLang="he-IL" i="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𝒊</m:t>
                        </m:r>
                      </m:sub>
                      <m:sup>
                        <m:r>
                          <a:rPr lang="en-US" altLang="he-IL" b="1" i="1">
                            <a:solidFill>
                              <a:srgbClr val="FF00FF"/>
                            </a:solidFill>
                            <a:latin typeface="Cambria Math" panose="02040503050406030204" pitchFamily="18" charset="0"/>
                            <a:cs typeface="Times New Roman" panose="02020603050405020304" pitchFamily="18" charset="0"/>
                          </a:rPr>
                          <m:t>𝒃</m:t>
                        </m:r>
                      </m:sup>
                    </m:sSubSup>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𝑬</m:t>
                    </m:r>
                    <m:d>
                      <m:dPr>
                        <m:ctrlPr>
                          <a:rPr lang="en-US" altLang="he-IL" b="1" i="1">
                            <a:solidFill>
                              <a:srgbClr val="FF00FF"/>
                            </a:solidFill>
                            <a:latin typeface="Cambria Math" panose="02040503050406030204" pitchFamily="18" charset="0"/>
                            <a:cs typeface="Times New Roman" panose="02020603050405020304" pitchFamily="18" charset="0"/>
                          </a:rPr>
                        </m:ctrlPr>
                      </m:dPr>
                      <m:e>
                        <m:r>
                          <a:rPr lang="en-US" altLang="he-IL" b="1" i="1">
                            <a:solidFill>
                              <a:srgbClr val="FF00FF"/>
                            </a:solidFill>
                            <a:latin typeface="Cambria Math" panose="02040503050406030204" pitchFamily="18" charset="0"/>
                            <a:cs typeface="Times New Roman" panose="02020603050405020304" pitchFamily="18" charset="0"/>
                          </a:rPr>
                          <m:t>𝒆𝒙𝒕𝒆𝒏𝒔𝒊𝒐𝒏𝒔</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𝒏𝒆𝒘</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𝒕𝒊𝒄𝒌𝒆𝒕</m:t>
                        </m:r>
                      </m:e>
                    </m:d>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𝒄𝒆𝒓𝒕</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𝑺𝒊𝒈𝒏</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𝑯𝒆𝒍𝒍𝒐</m:t>
                    </m:r>
                    <m:r>
                      <a:rPr lang="en-US" altLang="he-IL" b="1" i="1">
                        <a:solidFill>
                          <a:srgbClr val="FF00FF"/>
                        </a:solidFill>
                        <a:latin typeface="Cambria Math" panose="02040503050406030204" pitchFamily="18" charset="0"/>
                        <a:cs typeface="Times New Roman" panose="02020603050405020304" pitchFamily="18" charset="0"/>
                      </a:rPr>
                      <m:t>)</m:t>
                    </m:r>
                  </m:oMath>
                </a14:m>
                <a:r>
                  <a:rPr lang="en-US" altLang="he-IL" dirty="0">
                    <a:solidFill>
                      <a:srgbClr val="000000"/>
                    </a:solidFill>
                    <a:latin typeface="Times New Roman" panose="02020603050405020304" pitchFamily="18" charset="0"/>
                    <a:cs typeface="Times New Roman" panose="02020603050405020304" pitchFamily="18" charset="0"/>
                  </a:rPr>
                  <a:t> )</a:t>
                </a:r>
                <a:endParaRPr lang="en-US" altLang="he-IL" dirty="0">
                  <a:latin typeface="Times New Roman" panose="02020603050405020304" pitchFamily="18" charset="0"/>
                  <a:cs typeface="Times New Roman" panose="02020603050405020304" pitchFamily="18" charset="0"/>
                </a:endParaRPr>
              </a:p>
              <a:p>
                <a:pPr algn="ctr"/>
                <a:endParaRPr lang="en-US" altLang="he-IL" dirty="0">
                  <a:latin typeface="Times New Roman" panose="02020603050405020304" pitchFamily="18" charset="0"/>
                  <a:cs typeface="Times New Roman" panose="02020603050405020304" pitchFamily="18" charset="0"/>
                </a:endParaRPr>
              </a:p>
            </p:txBody>
          </p:sp>
        </mc:Choice>
        <mc:Fallback xmlns="">
          <p:sp>
            <p:nvSpPr>
              <p:cNvPr id="14" name="Rectangle 12"/>
              <p:cNvSpPr>
                <a:spLocks noRot="1" noChangeAspect="1" noMove="1" noResize="1" noEditPoints="1" noAdjustHandles="1" noChangeArrowheads="1" noChangeShapeType="1" noTextEdit="1"/>
              </p:cNvSpPr>
              <p:nvPr/>
            </p:nvSpPr>
            <p:spPr bwMode="auto">
              <a:xfrm>
                <a:off x="1825647" y="4425412"/>
                <a:ext cx="8698663" cy="615553"/>
              </a:xfrm>
              <a:prstGeom prst="rect">
                <a:avLst/>
              </a:prstGeom>
              <a:blipFill>
                <a:blip r:embed="rId5"/>
                <a:stretch>
                  <a:fillRect l="-729" t="-14286" r="-4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Rectangle 8"/>
          <p:cNvSpPr>
            <a:spLocks noChangeArrowheads="1"/>
          </p:cNvSpPr>
          <p:nvPr/>
        </p:nvSpPr>
        <p:spPr bwMode="auto">
          <a:xfrm>
            <a:off x="3347473" y="5180863"/>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Finished </a:t>
            </a:r>
            <a:r>
              <a:rPr lang="en-US" altLang="he-IL" sz="2000" dirty="0">
                <a:solidFill>
                  <a:srgbClr val="000000"/>
                </a:solidFill>
                <a:latin typeface="Times New Roman" panose="02020603050405020304" pitchFamily="18" charset="0"/>
                <a:cs typeface="Times New Roman" panose="02020603050405020304" pitchFamily="18" charset="0"/>
              </a:rPr>
              <a:t>(Confirmation -MAC of handshake messages)</a:t>
            </a:r>
          </a:p>
        </p:txBody>
      </p:sp>
      <p:sp>
        <p:nvSpPr>
          <p:cNvPr id="16" name="TextBox 15">
            <a:extLst>
              <a:ext uri="{FF2B5EF4-FFF2-40B4-BE49-F238E27FC236}">
                <a16:creationId xmlns:a16="http://schemas.microsoft.com/office/drawing/2014/main" id="{8565583F-E649-1EC1-9007-7653A8671347}"/>
              </a:ext>
            </a:extLst>
          </p:cNvPr>
          <p:cNvSpPr txBox="1"/>
          <p:nvPr/>
        </p:nvSpPr>
        <p:spPr>
          <a:xfrm>
            <a:off x="-8091" y="-5493"/>
            <a:ext cx="8538774" cy="954107"/>
          </a:xfrm>
          <a:prstGeom prst="rect">
            <a:avLst/>
          </a:prstGeom>
          <a:solidFill>
            <a:srgbClr val="C00000"/>
          </a:solidFill>
        </p:spPr>
        <p:txBody>
          <a:bodyPr wrap="square">
            <a:spAutoFit/>
          </a:bodyPr>
          <a:lstStyle/>
          <a:p>
            <a:pPr algn="ctr"/>
            <a:r>
              <a:rPr lang="en-US" altLang="he-IL" sz="4000" dirty="0">
                <a:solidFill>
                  <a:schemeClr val="bg1"/>
                </a:solidFill>
                <a:latin typeface="Playfair Display Medium" pitchFamily="2" charset="77"/>
              </a:rPr>
              <a:t>TLS 1.3 Session Resumption: PSK</a:t>
            </a:r>
            <a:br>
              <a:rPr lang="en-US" altLang="he-IL" sz="4000" dirty="0">
                <a:solidFill>
                  <a:schemeClr val="bg1"/>
                </a:solidFill>
                <a:latin typeface="Playfair Display Medium" pitchFamily="2" charset="77"/>
              </a:rPr>
            </a:br>
            <a:endParaRPr lang="en-US" sz="1600" dirty="0">
              <a:solidFill>
                <a:schemeClr val="bg1"/>
              </a:solidFill>
              <a:latin typeface="Playfair Display Medium" pitchFamily="2" charset="77"/>
            </a:endParaRPr>
          </a:p>
        </p:txBody>
      </p:sp>
    </p:spTree>
    <p:custDataLst>
      <p:tags r:id="rId1"/>
    </p:custDataLst>
    <p:extLst>
      <p:ext uri="{BB962C8B-B14F-4D97-AF65-F5344CB8AC3E}">
        <p14:creationId xmlns:p14="http://schemas.microsoft.com/office/powerpoint/2010/main" val="40064414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p:cNvSpPr>
                <a:spLocks noGrp="1"/>
              </p:cNvSpPr>
              <p:nvPr>
                <p:ph idx="1"/>
              </p:nvPr>
            </p:nvSpPr>
            <p:spPr>
              <a:xfrm>
                <a:off x="1981200" y="1149351"/>
                <a:ext cx="8310282" cy="4981575"/>
              </a:xfrm>
            </p:spPr>
            <p:txBody>
              <a:bodyPr/>
              <a:lstStyle/>
              <a:p>
                <a:r>
                  <a:rPr lang="en-US" dirty="0"/>
                  <a:t>Resume </a:t>
                </a:r>
                <a:r>
                  <a:rPr lang="en-US" u="sng" dirty="0"/>
                  <a:t>only</a:t>
                </a:r>
                <a:r>
                  <a:rPr lang="en-US" dirty="0"/>
                  <a:t> using Pre-Shared Key (PSK)</a:t>
                </a:r>
              </a:p>
              <a:p>
                <a:pPr lvl="1"/>
                <a:r>
                  <a:rPr lang="en-US" dirty="0"/>
                  <a:t>Essentially, build-in ticket mechanism</a:t>
                </a:r>
              </a:p>
              <a:p>
                <a:pPr lvl="1"/>
                <a:r>
                  <a:rPr lang="en-US" dirty="0"/>
                  <a:t>Optional use of DH for PFS (ephemeral key)</a:t>
                </a:r>
              </a:p>
              <a:p>
                <a:pPr lvl="2"/>
                <a:r>
                  <a:rPr lang="en-US" dirty="0"/>
                  <a:t>Add </a:t>
                </a:r>
                <a14:m>
                  <m:oMath xmlns:m="http://schemas.openxmlformats.org/officeDocument/2006/math">
                    <m:d>
                      <m:dPr>
                        <m:begChr m:val="{"/>
                        <m:endChr m:val="}"/>
                        <m:ctrlPr>
                          <a:rPr lang="en-US" altLang="he-IL" i="1">
                            <a:solidFill>
                              <a:srgbClr val="FF00FF"/>
                            </a:solidFill>
                            <a:latin typeface="Cambria Math" panose="02040503050406030204" pitchFamily="18" charset="0"/>
                            <a:cs typeface="Times New Roman" panose="02020603050405020304" pitchFamily="18" charset="0"/>
                          </a:rPr>
                        </m:ctrlPr>
                      </m:dPr>
                      <m:e>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b="1"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𝟏</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𝟏</m:t>
                            </m:r>
                          </m:sup>
                        </m:sSubSup>
                        <m:r>
                          <a:rPr lang="en-US" altLang="he-IL" b="1" i="1">
                            <a:solidFill>
                              <a:srgbClr val="FF00FF"/>
                            </a:solidFill>
                            <a:latin typeface="Cambria Math" panose="02040503050406030204" pitchFamily="18" charset="0"/>
                            <a:cs typeface="Times New Roman" panose="02020603050405020304" pitchFamily="18" charset="0"/>
                          </a:rPr>
                          <m:t>,</m:t>
                        </m:r>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𝟐</m:t>
                            </m:r>
                          </m:sub>
                          <m:sup>
                            <m:r>
                              <a:rPr lang="en-US" altLang="he-IL" b="1" i="1">
                                <a:solidFill>
                                  <a:srgbClr val="FF00FF"/>
                                </a:solidFill>
                                <a:latin typeface="Cambria Math" panose="02040503050406030204" pitchFamily="18" charset="0"/>
                                <a:cs typeface="Times New Roman" panose="02020603050405020304" pitchFamily="18" charset="0"/>
                              </a:rPr>
                              <m:t>𝒂</m:t>
                            </m:r>
                            <m:r>
                              <a:rPr lang="en-US" altLang="he-IL" b="1" i="1">
                                <a:solidFill>
                                  <a:srgbClr val="FF00FF"/>
                                </a:solidFill>
                                <a:latin typeface="Cambria Math" panose="02040503050406030204" pitchFamily="18" charset="0"/>
                                <a:cs typeface="Times New Roman" panose="02020603050405020304" pitchFamily="18" charset="0"/>
                              </a:rPr>
                              <m:t>𝟐</m:t>
                            </m:r>
                          </m:sup>
                        </m:sSubSup>
                        <m:r>
                          <a:rPr lang="en-US" altLang="he-IL" b="1" i="1">
                            <a:solidFill>
                              <a:srgbClr val="FF00FF"/>
                            </a:solidFill>
                            <a:latin typeface="Cambria Math" panose="02040503050406030204" pitchFamily="18" charset="0"/>
                            <a:cs typeface="Times New Roman" panose="02020603050405020304" pitchFamily="18" charset="0"/>
                          </a:rPr>
                          <m:t>…</m:t>
                        </m:r>
                      </m:e>
                    </m:d>
                  </m:oMath>
                </a14:m>
                <a:r>
                  <a:rPr lang="en-US" dirty="0"/>
                  <a:t> to client-hello</a:t>
                </a:r>
              </a:p>
              <a:p>
                <a:pPr lvl="2"/>
                <a:r>
                  <a:rPr lang="en-US" dirty="0"/>
                  <a:t>Use PSK to authenticate key-shares and derive key</a:t>
                </a:r>
              </a:p>
            </p:txBody>
          </p:sp>
        </mc:Choice>
        <mc:Fallback xmlns="">
          <p:sp>
            <p:nvSpPr>
              <p:cNvPr id="3" name="מציין מיקום תוכן 2"/>
              <p:cNvSpPr>
                <a:spLocks noGrp="1" noRot="1" noChangeAspect="1" noMove="1" noResize="1" noEditPoints="1" noAdjustHandles="1" noChangeArrowheads="1" noChangeShapeType="1" noTextEdit="1"/>
              </p:cNvSpPr>
              <p:nvPr>
                <p:ph idx="1"/>
              </p:nvPr>
            </p:nvSpPr>
            <p:spPr>
              <a:xfrm>
                <a:off x="1981200" y="1149351"/>
                <a:ext cx="8310282" cy="4981575"/>
              </a:xfrm>
              <a:blipFill>
                <a:blip r:embed="rId4"/>
                <a:stretch>
                  <a:fillRect l="-1374" t="-2036"/>
                </a:stretch>
              </a:blipFill>
            </p:spPr>
            <p:txBody>
              <a:bodyPr/>
              <a:lstStyle/>
              <a:p>
                <a:r>
                  <a:rPr lang="en-US">
                    <a:noFill/>
                  </a:rPr>
                  <a:t> </a:t>
                </a:r>
              </a:p>
            </p:txBody>
          </p:sp>
        </mc:Fallback>
      </mc:AlternateContent>
      <p:sp>
        <p:nvSpPr>
          <p:cNvPr id="4" name="מציין מיקום של תאריך 3"/>
          <p:cNvSpPr>
            <a:spLocks noGrp="1"/>
          </p:cNvSpPr>
          <p:nvPr>
            <p:ph type="dt" sz="half" idx="10"/>
          </p:nvPr>
        </p:nvSpPr>
        <p:spPr/>
        <p:txBody>
          <a:bodyPr/>
          <a:lstStyle/>
          <a:p>
            <a:pPr>
              <a:defRPr/>
            </a:pPr>
            <a:r>
              <a:rPr lang="en-US" altLang="en-US"/>
              <a:t>2/27/25</a:t>
            </a:r>
          </a:p>
        </p:txBody>
      </p:sp>
      <p:sp>
        <p:nvSpPr>
          <p:cNvPr id="5" name="מציין מיקום של מספר שקופית 4"/>
          <p:cNvSpPr>
            <a:spLocks noGrp="1"/>
          </p:cNvSpPr>
          <p:nvPr>
            <p:ph type="sldNum" sz="quarter" idx="11"/>
          </p:nvPr>
        </p:nvSpPr>
        <p:spPr/>
        <p:txBody>
          <a:bodyPr/>
          <a:lstStyle/>
          <a:p>
            <a:r>
              <a:rPr lang="he-IL" altLang="en-US"/>
              <a:t>72</a:t>
            </a:r>
            <a:endParaRPr lang="en-US" altLang="en-US"/>
          </a:p>
        </p:txBody>
      </p:sp>
      <p:sp>
        <p:nvSpPr>
          <p:cNvPr id="6" name="Freeform 3"/>
          <p:cNvSpPr>
            <a:spLocks noEditPoints="1"/>
          </p:cNvSpPr>
          <p:nvPr/>
        </p:nvSpPr>
        <p:spPr bwMode="auto">
          <a:xfrm>
            <a:off x="2636347" y="4219675"/>
            <a:ext cx="6578600" cy="69850"/>
          </a:xfrm>
          <a:custGeom>
            <a:avLst/>
            <a:gdLst>
              <a:gd name="T0" fmla="*/ 2 w 2277"/>
              <a:gd name="T1" fmla="*/ 11 h 25"/>
              <a:gd name="T2" fmla="*/ 2256 w 2277"/>
              <a:gd name="T3" fmla="*/ 11 h 25"/>
              <a:gd name="T4" fmla="*/ 2258 w 2277"/>
              <a:gd name="T5" fmla="*/ 12 h 25"/>
              <a:gd name="T6" fmla="*/ 2256 w 2277"/>
              <a:gd name="T7" fmla="*/ 14 h 25"/>
              <a:gd name="T8" fmla="*/ 2 w 2277"/>
              <a:gd name="T9" fmla="*/ 14 h 25"/>
              <a:gd name="T10" fmla="*/ 0 w 2277"/>
              <a:gd name="T11" fmla="*/ 12 h 25"/>
              <a:gd name="T12" fmla="*/ 2 w 2277"/>
              <a:gd name="T13" fmla="*/ 11 h 25"/>
              <a:gd name="T14" fmla="*/ 2252 w 2277"/>
              <a:gd name="T15" fmla="*/ 0 h 25"/>
              <a:gd name="T16" fmla="*/ 2277 w 2277"/>
              <a:gd name="T17" fmla="*/ 12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8" y="11"/>
                  <a:pt x="2258" y="12"/>
                </a:cubicBezTo>
                <a:cubicBezTo>
                  <a:pt x="2258" y="13"/>
                  <a:pt x="2257" y="14"/>
                  <a:pt x="2256" y="14"/>
                </a:cubicBezTo>
                <a:lnTo>
                  <a:pt x="2" y="14"/>
                </a:lnTo>
                <a:cubicBezTo>
                  <a:pt x="1" y="14"/>
                  <a:pt x="0" y="13"/>
                  <a:pt x="0" y="12"/>
                </a:cubicBezTo>
                <a:cubicBezTo>
                  <a:pt x="0" y="11"/>
                  <a:pt x="1" y="11"/>
                  <a:pt x="2" y="11"/>
                </a:cubicBezTo>
                <a:close/>
                <a:moveTo>
                  <a:pt x="2252" y="0"/>
                </a:moveTo>
                <a:lnTo>
                  <a:pt x="2277" y="12"/>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7" name="Rectangle 4"/>
          <p:cNvSpPr>
            <a:spLocks noChangeArrowheads="1"/>
          </p:cNvSpPr>
          <p:nvPr/>
        </p:nvSpPr>
        <p:spPr bwMode="auto">
          <a:xfrm>
            <a:off x="1780786" y="4052194"/>
            <a:ext cx="73738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Client</a:t>
            </a:r>
            <a:endParaRPr lang="en-US" altLang="he-IL" sz="2400"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a:off x="9416366" y="3998374"/>
            <a:ext cx="7982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Server</a:t>
            </a:r>
            <a:endParaRPr lang="en-US" altLang="he-IL" sz="2400"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3167841" y="3841171"/>
            <a:ext cx="54151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ClientHello </a:t>
            </a:r>
            <a:r>
              <a:rPr lang="en-US" altLang="he-IL" dirty="0">
                <a:solidFill>
                  <a:srgbClr val="000000"/>
                </a:solidFill>
                <a:latin typeface="Times New Roman" panose="02020603050405020304" pitchFamily="18" charset="0"/>
                <a:cs typeface="Times New Roman" panose="02020603050405020304" pitchFamily="18" charset="0"/>
              </a:rPr>
              <a:t>(cipher-suites,</a:t>
            </a:r>
            <a:r>
              <a:rPr lang="en-US" altLang="he-IL" dirty="0">
                <a:solidFill>
                  <a:srgbClr val="FF00FF"/>
                </a:solidFill>
                <a:latin typeface="Times New Roman" panose="02020603050405020304" pitchFamily="18" charset="0"/>
                <a:cs typeface="Times New Roman" panose="02020603050405020304" pitchFamily="18" charset="0"/>
              </a:rPr>
              <a:t>, PSK-ticket,</a:t>
            </a:r>
            <a:r>
              <a:rPr lang="en-US" altLang="he-IL"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Client_random</a:t>
            </a:r>
            <a:r>
              <a:rPr lang="en-US" altLang="he-IL" dirty="0">
                <a:solidFill>
                  <a:srgbClr val="000000"/>
                </a:solidFill>
                <a:latin typeface="Times New Roman" panose="02020603050405020304" pitchFamily="18" charset="0"/>
                <a:cs typeface="Times New Roman" panose="02020603050405020304" pitchFamily="18" charset="0"/>
              </a:rPr>
              <a:t>)</a:t>
            </a:r>
            <a:endParaRPr lang="en-US" altLang="he-IL" dirty="0">
              <a:latin typeface="Times New Roman" panose="02020603050405020304" pitchFamily="18" charset="0"/>
              <a:cs typeface="Times New Roman" panose="02020603050405020304" pitchFamily="18" charset="0"/>
            </a:endParaRPr>
          </a:p>
        </p:txBody>
      </p:sp>
      <p:sp>
        <p:nvSpPr>
          <p:cNvPr id="10" name="Freeform 7"/>
          <p:cNvSpPr>
            <a:spLocks noEditPoints="1"/>
          </p:cNvSpPr>
          <p:nvPr/>
        </p:nvSpPr>
        <p:spPr bwMode="auto">
          <a:xfrm>
            <a:off x="2608655" y="5808720"/>
            <a:ext cx="6580188" cy="68263"/>
          </a:xfrm>
          <a:custGeom>
            <a:avLst/>
            <a:gdLst>
              <a:gd name="T0" fmla="*/ 2 w 2277"/>
              <a:gd name="T1" fmla="*/ 11 h 25"/>
              <a:gd name="T2" fmla="*/ 2256 w 2277"/>
              <a:gd name="T3" fmla="*/ 11 h 25"/>
              <a:gd name="T4" fmla="*/ 2257 w 2277"/>
              <a:gd name="T5" fmla="*/ 13 h 25"/>
              <a:gd name="T6" fmla="*/ 2256 w 2277"/>
              <a:gd name="T7" fmla="*/ 14 h 25"/>
              <a:gd name="T8" fmla="*/ 2 w 2277"/>
              <a:gd name="T9" fmla="*/ 14 h 25"/>
              <a:gd name="T10" fmla="*/ 0 w 2277"/>
              <a:gd name="T11" fmla="*/ 13 h 25"/>
              <a:gd name="T12" fmla="*/ 2 w 2277"/>
              <a:gd name="T13" fmla="*/ 11 h 25"/>
              <a:gd name="T14" fmla="*/ 2252 w 2277"/>
              <a:gd name="T15" fmla="*/ 0 h 25"/>
              <a:gd name="T16" fmla="*/ 2277 w 2277"/>
              <a:gd name="T17" fmla="*/ 13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7" y="12"/>
                  <a:pt x="2257" y="13"/>
                </a:cubicBezTo>
                <a:cubicBezTo>
                  <a:pt x="2257" y="14"/>
                  <a:pt x="2257" y="14"/>
                  <a:pt x="2256" y="14"/>
                </a:cubicBezTo>
                <a:lnTo>
                  <a:pt x="2" y="14"/>
                </a:lnTo>
                <a:cubicBezTo>
                  <a:pt x="1" y="14"/>
                  <a:pt x="0" y="14"/>
                  <a:pt x="0" y="13"/>
                </a:cubicBezTo>
                <a:cubicBezTo>
                  <a:pt x="0" y="12"/>
                  <a:pt x="1" y="11"/>
                  <a:pt x="2" y="11"/>
                </a:cubicBezTo>
                <a:close/>
                <a:moveTo>
                  <a:pt x="2252" y="0"/>
                </a:moveTo>
                <a:lnTo>
                  <a:pt x="2277" y="13"/>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11" name="Rectangle 8"/>
          <p:cNvSpPr>
            <a:spLocks noChangeArrowheads="1"/>
          </p:cNvSpPr>
          <p:nvPr/>
        </p:nvSpPr>
        <p:spPr bwMode="auto">
          <a:xfrm>
            <a:off x="4647498" y="5422957"/>
            <a:ext cx="31819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Application data (protected)</a:t>
            </a:r>
            <a:endParaRPr lang="en-US" altLang="he-IL" sz="2000" dirty="0">
              <a:solidFill>
                <a:srgbClr val="000000"/>
              </a:solidFill>
              <a:latin typeface="Times New Roman" panose="02020603050405020304" pitchFamily="18" charset="0"/>
              <a:cs typeface="Times New Roman" panose="02020603050405020304" pitchFamily="18" charset="0"/>
            </a:endParaRPr>
          </a:p>
        </p:txBody>
      </p:sp>
      <p:sp>
        <p:nvSpPr>
          <p:cNvPr id="12" name="Freeform 9"/>
          <p:cNvSpPr>
            <a:spLocks noEditPoints="1"/>
          </p:cNvSpPr>
          <p:nvPr/>
        </p:nvSpPr>
        <p:spPr bwMode="auto">
          <a:xfrm>
            <a:off x="2651519" y="5070712"/>
            <a:ext cx="6577013" cy="68263"/>
          </a:xfrm>
          <a:custGeom>
            <a:avLst/>
            <a:gdLst>
              <a:gd name="T0" fmla="*/ 2275 w 2276"/>
              <a:gd name="T1" fmla="*/ 14 h 25"/>
              <a:gd name="T2" fmla="*/ 21 w 2276"/>
              <a:gd name="T3" fmla="*/ 14 h 25"/>
              <a:gd name="T4" fmla="*/ 19 w 2276"/>
              <a:gd name="T5" fmla="*/ 13 h 25"/>
              <a:gd name="T6" fmla="*/ 21 w 2276"/>
              <a:gd name="T7" fmla="*/ 11 h 25"/>
              <a:gd name="T8" fmla="*/ 2275 w 2276"/>
              <a:gd name="T9" fmla="*/ 11 h 25"/>
              <a:gd name="T10" fmla="*/ 2276 w 2276"/>
              <a:gd name="T11" fmla="*/ 13 h 25"/>
              <a:gd name="T12" fmla="*/ 2275 w 2276"/>
              <a:gd name="T13" fmla="*/ 14 h 25"/>
              <a:gd name="T14" fmla="*/ 25 w 2276"/>
              <a:gd name="T15" fmla="*/ 25 h 25"/>
              <a:gd name="T16" fmla="*/ 0 w 2276"/>
              <a:gd name="T17" fmla="*/ 13 h 25"/>
              <a:gd name="T18" fmla="*/ 25 w 2276"/>
              <a:gd name="T19" fmla="*/ 0 h 25"/>
              <a:gd name="T20" fmla="*/ 25 w 2276"/>
              <a:gd name="T2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6" h="25">
                <a:moveTo>
                  <a:pt x="2275" y="14"/>
                </a:moveTo>
                <a:lnTo>
                  <a:pt x="21" y="14"/>
                </a:lnTo>
                <a:cubicBezTo>
                  <a:pt x="20" y="14"/>
                  <a:pt x="19" y="14"/>
                  <a:pt x="19" y="13"/>
                </a:cubicBezTo>
                <a:cubicBezTo>
                  <a:pt x="19" y="12"/>
                  <a:pt x="20" y="11"/>
                  <a:pt x="21" y="11"/>
                </a:cubicBezTo>
                <a:lnTo>
                  <a:pt x="2275" y="11"/>
                </a:lnTo>
                <a:cubicBezTo>
                  <a:pt x="2276" y="11"/>
                  <a:pt x="2276" y="12"/>
                  <a:pt x="2276" y="13"/>
                </a:cubicBezTo>
                <a:cubicBezTo>
                  <a:pt x="2276" y="14"/>
                  <a:pt x="2276" y="14"/>
                  <a:pt x="2275" y="14"/>
                </a:cubicBezTo>
                <a:close/>
                <a:moveTo>
                  <a:pt x="25" y="25"/>
                </a:moveTo>
                <a:lnTo>
                  <a:pt x="0" y="13"/>
                </a:lnTo>
                <a:lnTo>
                  <a:pt x="25" y="0"/>
                </a:lnTo>
                <a:lnTo>
                  <a:pt x="25" y="25"/>
                </a:lnTo>
                <a:close/>
              </a:path>
            </a:pathLst>
          </a:custGeom>
          <a:solidFill>
            <a:srgbClr val="000000"/>
          </a:solidFill>
          <a:ln w="22225">
            <a:solidFill>
              <a:srgbClr val="000000"/>
            </a:solidFill>
            <a:prstDash val="solid"/>
            <a:round/>
            <a:headEnd/>
            <a:tailEnd/>
          </a:ln>
        </p:spPr>
        <p:txBody>
          <a:bodyPr/>
          <a:lstStyle/>
          <a:p>
            <a:endParaRPr lang="he-IL"/>
          </a:p>
        </p:txBody>
      </p:sp>
      <p:sp>
        <p:nvSpPr>
          <p:cNvPr id="13" name="Rectangle 10"/>
          <p:cNvSpPr>
            <a:spLocks noChangeArrowheads="1"/>
          </p:cNvSpPr>
          <p:nvPr/>
        </p:nvSpPr>
        <p:spPr bwMode="auto">
          <a:xfrm>
            <a:off x="3285562" y="4733188"/>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a:solidFill>
                  <a:srgbClr val="000000"/>
                </a:solidFill>
                <a:latin typeface="Times New Roman" panose="02020603050405020304" pitchFamily="18" charset="0"/>
                <a:cs typeface="Times New Roman" panose="02020603050405020304" pitchFamily="18" charset="0"/>
              </a:rPr>
              <a:t>Finished </a:t>
            </a:r>
            <a:r>
              <a:rPr lang="en-US" altLang="he-IL" sz="2000">
                <a:solidFill>
                  <a:srgbClr val="000000"/>
                </a:solidFill>
                <a:latin typeface="Times New Roman" panose="02020603050405020304" pitchFamily="18" charset="0"/>
                <a:cs typeface="Times New Roman" panose="02020603050405020304" pitchFamily="18" charset="0"/>
              </a:rPr>
              <a:t>(Confirmation -MAC of handshake messages)</a:t>
            </a:r>
          </a:p>
        </p:txBody>
      </p:sp>
      <mc:AlternateContent xmlns:mc="http://schemas.openxmlformats.org/markup-compatibility/2006" xmlns:a14="http://schemas.microsoft.com/office/drawing/2010/main">
        <mc:Choice Requires="a14">
          <p:sp>
            <p:nvSpPr>
              <p:cNvPr id="14" name="Rectangle 12"/>
              <p:cNvSpPr>
                <a:spLocks noChangeArrowheads="1"/>
              </p:cNvSpPr>
              <p:nvPr/>
            </p:nvSpPr>
            <p:spPr bwMode="auto">
              <a:xfrm>
                <a:off x="1825647" y="4425412"/>
                <a:ext cx="8698663" cy="6155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ServerHello: </a:t>
                </a:r>
                <a:r>
                  <a:rPr lang="en-US" altLang="he-IL" i="1" dirty="0" err="1">
                    <a:solidFill>
                      <a:srgbClr val="000000"/>
                    </a:solidFill>
                    <a:latin typeface="Times New Roman" panose="02020603050405020304" pitchFamily="18" charset="0"/>
                    <a:cs typeface="Times New Roman" panose="02020603050405020304" pitchFamily="18" charset="0"/>
                  </a:rPr>
                  <a:t>Server_random</a:t>
                </a:r>
                <a:r>
                  <a:rPr lang="en-US" altLang="he-IL" i="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𝒊</m:t>
                        </m:r>
                      </m:sub>
                      <m:sup>
                        <m:r>
                          <a:rPr lang="en-US" altLang="he-IL" b="1" i="1">
                            <a:solidFill>
                              <a:srgbClr val="FF00FF"/>
                            </a:solidFill>
                            <a:latin typeface="Cambria Math" panose="02040503050406030204" pitchFamily="18" charset="0"/>
                            <a:cs typeface="Times New Roman" panose="02020603050405020304" pitchFamily="18" charset="0"/>
                          </a:rPr>
                          <m:t>𝒃</m:t>
                        </m:r>
                      </m:sup>
                    </m:sSubSup>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𝑬</m:t>
                    </m:r>
                    <m:d>
                      <m:dPr>
                        <m:ctrlPr>
                          <a:rPr lang="en-US" altLang="he-IL" b="1" i="1">
                            <a:solidFill>
                              <a:srgbClr val="FF00FF"/>
                            </a:solidFill>
                            <a:latin typeface="Cambria Math" panose="02040503050406030204" pitchFamily="18" charset="0"/>
                            <a:cs typeface="Times New Roman" panose="02020603050405020304" pitchFamily="18" charset="0"/>
                          </a:rPr>
                        </m:ctrlPr>
                      </m:dPr>
                      <m:e>
                        <m:r>
                          <a:rPr lang="en-US" altLang="he-IL" b="1" i="1">
                            <a:solidFill>
                              <a:srgbClr val="FF00FF"/>
                            </a:solidFill>
                            <a:latin typeface="Cambria Math" panose="02040503050406030204" pitchFamily="18" charset="0"/>
                            <a:cs typeface="Times New Roman" panose="02020603050405020304" pitchFamily="18" charset="0"/>
                          </a:rPr>
                          <m:t>𝒆𝒙𝒕𝒆𝒏𝒔𝒊𝒐𝒏𝒔</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𝒏𝒆𝒘</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𝒕𝒊𝒄𝒌𝒆𝒕</m:t>
                        </m:r>
                      </m:e>
                    </m:d>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𝒄𝒆𝒓𝒕</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𝑺𝒊𝒈𝒏</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𝑯𝒆𝒍𝒍𝒐</m:t>
                    </m:r>
                    <m:r>
                      <a:rPr lang="en-US" altLang="he-IL" b="1" i="1">
                        <a:solidFill>
                          <a:srgbClr val="FF00FF"/>
                        </a:solidFill>
                        <a:latin typeface="Cambria Math" panose="02040503050406030204" pitchFamily="18" charset="0"/>
                        <a:cs typeface="Times New Roman" panose="02020603050405020304" pitchFamily="18" charset="0"/>
                      </a:rPr>
                      <m:t>)</m:t>
                    </m:r>
                  </m:oMath>
                </a14:m>
                <a:r>
                  <a:rPr lang="en-US" altLang="he-IL" dirty="0">
                    <a:solidFill>
                      <a:srgbClr val="000000"/>
                    </a:solidFill>
                    <a:latin typeface="Times New Roman" panose="02020603050405020304" pitchFamily="18" charset="0"/>
                    <a:cs typeface="Times New Roman" panose="02020603050405020304" pitchFamily="18" charset="0"/>
                  </a:rPr>
                  <a:t> )</a:t>
                </a:r>
                <a:endParaRPr lang="en-US" altLang="he-IL" dirty="0">
                  <a:latin typeface="Times New Roman" panose="02020603050405020304" pitchFamily="18" charset="0"/>
                  <a:cs typeface="Times New Roman" panose="02020603050405020304" pitchFamily="18" charset="0"/>
                </a:endParaRPr>
              </a:p>
              <a:p>
                <a:pPr algn="ctr"/>
                <a:endParaRPr lang="en-US" altLang="he-IL" dirty="0">
                  <a:latin typeface="Times New Roman" panose="02020603050405020304" pitchFamily="18" charset="0"/>
                  <a:cs typeface="Times New Roman" panose="02020603050405020304" pitchFamily="18" charset="0"/>
                </a:endParaRPr>
              </a:p>
            </p:txBody>
          </p:sp>
        </mc:Choice>
        <mc:Fallback xmlns="">
          <p:sp>
            <p:nvSpPr>
              <p:cNvPr id="14" name="Rectangle 12"/>
              <p:cNvSpPr>
                <a:spLocks noRot="1" noChangeAspect="1" noMove="1" noResize="1" noEditPoints="1" noAdjustHandles="1" noChangeArrowheads="1" noChangeShapeType="1" noTextEdit="1"/>
              </p:cNvSpPr>
              <p:nvPr/>
            </p:nvSpPr>
            <p:spPr bwMode="auto">
              <a:xfrm>
                <a:off x="1825647" y="4425412"/>
                <a:ext cx="8698663" cy="615553"/>
              </a:xfrm>
              <a:prstGeom prst="rect">
                <a:avLst/>
              </a:prstGeom>
              <a:blipFill>
                <a:blip r:embed="rId5"/>
                <a:stretch>
                  <a:fillRect l="-729" t="-14286" r="-4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Rectangle 8"/>
          <p:cNvSpPr>
            <a:spLocks noChangeArrowheads="1"/>
          </p:cNvSpPr>
          <p:nvPr/>
        </p:nvSpPr>
        <p:spPr bwMode="auto">
          <a:xfrm>
            <a:off x="3347473" y="5180863"/>
            <a:ext cx="57788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Finished </a:t>
            </a:r>
            <a:r>
              <a:rPr lang="en-US" altLang="he-IL" sz="2000" dirty="0">
                <a:solidFill>
                  <a:srgbClr val="000000"/>
                </a:solidFill>
                <a:latin typeface="Times New Roman" panose="02020603050405020304" pitchFamily="18" charset="0"/>
                <a:cs typeface="Times New Roman" panose="02020603050405020304" pitchFamily="18" charset="0"/>
              </a:rPr>
              <a:t>(Confirmation -MAC of handshake messages)</a:t>
            </a:r>
          </a:p>
        </p:txBody>
      </p:sp>
      <p:sp>
        <p:nvSpPr>
          <p:cNvPr id="18" name="TextBox 17">
            <a:extLst>
              <a:ext uri="{FF2B5EF4-FFF2-40B4-BE49-F238E27FC236}">
                <a16:creationId xmlns:a16="http://schemas.microsoft.com/office/drawing/2014/main" id="{682ABF68-DC81-34E2-872A-B6ADC476D050}"/>
              </a:ext>
            </a:extLst>
          </p:cNvPr>
          <p:cNvSpPr txBox="1"/>
          <p:nvPr/>
        </p:nvSpPr>
        <p:spPr>
          <a:xfrm>
            <a:off x="-8091" y="-5493"/>
            <a:ext cx="8538774" cy="954107"/>
          </a:xfrm>
          <a:prstGeom prst="rect">
            <a:avLst/>
          </a:prstGeom>
          <a:solidFill>
            <a:srgbClr val="C00000"/>
          </a:solidFill>
        </p:spPr>
        <p:txBody>
          <a:bodyPr wrap="square">
            <a:spAutoFit/>
          </a:bodyPr>
          <a:lstStyle/>
          <a:p>
            <a:pPr algn="ctr"/>
            <a:r>
              <a:rPr lang="en-US" altLang="he-IL" sz="4000" dirty="0">
                <a:solidFill>
                  <a:schemeClr val="bg1"/>
                </a:solidFill>
                <a:latin typeface="Playfair Display Medium" pitchFamily="2" charset="77"/>
              </a:rPr>
              <a:t>TLS 1.3 Session Resumption: PSK</a:t>
            </a:r>
            <a:br>
              <a:rPr lang="en-US" altLang="he-IL" sz="4000" dirty="0">
                <a:solidFill>
                  <a:schemeClr val="bg1"/>
                </a:solidFill>
                <a:latin typeface="Playfair Display Medium" pitchFamily="2" charset="77"/>
              </a:rPr>
            </a:br>
            <a:endParaRPr lang="en-US" sz="1600" dirty="0">
              <a:solidFill>
                <a:schemeClr val="bg1"/>
              </a:solidFill>
              <a:latin typeface="Playfair Display Medium" pitchFamily="2" charset="77"/>
            </a:endParaRPr>
          </a:p>
        </p:txBody>
      </p:sp>
    </p:spTree>
    <p:custDataLst>
      <p:tags r:id="rId1"/>
    </p:custDataLst>
    <p:extLst>
      <p:ext uri="{BB962C8B-B14F-4D97-AF65-F5344CB8AC3E}">
        <p14:creationId xmlns:p14="http://schemas.microsoft.com/office/powerpoint/2010/main" val="9102947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981200" y="1149351"/>
            <a:ext cx="8310282" cy="4981575"/>
          </a:xfrm>
        </p:spPr>
        <p:txBody>
          <a:bodyPr/>
          <a:lstStyle/>
          <a:p>
            <a:r>
              <a:rPr lang="en-US" dirty="0"/>
              <a:t>TLS 1.3 even supports 0-RTT! </a:t>
            </a:r>
          </a:p>
        </p:txBody>
      </p:sp>
      <p:sp>
        <p:nvSpPr>
          <p:cNvPr id="4" name="מציין מיקום של תאריך 3"/>
          <p:cNvSpPr>
            <a:spLocks noGrp="1"/>
          </p:cNvSpPr>
          <p:nvPr>
            <p:ph type="dt" sz="half" idx="10"/>
          </p:nvPr>
        </p:nvSpPr>
        <p:spPr/>
        <p:txBody>
          <a:bodyPr/>
          <a:lstStyle/>
          <a:p>
            <a:pPr>
              <a:defRPr/>
            </a:pPr>
            <a:r>
              <a:rPr lang="en-US" altLang="en-US"/>
              <a:t>2/27/25</a:t>
            </a:r>
          </a:p>
        </p:txBody>
      </p:sp>
      <p:sp>
        <p:nvSpPr>
          <p:cNvPr id="5" name="מציין מיקום של מספר שקופית 4"/>
          <p:cNvSpPr>
            <a:spLocks noGrp="1"/>
          </p:cNvSpPr>
          <p:nvPr>
            <p:ph type="sldNum" sz="quarter" idx="11"/>
          </p:nvPr>
        </p:nvSpPr>
        <p:spPr/>
        <p:txBody>
          <a:bodyPr/>
          <a:lstStyle/>
          <a:p>
            <a:r>
              <a:rPr lang="he-IL" altLang="en-US"/>
              <a:t>73</a:t>
            </a:r>
            <a:endParaRPr lang="en-US" altLang="en-US"/>
          </a:p>
        </p:txBody>
      </p:sp>
      <p:sp>
        <p:nvSpPr>
          <p:cNvPr id="6" name="Freeform 3"/>
          <p:cNvSpPr>
            <a:spLocks noEditPoints="1"/>
          </p:cNvSpPr>
          <p:nvPr/>
        </p:nvSpPr>
        <p:spPr bwMode="auto">
          <a:xfrm>
            <a:off x="2636347" y="3345139"/>
            <a:ext cx="6578600" cy="69850"/>
          </a:xfrm>
          <a:custGeom>
            <a:avLst/>
            <a:gdLst>
              <a:gd name="T0" fmla="*/ 2 w 2277"/>
              <a:gd name="T1" fmla="*/ 11 h 25"/>
              <a:gd name="T2" fmla="*/ 2256 w 2277"/>
              <a:gd name="T3" fmla="*/ 11 h 25"/>
              <a:gd name="T4" fmla="*/ 2258 w 2277"/>
              <a:gd name="T5" fmla="*/ 12 h 25"/>
              <a:gd name="T6" fmla="*/ 2256 w 2277"/>
              <a:gd name="T7" fmla="*/ 14 h 25"/>
              <a:gd name="T8" fmla="*/ 2 w 2277"/>
              <a:gd name="T9" fmla="*/ 14 h 25"/>
              <a:gd name="T10" fmla="*/ 0 w 2277"/>
              <a:gd name="T11" fmla="*/ 12 h 25"/>
              <a:gd name="T12" fmla="*/ 2 w 2277"/>
              <a:gd name="T13" fmla="*/ 11 h 25"/>
              <a:gd name="T14" fmla="*/ 2252 w 2277"/>
              <a:gd name="T15" fmla="*/ 0 h 25"/>
              <a:gd name="T16" fmla="*/ 2277 w 2277"/>
              <a:gd name="T17" fmla="*/ 12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8" y="11"/>
                  <a:pt x="2258" y="12"/>
                </a:cubicBezTo>
                <a:cubicBezTo>
                  <a:pt x="2258" y="13"/>
                  <a:pt x="2257" y="14"/>
                  <a:pt x="2256" y="14"/>
                </a:cubicBezTo>
                <a:lnTo>
                  <a:pt x="2" y="14"/>
                </a:lnTo>
                <a:cubicBezTo>
                  <a:pt x="1" y="14"/>
                  <a:pt x="0" y="13"/>
                  <a:pt x="0" y="12"/>
                </a:cubicBezTo>
                <a:cubicBezTo>
                  <a:pt x="0" y="11"/>
                  <a:pt x="1" y="11"/>
                  <a:pt x="2" y="11"/>
                </a:cubicBezTo>
                <a:close/>
                <a:moveTo>
                  <a:pt x="2252" y="0"/>
                </a:moveTo>
                <a:lnTo>
                  <a:pt x="2277" y="12"/>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7" name="Rectangle 4"/>
          <p:cNvSpPr>
            <a:spLocks noChangeArrowheads="1"/>
          </p:cNvSpPr>
          <p:nvPr/>
        </p:nvSpPr>
        <p:spPr bwMode="auto">
          <a:xfrm>
            <a:off x="1780786" y="3177658"/>
            <a:ext cx="73738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Client</a:t>
            </a:r>
            <a:endParaRPr lang="en-US" altLang="he-IL" sz="2400"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a:off x="9416366" y="3123838"/>
            <a:ext cx="7982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b="1" dirty="0">
                <a:solidFill>
                  <a:srgbClr val="000000"/>
                </a:solidFill>
                <a:latin typeface="Times New Roman" panose="02020603050405020304" pitchFamily="18" charset="0"/>
                <a:cs typeface="Times New Roman" panose="02020603050405020304" pitchFamily="18" charset="0"/>
              </a:rPr>
              <a:t>Server</a:t>
            </a:r>
            <a:endParaRPr lang="en-US" altLang="he-IL" sz="2400"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2260288" y="2966635"/>
            <a:ext cx="72302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ClientHello </a:t>
            </a:r>
            <a:r>
              <a:rPr lang="en-US" altLang="he-IL" dirty="0">
                <a:solidFill>
                  <a:srgbClr val="000000"/>
                </a:solidFill>
                <a:latin typeface="Times New Roman" panose="02020603050405020304" pitchFamily="18" charset="0"/>
                <a:cs typeface="Times New Roman" panose="02020603050405020304" pitchFamily="18" charset="0"/>
              </a:rPr>
              <a:t>(cipher-suites,</a:t>
            </a:r>
            <a:r>
              <a:rPr lang="en-US" altLang="he-IL" dirty="0">
                <a:solidFill>
                  <a:srgbClr val="FF00FF"/>
                </a:solidFill>
                <a:latin typeface="Times New Roman" panose="02020603050405020304" pitchFamily="18" charset="0"/>
                <a:cs typeface="Times New Roman" panose="02020603050405020304" pitchFamily="18" charset="0"/>
              </a:rPr>
              <a:t>, PSK/key-shares, E(request),</a:t>
            </a:r>
            <a:r>
              <a:rPr lang="en-US" altLang="he-IL"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Client_random</a:t>
            </a:r>
            <a:r>
              <a:rPr lang="en-US" altLang="he-IL" dirty="0">
                <a:solidFill>
                  <a:srgbClr val="000000"/>
                </a:solidFill>
                <a:latin typeface="Times New Roman" panose="02020603050405020304" pitchFamily="18" charset="0"/>
                <a:cs typeface="Times New Roman" panose="02020603050405020304" pitchFamily="18" charset="0"/>
              </a:rPr>
              <a:t>)</a:t>
            </a:r>
            <a:endParaRPr lang="en-US" altLang="he-IL" dirty="0">
              <a:latin typeface="Times New Roman" panose="02020603050405020304" pitchFamily="18" charset="0"/>
              <a:cs typeface="Times New Roman" panose="02020603050405020304" pitchFamily="18" charset="0"/>
            </a:endParaRPr>
          </a:p>
        </p:txBody>
      </p:sp>
      <p:sp>
        <p:nvSpPr>
          <p:cNvPr id="10" name="Freeform 7"/>
          <p:cNvSpPr>
            <a:spLocks noEditPoints="1"/>
          </p:cNvSpPr>
          <p:nvPr/>
        </p:nvSpPr>
        <p:spPr bwMode="auto">
          <a:xfrm>
            <a:off x="2771775" y="4654088"/>
            <a:ext cx="6580188" cy="68263"/>
          </a:xfrm>
          <a:custGeom>
            <a:avLst/>
            <a:gdLst>
              <a:gd name="T0" fmla="*/ 2 w 2277"/>
              <a:gd name="T1" fmla="*/ 11 h 25"/>
              <a:gd name="T2" fmla="*/ 2256 w 2277"/>
              <a:gd name="T3" fmla="*/ 11 h 25"/>
              <a:gd name="T4" fmla="*/ 2257 w 2277"/>
              <a:gd name="T5" fmla="*/ 13 h 25"/>
              <a:gd name="T6" fmla="*/ 2256 w 2277"/>
              <a:gd name="T7" fmla="*/ 14 h 25"/>
              <a:gd name="T8" fmla="*/ 2 w 2277"/>
              <a:gd name="T9" fmla="*/ 14 h 25"/>
              <a:gd name="T10" fmla="*/ 0 w 2277"/>
              <a:gd name="T11" fmla="*/ 13 h 25"/>
              <a:gd name="T12" fmla="*/ 2 w 2277"/>
              <a:gd name="T13" fmla="*/ 11 h 25"/>
              <a:gd name="T14" fmla="*/ 2252 w 2277"/>
              <a:gd name="T15" fmla="*/ 0 h 25"/>
              <a:gd name="T16" fmla="*/ 2277 w 2277"/>
              <a:gd name="T17" fmla="*/ 13 h 25"/>
              <a:gd name="T18" fmla="*/ 2252 w 2277"/>
              <a:gd name="T19" fmla="*/ 25 h 25"/>
              <a:gd name="T20" fmla="*/ 2252 w 2277"/>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7" h="25">
                <a:moveTo>
                  <a:pt x="2" y="11"/>
                </a:moveTo>
                <a:lnTo>
                  <a:pt x="2256" y="11"/>
                </a:lnTo>
                <a:cubicBezTo>
                  <a:pt x="2257" y="11"/>
                  <a:pt x="2257" y="12"/>
                  <a:pt x="2257" y="13"/>
                </a:cubicBezTo>
                <a:cubicBezTo>
                  <a:pt x="2257" y="14"/>
                  <a:pt x="2257" y="14"/>
                  <a:pt x="2256" y="14"/>
                </a:cubicBezTo>
                <a:lnTo>
                  <a:pt x="2" y="14"/>
                </a:lnTo>
                <a:cubicBezTo>
                  <a:pt x="1" y="14"/>
                  <a:pt x="0" y="14"/>
                  <a:pt x="0" y="13"/>
                </a:cubicBezTo>
                <a:cubicBezTo>
                  <a:pt x="0" y="12"/>
                  <a:pt x="1" y="11"/>
                  <a:pt x="2" y="11"/>
                </a:cubicBezTo>
                <a:close/>
                <a:moveTo>
                  <a:pt x="2252" y="0"/>
                </a:moveTo>
                <a:lnTo>
                  <a:pt x="2277" y="13"/>
                </a:lnTo>
                <a:lnTo>
                  <a:pt x="2252" y="25"/>
                </a:lnTo>
                <a:lnTo>
                  <a:pt x="2252" y="0"/>
                </a:lnTo>
                <a:close/>
              </a:path>
            </a:pathLst>
          </a:custGeom>
          <a:solidFill>
            <a:srgbClr val="3333CC"/>
          </a:solidFill>
          <a:ln w="22225" cap="flat" cmpd="sng">
            <a:solidFill>
              <a:srgbClr val="33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he-IL"/>
          </a:p>
        </p:txBody>
      </p:sp>
      <p:sp>
        <p:nvSpPr>
          <p:cNvPr id="12" name="Freeform 9"/>
          <p:cNvSpPr>
            <a:spLocks noEditPoints="1"/>
          </p:cNvSpPr>
          <p:nvPr/>
        </p:nvSpPr>
        <p:spPr bwMode="auto">
          <a:xfrm>
            <a:off x="2651519" y="4196176"/>
            <a:ext cx="6577013" cy="68263"/>
          </a:xfrm>
          <a:custGeom>
            <a:avLst/>
            <a:gdLst>
              <a:gd name="T0" fmla="*/ 2275 w 2276"/>
              <a:gd name="T1" fmla="*/ 14 h 25"/>
              <a:gd name="T2" fmla="*/ 21 w 2276"/>
              <a:gd name="T3" fmla="*/ 14 h 25"/>
              <a:gd name="T4" fmla="*/ 19 w 2276"/>
              <a:gd name="T5" fmla="*/ 13 h 25"/>
              <a:gd name="T6" fmla="*/ 21 w 2276"/>
              <a:gd name="T7" fmla="*/ 11 h 25"/>
              <a:gd name="T8" fmla="*/ 2275 w 2276"/>
              <a:gd name="T9" fmla="*/ 11 h 25"/>
              <a:gd name="T10" fmla="*/ 2276 w 2276"/>
              <a:gd name="T11" fmla="*/ 13 h 25"/>
              <a:gd name="T12" fmla="*/ 2275 w 2276"/>
              <a:gd name="T13" fmla="*/ 14 h 25"/>
              <a:gd name="T14" fmla="*/ 25 w 2276"/>
              <a:gd name="T15" fmla="*/ 25 h 25"/>
              <a:gd name="T16" fmla="*/ 0 w 2276"/>
              <a:gd name="T17" fmla="*/ 13 h 25"/>
              <a:gd name="T18" fmla="*/ 25 w 2276"/>
              <a:gd name="T19" fmla="*/ 0 h 25"/>
              <a:gd name="T20" fmla="*/ 25 w 2276"/>
              <a:gd name="T2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6" h="25">
                <a:moveTo>
                  <a:pt x="2275" y="14"/>
                </a:moveTo>
                <a:lnTo>
                  <a:pt x="21" y="14"/>
                </a:lnTo>
                <a:cubicBezTo>
                  <a:pt x="20" y="14"/>
                  <a:pt x="19" y="14"/>
                  <a:pt x="19" y="13"/>
                </a:cubicBezTo>
                <a:cubicBezTo>
                  <a:pt x="19" y="12"/>
                  <a:pt x="20" y="11"/>
                  <a:pt x="21" y="11"/>
                </a:cubicBezTo>
                <a:lnTo>
                  <a:pt x="2275" y="11"/>
                </a:lnTo>
                <a:cubicBezTo>
                  <a:pt x="2276" y="11"/>
                  <a:pt x="2276" y="12"/>
                  <a:pt x="2276" y="13"/>
                </a:cubicBezTo>
                <a:cubicBezTo>
                  <a:pt x="2276" y="14"/>
                  <a:pt x="2276" y="14"/>
                  <a:pt x="2275" y="14"/>
                </a:cubicBezTo>
                <a:close/>
                <a:moveTo>
                  <a:pt x="25" y="25"/>
                </a:moveTo>
                <a:lnTo>
                  <a:pt x="0" y="13"/>
                </a:lnTo>
                <a:lnTo>
                  <a:pt x="25" y="0"/>
                </a:lnTo>
                <a:lnTo>
                  <a:pt x="25" y="25"/>
                </a:lnTo>
                <a:close/>
              </a:path>
            </a:pathLst>
          </a:custGeom>
          <a:solidFill>
            <a:srgbClr val="000000"/>
          </a:solidFill>
          <a:ln w="22225">
            <a:solidFill>
              <a:srgbClr val="000000"/>
            </a:solidFill>
            <a:prstDash val="solid"/>
            <a:round/>
            <a:headEnd/>
            <a:tailEnd/>
          </a:ln>
        </p:spPr>
        <p:txBody>
          <a:bodyPr/>
          <a:lstStyle/>
          <a:p>
            <a:endParaRPr lang="he-IL"/>
          </a:p>
        </p:txBody>
      </p:sp>
      <p:sp>
        <p:nvSpPr>
          <p:cNvPr id="13" name="Rectangle 10"/>
          <p:cNvSpPr>
            <a:spLocks noChangeArrowheads="1"/>
          </p:cNvSpPr>
          <p:nvPr/>
        </p:nvSpPr>
        <p:spPr bwMode="auto">
          <a:xfrm>
            <a:off x="4508659" y="3858652"/>
            <a:ext cx="33326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Finished </a:t>
            </a:r>
            <a:r>
              <a:rPr lang="en-US" altLang="he-IL" sz="2000" dirty="0">
                <a:solidFill>
                  <a:srgbClr val="000000"/>
                </a:solidFill>
                <a:latin typeface="Times New Roman" panose="02020603050405020304" pitchFamily="18" charset="0"/>
                <a:cs typeface="Times New Roman" panose="02020603050405020304" pitchFamily="18" charset="0"/>
              </a:rPr>
              <a:t>+ (protected) response</a:t>
            </a:r>
          </a:p>
        </p:txBody>
      </p:sp>
      <mc:AlternateContent xmlns:mc="http://schemas.openxmlformats.org/markup-compatibility/2006" xmlns:a14="http://schemas.microsoft.com/office/drawing/2010/main">
        <mc:Choice Requires="a14">
          <p:sp>
            <p:nvSpPr>
              <p:cNvPr id="14" name="Rectangle 12"/>
              <p:cNvSpPr>
                <a:spLocks noChangeArrowheads="1"/>
              </p:cNvSpPr>
              <p:nvPr/>
            </p:nvSpPr>
            <p:spPr bwMode="auto">
              <a:xfrm>
                <a:off x="2549398" y="3550876"/>
                <a:ext cx="7440870"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p>
                <a:pPr algn="ctr"/>
                <a:r>
                  <a:rPr lang="en-US" altLang="he-IL" sz="2200" dirty="0" err="1">
                    <a:solidFill>
                      <a:srgbClr val="000000"/>
                    </a:solidFill>
                    <a:latin typeface="Times New Roman" panose="02020603050405020304" pitchFamily="18" charset="0"/>
                    <a:cs typeface="Times New Roman" panose="02020603050405020304" pitchFamily="18" charset="0"/>
                  </a:rPr>
                  <a:t>ServerHello</a:t>
                </a:r>
                <a:r>
                  <a:rPr lang="en-US" altLang="he-IL" sz="2200" dirty="0">
                    <a:solidFill>
                      <a:srgbClr val="000000"/>
                    </a:solidFill>
                    <a:latin typeface="Times New Roman" panose="02020603050405020304" pitchFamily="18" charset="0"/>
                    <a:cs typeface="Times New Roman" panose="02020603050405020304" pitchFamily="18" charset="0"/>
                  </a:rPr>
                  <a:t>: </a:t>
                </a:r>
                <a:r>
                  <a:rPr lang="en-US" altLang="he-IL" i="1" dirty="0" err="1">
                    <a:solidFill>
                      <a:srgbClr val="000000"/>
                    </a:solidFill>
                    <a:latin typeface="Times New Roman" panose="02020603050405020304" pitchFamily="18" charset="0"/>
                    <a:cs typeface="Times New Roman" panose="02020603050405020304" pitchFamily="18" charset="0"/>
                  </a:rPr>
                  <a:t>Server_random</a:t>
                </a:r>
                <a:r>
                  <a:rPr lang="en-US" altLang="he-IL" i="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he-IL" i="1">
                            <a:solidFill>
                              <a:srgbClr val="FF00FF"/>
                            </a:solidFill>
                            <a:latin typeface="Cambria Math" panose="02040503050406030204" pitchFamily="18" charset="0"/>
                            <a:cs typeface="Times New Roman" panose="02020603050405020304" pitchFamily="18" charset="0"/>
                          </a:rPr>
                        </m:ctrlPr>
                      </m:sSubSupPr>
                      <m:e>
                        <m:r>
                          <a:rPr lang="en-US" altLang="he-IL" i="1">
                            <a:solidFill>
                              <a:srgbClr val="FF00FF"/>
                            </a:solidFill>
                            <a:latin typeface="Cambria Math" panose="02040503050406030204" pitchFamily="18" charset="0"/>
                            <a:cs typeface="Times New Roman" panose="02020603050405020304" pitchFamily="18" charset="0"/>
                          </a:rPr>
                          <m:t>𝒈</m:t>
                        </m:r>
                      </m:e>
                      <m:sub>
                        <m:r>
                          <a:rPr lang="en-US" altLang="he-IL" b="1" i="1">
                            <a:solidFill>
                              <a:srgbClr val="FF00FF"/>
                            </a:solidFill>
                            <a:latin typeface="Cambria Math" panose="02040503050406030204" pitchFamily="18" charset="0"/>
                            <a:cs typeface="Times New Roman" panose="02020603050405020304" pitchFamily="18" charset="0"/>
                          </a:rPr>
                          <m:t>𝒊</m:t>
                        </m:r>
                      </m:sub>
                      <m:sup>
                        <m:r>
                          <a:rPr lang="en-US" altLang="he-IL" b="1" i="1">
                            <a:solidFill>
                              <a:srgbClr val="FF00FF"/>
                            </a:solidFill>
                            <a:latin typeface="Cambria Math" panose="02040503050406030204" pitchFamily="18" charset="0"/>
                            <a:cs typeface="Times New Roman" panose="02020603050405020304" pitchFamily="18" charset="0"/>
                          </a:rPr>
                          <m:t>𝒃</m:t>
                        </m:r>
                      </m:sup>
                    </m:sSubSup>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𝑬</m:t>
                    </m:r>
                    <m:d>
                      <m:dPr>
                        <m:ctrlPr>
                          <a:rPr lang="en-US" altLang="he-IL" b="1" i="1">
                            <a:solidFill>
                              <a:srgbClr val="FF00FF"/>
                            </a:solidFill>
                            <a:latin typeface="Cambria Math" panose="02040503050406030204" pitchFamily="18" charset="0"/>
                            <a:cs typeface="Times New Roman" panose="02020603050405020304" pitchFamily="18" charset="0"/>
                          </a:rPr>
                        </m:ctrlPr>
                      </m:dPr>
                      <m:e>
                        <m:r>
                          <a:rPr lang="en-US" altLang="he-IL" b="1" i="1">
                            <a:solidFill>
                              <a:srgbClr val="FF00FF"/>
                            </a:solidFill>
                            <a:latin typeface="Cambria Math" panose="02040503050406030204" pitchFamily="18" charset="0"/>
                            <a:cs typeface="Times New Roman" panose="02020603050405020304" pitchFamily="18" charset="0"/>
                          </a:rPr>
                          <m:t>𝒆𝒙𝒕𝒆𝒏𝒔𝒊𝒐𝒏𝒔</m:t>
                        </m:r>
                      </m:e>
                    </m:d>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𝒄𝒆𝒓𝒕</m:t>
                    </m:r>
                    <m:r>
                      <a:rPr lang="en-US" altLang="he-IL" b="1" i="1">
                        <a:solidFill>
                          <a:srgbClr val="FF00FF"/>
                        </a:solidFill>
                        <a:latin typeface="Cambria Math" panose="02040503050406030204" pitchFamily="18" charset="0"/>
                        <a:cs typeface="Times New Roman" panose="02020603050405020304" pitchFamily="18" charset="0"/>
                      </a:rPr>
                      <m:t>, </m:t>
                    </m:r>
                    <m:r>
                      <a:rPr lang="en-US" altLang="he-IL" b="1" i="1">
                        <a:solidFill>
                          <a:srgbClr val="FF00FF"/>
                        </a:solidFill>
                        <a:latin typeface="Cambria Math" panose="02040503050406030204" pitchFamily="18" charset="0"/>
                        <a:cs typeface="Times New Roman" panose="02020603050405020304" pitchFamily="18" charset="0"/>
                      </a:rPr>
                      <m:t>𝑺𝒊𝒈𝒏</m:t>
                    </m:r>
                    <m:r>
                      <a:rPr lang="en-US" altLang="he-IL" b="1" i="1">
                        <a:solidFill>
                          <a:srgbClr val="FF00FF"/>
                        </a:solidFill>
                        <a:latin typeface="Cambria Math" panose="02040503050406030204" pitchFamily="18" charset="0"/>
                        <a:cs typeface="Times New Roman" panose="02020603050405020304" pitchFamily="18" charset="0"/>
                      </a:rPr>
                      <m:t>(</m:t>
                    </m:r>
                    <m:r>
                      <a:rPr lang="en-US" altLang="he-IL" b="1" i="1">
                        <a:solidFill>
                          <a:srgbClr val="FF00FF"/>
                        </a:solidFill>
                        <a:latin typeface="Cambria Math" panose="02040503050406030204" pitchFamily="18" charset="0"/>
                        <a:cs typeface="Times New Roman" panose="02020603050405020304" pitchFamily="18" charset="0"/>
                      </a:rPr>
                      <m:t>𝑯𝒆𝒍𝒍𝒐</m:t>
                    </m:r>
                    <m:r>
                      <a:rPr lang="en-US" altLang="he-IL" b="1" i="1">
                        <a:solidFill>
                          <a:srgbClr val="FF00FF"/>
                        </a:solidFill>
                        <a:latin typeface="Cambria Math" panose="02040503050406030204" pitchFamily="18" charset="0"/>
                        <a:cs typeface="Times New Roman" panose="02020603050405020304" pitchFamily="18" charset="0"/>
                      </a:rPr>
                      <m:t>)</m:t>
                    </m:r>
                  </m:oMath>
                </a14:m>
                <a:r>
                  <a:rPr lang="en-US" altLang="he-IL" dirty="0">
                    <a:solidFill>
                      <a:srgbClr val="000000"/>
                    </a:solidFill>
                    <a:latin typeface="Times New Roman" panose="02020603050405020304" pitchFamily="18" charset="0"/>
                    <a:cs typeface="Times New Roman" panose="02020603050405020304" pitchFamily="18" charset="0"/>
                  </a:rPr>
                  <a:t> )</a:t>
                </a:r>
                <a:endParaRPr lang="en-US" altLang="he-IL" dirty="0">
                  <a:latin typeface="Times New Roman" panose="02020603050405020304" pitchFamily="18" charset="0"/>
                  <a:cs typeface="Times New Roman" panose="02020603050405020304" pitchFamily="18" charset="0"/>
                </a:endParaRPr>
              </a:p>
            </p:txBody>
          </p:sp>
        </mc:Choice>
        <mc:Fallback xmlns="">
          <p:sp>
            <p:nvSpPr>
              <p:cNvPr id="14" name="Rectangle 12"/>
              <p:cNvSpPr>
                <a:spLocks noRot="1" noChangeAspect="1" noMove="1" noResize="1" noEditPoints="1" noAdjustHandles="1" noChangeArrowheads="1" noChangeShapeType="1" noTextEdit="1"/>
              </p:cNvSpPr>
              <p:nvPr/>
            </p:nvSpPr>
            <p:spPr bwMode="auto">
              <a:xfrm>
                <a:off x="2549398" y="3550876"/>
                <a:ext cx="7440870" cy="338554"/>
              </a:xfrm>
              <a:prstGeom prst="rect">
                <a:avLst/>
              </a:prstGeom>
              <a:blipFill>
                <a:blip r:embed="rId4"/>
                <a:stretch>
                  <a:fillRect t="-25000" b="-428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Rectangle 8"/>
          <p:cNvSpPr>
            <a:spLocks noChangeArrowheads="1"/>
          </p:cNvSpPr>
          <p:nvPr/>
        </p:nvSpPr>
        <p:spPr bwMode="auto">
          <a:xfrm>
            <a:off x="3375418" y="4306327"/>
            <a:ext cx="57004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Finished</a:t>
            </a:r>
            <a:endParaRPr lang="en-US" altLang="he-IL" sz="2000" dirty="0">
              <a:solidFill>
                <a:srgbClr val="000000"/>
              </a:solidFill>
              <a:latin typeface="Times New Roman" panose="02020603050405020304" pitchFamily="18" charset="0"/>
              <a:cs typeface="Times New Roman" panose="02020603050405020304" pitchFamily="18" charset="0"/>
            </a:endParaRPr>
          </a:p>
        </p:txBody>
      </p:sp>
      <p:cxnSp>
        <p:nvCxnSpPr>
          <p:cNvPr id="18" name="מחבר חץ ישר 17"/>
          <p:cNvCxnSpPr/>
          <p:nvPr/>
        </p:nvCxnSpPr>
        <p:spPr bwMode="auto">
          <a:xfrm>
            <a:off x="2729973" y="5181085"/>
            <a:ext cx="6580188" cy="0"/>
          </a:xfrm>
          <a:prstGeom prst="straightConnector1">
            <a:avLst/>
          </a:prstGeom>
          <a:solidFill>
            <a:schemeClr val="accent1"/>
          </a:solidFill>
          <a:ln w="38100" cap="flat" cmpd="sng" algn="ctr">
            <a:solidFill>
              <a:srgbClr val="CC00CC"/>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Freeform 9"/>
          <p:cNvSpPr>
            <a:spLocks noEditPoints="1"/>
          </p:cNvSpPr>
          <p:nvPr/>
        </p:nvSpPr>
        <p:spPr bwMode="auto">
          <a:xfrm>
            <a:off x="2637935" y="4195919"/>
            <a:ext cx="6577013" cy="68263"/>
          </a:xfrm>
          <a:custGeom>
            <a:avLst/>
            <a:gdLst>
              <a:gd name="T0" fmla="*/ 2275 w 2276"/>
              <a:gd name="T1" fmla="*/ 14 h 25"/>
              <a:gd name="T2" fmla="*/ 21 w 2276"/>
              <a:gd name="T3" fmla="*/ 14 h 25"/>
              <a:gd name="T4" fmla="*/ 19 w 2276"/>
              <a:gd name="T5" fmla="*/ 13 h 25"/>
              <a:gd name="T6" fmla="*/ 21 w 2276"/>
              <a:gd name="T7" fmla="*/ 11 h 25"/>
              <a:gd name="T8" fmla="*/ 2275 w 2276"/>
              <a:gd name="T9" fmla="*/ 11 h 25"/>
              <a:gd name="T10" fmla="*/ 2276 w 2276"/>
              <a:gd name="T11" fmla="*/ 13 h 25"/>
              <a:gd name="T12" fmla="*/ 2275 w 2276"/>
              <a:gd name="T13" fmla="*/ 14 h 25"/>
              <a:gd name="T14" fmla="*/ 25 w 2276"/>
              <a:gd name="T15" fmla="*/ 25 h 25"/>
              <a:gd name="T16" fmla="*/ 0 w 2276"/>
              <a:gd name="T17" fmla="*/ 13 h 25"/>
              <a:gd name="T18" fmla="*/ 25 w 2276"/>
              <a:gd name="T19" fmla="*/ 0 h 25"/>
              <a:gd name="T20" fmla="*/ 25 w 2276"/>
              <a:gd name="T2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6" h="25">
                <a:moveTo>
                  <a:pt x="2275" y="14"/>
                </a:moveTo>
                <a:lnTo>
                  <a:pt x="21" y="14"/>
                </a:lnTo>
                <a:cubicBezTo>
                  <a:pt x="20" y="14"/>
                  <a:pt x="19" y="14"/>
                  <a:pt x="19" y="13"/>
                </a:cubicBezTo>
                <a:cubicBezTo>
                  <a:pt x="19" y="12"/>
                  <a:pt x="20" y="11"/>
                  <a:pt x="21" y="11"/>
                </a:cubicBezTo>
                <a:lnTo>
                  <a:pt x="2275" y="11"/>
                </a:lnTo>
                <a:cubicBezTo>
                  <a:pt x="2276" y="11"/>
                  <a:pt x="2276" y="12"/>
                  <a:pt x="2276" y="13"/>
                </a:cubicBezTo>
                <a:cubicBezTo>
                  <a:pt x="2276" y="14"/>
                  <a:pt x="2276" y="14"/>
                  <a:pt x="2275" y="14"/>
                </a:cubicBezTo>
                <a:close/>
                <a:moveTo>
                  <a:pt x="25" y="25"/>
                </a:moveTo>
                <a:lnTo>
                  <a:pt x="0" y="13"/>
                </a:lnTo>
                <a:lnTo>
                  <a:pt x="25" y="0"/>
                </a:lnTo>
                <a:lnTo>
                  <a:pt x="25" y="25"/>
                </a:lnTo>
                <a:close/>
              </a:path>
            </a:pathLst>
          </a:custGeom>
          <a:solidFill>
            <a:srgbClr val="000000"/>
          </a:solidFill>
          <a:ln w="22225">
            <a:solidFill>
              <a:srgbClr val="000000"/>
            </a:solidFill>
            <a:prstDash val="solid"/>
            <a:round/>
            <a:headEnd/>
            <a:tailEnd/>
          </a:ln>
        </p:spPr>
        <p:txBody>
          <a:bodyPr/>
          <a:lstStyle/>
          <a:p>
            <a:endParaRPr lang="he-IL"/>
          </a:p>
        </p:txBody>
      </p:sp>
      <p:sp>
        <p:nvSpPr>
          <p:cNvPr id="21" name="Rectangle 8"/>
          <p:cNvSpPr>
            <a:spLocks noChangeArrowheads="1"/>
          </p:cNvSpPr>
          <p:nvPr/>
        </p:nvSpPr>
        <p:spPr bwMode="auto">
          <a:xfrm>
            <a:off x="3375418" y="4804915"/>
            <a:ext cx="57004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he-IL" sz="2200" dirty="0">
                <a:solidFill>
                  <a:srgbClr val="000000"/>
                </a:solidFill>
                <a:latin typeface="Times New Roman" panose="02020603050405020304" pitchFamily="18" charset="0"/>
                <a:cs typeface="Times New Roman" panose="02020603050405020304" pitchFamily="18" charset="0"/>
              </a:rPr>
              <a:t>More protected requests, responses</a:t>
            </a:r>
            <a:endParaRPr lang="en-US" altLang="he-IL" sz="2000" dirty="0">
              <a:solidFill>
                <a:srgbClr val="00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3747A0-188B-8DB5-90C4-BDAD52A4B8EA}"/>
              </a:ext>
            </a:extLst>
          </p:cNvPr>
          <p:cNvSpPr txBox="1"/>
          <p:nvPr/>
        </p:nvSpPr>
        <p:spPr>
          <a:xfrm>
            <a:off x="-8091" y="-5493"/>
            <a:ext cx="8538774" cy="707886"/>
          </a:xfrm>
          <a:prstGeom prst="rect">
            <a:avLst/>
          </a:prstGeom>
          <a:solidFill>
            <a:srgbClr val="C00000"/>
          </a:solidFill>
        </p:spPr>
        <p:txBody>
          <a:bodyPr wrap="square">
            <a:spAutoFit/>
          </a:bodyPr>
          <a:lstStyle/>
          <a:p>
            <a:pPr algn="ctr"/>
            <a:r>
              <a:rPr lang="en-US" altLang="he-IL" sz="4000" dirty="0">
                <a:solidFill>
                  <a:schemeClr val="bg1"/>
                </a:solidFill>
                <a:latin typeface="Playfair Display Medium" pitchFamily="2" charset="77"/>
              </a:rPr>
              <a:t>TLS 1.3 Session Resumption: O-RTT</a:t>
            </a:r>
            <a:endParaRPr lang="en-US" sz="1600" dirty="0">
              <a:solidFill>
                <a:schemeClr val="bg1"/>
              </a:solidFill>
              <a:latin typeface="Playfair Display Medium" pitchFamily="2" charset="77"/>
            </a:endParaRPr>
          </a:p>
        </p:txBody>
      </p:sp>
    </p:spTree>
    <p:custDataLst>
      <p:tags r:id="rId1"/>
    </p:custDataLst>
    <p:extLst>
      <p:ext uri="{BB962C8B-B14F-4D97-AF65-F5344CB8AC3E}">
        <p14:creationId xmlns:p14="http://schemas.microsoft.com/office/powerpoint/2010/main" val="1662822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
</p:tagLst>
</file>

<file path=ppt/tags/tag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
  <p:tag name="PPSPLIT_DONE" val="1"/>
</p:tagLst>
</file>

<file path=ppt/tags/tag3.xml><?xml version="1.0" encoding="utf-8"?>
<p:tagLst xmlns:a="http://schemas.openxmlformats.org/drawingml/2006/main" xmlns:r="http://schemas.openxmlformats.org/officeDocument/2006/relationships" xmlns:p="http://schemas.openxmlformats.org/presentationml/2006/main">
  <p:tag name="PPSPLIT_ID" val=" 3"/>
</p:tagLst>
</file>

<file path=ppt/tags/tag4.xml><?xml version="1.0" encoding="utf-8"?>
<p:tagLst xmlns:a="http://schemas.openxmlformats.org/drawingml/2006/main" xmlns:r="http://schemas.openxmlformats.org/officeDocument/2006/relationships" xmlns:p="http://schemas.openxmlformats.org/presentationml/2006/main">
  <p:tag name="PPSPLIT_ID" val=" 5"/>
</p:tagLst>
</file>

<file path=ppt/tags/tag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
</p:tagLst>
</file>

<file path=ppt/tags/tag6.xml><?xml version="1.0" encoding="utf-8"?>
<p:tagLst xmlns:a="http://schemas.openxmlformats.org/drawingml/2006/main" xmlns:r="http://schemas.openxmlformats.org/officeDocument/2006/relationships" xmlns:p="http://schemas.openxmlformats.org/presentationml/2006/main">
  <p:tag name="PPSPLIT_ID" val=" 3"/>
</p:tagLst>
</file>

<file path=ppt/tags/tag7.xml><?xml version="1.0" encoding="utf-8"?>
<p:tagLst xmlns:a="http://schemas.openxmlformats.org/drawingml/2006/main" xmlns:r="http://schemas.openxmlformats.org/officeDocument/2006/relationships" xmlns:p="http://schemas.openxmlformats.org/presentationml/2006/main">
  <p:tag name="PPSPLIT_ID" val=" 5"/>
</p:tagLst>
</file>

<file path=ppt/tags/tag8.xml><?xml version="1.0" encoding="utf-8"?>
<p:tagLst xmlns:a="http://schemas.openxmlformats.org/drawingml/2006/main" xmlns:r="http://schemas.openxmlformats.org/officeDocument/2006/relationships" xmlns:p="http://schemas.openxmlformats.org/presentationml/2006/main">
  <p:tag name="PPSPLIT_ID" val=" 2"/>
</p:tagLst>
</file>

<file path=ppt/tags/tag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
</p:tagLst>
</file>

<file path=ppt/tags/tag1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
  <p:tag name="PPSPLIT_DONE" val="1"/>
</p:tagLst>
</file>

<file path=ppt/tags/tag1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
</p:tagLst>
</file>

<file path=ppt/tags/tag12.xml><?xml version="1.0" encoding="utf-8"?>
<p:tagLst xmlns:a="http://schemas.openxmlformats.org/drawingml/2006/main" xmlns:r="http://schemas.openxmlformats.org/officeDocument/2006/relationships" xmlns:p="http://schemas.openxmlformats.org/presentationml/2006/main">
  <p:tag name="PPSPLIT_ID" val=" 2"/>
</p:tagLst>
</file>

<file path=ppt/tags/tag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
</p:tagLst>
</file>

<file path=ppt/tags/tag1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
</p:tagLst>
</file>

<file path=ppt/tags/tag1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
</p:tagLst>
</file>

<file path=ppt/tags/tag1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8"/>
</p:tagLst>
</file>

<file path=ppt/tags/tag1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9"/>
</p:tagLst>
</file>

<file path=ppt/tags/tag1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0"/>
</p:tagLst>
</file>

<file path=ppt/tags/tag1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1"/>
</p:tagLst>
</file>

<file path=ppt/tags/tag2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2"/>
</p:tagLst>
</file>

<file path=ppt/tags/tag2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3"/>
</p:tagLst>
</file>

<file path=ppt/tags/tag2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4"/>
</p:tagLst>
</file>

<file path=ppt/tags/tag2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5"/>
</p:tagLst>
</file>

<file path=ppt/tags/tag2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6"/>
</p:tagLst>
</file>

<file path=ppt/tags/tag2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 name="PPSPLIT_DONE" val="1"/>
</p:tagLst>
</file>

<file path=ppt/tags/tag26.xml><?xml version="1.0" encoding="utf-8"?>
<p:tagLst xmlns:a="http://schemas.openxmlformats.org/drawingml/2006/main" xmlns:r="http://schemas.openxmlformats.org/officeDocument/2006/relationships" xmlns:p="http://schemas.openxmlformats.org/presentationml/2006/main">
  <p:tag name="PPSPLIT_ID" val=" 2"/>
</p:tagLst>
</file>

<file path=ppt/tags/tag27.xml><?xml version="1.0" encoding="utf-8"?>
<p:tagLst xmlns:a="http://schemas.openxmlformats.org/drawingml/2006/main" xmlns:r="http://schemas.openxmlformats.org/officeDocument/2006/relationships" xmlns:p="http://schemas.openxmlformats.org/presentationml/2006/main">
  <p:tag name="PPSPLIT_ID" val=" 3"/>
</p:tagLst>
</file>

<file path=ppt/tags/tag28.xml><?xml version="1.0" encoding="utf-8"?>
<p:tagLst xmlns:a="http://schemas.openxmlformats.org/drawingml/2006/main" xmlns:r="http://schemas.openxmlformats.org/officeDocument/2006/relationships" xmlns:p="http://schemas.openxmlformats.org/presentationml/2006/main">
  <p:tag name="PPSPLIT_ID" val=" 4"/>
</p:tagLst>
</file>

<file path=ppt/tags/tag29.xml><?xml version="1.0" encoding="utf-8"?>
<p:tagLst xmlns:a="http://schemas.openxmlformats.org/drawingml/2006/main" xmlns:r="http://schemas.openxmlformats.org/officeDocument/2006/relationships" xmlns:p="http://schemas.openxmlformats.org/presentationml/2006/main">
  <p:tag name="PPSPLIT_ID" val=" 7"/>
</p:tagLst>
</file>

<file path=ppt/tags/tag30.xml><?xml version="1.0" encoding="utf-8"?>
<p:tagLst xmlns:a="http://schemas.openxmlformats.org/drawingml/2006/main" xmlns:r="http://schemas.openxmlformats.org/officeDocument/2006/relationships" xmlns:p="http://schemas.openxmlformats.org/presentationml/2006/main">
  <p:tag name="PPSPLIT_ID" val=" 8"/>
</p:tagLst>
</file>

<file path=ppt/tags/tag31.xml><?xml version="1.0" encoding="utf-8"?>
<p:tagLst xmlns:a="http://schemas.openxmlformats.org/drawingml/2006/main" xmlns:r="http://schemas.openxmlformats.org/officeDocument/2006/relationships" xmlns:p="http://schemas.openxmlformats.org/presentationml/2006/main">
  <p:tag name="PPSPLIT_ID" val=" 9"/>
</p:tagLst>
</file>

<file path=ppt/tags/tag32.xml><?xml version="1.0" encoding="utf-8"?>
<p:tagLst xmlns:a="http://schemas.openxmlformats.org/drawingml/2006/main" xmlns:r="http://schemas.openxmlformats.org/officeDocument/2006/relationships" xmlns:p="http://schemas.openxmlformats.org/presentationml/2006/main">
  <p:tag name="PPSPLIT_ID" val=" 10"/>
</p:tagLst>
</file>

<file path=ppt/tags/tag33.xml><?xml version="1.0" encoding="utf-8"?>
<p:tagLst xmlns:a="http://schemas.openxmlformats.org/drawingml/2006/main" xmlns:r="http://schemas.openxmlformats.org/officeDocument/2006/relationships" xmlns:p="http://schemas.openxmlformats.org/presentationml/2006/main">
  <p:tag name="PPSPLIT_ID" val=" 11"/>
</p:tagLst>
</file>

<file path=ppt/tags/tag34.xml><?xml version="1.0" encoding="utf-8"?>
<p:tagLst xmlns:a="http://schemas.openxmlformats.org/drawingml/2006/main" xmlns:r="http://schemas.openxmlformats.org/officeDocument/2006/relationships" xmlns:p="http://schemas.openxmlformats.org/presentationml/2006/main">
  <p:tag name="PPSPLIT_ID" val=" 12"/>
</p:tagLst>
</file>

<file path=ppt/tags/tag35.xml><?xml version="1.0" encoding="utf-8"?>
<p:tagLst xmlns:a="http://schemas.openxmlformats.org/drawingml/2006/main" xmlns:r="http://schemas.openxmlformats.org/officeDocument/2006/relationships" xmlns:p="http://schemas.openxmlformats.org/presentationml/2006/main">
  <p:tag name="PPSPLIT_ID" val=" 13"/>
</p:tagLst>
</file>

<file path=ppt/tags/tag36.xml><?xml version="1.0" encoding="utf-8"?>
<p:tagLst xmlns:a="http://schemas.openxmlformats.org/drawingml/2006/main" xmlns:r="http://schemas.openxmlformats.org/officeDocument/2006/relationships" xmlns:p="http://schemas.openxmlformats.org/presentationml/2006/main">
  <p:tag name="PPSPLIT_ID" val=" 14"/>
</p:tagLst>
</file>

<file path=ppt/tags/tag37.xml><?xml version="1.0" encoding="utf-8"?>
<p:tagLst xmlns:a="http://schemas.openxmlformats.org/drawingml/2006/main" xmlns:r="http://schemas.openxmlformats.org/officeDocument/2006/relationships" xmlns:p="http://schemas.openxmlformats.org/presentationml/2006/main">
  <p:tag name="PPSPLIT_ID" val=" 15"/>
</p:tagLst>
</file>

<file path=ppt/tags/tag38.xml><?xml version="1.0" encoding="utf-8"?>
<p:tagLst xmlns:a="http://schemas.openxmlformats.org/drawingml/2006/main" xmlns:r="http://schemas.openxmlformats.org/officeDocument/2006/relationships" xmlns:p="http://schemas.openxmlformats.org/presentationml/2006/main">
  <p:tag name="PPSPLIT_ID" val=" 16"/>
</p:tagLst>
</file>

<file path=ppt/tags/tag39.xml><?xml version="1.0" encoding="utf-8"?>
<p:tagLst xmlns:a="http://schemas.openxmlformats.org/drawingml/2006/main" xmlns:r="http://schemas.openxmlformats.org/officeDocument/2006/relationships" xmlns:p="http://schemas.openxmlformats.org/presentationml/2006/main">
  <p:tag name="PPSPLIT_ID" val=" 17"/>
</p:tagLst>
</file>

<file path=ppt/tags/tag40.xml><?xml version="1.0" encoding="utf-8"?>
<p:tagLst xmlns:a="http://schemas.openxmlformats.org/drawingml/2006/main" xmlns:r="http://schemas.openxmlformats.org/officeDocument/2006/relationships" xmlns:p="http://schemas.openxmlformats.org/presentationml/2006/main">
  <p:tag name="PPSPLIT_ID" val=" 18"/>
</p:tagLst>
</file>

<file path=ppt/tags/tag41.xml><?xml version="1.0" encoding="utf-8"?>
<p:tagLst xmlns:a="http://schemas.openxmlformats.org/drawingml/2006/main" xmlns:r="http://schemas.openxmlformats.org/officeDocument/2006/relationships" xmlns:p="http://schemas.openxmlformats.org/presentationml/2006/main">
  <p:tag name="PPSPLIT_ID" val=" 19"/>
</p:tagLst>
</file>

<file path=ppt/tags/tag42.xml><?xml version="1.0" encoding="utf-8"?>
<p:tagLst xmlns:a="http://schemas.openxmlformats.org/drawingml/2006/main" xmlns:r="http://schemas.openxmlformats.org/officeDocument/2006/relationships" xmlns:p="http://schemas.openxmlformats.org/presentationml/2006/main">
  <p:tag name="PPSPLIT_ID" val=" 20"/>
</p:tagLst>
</file>

<file path=ppt/tags/tag43.xml><?xml version="1.0" encoding="utf-8"?>
<p:tagLst xmlns:a="http://schemas.openxmlformats.org/drawingml/2006/main" xmlns:r="http://schemas.openxmlformats.org/officeDocument/2006/relationships" xmlns:p="http://schemas.openxmlformats.org/presentationml/2006/main">
  <p:tag name="PPSPLIT_ID" val=" 21"/>
</p:tagLst>
</file>

<file path=ppt/tags/tag44.xml><?xml version="1.0" encoding="utf-8"?>
<p:tagLst xmlns:a="http://schemas.openxmlformats.org/drawingml/2006/main" xmlns:r="http://schemas.openxmlformats.org/officeDocument/2006/relationships" xmlns:p="http://schemas.openxmlformats.org/presentationml/2006/main">
  <p:tag name="PPSPLIT_ID" val=" 22"/>
</p:tagLst>
</file>

<file path=ppt/tags/tag45.xml><?xml version="1.0" encoding="utf-8"?>
<p:tagLst xmlns:a="http://schemas.openxmlformats.org/drawingml/2006/main" xmlns:r="http://schemas.openxmlformats.org/officeDocument/2006/relationships" xmlns:p="http://schemas.openxmlformats.org/presentationml/2006/main">
  <p:tag name="PPSPLIT_ID" val=" 23"/>
</p:tagLst>
</file>

<file path=ppt/tags/tag46.xml><?xml version="1.0" encoding="utf-8"?>
<p:tagLst xmlns:a="http://schemas.openxmlformats.org/drawingml/2006/main" xmlns:r="http://schemas.openxmlformats.org/officeDocument/2006/relationships" xmlns:p="http://schemas.openxmlformats.org/presentationml/2006/main">
  <p:tag name="PPSPLIT_ID" val=" 24"/>
</p:tagLst>
</file>

<file path=ppt/tags/tag47.xml><?xml version="1.0" encoding="utf-8"?>
<p:tagLst xmlns:a="http://schemas.openxmlformats.org/drawingml/2006/main" xmlns:r="http://schemas.openxmlformats.org/officeDocument/2006/relationships" xmlns:p="http://schemas.openxmlformats.org/presentationml/2006/main">
  <p:tag name="PPSPLIT_ID" val=" 25"/>
</p:tagLst>
</file>

<file path=ppt/tags/tag48.xml><?xml version="1.0" encoding="utf-8"?>
<p:tagLst xmlns:a="http://schemas.openxmlformats.org/drawingml/2006/main" xmlns:r="http://schemas.openxmlformats.org/officeDocument/2006/relationships" xmlns:p="http://schemas.openxmlformats.org/presentationml/2006/main">
  <p:tag name="PPSPLIT_ID" val=" 26"/>
</p:tagLst>
</file>

<file path=ppt/tags/tag49.xml><?xml version="1.0" encoding="utf-8"?>
<p:tagLst xmlns:a="http://schemas.openxmlformats.org/drawingml/2006/main" xmlns:r="http://schemas.openxmlformats.org/officeDocument/2006/relationships" xmlns:p="http://schemas.openxmlformats.org/presentationml/2006/main">
  <p:tag name="PPSPLIT_ID" val=" 27"/>
</p:tagLst>
</file>

<file path=ppt/tags/tag50.xml><?xml version="1.0" encoding="utf-8"?>
<p:tagLst xmlns:a="http://schemas.openxmlformats.org/drawingml/2006/main" xmlns:r="http://schemas.openxmlformats.org/officeDocument/2006/relationships" xmlns:p="http://schemas.openxmlformats.org/presentationml/2006/main">
  <p:tag name="PPSPLIT_ID" val=" 28"/>
</p:tagLst>
</file>

<file path=ppt/tags/tag51.xml><?xml version="1.0" encoding="utf-8"?>
<p:tagLst xmlns:a="http://schemas.openxmlformats.org/drawingml/2006/main" xmlns:r="http://schemas.openxmlformats.org/officeDocument/2006/relationships" xmlns:p="http://schemas.openxmlformats.org/presentationml/2006/main">
  <p:tag name="PPSPLIT_ID" val=" 29"/>
</p:tagLst>
</file>

<file path=ppt/tags/tag52.xml><?xml version="1.0" encoding="utf-8"?>
<p:tagLst xmlns:a="http://schemas.openxmlformats.org/drawingml/2006/main" xmlns:r="http://schemas.openxmlformats.org/officeDocument/2006/relationships" xmlns:p="http://schemas.openxmlformats.org/presentationml/2006/main">
  <p:tag name="PPSPLIT_ID" val=" 30"/>
</p:tagLst>
</file>

<file path=ppt/tags/tag53.xml><?xml version="1.0" encoding="utf-8"?>
<p:tagLst xmlns:a="http://schemas.openxmlformats.org/drawingml/2006/main" xmlns:r="http://schemas.openxmlformats.org/officeDocument/2006/relationships" xmlns:p="http://schemas.openxmlformats.org/presentationml/2006/main">
  <p:tag name="PPSPLIT_ID" val=" 31"/>
</p:tagLst>
</file>

<file path=ppt/tags/tag54.xml><?xml version="1.0" encoding="utf-8"?>
<p:tagLst xmlns:a="http://schemas.openxmlformats.org/drawingml/2006/main" xmlns:r="http://schemas.openxmlformats.org/officeDocument/2006/relationships" xmlns:p="http://schemas.openxmlformats.org/presentationml/2006/main">
  <p:tag name="PPSPLIT_ID" val=" 32"/>
</p:tagLst>
</file>

<file path=ppt/tags/tag55.xml><?xml version="1.0" encoding="utf-8"?>
<p:tagLst xmlns:a="http://schemas.openxmlformats.org/drawingml/2006/main" xmlns:r="http://schemas.openxmlformats.org/officeDocument/2006/relationships" xmlns:p="http://schemas.openxmlformats.org/presentationml/2006/main">
  <p:tag name="PPSPLIT_ID" val=" 33"/>
</p:tagLst>
</file>

<file path=ppt/tags/tag56.xml><?xml version="1.0" encoding="utf-8"?>
<p:tagLst xmlns:a="http://schemas.openxmlformats.org/drawingml/2006/main" xmlns:r="http://schemas.openxmlformats.org/officeDocument/2006/relationships" xmlns:p="http://schemas.openxmlformats.org/presentationml/2006/main">
  <p:tag name="PPSPLIT_ID" val=" 34"/>
</p:tagLst>
</file>

<file path=ppt/tags/tag57.xml><?xml version="1.0" encoding="utf-8"?>
<p:tagLst xmlns:a="http://schemas.openxmlformats.org/drawingml/2006/main" xmlns:r="http://schemas.openxmlformats.org/officeDocument/2006/relationships" xmlns:p="http://schemas.openxmlformats.org/presentationml/2006/main">
  <p:tag name="PPSPLIT_ID" val=" 35"/>
</p:tagLst>
</file>

<file path=ppt/tags/tag58.xml><?xml version="1.0" encoding="utf-8"?>
<p:tagLst xmlns:a="http://schemas.openxmlformats.org/drawingml/2006/main" xmlns:r="http://schemas.openxmlformats.org/officeDocument/2006/relationships" xmlns:p="http://schemas.openxmlformats.org/presentationml/2006/main">
  <p:tag name="PPSPLIT_ID" val=" 39"/>
</p:tagLst>
</file>

<file path=ppt/tags/tag59.xml><?xml version="1.0" encoding="utf-8"?>
<p:tagLst xmlns:a="http://schemas.openxmlformats.org/drawingml/2006/main" xmlns:r="http://schemas.openxmlformats.org/officeDocument/2006/relationships" xmlns:p="http://schemas.openxmlformats.org/presentationml/2006/main">
  <p:tag name="PPSPLIT_ID" val=" 40"/>
</p:tagLst>
</file>

<file path=ppt/tags/tag60.xml><?xml version="1.0" encoding="utf-8"?>
<p:tagLst xmlns:a="http://schemas.openxmlformats.org/drawingml/2006/main" xmlns:r="http://schemas.openxmlformats.org/officeDocument/2006/relationships" xmlns:p="http://schemas.openxmlformats.org/presentationml/2006/main">
  <p:tag name="PPSPLIT_ID" val=" 41"/>
</p:tagLst>
</file>

<file path=ppt/tags/tag61.xml><?xml version="1.0" encoding="utf-8"?>
<p:tagLst xmlns:a="http://schemas.openxmlformats.org/drawingml/2006/main" xmlns:r="http://schemas.openxmlformats.org/officeDocument/2006/relationships" xmlns:p="http://schemas.openxmlformats.org/presentationml/2006/main">
  <p:tag name="PPSPLIT_ID" val=" 42"/>
</p:tagLst>
</file>

<file path=ppt/tags/tag6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7"/>
</p:tagLst>
</file>

<file path=ppt/tags/tag63.xml><?xml version="1.0" encoding="utf-8"?>
<p:tagLst xmlns:a="http://schemas.openxmlformats.org/drawingml/2006/main" xmlns:r="http://schemas.openxmlformats.org/officeDocument/2006/relationships" xmlns:p="http://schemas.openxmlformats.org/presentationml/2006/main">
  <p:tag name="PPSPLIT_ID" val=" 2"/>
</p:tagLst>
</file>

<file path=ppt/tags/tag64.xml><?xml version="1.0" encoding="utf-8"?>
<p:tagLst xmlns:a="http://schemas.openxmlformats.org/drawingml/2006/main" xmlns:r="http://schemas.openxmlformats.org/officeDocument/2006/relationships" xmlns:p="http://schemas.openxmlformats.org/presentationml/2006/main">
  <p:tag name="PPSPLIT_ID" val=" 3"/>
</p:tagLst>
</file>

<file path=ppt/tags/tag65.xml><?xml version="1.0" encoding="utf-8"?>
<p:tagLst xmlns:a="http://schemas.openxmlformats.org/drawingml/2006/main" xmlns:r="http://schemas.openxmlformats.org/officeDocument/2006/relationships" xmlns:p="http://schemas.openxmlformats.org/presentationml/2006/main">
  <p:tag name="PPSPLIT_ID" val=" 4"/>
</p:tagLst>
</file>

<file path=ppt/tags/tag66.xml><?xml version="1.0" encoding="utf-8"?>
<p:tagLst xmlns:a="http://schemas.openxmlformats.org/drawingml/2006/main" xmlns:r="http://schemas.openxmlformats.org/officeDocument/2006/relationships" xmlns:p="http://schemas.openxmlformats.org/presentationml/2006/main">
  <p:tag name="PPSPLIT_ID" val=" 7"/>
</p:tagLst>
</file>

<file path=ppt/tags/tag67.xml><?xml version="1.0" encoding="utf-8"?>
<p:tagLst xmlns:a="http://schemas.openxmlformats.org/drawingml/2006/main" xmlns:r="http://schemas.openxmlformats.org/officeDocument/2006/relationships" xmlns:p="http://schemas.openxmlformats.org/presentationml/2006/main">
  <p:tag name="PPSPLIT_ID" val=" 8"/>
</p:tagLst>
</file>

<file path=ppt/tags/tag68.xml><?xml version="1.0" encoding="utf-8"?>
<p:tagLst xmlns:a="http://schemas.openxmlformats.org/drawingml/2006/main" xmlns:r="http://schemas.openxmlformats.org/officeDocument/2006/relationships" xmlns:p="http://schemas.openxmlformats.org/presentationml/2006/main">
  <p:tag name="PPSPLIT_ID" val=" 9"/>
</p:tagLst>
</file>

<file path=ppt/tags/tag69.xml><?xml version="1.0" encoding="utf-8"?>
<p:tagLst xmlns:a="http://schemas.openxmlformats.org/drawingml/2006/main" xmlns:r="http://schemas.openxmlformats.org/officeDocument/2006/relationships" xmlns:p="http://schemas.openxmlformats.org/presentationml/2006/main">
  <p:tag name="PPSPLIT_ID" val=" 10"/>
</p:tagLst>
</file>

<file path=ppt/tags/tag70.xml><?xml version="1.0" encoding="utf-8"?>
<p:tagLst xmlns:a="http://schemas.openxmlformats.org/drawingml/2006/main" xmlns:r="http://schemas.openxmlformats.org/officeDocument/2006/relationships" xmlns:p="http://schemas.openxmlformats.org/presentationml/2006/main">
  <p:tag name="PPSPLIT_ID" val=" 11"/>
</p:tagLst>
</file>

<file path=ppt/tags/tag71.xml><?xml version="1.0" encoding="utf-8"?>
<p:tagLst xmlns:a="http://schemas.openxmlformats.org/drawingml/2006/main" xmlns:r="http://schemas.openxmlformats.org/officeDocument/2006/relationships" xmlns:p="http://schemas.openxmlformats.org/presentationml/2006/main">
  <p:tag name="PPSPLIT_ID" val=" 12"/>
</p:tagLst>
</file>

<file path=ppt/tags/tag72.xml><?xml version="1.0" encoding="utf-8"?>
<p:tagLst xmlns:a="http://schemas.openxmlformats.org/drawingml/2006/main" xmlns:r="http://schemas.openxmlformats.org/officeDocument/2006/relationships" xmlns:p="http://schemas.openxmlformats.org/presentationml/2006/main">
  <p:tag name="PPSPLIT_ID" val=" 13"/>
</p:tagLst>
</file>

<file path=ppt/tags/tag73.xml><?xml version="1.0" encoding="utf-8"?>
<p:tagLst xmlns:a="http://schemas.openxmlformats.org/drawingml/2006/main" xmlns:r="http://schemas.openxmlformats.org/officeDocument/2006/relationships" xmlns:p="http://schemas.openxmlformats.org/presentationml/2006/main">
  <p:tag name="PPSPLIT_ID" val=" 14"/>
</p:tagLst>
</file>

<file path=ppt/tags/tag74.xml><?xml version="1.0" encoding="utf-8"?>
<p:tagLst xmlns:a="http://schemas.openxmlformats.org/drawingml/2006/main" xmlns:r="http://schemas.openxmlformats.org/officeDocument/2006/relationships" xmlns:p="http://schemas.openxmlformats.org/presentationml/2006/main">
  <p:tag name="PPSPLIT_ID" val=" 15"/>
</p:tagLst>
</file>

<file path=ppt/tags/tag75.xml><?xml version="1.0" encoding="utf-8"?>
<p:tagLst xmlns:a="http://schemas.openxmlformats.org/drawingml/2006/main" xmlns:r="http://schemas.openxmlformats.org/officeDocument/2006/relationships" xmlns:p="http://schemas.openxmlformats.org/presentationml/2006/main">
  <p:tag name="PPSPLIT_ID" val=" 16"/>
</p:tagLst>
</file>

<file path=ppt/tags/tag76.xml><?xml version="1.0" encoding="utf-8"?>
<p:tagLst xmlns:a="http://schemas.openxmlformats.org/drawingml/2006/main" xmlns:r="http://schemas.openxmlformats.org/officeDocument/2006/relationships" xmlns:p="http://schemas.openxmlformats.org/presentationml/2006/main">
  <p:tag name="PPSPLIT_ID" val=" 17"/>
</p:tagLst>
</file>

<file path=ppt/tags/tag77.xml><?xml version="1.0" encoding="utf-8"?>
<p:tagLst xmlns:a="http://schemas.openxmlformats.org/drawingml/2006/main" xmlns:r="http://schemas.openxmlformats.org/officeDocument/2006/relationships" xmlns:p="http://schemas.openxmlformats.org/presentationml/2006/main">
  <p:tag name="PPSPLIT_ID" val=" 18"/>
</p:tagLst>
</file>

<file path=ppt/tags/tag78.xml><?xml version="1.0" encoding="utf-8"?>
<p:tagLst xmlns:a="http://schemas.openxmlformats.org/drawingml/2006/main" xmlns:r="http://schemas.openxmlformats.org/officeDocument/2006/relationships" xmlns:p="http://schemas.openxmlformats.org/presentationml/2006/main">
  <p:tag name="PPSPLIT_ID" val=" 19"/>
</p:tagLst>
</file>

<file path=ppt/tags/tag79.xml><?xml version="1.0" encoding="utf-8"?>
<p:tagLst xmlns:a="http://schemas.openxmlformats.org/drawingml/2006/main" xmlns:r="http://schemas.openxmlformats.org/officeDocument/2006/relationships" xmlns:p="http://schemas.openxmlformats.org/presentationml/2006/main">
  <p:tag name="PPSPLIT_ID" val=" 20"/>
</p:tagLst>
</file>

<file path=ppt/tags/tag80.xml><?xml version="1.0" encoding="utf-8"?>
<p:tagLst xmlns:a="http://schemas.openxmlformats.org/drawingml/2006/main" xmlns:r="http://schemas.openxmlformats.org/officeDocument/2006/relationships" xmlns:p="http://schemas.openxmlformats.org/presentationml/2006/main">
  <p:tag name="PPSPLIT_ID" val=" 21"/>
</p:tagLst>
</file>

<file path=ppt/tags/tag81.xml><?xml version="1.0" encoding="utf-8"?>
<p:tagLst xmlns:a="http://schemas.openxmlformats.org/drawingml/2006/main" xmlns:r="http://schemas.openxmlformats.org/officeDocument/2006/relationships" xmlns:p="http://schemas.openxmlformats.org/presentationml/2006/main">
  <p:tag name="PPSPLIT_ID" val=" 22"/>
</p:tagLst>
</file>

<file path=ppt/tags/tag82.xml><?xml version="1.0" encoding="utf-8"?>
<p:tagLst xmlns:a="http://schemas.openxmlformats.org/drawingml/2006/main" xmlns:r="http://schemas.openxmlformats.org/officeDocument/2006/relationships" xmlns:p="http://schemas.openxmlformats.org/presentationml/2006/main">
  <p:tag name="PPSPLIT_ID" val=" 23"/>
</p:tagLst>
</file>

<file path=ppt/tags/tag83.xml><?xml version="1.0" encoding="utf-8"?>
<p:tagLst xmlns:a="http://schemas.openxmlformats.org/drawingml/2006/main" xmlns:r="http://schemas.openxmlformats.org/officeDocument/2006/relationships" xmlns:p="http://schemas.openxmlformats.org/presentationml/2006/main">
  <p:tag name="PPSPLIT_ID" val=" 24"/>
</p:tagLst>
</file>

<file path=ppt/tags/tag84.xml><?xml version="1.0" encoding="utf-8"?>
<p:tagLst xmlns:a="http://schemas.openxmlformats.org/drawingml/2006/main" xmlns:r="http://schemas.openxmlformats.org/officeDocument/2006/relationships" xmlns:p="http://schemas.openxmlformats.org/presentationml/2006/main">
  <p:tag name="PPSPLIT_ID" val=" 25"/>
</p:tagLst>
</file>

<file path=ppt/tags/tag85.xml><?xml version="1.0" encoding="utf-8"?>
<p:tagLst xmlns:a="http://schemas.openxmlformats.org/drawingml/2006/main" xmlns:r="http://schemas.openxmlformats.org/officeDocument/2006/relationships" xmlns:p="http://schemas.openxmlformats.org/presentationml/2006/main">
  <p:tag name="PPSPLIT_ID" val=" 26"/>
</p:tagLst>
</file>

<file path=ppt/tags/tag86.xml><?xml version="1.0" encoding="utf-8"?>
<p:tagLst xmlns:a="http://schemas.openxmlformats.org/drawingml/2006/main" xmlns:r="http://schemas.openxmlformats.org/officeDocument/2006/relationships" xmlns:p="http://schemas.openxmlformats.org/presentationml/2006/main">
  <p:tag name="PPSPLIT_ID" val=" 27"/>
</p:tagLst>
</file>

<file path=ppt/tags/tag87.xml><?xml version="1.0" encoding="utf-8"?>
<p:tagLst xmlns:a="http://schemas.openxmlformats.org/drawingml/2006/main" xmlns:r="http://schemas.openxmlformats.org/officeDocument/2006/relationships" xmlns:p="http://schemas.openxmlformats.org/presentationml/2006/main">
  <p:tag name="PPSPLIT_ID" val=" 28"/>
</p:tagLst>
</file>

<file path=ppt/tags/tag88.xml><?xml version="1.0" encoding="utf-8"?>
<p:tagLst xmlns:a="http://schemas.openxmlformats.org/drawingml/2006/main" xmlns:r="http://schemas.openxmlformats.org/officeDocument/2006/relationships" xmlns:p="http://schemas.openxmlformats.org/presentationml/2006/main">
  <p:tag name="PPSPLIT_ID" val=" 29"/>
</p:tagLst>
</file>

<file path=ppt/tags/tag89.xml><?xml version="1.0" encoding="utf-8"?>
<p:tagLst xmlns:a="http://schemas.openxmlformats.org/drawingml/2006/main" xmlns:r="http://schemas.openxmlformats.org/officeDocument/2006/relationships" xmlns:p="http://schemas.openxmlformats.org/presentationml/2006/main">
  <p:tag name="PPSPLIT_ID" val=" 30"/>
</p:tagLst>
</file>

<file path=ppt/tags/tag90.xml><?xml version="1.0" encoding="utf-8"?>
<p:tagLst xmlns:a="http://schemas.openxmlformats.org/drawingml/2006/main" xmlns:r="http://schemas.openxmlformats.org/officeDocument/2006/relationships" xmlns:p="http://schemas.openxmlformats.org/presentationml/2006/main">
  <p:tag name="PPSPLIT_ID" val=" 31"/>
</p:tagLst>
</file>

<file path=ppt/tags/tag91.xml><?xml version="1.0" encoding="utf-8"?>
<p:tagLst xmlns:a="http://schemas.openxmlformats.org/drawingml/2006/main" xmlns:r="http://schemas.openxmlformats.org/officeDocument/2006/relationships" xmlns:p="http://schemas.openxmlformats.org/presentationml/2006/main">
  <p:tag name="PPSPLIT_ID" val=" 32"/>
</p:tagLst>
</file>

<file path=ppt/tags/tag92.xml><?xml version="1.0" encoding="utf-8"?>
<p:tagLst xmlns:a="http://schemas.openxmlformats.org/drawingml/2006/main" xmlns:r="http://schemas.openxmlformats.org/officeDocument/2006/relationships" xmlns:p="http://schemas.openxmlformats.org/presentationml/2006/main">
  <p:tag name="PPSPLIT_ID" val=" 33"/>
</p:tagLst>
</file>

<file path=ppt/tags/tag93.xml><?xml version="1.0" encoding="utf-8"?>
<p:tagLst xmlns:a="http://schemas.openxmlformats.org/drawingml/2006/main" xmlns:r="http://schemas.openxmlformats.org/officeDocument/2006/relationships" xmlns:p="http://schemas.openxmlformats.org/presentationml/2006/main">
  <p:tag name="PPSPLIT_ID" val=" 34"/>
</p:tagLst>
</file>

<file path=ppt/tags/tag94.xml><?xml version="1.0" encoding="utf-8"?>
<p:tagLst xmlns:a="http://schemas.openxmlformats.org/drawingml/2006/main" xmlns:r="http://schemas.openxmlformats.org/officeDocument/2006/relationships" xmlns:p="http://schemas.openxmlformats.org/presentationml/2006/main">
  <p:tag name="PPSPLIT_ID" val=" 35"/>
</p:tagLst>
</file>

<file path=ppt/tags/tag95.xml><?xml version="1.0" encoding="utf-8"?>
<p:tagLst xmlns:a="http://schemas.openxmlformats.org/drawingml/2006/main" xmlns:r="http://schemas.openxmlformats.org/officeDocument/2006/relationships" xmlns:p="http://schemas.openxmlformats.org/presentationml/2006/main">
  <p:tag name="PPSPLIT_ID" val=" 39"/>
</p:tagLst>
</file>

<file path=ppt/tags/tag96.xml><?xml version="1.0" encoding="utf-8"?>
<p:tagLst xmlns:a="http://schemas.openxmlformats.org/drawingml/2006/main" xmlns:r="http://schemas.openxmlformats.org/officeDocument/2006/relationships" xmlns:p="http://schemas.openxmlformats.org/presentationml/2006/main">
  <p:tag name="PPSPLIT_ID" val=" 40"/>
</p:tagLst>
</file>

<file path=ppt/tags/tag97.xml><?xml version="1.0" encoding="utf-8"?>
<p:tagLst xmlns:a="http://schemas.openxmlformats.org/drawingml/2006/main" xmlns:r="http://schemas.openxmlformats.org/officeDocument/2006/relationships" xmlns:p="http://schemas.openxmlformats.org/presentationml/2006/main">
  <p:tag name="PPSPLIT_ID" val=" 41"/>
</p:tagLst>
</file>

<file path=ppt/tags/tag98.xml><?xml version="1.0" encoding="utf-8"?>
<p:tagLst xmlns:a="http://schemas.openxmlformats.org/drawingml/2006/main" xmlns:r="http://schemas.openxmlformats.org/officeDocument/2006/relationships" xmlns:p="http://schemas.openxmlformats.org/presentationml/2006/main">
  <p:tag name="PPSPLIT_ID" val=" 42"/>
</p:tagLst>
</file>

<file path=ppt/tags/tag99.xml><?xml version="1.0" encoding="utf-8"?>
<p:tagLst xmlns:a="http://schemas.openxmlformats.org/drawingml/2006/main" xmlns:r="http://schemas.openxmlformats.org/officeDocument/2006/relationships" xmlns:p="http://schemas.openxmlformats.org/presentationml/2006/main">
  <p:tag name="PPSPLIT_ID" val=" 45"/>
</p:tagLst>
</file>

<file path=ppt/tags/tag10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8"/>
</p:tagLst>
</file>

<file path=ppt/tags/tag10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19"/>
</p:tagLst>
</file>

<file path=ppt/tags/tag10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0"/>
</p:tagLst>
</file>

<file path=ppt/tags/tag10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1"/>
</p:tagLst>
</file>

<file path=ppt/tags/tag10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2"/>
  <p:tag name="PPSPLIT_DONE" val="1"/>
</p:tagLst>
</file>

<file path=ppt/tags/tag105.xml><?xml version="1.0" encoding="utf-8"?>
<p:tagLst xmlns:a="http://schemas.openxmlformats.org/drawingml/2006/main" xmlns:r="http://schemas.openxmlformats.org/officeDocument/2006/relationships" xmlns:p="http://schemas.openxmlformats.org/presentationml/2006/main">
  <p:tag name="PPSPLIT_ID" val=" 5"/>
</p:tagLst>
</file>

<file path=ppt/tags/tag106.xml><?xml version="1.0" encoding="utf-8"?>
<p:tagLst xmlns:a="http://schemas.openxmlformats.org/drawingml/2006/main" xmlns:r="http://schemas.openxmlformats.org/officeDocument/2006/relationships" xmlns:p="http://schemas.openxmlformats.org/presentationml/2006/main">
  <p:tag name="PPSPLIT_ID" val=" 6"/>
</p:tagLst>
</file>

<file path=ppt/tags/tag107.xml><?xml version="1.0" encoding="utf-8"?>
<p:tagLst xmlns:a="http://schemas.openxmlformats.org/drawingml/2006/main" xmlns:r="http://schemas.openxmlformats.org/officeDocument/2006/relationships" xmlns:p="http://schemas.openxmlformats.org/presentationml/2006/main">
  <p:tag name="PPSPLIT_ID" val=" 7"/>
</p:tagLst>
</file>

<file path=ppt/tags/tag108.xml><?xml version="1.0" encoding="utf-8"?>
<p:tagLst xmlns:a="http://schemas.openxmlformats.org/drawingml/2006/main" xmlns:r="http://schemas.openxmlformats.org/officeDocument/2006/relationships" xmlns:p="http://schemas.openxmlformats.org/presentationml/2006/main">
  <p:tag name="PPSPLIT_ID" val=" 8"/>
</p:tagLst>
</file>

<file path=ppt/tags/tag109.xml><?xml version="1.0" encoding="utf-8"?>
<p:tagLst xmlns:a="http://schemas.openxmlformats.org/drawingml/2006/main" xmlns:r="http://schemas.openxmlformats.org/officeDocument/2006/relationships" xmlns:p="http://schemas.openxmlformats.org/presentationml/2006/main">
  <p:tag name="PPSPLIT_ID" val=" 9"/>
</p:tagLst>
</file>

<file path=ppt/tags/tag110.xml><?xml version="1.0" encoding="utf-8"?>
<p:tagLst xmlns:a="http://schemas.openxmlformats.org/drawingml/2006/main" xmlns:r="http://schemas.openxmlformats.org/officeDocument/2006/relationships" xmlns:p="http://schemas.openxmlformats.org/presentationml/2006/main">
  <p:tag name="PPSPLIT_ID" val=" 10"/>
</p:tagLst>
</file>

<file path=ppt/tags/tag111.xml><?xml version="1.0" encoding="utf-8"?>
<p:tagLst xmlns:a="http://schemas.openxmlformats.org/drawingml/2006/main" xmlns:r="http://schemas.openxmlformats.org/officeDocument/2006/relationships" xmlns:p="http://schemas.openxmlformats.org/presentationml/2006/main">
  <p:tag name="PPSPLIT_ID" val=" 13"/>
</p:tagLst>
</file>

<file path=ppt/tags/tag112.xml><?xml version="1.0" encoding="utf-8"?>
<p:tagLst xmlns:a="http://schemas.openxmlformats.org/drawingml/2006/main" xmlns:r="http://schemas.openxmlformats.org/officeDocument/2006/relationships" xmlns:p="http://schemas.openxmlformats.org/presentationml/2006/main">
  <p:tag name="PPSPLIT_ID" val=" 16"/>
</p:tagLst>
</file>

<file path=ppt/tags/tag113.xml><?xml version="1.0" encoding="utf-8"?>
<p:tagLst xmlns:a="http://schemas.openxmlformats.org/drawingml/2006/main" xmlns:r="http://schemas.openxmlformats.org/officeDocument/2006/relationships" xmlns:p="http://schemas.openxmlformats.org/presentationml/2006/main">
  <p:tag name="PPSPLIT_ID" val=" 19"/>
</p:tagLst>
</file>

<file path=ppt/tags/tag114.xml><?xml version="1.0" encoding="utf-8"?>
<p:tagLst xmlns:a="http://schemas.openxmlformats.org/drawingml/2006/main" xmlns:r="http://schemas.openxmlformats.org/officeDocument/2006/relationships" xmlns:p="http://schemas.openxmlformats.org/presentationml/2006/main">
  <p:tag name="PPSPLIT_ID" val=" 22"/>
</p:tagLst>
</file>

<file path=ppt/tags/tag115.xml><?xml version="1.0" encoding="utf-8"?>
<p:tagLst xmlns:a="http://schemas.openxmlformats.org/drawingml/2006/main" xmlns:r="http://schemas.openxmlformats.org/officeDocument/2006/relationships" xmlns:p="http://schemas.openxmlformats.org/presentationml/2006/main">
  <p:tag name="PPSPLIT_ID" val=" 25"/>
</p:tagLst>
</file>

<file path=ppt/tags/tag116.xml><?xml version="1.0" encoding="utf-8"?>
<p:tagLst xmlns:a="http://schemas.openxmlformats.org/drawingml/2006/main" xmlns:r="http://schemas.openxmlformats.org/officeDocument/2006/relationships" xmlns:p="http://schemas.openxmlformats.org/presentationml/2006/main">
  <p:tag name="PPSPLIT_ID" val=" 28"/>
</p:tagLst>
</file>

<file path=ppt/tags/tag117.xml><?xml version="1.0" encoding="utf-8"?>
<p:tagLst xmlns:a="http://schemas.openxmlformats.org/drawingml/2006/main" xmlns:r="http://schemas.openxmlformats.org/officeDocument/2006/relationships" xmlns:p="http://schemas.openxmlformats.org/presentationml/2006/main">
  <p:tag name="PPSPLIT_ID" val=" 31"/>
</p:tagLst>
</file>

<file path=ppt/tags/tag118.xml><?xml version="1.0" encoding="utf-8"?>
<p:tagLst xmlns:a="http://schemas.openxmlformats.org/drawingml/2006/main" xmlns:r="http://schemas.openxmlformats.org/officeDocument/2006/relationships" xmlns:p="http://schemas.openxmlformats.org/presentationml/2006/main">
  <p:tag name="PPSPLIT_ID" val=" 34"/>
</p:tagLst>
</file>

<file path=ppt/tags/tag119.xml><?xml version="1.0" encoding="utf-8"?>
<p:tagLst xmlns:a="http://schemas.openxmlformats.org/drawingml/2006/main" xmlns:r="http://schemas.openxmlformats.org/officeDocument/2006/relationships" xmlns:p="http://schemas.openxmlformats.org/presentationml/2006/main">
  <p:tag name="PPSPLIT_ID" val=" 39"/>
</p:tagLst>
</file>

<file path=ppt/tags/tag120.xml><?xml version="1.0" encoding="utf-8"?>
<p:tagLst xmlns:a="http://schemas.openxmlformats.org/drawingml/2006/main" xmlns:r="http://schemas.openxmlformats.org/officeDocument/2006/relationships" xmlns:p="http://schemas.openxmlformats.org/presentationml/2006/main">
  <p:tag name="PPSPLIT_ID" val=" 42"/>
</p:tagLst>
</file>

<file path=ppt/tags/tag121.xml><?xml version="1.0" encoding="utf-8"?>
<p:tagLst xmlns:a="http://schemas.openxmlformats.org/drawingml/2006/main" xmlns:r="http://schemas.openxmlformats.org/officeDocument/2006/relationships" xmlns:p="http://schemas.openxmlformats.org/presentationml/2006/main">
  <p:tag name="PPSPLIT_ID" val=" 43"/>
</p:tagLst>
</file>

<file path=ppt/tags/tag122.xml><?xml version="1.0" encoding="utf-8"?>
<p:tagLst xmlns:a="http://schemas.openxmlformats.org/drawingml/2006/main" xmlns:r="http://schemas.openxmlformats.org/officeDocument/2006/relationships" xmlns:p="http://schemas.openxmlformats.org/presentationml/2006/main">
  <p:tag name="PPSPLIT_ID" val=" 44"/>
</p:tagLst>
</file>

<file path=ppt/tags/tag123.xml><?xml version="1.0" encoding="utf-8"?>
<p:tagLst xmlns:a="http://schemas.openxmlformats.org/drawingml/2006/main" xmlns:r="http://schemas.openxmlformats.org/officeDocument/2006/relationships" xmlns:p="http://schemas.openxmlformats.org/presentationml/2006/main">
  <p:tag name="PPSPLIT_ID" val=" 45"/>
</p:tagLst>
</file>

<file path=ppt/tags/tag12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2"/>
</p:tagLst>
</file>

<file path=ppt/tags/tag125.xml><?xml version="1.0" encoding="utf-8"?>
<p:tagLst xmlns:a="http://schemas.openxmlformats.org/drawingml/2006/main" xmlns:r="http://schemas.openxmlformats.org/officeDocument/2006/relationships" xmlns:p="http://schemas.openxmlformats.org/presentationml/2006/main">
  <p:tag name="PPSPLIT_ID" val=" 5"/>
</p:tagLst>
</file>

<file path=ppt/tags/tag126.xml><?xml version="1.0" encoding="utf-8"?>
<p:tagLst xmlns:a="http://schemas.openxmlformats.org/drawingml/2006/main" xmlns:r="http://schemas.openxmlformats.org/officeDocument/2006/relationships" xmlns:p="http://schemas.openxmlformats.org/presentationml/2006/main">
  <p:tag name="PPSPLIT_ID" val=" 6"/>
</p:tagLst>
</file>

<file path=ppt/tags/tag127.xml><?xml version="1.0" encoding="utf-8"?>
<p:tagLst xmlns:a="http://schemas.openxmlformats.org/drawingml/2006/main" xmlns:r="http://schemas.openxmlformats.org/officeDocument/2006/relationships" xmlns:p="http://schemas.openxmlformats.org/presentationml/2006/main">
  <p:tag name="PPSPLIT_ID" val=" 7"/>
</p:tagLst>
</file>

<file path=ppt/tags/tag128.xml><?xml version="1.0" encoding="utf-8"?>
<p:tagLst xmlns:a="http://schemas.openxmlformats.org/drawingml/2006/main" xmlns:r="http://schemas.openxmlformats.org/officeDocument/2006/relationships" xmlns:p="http://schemas.openxmlformats.org/presentationml/2006/main">
  <p:tag name="PPSPLIT_ID" val=" 8"/>
</p:tagLst>
</file>

<file path=ppt/tags/tag129.xml><?xml version="1.0" encoding="utf-8"?>
<p:tagLst xmlns:a="http://schemas.openxmlformats.org/drawingml/2006/main" xmlns:r="http://schemas.openxmlformats.org/officeDocument/2006/relationships" xmlns:p="http://schemas.openxmlformats.org/presentationml/2006/main">
  <p:tag name="PPSPLIT_ID" val=" 9"/>
</p:tagLst>
</file>

<file path=ppt/tags/tag130.xml><?xml version="1.0" encoding="utf-8"?>
<p:tagLst xmlns:a="http://schemas.openxmlformats.org/drawingml/2006/main" xmlns:r="http://schemas.openxmlformats.org/officeDocument/2006/relationships" xmlns:p="http://schemas.openxmlformats.org/presentationml/2006/main">
  <p:tag name="PPSPLIT_ID" val=" 10"/>
</p:tagLst>
</file>

<file path=ppt/tags/tag131.xml><?xml version="1.0" encoding="utf-8"?>
<p:tagLst xmlns:a="http://schemas.openxmlformats.org/drawingml/2006/main" xmlns:r="http://schemas.openxmlformats.org/officeDocument/2006/relationships" xmlns:p="http://schemas.openxmlformats.org/presentationml/2006/main">
  <p:tag name="PPSPLIT_ID" val=" 13"/>
</p:tagLst>
</file>

<file path=ppt/tags/tag132.xml><?xml version="1.0" encoding="utf-8"?>
<p:tagLst xmlns:a="http://schemas.openxmlformats.org/drawingml/2006/main" xmlns:r="http://schemas.openxmlformats.org/officeDocument/2006/relationships" xmlns:p="http://schemas.openxmlformats.org/presentationml/2006/main">
  <p:tag name="PPSPLIT_ID" val=" 16"/>
</p:tagLst>
</file>

<file path=ppt/tags/tag133.xml><?xml version="1.0" encoding="utf-8"?>
<p:tagLst xmlns:a="http://schemas.openxmlformats.org/drawingml/2006/main" xmlns:r="http://schemas.openxmlformats.org/officeDocument/2006/relationships" xmlns:p="http://schemas.openxmlformats.org/presentationml/2006/main">
  <p:tag name="PPSPLIT_ID" val=" 19"/>
</p:tagLst>
</file>

<file path=ppt/tags/tag134.xml><?xml version="1.0" encoding="utf-8"?>
<p:tagLst xmlns:a="http://schemas.openxmlformats.org/drawingml/2006/main" xmlns:r="http://schemas.openxmlformats.org/officeDocument/2006/relationships" xmlns:p="http://schemas.openxmlformats.org/presentationml/2006/main">
  <p:tag name="PPSPLIT_ID" val=" 22"/>
</p:tagLst>
</file>

<file path=ppt/tags/tag135.xml><?xml version="1.0" encoding="utf-8"?>
<p:tagLst xmlns:a="http://schemas.openxmlformats.org/drawingml/2006/main" xmlns:r="http://schemas.openxmlformats.org/officeDocument/2006/relationships" xmlns:p="http://schemas.openxmlformats.org/presentationml/2006/main">
  <p:tag name="PPSPLIT_ID" val=" 25"/>
</p:tagLst>
</file>

<file path=ppt/tags/tag136.xml><?xml version="1.0" encoding="utf-8"?>
<p:tagLst xmlns:a="http://schemas.openxmlformats.org/drawingml/2006/main" xmlns:r="http://schemas.openxmlformats.org/officeDocument/2006/relationships" xmlns:p="http://schemas.openxmlformats.org/presentationml/2006/main">
  <p:tag name="PPSPLIT_ID" val=" 28"/>
</p:tagLst>
</file>

<file path=ppt/tags/tag137.xml><?xml version="1.0" encoding="utf-8"?>
<p:tagLst xmlns:a="http://schemas.openxmlformats.org/drawingml/2006/main" xmlns:r="http://schemas.openxmlformats.org/officeDocument/2006/relationships" xmlns:p="http://schemas.openxmlformats.org/presentationml/2006/main">
  <p:tag name="PPSPLIT_ID" val=" 31"/>
</p:tagLst>
</file>

<file path=ppt/tags/tag138.xml><?xml version="1.0" encoding="utf-8"?>
<p:tagLst xmlns:a="http://schemas.openxmlformats.org/drawingml/2006/main" xmlns:r="http://schemas.openxmlformats.org/officeDocument/2006/relationships" xmlns:p="http://schemas.openxmlformats.org/presentationml/2006/main">
  <p:tag name="PPSPLIT_ID" val=" 34"/>
</p:tagLst>
</file>

<file path=ppt/tags/tag139.xml><?xml version="1.0" encoding="utf-8"?>
<p:tagLst xmlns:a="http://schemas.openxmlformats.org/drawingml/2006/main" xmlns:r="http://schemas.openxmlformats.org/officeDocument/2006/relationships" xmlns:p="http://schemas.openxmlformats.org/presentationml/2006/main">
  <p:tag name="PPSPLIT_ID" val=" 39"/>
</p:tagLst>
</file>

<file path=ppt/tags/tag140.xml><?xml version="1.0" encoding="utf-8"?>
<p:tagLst xmlns:a="http://schemas.openxmlformats.org/drawingml/2006/main" xmlns:r="http://schemas.openxmlformats.org/officeDocument/2006/relationships" xmlns:p="http://schemas.openxmlformats.org/presentationml/2006/main">
  <p:tag name="PPSPLIT_ID" val=" 42"/>
</p:tagLst>
</file>

<file path=ppt/tags/tag141.xml><?xml version="1.0" encoding="utf-8"?>
<p:tagLst xmlns:a="http://schemas.openxmlformats.org/drawingml/2006/main" xmlns:r="http://schemas.openxmlformats.org/officeDocument/2006/relationships" xmlns:p="http://schemas.openxmlformats.org/presentationml/2006/main">
  <p:tag name="PPSPLIT_ID" val=" 43"/>
</p:tagLst>
</file>

<file path=ppt/tags/tag142.xml><?xml version="1.0" encoding="utf-8"?>
<p:tagLst xmlns:a="http://schemas.openxmlformats.org/drawingml/2006/main" xmlns:r="http://schemas.openxmlformats.org/officeDocument/2006/relationships" xmlns:p="http://schemas.openxmlformats.org/presentationml/2006/main">
  <p:tag name="PPSPLIT_ID" val=" 44"/>
</p:tagLst>
</file>

<file path=ppt/tags/tag143.xml><?xml version="1.0" encoding="utf-8"?>
<p:tagLst xmlns:a="http://schemas.openxmlformats.org/drawingml/2006/main" xmlns:r="http://schemas.openxmlformats.org/officeDocument/2006/relationships" xmlns:p="http://schemas.openxmlformats.org/presentationml/2006/main">
  <p:tag name="PPSPLIT_ID" val=" 45"/>
</p:tagLst>
</file>

<file path=ppt/tags/tag144.xml><?xml version="1.0" encoding="utf-8"?>
<p:tagLst xmlns:a="http://schemas.openxmlformats.org/drawingml/2006/main" xmlns:r="http://schemas.openxmlformats.org/officeDocument/2006/relationships" xmlns:p="http://schemas.openxmlformats.org/presentationml/2006/main">
  <p:tag name="PPSPLIT_ID" val=" 46"/>
</p:tagLst>
</file>

<file path=ppt/tags/tag14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46.xml><?xml version="1.0" encoding="utf-8"?>
<p:tagLst xmlns:a="http://schemas.openxmlformats.org/drawingml/2006/main" xmlns:r="http://schemas.openxmlformats.org/officeDocument/2006/relationships" xmlns:p="http://schemas.openxmlformats.org/presentationml/2006/main">
  <p:tag name="PPSPLIT_ID" val=" 5"/>
</p:tagLst>
</file>

<file path=ppt/tags/tag147.xml><?xml version="1.0" encoding="utf-8"?>
<p:tagLst xmlns:a="http://schemas.openxmlformats.org/drawingml/2006/main" xmlns:r="http://schemas.openxmlformats.org/officeDocument/2006/relationships" xmlns:p="http://schemas.openxmlformats.org/presentationml/2006/main">
  <p:tag name="PPSPLIT_ID" val=" 4"/>
</p:tagLst>
</file>

<file path=ppt/tags/tag148.xml><?xml version="1.0" encoding="utf-8"?>
<p:tagLst xmlns:a="http://schemas.openxmlformats.org/drawingml/2006/main" xmlns:r="http://schemas.openxmlformats.org/officeDocument/2006/relationships" xmlns:p="http://schemas.openxmlformats.org/presentationml/2006/main">
  <p:tag name="PPSPLIT_ID" val=" 47"/>
</p:tagLst>
</file>

<file path=ppt/tags/tag149.xml><?xml version="1.0" encoding="utf-8"?>
<p:tagLst xmlns:a="http://schemas.openxmlformats.org/drawingml/2006/main" xmlns:r="http://schemas.openxmlformats.org/officeDocument/2006/relationships" xmlns:p="http://schemas.openxmlformats.org/presentationml/2006/main">
  <p:tag name="PPSPLIT_ID" val=" 58"/>
</p:tagLst>
</file>

<file path=ppt/tags/tag15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51.xml><?xml version="1.0" encoding="utf-8"?>
<p:tagLst xmlns:a="http://schemas.openxmlformats.org/drawingml/2006/main" xmlns:r="http://schemas.openxmlformats.org/officeDocument/2006/relationships" xmlns:p="http://schemas.openxmlformats.org/presentationml/2006/main">
  <p:tag name="PPSPLIT_ID" val=" 5"/>
</p:tagLst>
</file>

<file path=ppt/tags/tag152.xml><?xml version="1.0" encoding="utf-8"?>
<p:tagLst xmlns:a="http://schemas.openxmlformats.org/drawingml/2006/main" xmlns:r="http://schemas.openxmlformats.org/officeDocument/2006/relationships" xmlns:p="http://schemas.openxmlformats.org/presentationml/2006/main">
  <p:tag name="PPSPLIT_ID" val=" 4"/>
</p:tagLst>
</file>

<file path=ppt/tags/tag153.xml><?xml version="1.0" encoding="utf-8"?>
<p:tagLst xmlns:a="http://schemas.openxmlformats.org/drawingml/2006/main" xmlns:r="http://schemas.openxmlformats.org/officeDocument/2006/relationships" xmlns:p="http://schemas.openxmlformats.org/presentationml/2006/main">
  <p:tag name="PPSPLIT_ID" val=" 47"/>
</p:tagLst>
</file>

<file path=ppt/tags/tag154.xml><?xml version="1.0" encoding="utf-8"?>
<p:tagLst xmlns:a="http://schemas.openxmlformats.org/drawingml/2006/main" xmlns:r="http://schemas.openxmlformats.org/officeDocument/2006/relationships" xmlns:p="http://schemas.openxmlformats.org/presentationml/2006/main">
  <p:tag name="PPSPLIT_ID" val=" 58"/>
</p:tagLst>
</file>

<file path=ppt/tags/tag155.xml><?xml version="1.0" encoding="utf-8"?>
<p:tagLst xmlns:a="http://schemas.openxmlformats.org/drawingml/2006/main" xmlns:r="http://schemas.openxmlformats.org/officeDocument/2006/relationships" xmlns:p="http://schemas.openxmlformats.org/presentationml/2006/main">
  <p:tag name="PPSPLIT_ID" val=" 61"/>
</p:tagLst>
</file>

<file path=ppt/tags/tag156.xml><?xml version="1.0" encoding="utf-8"?>
<p:tagLst xmlns:a="http://schemas.openxmlformats.org/drawingml/2006/main" xmlns:r="http://schemas.openxmlformats.org/officeDocument/2006/relationships" xmlns:p="http://schemas.openxmlformats.org/presentationml/2006/main">
  <p:tag name="PPSPLIT_ID" val=" 65"/>
</p:tagLst>
</file>

<file path=ppt/tags/tag15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58.xml><?xml version="1.0" encoding="utf-8"?>
<p:tagLst xmlns:a="http://schemas.openxmlformats.org/drawingml/2006/main" xmlns:r="http://schemas.openxmlformats.org/officeDocument/2006/relationships" xmlns:p="http://schemas.openxmlformats.org/presentationml/2006/main">
  <p:tag name="PPSPLIT_ID" val=" 5"/>
</p:tagLst>
</file>

<file path=ppt/tags/tag159.xml><?xml version="1.0" encoding="utf-8"?>
<p:tagLst xmlns:a="http://schemas.openxmlformats.org/drawingml/2006/main" xmlns:r="http://schemas.openxmlformats.org/officeDocument/2006/relationships" xmlns:p="http://schemas.openxmlformats.org/presentationml/2006/main">
  <p:tag name="PPSPLIT_ID" val=" 4"/>
</p:tagLst>
</file>

<file path=ppt/tags/tag160.xml><?xml version="1.0" encoding="utf-8"?>
<p:tagLst xmlns:a="http://schemas.openxmlformats.org/drawingml/2006/main" xmlns:r="http://schemas.openxmlformats.org/officeDocument/2006/relationships" xmlns:p="http://schemas.openxmlformats.org/presentationml/2006/main">
  <p:tag name="PPSPLIT_ID" val=" 47"/>
</p:tagLst>
</file>

<file path=ppt/tags/tag161.xml><?xml version="1.0" encoding="utf-8"?>
<p:tagLst xmlns:a="http://schemas.openxmlformats.org/drawingml/2006/main" xmlns:r="http://schemas.openxmlformats.org/officeDocument/2006/relationships" xmlns:p="http://schemas.openxmlformats.org/presentationml/2006/main">
  <p:tag name="PPSPLIT_ID" val=" 58"/>
</p:tagLst>
</file>

<file path=ppt/tags/tag162.xml><?xml version="1.0" encoding="utf-8"?>
<p:tagLst xmlns:a="http://schemas.openxmlformats.org/drawingml/2006/main" xmlns:r="http://schemas.openxmlformats.org/officeDocument/2006/relationships" xmlns:p="http://schemas.openxmlformats.org/presentationml/2006/main">
  <p:tag name="PPSPLIT_ID" val=" 61"/>
</p:tagLst>
</file>

<file path=ppt/tags/tag163.xml><?xml version="1.0" encoding="utf-8"?>
<p:tagLst xmlns:a="http://schemas.openxmlformats.org/drawingml/2006/main" xmlns:r="http://schemas.openxmlformats.org/officeDocument/2006/relationships" xmlns:p="http://schemas.openxmlformats.org/presentationml/2006/main">
  <p:tag name="PPSPLIT_ID" val=" 65"/>
</p:tagLst>
</file>

<file path=ppt/tags/tag164.xml><?xml version="1.0" encoding="utf-8"?>
<p:tagLst xmlns:a="http://schemas.openxmlformats.org/drawingml/2006/main" xmlns:r="http://schemas.openxmlformats.org/officeDocument/2006/relationships" xmlns:p="http://schemas.openxmlformats.org/presentationml/2006/main">
  <p:tag name="PPSPLIT_ID" val=" 67"/>
</p:tagLst>
</file>

<file path=ppt/tags/tag16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 name="PPSPLIT_DONE" val="1"/>
</p:tagLst>
</file>

<file path=ppt/tags/tag166.xml><?xml version="1.0" encoding="utf-8"?>
<p:tagLst xmlns:a="http://schemas.openxmlformats.org/drawingml/2006/main" xmlns:r="http://schemas.openxmlformats.org/officeDocument/2006/relationships" xmlns:p="http://schemas.openxmlformats.org/presentationml/2006/main">
  <p:tag name="PPSPLIT_ID" val=" 5"/>
</p:tagLst>
</file>

<file path=ppt/tags/tag167.xml><?xml version="1.0" encoding="utf-8"?>
<p:tagLst xmlns:a="http://schemas.openxmlformats.org/drawingml/2006/main" xmlns:r="http://schemas.openxmlformats.org/officeDocument/2006/relationships" xmlns:p="http://schemas.openxmlformats.org/presentationml/2006/main">
  <p:tag name="PPSPLIT_ID" val=" 4"/>
</p:tagLst>
</file>

<file path=ppt/tags/tag168.xml><?xml version="1.0" encoding="utf-8"?>
<p:tagLst xmlns:a="http://schemas.openxmlformats.org/drawingml/2006/main" xmlns:r="http://schemas.openxmlformats.org/officeDocument/2006/relationships" xmlns:p="http://schemas.openxmlformats.org/presentationml/2006/main">
  <p:tag name="PPSPLIT_ID" val=" 47"/>
</p:tagLst>
</file>

<file path=ppt/tags/tag169.xml><?xml version="1.0" encoding="utf-8"?>
<p:tagLst xmlns:a="http://schemas.openxmlformats.org/drawingml/2006/main" xmlns:r="http://schemas.openxmlformats.org/officeDocument/2006/relationships" xmlns:p="http://schemas.openxmlformats.org/presentationml/2006/main">
  <p:tag name="PPSPLIT_ID" val=" 58"/>
</p:tagLst>
</file>

<file path=ppt/tags/tag170.xml><?xml version="1.0" encoding="utf-8"?>
<p:tagLst xmlns:a="http://schemas.openxmlformats.org/drawingml/2006/main" xmlns:r="http://schemas.openxmlformats.org/officeDocument/2006/relationships" xmlns:p="http://schemas.openxmlformats.org/presentationml/2006/main">
  <p:tag name="PPSPLIT_ID" val=" 61"/>
</p:tagLst>
</file>

<file path=ppt/tags/tag171.xml><?xml version="1.0" encoding="utf-8"?>
<p:tagLst xmlns:a="http://schemas.openxmlformats.org/drawingml/2006/main" xmlns:r="http://schemas.openxmlformats.org/officeDocument/2006/relationships" xmlns:p="http://schemas.openxmlformats.org/presentationml/2006/main">
  <p:tag name="PPSPLIT_ID" val=" 65"/>
</p:tagLst>
</file>

<file path=ppt/tags/tag172.xml><?xml version="1.0" encoding="utf-8"?>
<p:tagLst xmlns:a="http://schemas.openxmlformats.org/drawingml/2006/main" xmlns:r="http://schemas.openxmlformats.org/officeDocument/2006/relationships" xmlns:p="http://schemas.openxmlformats.org/presentationml/2006/main">
  <p:tag name="PPSPLIT_ID" val=" 66"/>
</p:tagLst>
</file>

<file path=ppt/tags/tag173.xml><?xml version="1.0" encoding="utf-8"?>
<p:tagLst xmlns:a="http://schemas.openxmlformats.org/drawingml/2006/main" xmlns:r="http://schemas.openxmlformats.org/officeDocument/2006/relationships" xmlns:p="http://schemas.openxmlformats.org/presentationml/2006/main">
  <p:tag name="PPSPLIT_ID" val=" 67"/>
</p:tagLst>
</file>

<file path=ppt/tags/tag17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3"/>
</p:tagLst>
</file>

<file path=ppt/tags/tag175.xml><?xml version="1.0" encoding="utf-8"?>
<p:tagLst xmlns:a="http://schemas.openxmlformats.org/drawingml/2006/main" xmlns:r="http://schemas.openxmlformats.org/officeDocument/2006/relationships" xmlns:p="http://schemas.openxmlformats.org/presentationml/2006/main">
  <p:tag name="PPSPLIT_ID" val=" 5"/>
</p:tagLst>
</file>

<file path=ppt/tags/tag176.xml><?xml version="1.0" encoding="utf-8"?>
<p:tagLst xmlns:a="http://schemas.openxmlformats.org/drawingml/2006/main" xmlns:r="http://schemas.openxmlformats.org/officeDocument/2006/relationships" xmlns:p="http://schemas.openxmlformats.org/presentationml/2006/main">
  <p:tag name="PPSPLIT_ID" val=" 4"/>
</p:tagLst>
</file>

<file path=ppt/tags/tag177.xml><?xml version="1.0" encoding="utf-8"?>
<p:tagLst xmlns:a="http://schemas.openxmlformats.org/drawingml/2006/main" xmlns:r="http://schemas.openxmlformats.org/officeDocument/2006/relationships" xmlns:p="http://schemas.openxmlformats.org/presentationml/2006/main">
  <p:tag name="PPSPLIT_ID" val=" 47"/>
</p:tagLst>
</file>

<file path=ppt/tags/tag178.xml><?xml version="1.0" encoding="utf-8"?>
<p:tagLst xmlns:a="http://schemas.openxmlformats.org/drawingml/2006/main" xmlns:r="http://schemas.openxmlformats.org/officeDocument/2006/relationships" xmlns:p="http://schemas.openxmlformats.org/presentationml/2006/main">
  <p:tag name="PPSPLIT_ID" val=" 58"/>
</p:tagLst>
</file>

<file path=ppt/tags/tag179.xml><?xml version="1.0" encoding="utf-8"?>
<p:tagLst xmlns:a="http://schemas.openxmlformats.org/drawingml/2006/main" xmlns:r="http://schemas.openxmlformats.org/officeDocument/2006/relationships" xmlns:p="http://schemas.openxmlformats.org/presentationml/2006/main">
  <p:tag name="PPSPLIT_ID" val=" 61"/>
</p:tagLst>
</file>

<file path=ppt/tags/tag180.xml><?xml version="1.0" encoding="utf-8"?>
<p:tagLst xmlns:a="http://schemas.openxmlformats.org/drawingml/2006/main" xmlns:r="http://schemas.openxmlformats.org/officeDocument/2006/relationships" xmlns:p="http://schemas.openxmlformats.org/presentationml/2006/main">
  <p:tag name="PPSPLIT_ID" val=" 64"/>
</p:tagLst>
</file>

<file path=ppt/tags/tag181.xml><?xml version="1.0" encoding="utf-8"?>
<p:tagLst xmlns:a="http://schemas.openxmlformats.org/drawingml/2006/main" xmlns:r="http://schemas.openxmlformats.org/officeDocument/2006/relationships" xmlns:p="http://schemas.openxmlformats.org/presentationml/2006/main">
  <p:tag name="PPSPLIT_ID" val=" 65"/>
</p:tagLst>
</file>

<file path=ppt/tags/tag182.xml><?xml version="1.0" encoding="utf-8"?>
<p:tagLst xmlns:a="http://schemas.openxmlformats.org/drawingml/2006/main" xmlns:r="http://schemas.openxmlformats.org/officeDocument/2006/relationships" xmlns:p="http://schemas.openxmlformats.org/presentationml/2006/main">
  <p:tag name="PPSPLIT_ID" val=" 66"/>
</p:tagLst>
</file>

<file path=ppt/tags/tag183.xml><?xml version="1.0" encoding="utf-8"?>
<p:tagLst xmlns:a="http://schemas.openxmlformats.org/drawingml/2006/main" xmlns:r="http://schemas.openxmlformats.org/officeDocument/2006/relationships" xmlns:p="http://schemas.openxmlformats.org/presentationml/2006/main">
  <p:tag name="PPSPLIT_ID" val=" 67"/>
</p:tagLst>
</file>

<file path=ppt/tags/tag18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4"/>
</p:tagLst>
</file>

<file path=ppt/tags/tag18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5"/>
</p:tagLst>
</file>

<file path=ppt/tags/tag18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6"/>
</p:tagLst>
</file>

<file path=ppt/tags/tag18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7"/>
</p:tagLst>
</file>

<file path=ppt/tags/tag18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8"/>
</p:tagLst>
</file>

<file path=ppt/tags/tag18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29"/>
</p:tagLst>
</file>

<file path=ppt/tags/tag19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0"/>
</p:tagLst>
</file>

<file path=ppt/tags/tag19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 name="PPSPLIT_DONE" val="1"/>
</p:tagLst>
</file>

<file path=ppt/tags/tag19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1"/>
</p:tagLst>
</file>

<file path=ppt/tags/tag193.xml><?xml version="1.0" encoding="utf-8"?>
<p:tagLst xmlns:a="http://schemas.openxmlformats.org/drawingml/2006/main" xmlns:r="http://schemas.openxmlformats.org/officeDocument/2006/relationships" xmlns:p="http://schemas.openxmlformats.org/presentationml/2006/main">
  <p:tag name="PPSPLIT_ID" val=" 2"/>
</p:tagLst>
</file>

<file path=ppt/tags/tag19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2"/>
</p:tagLst>
</file>

<file path=ppt/tags/tag19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3"/>
</p:tagLst>
</file>

<file path=ppt/tags/tag19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4"/>
</p:tagLst>
</file>

<file path=ppt/tags/tag19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5"/>
</p:tagLst>
</file>

<file path=ppt/tags/tag19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6"/>
</p:tagLst>
</file>

<file path=ppt/tags/tag19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7"/>
</p:tagLst>
</file>

<file path=ppt/tags/tag20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8"/>
</p:tagLst>
</file>

<file path=ppt/tags/tag20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39"/>
</p:tagLst>
</file>

<file path=ppt/tags/tag20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0"/>
</p:tagLst>
</file>

<file path=ppt/tags/tag20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1"/>
</p:tagLst>
</file>

<file path=ppt/tags/tag20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2"/>
</p:tagLst>
</file>

<file path=ppt/tags/tag20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3"/>
</p:tagLst>
</file>

<file path=ppt/tags/tag20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4"/>
</p:tagLst>
</file>

<file path=ppt/tags/tag20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5"/>
</p:tagLst>
</file>

<file path=ppt/tags/tag20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6"/>
</p:tagLst>
</file>

<file path=ppt/tags/tag20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7"/>
</p:tagLst>
</file>

<file path=ppt/tags/tag21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8"/>
</p:tagLst>
</file>

<file path=ppt/tags/tag21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49"/>
</p:tagLst>
</file>

<file path=ppt/tags/tag21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0"/>
</p:tagLst>
</file>

<file path=ppt/tags/tag2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1"/>
</p:tagLst>
</file>

<file path=ppt/tags/tag21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2"/>
</p:tagLst>
</file>

<file path=ppt/tags/tag21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3"/>
  <p:tag name="PPSPLIT_DONE" val="1"/>
</p:tagLst>
</file>

<file path=ppt/tags/tag216.xml><?xml version="1.0" encoding="utf-8"?>
<p:tagLst xmlns:a="http://schemas.openxmlformats.org/drawingml/2006/main" xmlns:r="http://schemas.openxmlformats.org/officeDocument/2006/relationships" xmlns:p="http://schemas.openxmlformats.org/presentationml/2006/main">
  <p:tag name="PPSPLIT_ID" val=" 41"/>
</p:tagLst>
</file>

<file path=ppt/tags/tag217.xml><?xml version="1.0" encoding="utf-8"?>
<p:tagLst xmlns:a="http://schemas.openxmlformats.org/drawingml/2006/main" xmlns:r="http://schemas.openxmlformats.org/officeDocument/2006/relationships" xmlns:p="http://schemas.openxmlformats.org/presentationml/2006/main">
  <p:tag name="PPSPLIT_ID" val=" 54"/>
</p:tagLst>
</file>

<file path=ppt/tags/tag218.xml><?xml version="1.0" encoding="utf-8"?>
<p:tagLst xmlns:a="http://schemas.openxmlformats.org/drawingml/2006/main" xmlns:r="http://schemas.openxmlformats.org/officeDocument/2006/relationships" xmlns:p="http://schemas.openxmlformats.org/presentationml/2006/main">
  <p:tag name="PPSPLIT_ID" val=" 55"/>
</p:tagLst>
</file>

<file path=ppt/tags/tag219.xml><?xml version="1.0" encoding="utf-8"?>
<p:tagLst xmlns:a="http://schemas.openxmlformats.org/drawingml/2006/main" xmlns:r="http://schemas.openxmlformats.org/officeDocument/2006/relationships" xmlns:p="http://schemas.openxmlformats.org/presentationml/2006/main">
  <p:tag name="PPSPLIT_ID" val=" 4"/>
</p:tagLst>
</file>

<file path=ppt/tags/tag22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3"/>
  <p:tag name="PPSPLIT_DONE" val="1"/>
</p:tagLst>
</file>

<file path=ppt/tags/tag221.xml><?xml version="1.0" encoding="utf-8"?>
<p:tagLst xmlns:a="http://schemas.openxmlformats.org/drawingml/2006/main" xmlns:r="http://schemas.openxmlformats.org/officeDocument/2006/relationships" xmlns:p="http://schemas.openxmlformats.org/presentationml/2006/main">
  <p:tag name="PPSPLIT_ID" val=" 41"/>
</p:tagLst>
</file>

<file path=ppt/tags/tag222.xml><?xml version="1.0" encoding="utf-8"?>
<p:tagLst xmlns:a="http://schemas.openxmlformats.org/drawingml/2006/main" xmlns:r="http://schemas.openxmlformats.org/officeDocument/2006/relationships" xmlns:p="http://schemas.openxmlformats.org/presentationml/2006/main">
  <p:tag name="PPSPLIT_ID" val=" 5"/>
</p:tagLst>
</file>

<file path=ppt/tags/tag223.xml><?xml version="1.0" encoding="utf-8"?>
<p:tagLst xmlns:a="http://schemas.openxmlformats.org/drawingml/2006/main" xmlns:r="http://schemas.openxmlformats.org/officeDocument/2006/relationships" xmlns:p="http://schemas.openxmlformats.org/presentationml/2006/main">
  <p:tag name="PPSPLIT_ID" val=" 54"/>
</p:tagLst>
</file>

<file path=ppt/tags/tag224.xml><?xml version="1.0" encoding="utf-8"?>
<p:tagLst xmlns:a="http://schemas.openxmlformats.org/drawingml/2006/main" xmlns:r="http://schemas.openxmlformats.org/officeDocument/2006/relationships" xmlns:p="http://schemas.openxmlformats.org/presentationml/2006/main">
  <p:tag name="PPSPLIT_ID" val=" 55"/>
</p:tagLst>
</file>

<file path=ppt/tags/tag225.xml><?xml version="1.0" encoding="utf-8"?>
<p:tagLst xmlns:a="http://schemas.openxmlformats.org/drawingml/2006/main" xmlns:r="http://schemas.openxmlformats.org/officeDocument/2006/relationships" xmlns:p="http://schemas.openxmlformats.org/presentationml/2006/main">
  <p:tag name="PPSPLIT_ID" val=" 4"/>
</p:tagLst>
</file>

<file path=ppt/tags/tag2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3"/>
  <p:tag name="PPSPLIT_DONE" val="1"/>
</p:tagLst>
</file>

<file path=ppt/tags/tag227.xml><?xml version="1.0" encoding="utf-8"?>
<p:tagLst xmlns:a="http://schemas.openxmlformats.org/drawingml/2006/main" xmlns:r="http://schemas.openxmlformats.org/officeDocument/2006/relationships" xmlns:p="http://schemas.openxmlformats.org/presentationml/2006/main">
  <p:tag name="PPSPLIT_ID" val=" 51"/>
</p:tagLst>
</file>

<file path=ppt/tags/tag228.xml><?xml version="1.0" encoding="utf-8"?>
<p:tagLst xmlns:a="http://schemas.openxmlformats.org/drawingml/2006/main" xmlns:r="http://schemas.openxmlformats.org/officeDocument/2006/relationships" xmlns:p="http://schemas.openxmlformats.org/presentationml/2006/main">
  <p:tag name="PPSPLIT_ID" val=" 41"/>
</p:tagLst>
</file>

<file path=ppt/tags/tag229.xml><?xml version="1.0" encoding="utf-8"?>
<p:tagLst xmlns:a="http://schemas.openxmlformats.org/drawingml/2006/main" xmlns:r="http://schemas.openxmlformats.org/officeDocument/2006/relationships" xmlns:p="http://schemas.openxmlformats.org/presentationml/2006/main">
  <p:tag name="PPSPLIT_ID" val=" 5"/>
</p:tagLst>
</file>

<file path=ppt/tags/tag230.xml><?xml version="1.0" encoding="utf-8"?>
<p:tagLst xmlns:a="http://schemas.openxmlformats.org/drawingml/2006/main" xmlns:r="http://schemas.openxmlformats.org/officeDocument/2006/relationships" xmlns:p="http://schemas.openxmlformats.org/presentationml/2006/main">
  <p:tag name="PPSPLIT_ID" val=" 13"/>
</p:tagLst>
</file>

<file path=ppt/tags/tag231.xml><?xml version="1.0" encoding="utf-8"?>
<p:tagLst xmlns:a="http://schemas.openxmlformats.org/drawingml/2006/main" xmlns:r="http://schemas.openxmlformats.org/officeDocument/2006/relationships" xmlns:p="http://schemas.openxmlformats.org/presentationml/2006/main">
  <p:tag name="PPSPLIT_ID" val=" 54"/>
</p:tagLst>
</file>

<file path=ppt/tags/tag232.xml><?xml version="1.0" encoding="utf-8"?>
<p:tagLst xmlns:a="http://schemas.openxmlformats.org/drawingml/2006/main" xmlns:r="http://schemas.openxmlformats.org/officeDocument/2006/relationships" xmlns:p="http://schemas.openxmlformats.org/presentationml/2006/main">
  <p:tag name="PPSPLIT_ID" val=" 55"/>
</p:tagLst>
</file>

<file path=ppt/tags/tag233.xml><?xml version="1.0" encoding="utf-8"?>
<p:tagLst xmlns:a="http://schemas.openxmlformats.org/drawingml/2006/main" xmlns:r="http://schemas.openxmlformats.org/officeDocument/2006/relationships" xmlns:p="http://schemas.openxmlformats.org/presentationml/2006/main">
  <p:tag name="PPSPLIT_ID" val=" 3"/>
</p:tagLst>
</file>

<file path=ppt/tags/tag234.xml><?xml version="1.0" encoding="utf-8"?>
<p:tagLst xmlns:a="http://schemas.openxmlformats.org/drawingml/2006/main" xmlns:r="http://schemas.openxmlformats.org/officeDocument/2006/relationships" xmlns:p="http://schemas.openxmlformats.org/presentationml/2006/main">
  <p:tag name="PPSPLIT_ID" val=" 4"/>
</p:tagLst>
</file>

<file path=ppt/tags/tag23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3"/>
</p:tagLst>
</file>

<file path=ppt/tags/tag236.xml><?xml version="1.0" encoding="utf-8"?>
<p:tagLst xmlns:a="http://schemas.openxmlformats.org/drawingml/2006/main" xmlns:r="http://schemas.openxmlformats.org/officeDocument/2006/relationships" xmlns:p="http://schemas.openxmlformats.org/presentationml/2006/main">
  <p:tag name="PPSPLIT_ID" val=" 52"/>
</p:tagLst>
</file>

<file path=ppt/tags/tag237.xml><?xml version="1.0" encoding="utf-8"?>
<p:tagLst xmlns:a="http://schemas.openxmlformats.org/drawingml/2006/main" xmlns:r="http://schemas.openxmlformats.org/officeDocument/2006/relationships" xmlns:p="http://schemas.openxmlformats.org/presentationml/2006/main">
  <p:tag name="PPSPLIT_ID" val=" 51"/>
</p:tagLst>
</file>

<file path=ppt/tags/tag238.xml><?xml version="1.0" encoding="utf-8"?>
<p:tagLst xmlns:a="http://schemas.openxmlformats.org/drawingml/2006/main" xmlns:r="http://schemas.openxmlformats.org/officeDocument/2006/relationships" xmlns:p="http://schemas.openxmlformats.org/presentationml/2006/main">
  <p:tag name="PPSPLIT_ID" val=" 41"/>
</p:tagLst>
</file>

<file path=ppt/tags/tag239.xml><?xml version="1.0" encoding="utf-8"?>
<p:tagLst xmlns:a="http://schemas.openxmlformats.org/drawingml/2006/main" xmlns:r="http://schemas.openxmlformats.org/officeDocument/2006/relationships" xmlns:p="http://schemas.openxmlformats.org/presentationml/2006/main">
  <p:tag name="PPSPLIT_ID" val=" 5"/>
</p:tagLst>
</file>

<file path=ppt/tags/tag240.xml><?xml version="1.0" encoding="utf-8"?>
<p:tagLst xmlns:a="http://schemas.openxmlformats.org/drawingml/2006/main" xmlns:r="http://schemas.openxmlformats.org/officeDocument/2006/relationships" xmlns:p="http://schemas.openxmlformats.org/presentationml/2006/main">
  <p:tag name="PPSPLIT_ID" val=" 50"/>
</p:tagLst>
</file>

<file path=ppt/tags/tag241.xml><?xml version="1.0" encoding="utf-8"?>
<p:tagLst xmlns:a="http://schemas.openxmlformats.org/drawingml/2006/main" xmlns:r="http://schemas.openxmlformats.org/officeDocument/2006/relationships" xmlns:p="http://schemas.openxmlformats.org/presentationml/2006/main">
  <p:tag name="PPSPLIT_ID" val=" 13"/>
</p:tagLst>
</file>

<file path=ppt/tags/tag242.xml><?xml version="1.0" encoding="utf-8"?>
<p:tagLst xmlns:a="http://schemas.openxmlformats.org/drawingml/2006/main" xmlns:r="http://schemas.openxmlformats.org/officeDocument/2006/relationships" xmlns:p="http://schemas.openxmlformats.org/presentationml/2006/main">
  <p:tag name="PPSPLIT_ID" val=" 53"/>
</p:tagLst>
</file>

<file path=ppt/tags/tag243.xml><?xml version="1.0" encoding="utf-8"?>
<p:tagLst xmlns:a="http://schemas.openxmlformats.org/drawingml/2006/main" xmlns:r="http://schemas.openxmlformats.org/officeDocument/2006/relationships" xmlns:p="http://schemas.openxmlformats.org/presentationml/2006/main">
  <p:tag name="PPSPLIT_ID" val=" 54"/>
</p:tagLst>
</file>

<file path=ppt/tags/tag244.xml><?xml version="1.0" encoding="utf-8"?>
<p:tagLst xmlns:a="http://schemas.openxmlformats.org/drawingml/2006/main" xmlns:r="http://schemas.openxmlformats.org/officeDocument/2006/relationships" xmlns:p="http://schemas.openxmlformats.org/presentationml/2006/main">
  <p:tag name="PPSPLIT_ID" val=" 55"/>
</p:tagLst>
</file>

<file path=ppt/tags/tag245.xml><?xml version="1.0" encoding="utf-8"?>
<p:tagLst xmlns:a="http://schemas.openxmlformats.org/drawingml/2006/main" xmlns:r="http://schemas.openxmlformats.org/officeDocument/2006/relationships" xmlns:p="http://schemas.openxmlformats.org/presentationml/2006/main">
  <p:tag name="PPSPLIT_ID" val=" 3"/>
</p:tagLst>
</file>

<file path=ppt/tags/tag246.xml><?xml version="1.0" encoding="utf-8"?>
<p:tagLst xmlns:a="http://schemas.openxmlformats.org/drawingml/2006/main" xmlns:r="http://schemas.openxmlformats.org/officeDocument/2006/relationships" xmlns:p="http://schemas.openxmlformats.org/presentationml/2006/main">
  <p:tag name="PPSPLIT_ID" val=" 4"/>
</p:tagLst>
</file>

<file path=ppt/tags/tag24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 name="PPSPLIT_DONE" val="1"/>
</p:tagLst>
</file>

<file path=ppt/tags/tag248.xml><?xml version="1.0" encoding="utf-8"?>
<p:tagLst xmlns:a="http://schemas.openxmlformats.org/drawingml/2006/main" xmlns:r="http://schemas.openxmlformats.org/officeDocument/2006/relationships" xmlns:p="http://schemas.openxmlformats.org/presentationml/2006/main">
  <p:tag name="PPSPLIT_ID" val=" 14"/>
</p:tagLst>
</file>

<file path=ppt/tags/tag249.xml><?xml version="1.0" encoding="utf-8"?>
<p:tagLst xmlns:a="http://schemas.openxmlformats.org/drawingml/2006/main" xmlns:r="http://schemas.openxmlformats.org/officeDocument/2006/relationships" xmlns:p="http://schemas.openxmlformats.org/presentationml/2006/main">
  <p:tag name="PPSPLIT_ID" val=" 54"/>
</p:tagLst>
</file>

<file path=ppt/tags/tag250.xml><?xml version="1.0" encoding="utf-8"?>
<p:tagLst xmlns:a="http://schemas.openxmlformats.org/drawingml/2006/main" xmlns:r="http://schemas.openxmlformats.org/officeDocument/2006/relationships" xmlns:p="http://schemas.openxmlformats.org/presentationml/2006/main">
  <p:tag name="PPSPLIT_ID" val=" 55"/>
</p:tagLst>
</file>

<file path=ppt/tags/tag251.xml><?xml version="1.0" encoding="utf-8"?>
<p:tagLst xmlns:a="http://schemas.openxmlformats.org/drawingml/2006/main" xmlns:r="http://schemas.openxmlformats.org/officeDocument/2006/relationships" xmlns:p="http://schemas.openxmlformats.org/presentationml/2006/main">
  <p:tag name="PPSPLIT_ID" val=" 15"/>
</p:tagLst>
</file>

<file path=ppt/tags/tag252.xml><?xml version="1.0" encoding="utf-8"?>
<p:tagLst xmlns:a="http://schemas.openxmlformats.org/drawingml/2006/main" xmlns:r="http://schemas.openxmlformats.org/officeDocument/2006/relationships" xmlns:p="http://schemas.openxmlformats.org/presentationml/2006/main">
  <p:tag name="PPSPLIT_ID" val=" 2"/>
</p:tagLst>
</file>

<file path=ppt/tags/tag253.xml><?xml version="1.0" encoding="utf-8"?>
<p:tagLst xmlns:a="http://schemas.openxmlformats.org/drawingml/2006/main" xmlns:r="http://schemas.openxmlformats.org/officeDocument/2006/relationships" xmlns:p="http://schemas.openxmlformats.org/presentationml/2006/main">
  <p:tag name="PPSPLIT_ID" val=" 3"/>
</p:tagLst>
</file>

<file path=ppt/tags/tag25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 name="PPSPLIT_DONE" val="1"/>
</p:tagLst>
</file>

<file path=ppt/tags/tag255.xml><?xml version="1.0" encoding="utf-8"?>
<p:tagLst xmlns:a="http://schemas.openxmlformats.org/drawingml/2006/main" xmlns:r="http://schemas.openxmlformats.org/officeDocument/2006/relationships" xmlns:p="http://schemas.openxmlformats.org/presentationml/2006/main">
  <p:tag name="PPSPLIT_ID" val=" 14"/>
</p:tagLst>
</file>

<file path=ppt/tags/tag256.xml><?xml version="1.0" encoding="utf-8"?>
<p:tagLst xmlns:a="http://schemas.openxmlformats.org/drawingml/2006/main" xmlns:r="http://schemas.openxmlformats.org/officeDocument/2006/relationships" xmlns:p="http://schemas.openxmlformats.org/presentationml/2006/main">
  <p:tag name="PPSPLIT_ID" val=" 54"/>
</p:tagLst>
</file>

<file path=ppt/tags/tag257.xml><?xml version="1.0" encoding="utf-8"?>
<p:tagLst xmlns:a="http://schemas.openxmlformats.org/drawingml/2006/main" xmlns:r="http://schemas.openxmlformats.org/officeDocument/2006/relationships" xmlns:p="http://schemas.openxmlformats.org/presentationml/2006/main">
  <p:tag name="PPSPLIT_ID" val=" 55"/>
</p:tagLst>
</file>

<file path=ppt/tags/tag258.xml><?xml version="1.0" encoding="utf-8"?>
<p:tagLst xmlns:a="http://schemas.openxmlformats.org/drawingml/2006/main" xmlns:r="http://schemas.openxmlformats.org/officeDocument/2006/relationships" xmlns:p="http://schemas.openxmlformats.org/presentationml/2006/main">
  <p:tag name="PPSPLIT_ID" val=" 15"/>
</p:tagLst>
</file>

<file path=ppt/tags/tag259.xml><?xml version="1.0" encoding="utf-8"?>
<p:tagLst xmlns:a="http://schemas.openxmlformats.org/drawingml/2006/main" xmlns:r="http://schemas.openxmlformats.org/officeDocument/2006/relationships" xmlns:p="http://schemas.openxmlformats.org/presentationml/2006/main">
  <p:tag name="PPSPLIT_ID" val=" 2"/>
</p:tagLst>
</file>

<file path=ppt/tags/tag260.xml><?xml version="1.0" encoding="utf-8"?>
<p:tagLst xmlns:a="http://schemas.openxmlformats.org/drawingml/2006/main" xmlns:r="http://schemas.openxmlformats.org/officeDocument/2006/relationships" xmlns:p="http://schemas.openxmlformats.org/presentationml/2006/main">
  <p:tag name="PPSPLIT_ID" val=" 3"/>
</p:tagLst>
</file>

<file path=ppt/tags/tag26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 name="PPSPLIT_DONE" val="1"/>
</p:tagLst>
</file>

<file path=ppt/tags/tag262.xml><?xml version="1.0" encoding="utf-8"?>
<p:tagLst xmlns:a="http://schemas.openxmlformats.org/drawingml/2006/main" xmlns:r="http://schemas.openxmlformats.org/officeDocument/2006/relationships" xmlns:p="http://schemas.openxmlformats.org/presentationml/2006/main">
  <p:tag name="PPSPLIT_ID" val=" 14"/>
</p:tagLst>
</file>

<file path=ppt/tags/tag263.xml><?xml version="1.0" encoding="utf-8"?>
<p:tagLst xmlns:a="http://schemas.openxmlformats.org/drawingml/2006/main" xmlns:r="http://schemas.openxmlformats.org/officeDocument/2006/relationships" xmlns:p="http://schemas.openxmlformats.org/presentationml/2006/main">
  <p:tag name="PPSPLIT_ID" val=" 54"/>
</p:tagLst>
</file>

<file path=ppt/tags/tag264.xml><?xml version="1.0" encoding="utf-8"?>
<p:tagLst xmlns:a="http://schemas.openxmlformats.org/drawingml/2006/main" xmlns:r="http://schemas.openxmlformats.org/officeDocument/2006/relationships" xmlns:p="http://schemas.openxmlformats.org/presentationml/2006/main">
  <p:tag name="PPSPLIT_ID" val=" 55"/>
</p:tagLst>
</file>

<file path=ppt/tags/tag265.xml><?xml version="1.0" encoding="utf-8"?>
<p:tagLst xmlns:a="http://schemas.openxmlformats.org/drawingml/2006/main" xmlns:r="http://schemas.openxmlformats.org/officeDocument/2006/relationships" xmlns:p="http://schemas.openxmlformats.org/presentationml/2006/main">
  <p:tag name="PPSPLIT_ID" val=" 16"/>
</p:tagLst>
</file>

<file path=ppt/tags/tag266.xml><?xml version="1.0" encoding="utf-8"?>
<p:tagLst xmlns:a="http://schemas.openxmlformats.org/drawingml/2006/main" xmlns:r="http://schemas.openxmlformats.org/officeDocument/2006/relationships" xmlns:p="http://schemas.openxmlformats.org/presentationml/2006/main">
  <p:tag name="PPSPLIT_ID" val=" 2"/>
</p:tagLst>
</file>

<file path=ppt/tags/tag267.xml><?xml version="1.0" encoding="utf-8"?>
<p:tagLst xmlns:a="http://schemas.openxmlformats.org/drawingml/2006/main" xmlns:r="http://schemas.openxmlformats.org/officeDocument/2006/relationships" xmlns:p="http://schemas.openxmlformats.org/presentationml/2006/main">
  <p:tag name="PPSPLIT_ID" val=" 3"/>
</p:tagLst>
</file>

<file path=ppt/tags/tag26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 name="PPSPLIT_DONE" val="1"/>
</p:tagLst>
</file>

<file path=ppt/tags/tag269.xml><?xml version="1.0" encoding="utf-8"?>
<p:tagLst xmlns:a="http://schemas.openxmlformats.org/drawingml/2006/main" xmlns:r="http://schemas.openxmlformats.org/officeDocument/2006/relationships" xmlns:p="http://schemas.openxmlformats.org/presentationml/2006/main">
  <p:tag name="PPSPLIT_ID" val=" 14"/>
</p:tagLst>
</file>

<file path=ppt/tags/tag270.xml><?xml version="1.0" encoding="utf-8"?>
<p:tagLst xmlns:a="http://schemas.openxmlformats.org/drawingml/2006/main" xmlns:r="http://schemas.openxmlformats.org/officeDocument/2006/relationships" xmlns:p="http://schemas.openxmlformats.org/presentationml/2006/main">
  <p:tag name="PPSPLIT_ID" val=" 54"/>
</p:tagLst>
</file>

<file path=ppt/tags/tag271.xml><?xml version="1.0" encoding="utf-8"?>
<p:tagLst xmlns:a="http://schemas.openxmlformats.org/drawingml/2006/main" xmlns:r="http://schemas.openxmlformats.org/officeDocument/2006/relationships" xmlns:p="http://schemas.openxmlformats.org/presentationml/2006/main">
  <p:tag name="PPSPLIT_ID" val=" 55"/>
</p:tagLst>
</file>

<file path=ppt/tags/tag272.xml><?xml version="1.0" encoding="utf-8"?>
<p:tagLst xmlns:a="http://schemas.openxmlformats.org/drawingml/2006/main" xmlns:r="http://schemas.openxmlformats.org/officeDocument/2006/relationships" xmlns:p="http://schemas.openxmlformats.org/presentationml/2006/main">
  <p:tag name="PPSPLIT_ID" val=" 56"/>
</p:tagLst>
</file>

<file path=ppt/tags/tag273.xml><?xml version="1.0" encoding="utf-8"?>
<p:tagLst xmlns:a="http://schemas.openxmlformats.org/drawingml/2006/main" xmlns:r="http://schemas.openxmlformats.org/officeDocument/2006/relationships" xmlns:p="http://schemas.openxmlformats.org/presentationml/2006/main">
  <p:tag name="PPSPLIT_ID" val=" 18"/>
</p:tagLst>
</file>

<file path=ppt/tags/tag274.xml><?xml version="1.0" encoding="utf-8"?>
<p:tagLst xmlns:a="http://schemas.openxmlformats.org/drawingml/2006/main" xmlns:r="http://schemas.openxmlformats.org/officeDocument/2006/relationships" xmlns:p="http://schemas.openxmlformats.org/presentationml/2006/main">
  <p:tag name="PPSPLIT_ID" val=" 2"/>
</p:tagLst>
</file>

<file path=ppt/tags/tag275.xml><?xml version="1.0" encoding="utf-8"?>
<p:tagLst xmlns:a="http://schemas.openxmlformats.org/drawingml/2006/main" xmlns:r="http://schemas.openxmlformats.org/officeDocument/2006/relationships" xmlns:p="http://schemas.openxmlformats.org/presentationml/2006/main">
  <p:tag name="PPSPLIT_ID" val=" 3"/>
</p:tagLst>
</file>

<file path=ppt/tags/tag27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 name="PPSPLIT_DONE" val="1"/>
</p:tagLst>
</file>

<file path=ppt/tags/tag277.xml><?xml version="1.0" encoding="utf-8"?>
<p:tagLst xmlns:a="http://schemas.openxmlformats.org/drawingml/2006/main" xmlns:r="http://schemas.openxmlformats.org/officeDocument/2006/relationships" xmlns:p="http://schemas.openxmlformats.org/presentationml/2006/main">
  <p:tag name="PPSPLIT_ID" val=" 14"/>
</p:tagLst>
</file>

<file path=ppt/tags/tag278.xml><?xml version="1.0" encoding="utf-8"?>
<p:tagLst xmlns:a="http://schemas.openxmlformats.org/drawingml/2006/main" xmlns:r="http://schemas.openxmlformats.org/officeDocument/2006/relationships" xmlns:p="http://schemas.openxmlformats.org/presentationml/2006/main">
  <p:tag name="PPSPLIT_ID" val=" 54"/>
</p:tagLst>
</file>

<file path=ppt/tags/tag279.xml><?xml version="1.0" encoding="utf-8"?>
<p:tagLst xmlns:a="http://schemas.openxmlformats.org/drawingml/2006/main" xmlns:r="http://schemas.openxmlformats.org/officeDocument/2006/relationships" xmlns:p="http://schemas.openxmlformats.org/presentationml/2006/main">
  <p:tag name="PPSPLIT_ID" val=" 55"/>
</p:tagLst>
</file>

<file path=ppt/tags/tag280.xml><?xml version="1.0" encoding="utf-8"?>
<p:tagLst xmlns:a="http://schemas.openxmlformats.org/drawingml/2006/main" xmlns:r="http://schemas.openxmlformats.org/officeDocument/2006/relationships" xmlns:p="http://schemas.openxmlformats.org/presentationml/2006/main">
  <p:tag name="PPSPLIT_ID" val=" 58"/>
</p:tagLst>
</file>

<file path=ppt/tags/tag281.xml><?xml version="1.0" encoding="utf-8"?>
<p:tagLst xmlns:a="http://schemas.openxmlformats.org/drawingml/2006/main" xmlns:r="http://schemas.openxmlformats.org/officeDocument/2006/relationships" xmlns:p="http://schemas.openxmlformats.org/presentationml/2006/main">
  <p:tag name="PPSPLIT_ID" val=" 18"/>
</p:tagLst>
</file>

<file path=ppt/tags/tag282.xml><?xml version="1.0" encoding="utf-8"?>
<p:tagLst xmlns:a="http://schemas.openxmlformats.org/drawingml/2006/main" xmlns:r="http://schemas.openxmlformats.org/officeDocument/2006/relationships" xmlns:p="http://schemas.openxmlformats.org/presentationml/2006/main">
  <p:tag name="PPSPLIT_ID" val=" 2"/>
</p:tagLst>
</file>

<file path=ppt/tags/tag283.xml><?xml version="1.0" encoding="utf-8"?>
<p:tagLst xmlns:a="http://schemas.openxmlformats.org/drawingml/2006/main" xmlns:r="http://schemas.openxmlformats.org/officeDocument/2006/relationships" xmlns:p="http://schemas.openxmlformats.org/presentationml/2006/main">
  <p:tag name="PPSPLIT_ID" val=" 3"/>
</p:tagLst>
</file>

<file path=ppt/tags/tag28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4"/>
</p:tagLst>
</file>

<file path=ppt/tags/tag285.xml><?xml version="1.0" encoding="utf-8"?>
<p:tagLst xmlns:a="http://schemas.openxmlformats.org/drawingml/2006/main" xmlns:r="http://schemas.openxmlformats.org/officeDocument/2006/relationships" xmlns:p="http://schemas.openxmlformats.org/presentationml/2006/main">
  <p:tag name="PPSPLIT_ID" val=" 14"/>
</p:tagLst>
</file>

<file path=ppt/tags/tag286.xml><?xml version="1.0" encoding="utf-8"?>
<p:tagLst xmlns:a="http://schemas.openxmlformats.org/drawingml/2006/main" xmlns:r="http://schemas.openxmlformats.org/officeDocument/2006/relationships" xmlns:p="http://schemas.openxmlformats.org/presentationml/2006/main">
  <p:tag name="PPSPLIT_ID" val=" 54"/>
</p:tagLst>
</file>

<file path=ppt/tags/tag287.xml><?xml version="1.0" encoding="utf-8"?>
<p:tagLst xmlns:a="http://schemas.openxmlformats.org/drawingml/2006/main" xmlns:r="http://schemas.openxmlformats.org/officeDocument/2006/relationships" xmlns:p="http://schemas.openxmlformats.org/presentationml/2006/main">
  <p:tag name="PPSPLIT_ID" val=" 55"/>
</p:tagLst>
</file>

<file path=ppt/tags/tag288.xml><?xml version="1.0" encoding="utf-8"?>
<p:tagLst xmlns:a="http://schemas.openxmlformats.org/drawingml/2006/main" xmlns:r="http://schemas.openxmlformats.org/officeDocument/2006/relationships" xmlns:p="http://schemas.openxmlformats.org/presentationml/2006/main">
  <p:tag name="PPSPLIT_ID" val=" 58"/>
</p:tagLst>
</file>

<file path=ppt/tags/tag289.xml><?xml version="1.0" encoding="utf-8"?>
<p:tagLst xmlns:a="http://schemas.openxmlformats.org/drawingml/2006/main" xmlns:r="http://schemas.openxmlformats.org/officeDocument/2006/relationships" xmlns:p="http://schemas.openxmlformats.org/presentationml/2006/main">
  <p:tag name="PPSPLIT_ID" val=" 18"/>
</p:tagLst>
</file>

<file path=ppt/tags/tag290.xml><?xml version="1.0" encoding="utf-8"?>
<p:tagLst xmlns:a="http://schemas.openxmlformats.org/drawingml/2006/main" xmlns:r="http://schemas.openxmlformats.org/officeDocument/2006/relationships" xmlns:p="http://schemas.openxmlformats.org/presentationml/2006/main">
  <p:tag name="PPSPLIT_ID" val=" 61"/>
</p:tagLst>
</file>

<file path=ppt/tags/tag291.xml><?xml version="1.0" encoding="utf-8"?>
<p:tagLst xmlns:a="http://schemas.openxmlformats.org/drawingml/2006/main" xmlns:r="http://schemas.openxmlformats.org/officeDocument/2006/relationships" xmlns:p="http://schemas.openxmlformats.org/presentationml/2006/main">
  <p:tag name="PPSPLIT_ID" val=" 2"/>
</p:tagLst>
</file>

<file path=ppt/tags/tag292.xml><?xml version="1.0" encoding="utf-8"?>
<p:tagLst xmlns:a="http://schemas.openxmlformats.org/drawingml/2006/main" xmlns:r="http://schemas.openxmlformats.org/officeDocument/2006/relationships" xmlns:p="http://schemas.openxmlformats.org/presentationml/2006/main">
  <p:tag name="PPSPLIT_ID" val=" 3"/>
</p:tagLst>
</file>

<file path=ppt/tags/tag29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5"/>
  <p:tag name="PPSPLIT_DONE" val="1"/>
</p:tagLst>
</file>

<file path=ppt/tags/tag294.xml><?xml version="1.0" encoding="utf-8"?>
<p:tagLst xmlns:a="http://schemas.openxmlformats.org/drawingml/2006/main" xmlns:r="http://schemas.openxmlformats.org/officeDocument/2006/relationships" xmlns:p="http://schemas.openxmlformats.org/presentationml/2006/main">
  <p:tag name="PPSPLIT_ID" val=" 2"/>
</p:tagLst>
</file>

<file path=ppt/tags/tag295.xml><?xml version="1.0" encoding="utf-8"?>
<p:tagLst xmlns:a="http://schemas.openxmlformats.org/drawingml/2006/main" xmlns:r="http://schemas.openxmlformats.org/officeDocument/2006/relationships" xmlns:p="http://schemas.openxmlformats.org/presentationml/2006/main">
  <p:tag name="PPSPLIT_ID" val=" 31"/>
</p:tagLst>
</file>

<file path=ppt/tags/tag296.xml><?xml version="1.0" encoding="utf-8"?>
<p:tagLst xmlns:a="http://schemas.openxmlformats.org/drawingml/2006/main" xmlns:r="http://schemas.openxmlformats.org/officeDocument/2006/relationships" xmlns:p="http://schemas.openxmlformats.org/presentationml/2006/main">
  <p:tag name="PPSPLIT_ID" val=" 3"/>
</p:tagLst>
</file>

<file path=ppt/tags/tag297.xml><?xml version="1.0" encoding="utf-8"?>
<p:tagLst xmlns:a="http://schemas.openxmlformats.org/drawingml/2006/main" xmlns:r="http://schemas.openxmlformats.org/officeDocument/2006/relationships" xmlns:p="http://schemas.openxmlformats.org/presentationml/2006/main">
  <p:tag name="PPSPLIT_ID" val=" 4"/>
</p:tagLst>
</file>

<file path=ppt/tags/tag29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5"/>
</p:tagLst>
</file>

<file path=ppt/tags/tag299.xml><?xml version="1.0" encoding="utf-8"?>
<p:tagLst xmlns:a="http://schemas.openxmlformats.org/drawingml/2006/main" xmlns:r="http://schemas.openxmlformats.org/officeDocument/2006/relationships" xmlns:p="http://schemas.openxmlformats.org/presentationml/2006/main">
  <p:tag name="PPSPLIT_ID" val=" 2"/>
</p:tagLst>
</file>

<file path=ppt/tags/tag300.xml><?xml version="1.0" encoding="utf-8"?>
<p:tagLst xmlns:a="http://schemas.openxmlformats.org/drawingml/2006/main" xmlns:r="http://schemas.openxmlformats.org/officeDocument/2006/relationships" xmlns:p="http://schemas.openxmlformats.org/presentationml/2006/main">
  <p:tag name="PPSPLIT_ID" val=" 30"/>
</p:tagLst>
</file>

<file path=ppt/tags/tag301.xml><?xml version="1.0" encoding="utf-8"?>
<p:tagLst xmlns:a="http://schemas.openxmlformats.org/drawingml/2006/main" xmlns:r="http://schemas.openxmlformats.org/officeDocument/2006/relationships" xmlns:p="http://schemas.openxmlformats.org/presentationml/2006/main">
  <p:tag name="PPSPLIT_ID" val=" 3"/>
</p:tagLst>
</file>

<file path=ppt/tags/tag302.xml><?xml version="1.0" encoding="utf-8"?>
<p:tagLst xmlns:a="http://schemas.openxmlformats.org/drawingml/2006/main" xmlns:r="http://schemas.openxmlformats.org/officeDocument/2006/relationships" xmlns:p="http://schemas.openxmlformats.org/presentationml/2006/main">
  <p:tag name="PPSPLIT_ID" val=" 4"/>
</p:tagLst>
</file>

<file path=ppt/tags/tag30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04.xml><?xml version="1.0" encoding="utf-8"?>
<p:tagLst xmlns:a="http://schemas.openxmlformats.org/drawingml/2006/main" xmlns:r="http://schemas.openxmlformats.org/officeDocument/2006/relationships" xmlns:p="http://schemas.openxmlformats.org/presentationml/2006/main">
  <p:tag name="PPSPLIT_ID" val=" 6"/>
</p:tagLst>
</file>

<file path=ppt/tags/tag305.xml><?xml version="1.0" encoding="utf-8"?>
<p:tagLst xmlns:a="http://schemas.openxmlformats.org/drawingml/2006/main" xmlns:r="http://schemas.openxmlformats.org/officeDocument/2006/relationships" xmlns:p="http://schemas.openxmlformats.org/presentationml/2006/main">
  <p:tag name="PPSPLIT_ID" val=" 4"/>
</p:tagLst>
</file>

<file path=ppt/tags/tag306.xml><?xml version="1.0" encoding="utf-8"?>
<p:tagLst xmlns:a="http://schemas.openxmlformats.org/drawingml/2006/main" xmlns:r="http://schemas.openxmlformats.org/officeDocument/2006/relationships" xmlns:p="http://schemas.openxmlformats.org/presentationml/2006/main">
  <p:tag name="PPSPLIT_ID" val=" 10"/>
</p:tagLst>
</file>

<file path=ppt/tags/tag307.xml><?xml version="1.0" encoding="utf-8"?>
<p:tagLst xmlns:a="http://schemas.openxmlformats.org/drawingml/2006/main" xmlns:r="http://schemas.openxmlformats.org/officeDocument/2006/relationships" xmlns:p="http://schemas.openxmlformats.org/presentationml/2006/main">
  <p:tag name="PPSPLIT_ID" val=" 2"/>
</p:tagLst>
</file>

<file path=ppt/tags/tag30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09.xml><?xml version="1.0" encoding="utf-8"?>
<p:tagLst xmlns:a="http://schemas.openxmlformats.org/drawingml/2006/main" xmlns:r="http://schemas.openxmlformats.org/officeDocument/2006/relationships" xmlns:p="http://schemas.openxmlformats.org/presentationml/2006/main">
  <p:tag name="PPSPLIT_ID" val=" 6"/>
</p:tagLst>
</file>

<file path=ppt/tags/tag310.xml><?xml version="1.0" encoding="utf-8"?>
<p:tagLst xmlns:a="http://schemas.openxmlformats.org/drawingml/2006/main" xmlns:r="http://schemas.openxmlformats.org/officeDocument/2006/relationships" xmlns:p="http://schemas.openxmlformats.org/presentationml/2006/main">
  <p:tag name="PPSPLIT_ID" val=" 4"/>
</p:tagLst>
</file>

<file path=ppt/tags/tag311.xml><?xml version="1.0" encoding="utf-8"?>
<p:tagLst xmlns:a="http://schemas.openxmlformats.org/drawingml/2006/main" xmlns:r="http://schemas.openxmlformats.org/officeDocument/2006/relationships" xmlns:p="http://schemas.openxmlformats.org/presentationml/2006/main">
  <p:tag name="PPSPLIT_ID" val=" 40"/>
</p:tagLst>
</file>

<file path=ppt/tags/tag312.xml><?xml version="1.0" encoding="utf-8"?>
<p:tagLst xmlns:a="http://schemas.openxmlformats.org/drawingml/2006/main" xmlns:r="http://schemas.openxmlformats.org/officeDocument/2006/relationships" xmlns:p="http://schemas.openxmlformats.org/presentationml/2006/main">
  <p:tag name="PPSPLIT_ID" val=" 2"/>
</p:tagLst>
</file>

<file path=ppt/tags/tag31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14.xml><?xml version="1.0" encoding="utf-8"?>
<p:tagLst xmlns:a="http://schemas.openxmlformats.org/drawingml/2006/main" xmlns:r="http://schemas.openxmlformats.org/officeDocument/2006/relationships" xmlns:p="http://schemas.openxmlformats.org/presentationml/2006/main">
  <p:tag name="PPSPLIT_ID" val=" 6"/>
</p:tagLst>
</file>

<file path=ppt/tags/tag315.xml><?xml version="1.0" encoding="utf-8"?>
<p:tagLst xmlns:a="http://schemas.openxmlformats.org/drawingml/2006/main" xmlns:r="http://schemas.openxmlformats.org/officeDocument/2006/relationships" xmlns:p="http://schemas.openxmlformats.org/presentationml/2006/main">
  <p:tag name="PPSPLIT_ID" val=" 4"/>
</p:tagLst>
</file>

<file path=ppt/tags/tag316.xml><?xml version="1.0" encoding="utf-8"?>
<p:tagLst xmlns:a="http://schemas.openxmlformats.org/drawingml/2006/main" xmlns:r="http://schemas.openxmlformats.org/officeDocument/2006/relationships" xmlns:p="http://schemas.openxmlformats.org/presentationml/2006/main">
  <p:tag name="PPSPLIT_ID" val=" 17"/>
</p:tagLst>
</file>

<file path=ppt/tags/tag317.xml><?xml version="1.0" encoding="utf-8"?>
<p:tagLst xmlns:a="http://schemas.openxmlformats.org/drawingml/2006/main" xmlns:r="http://schemas.openxmlformats.org/officeDocument/2006/relationships" xmlns:p="http://schemas.openxmlformats.org/presentationml/2006/main">
  <p:tag name="PPSPLIT_ID" val=" 40"/>
</p:tagLst>
</file>

<file path=ppt/tags/tag318.xml><?xml version="1.0" encoding="utf-8"?>
<p:tagLst xmlns:a="http://schemas.openxmlformats.org/drawingml/2006/main" xmlns:r="http://schemas.openxmlformats.org/officeDocument/2006/relationships" xmlns:p="http://schemas.openxmlformats.org/presentationml/2006/main">
  <p:tag name="PPSPLIT_ID" val=" 2"/>
</p:tagLst>
</file>

<file path=ppt/tags/tag31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20.xml><?xml version="1.0" encoding="utf-8"?>
<p:tagLst xmlns:a="http://schemas.openxmlformats.org/drawingml/2006/main" xmlns:r="http://schemas.openxmlformats.org/officeDocument/2006/relationships" xmlns:p="http://schemas.openxmlformats.org/presentationml/2006/main">
  <p:tag name="PPSPLIT_ID" val=" 6"/>
</p:tagLst>
</file>

<file path=ppt/tags/tag321.xml><?xml version="1.0" encoding="utf-8"?>
<p:tagLst xmlns:a="http://schemas.openxmlformats.org/drawingml/2006/main" xmlns:r="http://schemas.openxmlformats.org/officeDocument/2006/relationships" xmlns:p="http://schemas.openxmlformats.org/presentationml/2006/main">
  <p:tag name="PPSPLIT_ID" val=" 4"/>
</p:tagLst>
</file>

<file path=ppt/tags/tag322.xml><?xml version="1.0" encoding="utf-8"?>
<p:tagLst xmlns:a="http://schemas.openxmlformats.org/drawingml/2006/main" xmlns:r="http://schemas.openxmlformats.org/officeDocument/2006/relationships" xmlns:p="http://schemas.openxmlformats.org/presentationml/2006/main">
  <p:tag name="PPSPLIT_ID" val=" 17"/>
</p:tagLst>
</file>

<file path=ppt/tags/tag323.xml><?xml version="1.0" encoding="utf-8"?>
<p:tagLst xmlns:a="http://schemas.openxmlformats.org/drawingml/2006/main" xmlns:r="http://schemas.openxmlformats.org/officeDocument/2006/relationships" xmlns:p="http://schemas.openxmlformats.org/presentationml/2006/main">
  <p:tag name="PPSPLIT_ID" val=" 40"/>
</p:tagLst>
</file>

<file path=ppt/tags/tag324.xml><?xml version="1.0" encoding="utf-8"?>
<p:tagLst xmlns:a="http://schemas.openxmlformats.org/drawingml/2006/main" xmlns:r="http://schemas.openxmlformats.org/officeDocument/2006/relationships" xmlns:p="http://schemas.openxmlformats.org/presentationml/2006/main">
  <p:tag name="PPSPLIT_ID" val=" 22"/>
</p:tagLst>
</file>

<file path=ppt/tags/tag325.xml><?xml version="1.0" encoding="utf-8"?>
<p:tagLst xmlns:a="http://schemas.openxmlformats.org/drawingml/2006/main" xmlns:r="http://schemas.openxmlformats.org/officeDocument/2006/relationships" xmlns:p="http://schemas.openxmlformats.org/presentationml/2006/main">
  <p:tag name="PPSPLIT_ID" val=" 2"/>
</p:tagLst>
</file>

<file path=ppt/tags/tag3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27.xml><?xml version="1.0" encoding="utf-8"?>
<p:tagLst xmlns:a="http://schemas.openxmlformats.org/drawingml/2006/main" xmlns:r="http://schemas.openxmlformats.org/officeDocument/2006/relationships" xmlns:p="http://schemas.openxmlformats.org/presentationml/2006/main">
  <p:tag name="PPSPLIT_ID" val=" 6"/>
</p:tagLst>
</file>

<file path=ppt/tags/tag328.xml><?xml version="1.0" encoding="utf-8"?>
<p:tagLst xmlns:a="http://schemas.openxmlformats.org/drawingml/2006/main" xmlns:r="http://schemas.openxmlformats.org/officeDocument/2006/relationships" xmlns:p="http://schemas.openxmlformats.org/presentationml/2006/main">
  <p:tag name="PPSPLIT_ID" val=" 4"/>
</p:tagLst>
</file>

<file path=ppt/tags/tag329.xml><?xml version="1.0" encoding="utf-8"?>
<p:tagLst xmlns:a="http://schemas.openxmlformats.org/drawingml/2006/main" xmlns:r="http://schemas.openxmlformats.org/officeDocument/2006/relationships" xmlns:p="http://schemas.openxmlformats.org/presentationml/2006/main">
  <p:tag name="PPSPLIT_ID" val=" 17"/>
</p:tagLst>
</file>

<file path=ppt/tags/tag330.xml><?xml version="1.0" encoding="utf-8"?>
<p:tagLst xmlns:a="http://schemas.openxmlformats.org/drawingml/2006/main" xmlns:r="http://schemas.openxmlformats.org/officeDocument/2006/relationships" xmlns:p="http://schemas.openxmlformats.org/presentationml/2006/main">
  <p:tag name="PPSPLIT_ID" val=" 63"/>
</p:tagLst>
</file>

<file path=ppt/tags/tag331.xml><?xml version="1.0" encoding="utf-8"?>
<p:tagLst xmlns:a="http://schemas.openxmlformats.org/drawingml/2006/main" xmlns:r="http://schemas.openxmlformats.org/officeDocument/2006/relationships" xmlns:p="http://schemas.openxmlformats.org/presentationml/2006/main">
  <p:tag name="PPSPLIT_ID" val=" 40"/>
</p:tagLst>
</file>

<file path=ppt/tags/tag332.xml><?xml version="1.0" encoding="utf-8"?>
<p:tagLst xmlns:a="http://schemas.openxmlformats.org/drawingml/2006/main" xmlns:r="http://schemas.openxmlformats.org/officeDocument/2006/relationships" xmlns:p="http://schemas.openxmlformats.org/presentationml/2006/main">
  <p:tag name="PPSPLIT_ID" val=" 2"/>
</p:tagLst>
</file>

<file path=ppt/tags/tag33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34.xml><?xml version="1.0" encoding="utf-8"?>
<p:tagLst xmlns:a="http://schemas.openxmlformats.org/drawingml/2006/main" xmlns:r="http://schemas.openxmlformats.org/officeDocument/2006/relationships" xmlns:p="http://schemas.openxmlformats.org/presentationml/2006/main">
  <p:tag name="PPSPLIT_ID" val=" 6"/>
</p:tagLst>
</file>

<file path=ppt/tags/tag335.xml><?xml version="1.0" encoding="utf-8"?>
<p:tagLst xmlns:a="http://schemas.openxmlformats.org/drawingml/2006/main" xmlns:r="http://schemas.openxmlformats.org/officeDocument/2006/relationships" xmlns:p="http://schemas.openxmlformats.org/presentationml/2006/main">
  <p:tag name="PPSPLIT_ID" val=" 4"/>
</p:tagLst>
</file>

<file path=ppt/tags/tag336.xml><?xml version="1.0" encoding="utf-8"?>
<p:tagLst xmlns:a="http://schemas.openxmlformats.org/drawingml/2006/main" xmlns:r="http://schemas.openxmlformats.org/officeDocument/2006/relationships" xmlns:p="http://schemas.openxmlformats.org/presentationml/2006/main">
  <p:tag name="PPSPLIT_ID" val=" 63"/>
</p:tagLst>
</file>

<file path=ppt/tags/tag337.xml><?xml version="1.0" encoding="utf-8"?>
<p:tagLst xmlns:a="http://schemas.openxmlformats.org/drawingml/2006/main" xmlns:r="http://schemas.openxmlformats.org/officeDocument/2006/relationships" xmlns:p="http://schemas.openxmlformats.org/presentationml/2006/main">
  <p:tag name="PPSPLIT_ID" val=" 40"/>
</p:tagLst>
</file>

<file path=ppt/tags/tag338.xml><?xml version="1.0" encoding="utf-8"?>
<p:tagLst xmlns:a="http://schemas.openxmlformats.org/drawingml/2006/main" xmlns:r="http://schemas.openxmlformats.org/officeDocument/2006/relationships" xmlns:p="http://schemas.openxmlformats.org/presentationml/2006/main">
  <p:tag name="PPSPLIT_ID" val=" 65"/>
</p:tagLst>
</file>

<file path=ppt/tags/tag339.xml><?xml version="1.0" encoding="utf-8"?>
<p:tagLst xmlns:a="http://schemas.openxmlformats.org/drawingml/2006/main" xmlns:r="http://schemas.openxmlformats.org/officeDocument/2006/relationships" xmlns:p="http://schemas.openxmlformats.org/presentationml/2006/main">
  <p:tag name="PPSPLIT_ID" val=" 73"/>
</p:tagLst>
</file>

<file path=ppt/tags/tag340.xml><?xml version="1.0" encoding="utf-8"?>
<p:tagLst xmlns:a="http://schemas.openxmlformats.org/drawingml/2006/main" xmlns:r="http://schemas.openxmlformats.org/officeDocument/2006/relationships" xmlns:p="http://schemas.openxmlformats.org/presentationml/2006/main">
  <p:tag name="PPSPLIT_ID" val=" 2"/>
</p:tagLst>
</file>

<file path=ppt/tags/tag34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 name="PPSPLIT_DONE" val="1"/>
</p:tagLst>
</file>

<file path=ppt/tags/tag342.xml><?xml version="1.0" encoding="utf-8"?>
<p:tagLst xmlns:a="http://schemas.openxmlformats.org/drawingml/2006/main" xmlns:r="http://schemas.openxmlformats.org/officeDocument/2006/relationships" xmlns:p="http://schemas.openxmlformats.org/presentationml/2006/main">
  <p:tag name="PPSPLIT_ID" val=" 6"/>
</p:tagLst>
</file>

<file path=ppt/tags/tag343.xml><?xml version="1.0" encoding="utf-8"?>
<p:tagLst xmlns:a="http://schemas.openxmlformats.org/drawingml/2006/main" xmlns:r="http://schemas.openxmlformats.org/officeDocument/2006/relationships" xmlns:p="http://schemas.openxmlformats.org/presentationml/2006/main">
  <p:tag name="PPSPLIT_ID" val=" 4"/>
</p:tagLst>
</file>

<file path=ppt/tags/tag344.xml><?xml version="1.0" encoding="utf-8"?>
<p:tagLst xmlns:a="http://schemas.openxmlformats.org/drawingml/2006/main" xmlns:r="http://schemas.openxmlformats.org/officeDocument/2006/relationships" xmlns:p="http://schemas.openxmlformats.org/presentationml/2006/main">
  <p:tag name="PPSPLIT_ID" val=" 63"/>
</p:tagLst>
</file>

<file path=ppt/tags/tag345.xml><?xml version="1.0" encoding="utf-8"?>
<p:tagLst xmlns:a="http://schemas.openxmlformats.org/drawingml/2006/main" xmlns:r="http://schemas.openxmlformats.org/officeDocument/2006/relationships" xmlns:p="http://schemas.openxmlformats.org/presentationml/2006/main">
  <p:tag name="PPSPLIT_ID" val=" 32"/>
</p:tagLst>
</file>

<file path=ppt/tags/tag346.xml><?xml version="1.0" encoding="utf-8"?>
<p:tagLst xmlns:a="http://schemas.openxmlformats.org/drawingml/2006/main" xmlns:r="http://schemas.openxmlformats.org/officeDocument/2006/relationships" xmlns:p="http://schemas.openxmlformats.org/presentationml/2006/main">
  <p:tag name="PPSPLIT_ID" val=" 40"/>
</p:tagLst>
</file>

<file path=ppt/tags/tag347.xml><?xml version="1.0" encoding="utf-8"?>
<p:tagLst xmlns:a="http://schemas.openxmlformats.org/drawingml/2006/main" xmlns:r="http://schemas.openxmlformats.org/officeDocument/2006/relationships" xmlns:p="http://schemas.openxmlformats.org/presentationml/2006/main">
  <p:tag name="PPSPLIT_ID" val=" 65"/>
</p:tagLst>
</file>

<file path=ppt/tags/tag348.xml><?xml version="1.0" encoding="utf-8"?>
<p:tagLst xmlns:a="http://schemas.openxmlformats.org/drawingml/2006/main" xmlns:r="http://schemas.openxmlformats.org/officeDocument/2006/relationships" xmlns:p="http://schemas.openxmlformats.org/presentationml/2006/main">
  <p:tag name="PPSPLIT_ID" val=" 73"/>
</p:tagLst>
</file>

<file path=ppt/tags/tag349.xml><?xml version="1.0" encoding="utf-8"?>
<p:tagLst xmlns:a="http://schemas.openxmlformats.org/drawingml/2006/main" xmlns:r="http://schemas.openxmlformats.org/officeDocument/2006/relationships" xmlns:p="http://schemas.openxmlformats.org/presentationml/2006/main">
  <p:tag name="PPSPLIT_ID" val=" 2"/>
</p:tagLst>
</file>

<file path=ppt/tags/tag35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6"/>
</p:tagLst>
</file>

<file path=ppt/tags/tag351.xml><?xml version="1.0" encoding="utf-8"?>
<p:tagLst xmlns:a="http://schemas.openxmlformats.org/drawingml/2006/main" xmlns:r="http://schemas.openxmlformats.org/officeDocument/2006/relationships" xmlns:p="http://schemas.openxmlformats.org/presentationml/2006/main">
  <p:tag name="PPSPLIT_ID" val=" 6"/>
</p:tagLst>
</file>

<file path=ppt/tags/tag352.xml><?xml version="1.0" encoding="utf-8"?>
<p:tagLst xmlns:a="http://schemas.openxmlformats.org/drawingml/2006/main" xmlns:r="http://schemas.openxmlformats.org/officeDocument/2006/relationships" xmlns:p="http://schemas.openxmlformats.org/presentationml/2006/main">
  <p:tag name="PPSPLIT_ID" val=" 4"/>
</p:tagLst>
</file>

<file path=ppt/tags/tag353.xml><?xml version="1.0" encoding="utf-8"?>
<p:tagLst xmlns:a="http://schemas.openxmlformats.org/drawingml/2006/main" xmlns:r="http://schemas.openxmlformats.org/officeDocument/2006/relationships" xmlns:p="http://schemas.openxmlformats.org/presentationml/2006/main">
  <p:tag name="PPSPLIT_ID" val=" 80"/>
</p:tagLst>
</file>

<file path=ppt/tags/tag354.xml><?xml version="1.0" encoding="utf-8"?>
<p:tagLst xmlns:a="http://schemas.openxmlformats.org/drawingml/2006/main" xmlns:r="http://schemas.openxmlformats.org/officeDocument/2006/relationships" xmlns:p="http://schemas.openxmlformats.org/presentationml/2006/main">
  <p:tag name="PPSPLIT_ID" val=" 40"/>
</p:tagLst>
</file>

<file path=ppt/tags/tag355.xml><?xml version="1.0" encoding="utf-8"?>
<p:tagLst xmlns:a="http://schemas.openxmlformats.org/drawingml/2006/main" xmlns:r="http://schemas.openxmlformats.org/officeDocument/2006/relationships" xmlns:p="http://schemas.openxmlformats.org/presentationml/2006/main">
  <p:tag name="PPSPLIT_ID" val=" 42"/>
</p:tagLst>
</file>

<file path=ppt/tags/tag356.xml><?xml version="1.0" encoding="utf-8"?>
<p:tagLst xmlns:a="http://schemas.openxmlformats.org/drawingml/2006/main" xmlns:r="http://schemas.openxmlformats.org/officeDocument/2006/relationships" xmlns:p="http://schemas.openxmlformats.org/presentationml/2006/main">
  <p:tag name="PPSPLIT_ID" val=" 2"/>
</p:tagLst>
</file>

<file path=ppt/tags/tag35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7"/>
</p:tagLst>
</file>

<file path=ppt/tags/tag35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8"/>
</p:tagLst>
</file>

<file path=ppt/tags/tag35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59"/>
</p:tagLst>
</file>

<file path=ppt/tags/tag36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0"/>
</p:tagLst>
</file>

<file path=ppt/tags/tag36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1"/>
  <p:tag name="PPSPLIT_DONE" val="1"/>
</p:tagLst>
</file>

<file path=ppt/tags/tag362.xml><?xml version="1.0" encoding="utf-8"?>
<p:tagLst xmlns:a="http://schemas.openxmlformats.org/drawingml/2006/main" xmlns:r="http://schemas.openxmlformats.org/officeDocument/2006/relationships" xmlns:p="http://schemas.openxmlformats.org/presentationml/2006/main">
  <p:tag name="PPSPLIT_ID" val=" 29"/>
</p:tagLst>
</file>

<file path=ppt/tags/tag36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1"/>
  <p:tag name="PPSPLIT_DONE" val="1"/>
</p:tagLst>
</file>

<file path=ppt/tags/tag364.xml><?xml version="1.0" encoding="utf-8"?>
<p:tagLst xmlns:a="http://schemas.openxmlformats.org/drawingml/2006/main" xmlns:r="http://schemas.openxmlformats.org/officeDocument/2006/relationships" xmlns:p="http://schemas.openxmlformats.org/presentationml/2006/main">
  <p:tag name="PPSPLIT_ID" val=" 29"/>
</p:tagLst>
</file>

<file path=ppt/tags/tag365.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1"/>
  <p:tag name="PPSPLIT_DONE" val="1"/>
</p:tagLst>
</file>

<file path=ppt/tags/tag366.xml><?xml version="1.0" encoding="utf-8"?>
<p:tagLst xmlns:a="http://schemas.openxmlformats.org/drawingml/2006/main" xmlns:r="http://schemas.openxmlformats.org/officeDocument/2006/relationships" xmlns:p="http://schemas.openxmlformats.org/presentationml/2006/main">
  <p:tag name="PPSPLIT_ID" val=" 29"/>
</p:tagLst>
</file>

<file path=ppt/tags/tag36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1"/>
  <p:tag name="PPSPLIT_DONE" val="1"/>
</p:tagLst>
</file>

<file path=ppt/tags/tag368.xml><?xml version="1.0" encoding="utf-8"?>
<p:tagLst xmlns:a="http://schemas.openxmlformats.org/drawingml/2006/main" xmlns:r="http://schemas.openxmlformats.org/officeDocument/2006/relationships" xmlns:p="http://schemas.openxmlformats.org/presentationml/2006/main">
  <p:tag name="PPSPLIT_ID" val=" 29"/>
</p:tagLst>
</file>

<file path=ppt/tags/tag36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1"/>
</p:tagLst>
</file>

<file path=ppt/tags/tag370.xml><?xml version="1.0" encoding="utf-8"?>
<p:tagLst xmlns:a="http://schemas.openxmlformats.org/drawingml/2006/main" xmlns:r="http://schemas.openxmlformats.org/officeDocument/2006/relationships" xmlns:p="http://schemas.openxmlformats.org/presentationml/2006/main">
  <p:tag name="PPSPLIT_ID" val=" 29"/>
</p:tagLst>
</file>

<file path=ppt/tags/tag37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2"/>
</p:tagLst>
</file>

<file path=ppt/tags/tag37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3"/>
</p:tagLst>
</file>

<file path=ppt/tags/tag37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4"/>
  <p:tag name="PPSPLIT_DONE" val="1"/>
</p:tagLst>
</file>

<file path=ppt/tags/tag374.xml><?xml version="1.0" encoding="utf-8"?>
<p:tagLst xmlns:a="http://schemas.openxmlformats.org/drawingml/2006/main" xmlns:r="http://schemas.openxmlformats.org/officeDocument/2006/relationships" xmlns:p="http://schemas.openxmlformats.org/presentationml/2006/main">
  <p:tag name="PPSPLIT_ID" val=" 11"/>
</p:tagLst>
</file>

<file path=ppt/tags/tag375.xml><?xml version="1.0" encoding="utf-8"?>
<p:tagLst xmlns:a="http://schemas.openxmlformats.org/drawingml/2006/main" xmlns:r="http://schemas.openxmlformats.org/officeDocument/2006/relationships" xmlns:p="http://schemas.openxmlformats.org/presentationml/2006/main">
  <p:tag name="PPSPLIT_ID" val=" 3"/>
</p:tagLst>
</file>

<file path=ppt/tags/tag37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4"/>
  <p:tag name="PPSPLIT_DONE" val="1"/>
</p:tagLst>
</file>

<file path=ppt/tags/tag377.xml><?xml version="1.0" encoding="utf-8"?>
<p:tagLst xmlns:a="http://schemas.openxmlformats.org/drawingml/2006/main" xmlns:r="http://schemas.openxmlformats.org/officeDocument/2006/relationships" xmlns:p="http://schemas.openxmlformats.org/presentationml/2006/main">
  <p:tag name="PPSPLIT_ID" val=" 11"/>
</p:tagLst>
</file>

<file path=ppt/tags/tag378.xml><?xml version="1.0" encoding="utf-8"?>
<p:tagLst xmlns:a="http://schemas.openxmlformats.org/drawingml/2006/main" xmlns:r="http://schemas.openxmlformats.org/officeDocument/2006/relationships" xmlns:p="http://schemas.openxmlformats.org/presentationml/2006/main">
  <p:tag name="PPSPLIT_ID" val=" 3"/>
</p:tagLst>
</file>

<file path=ppt/tags/tag37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4"/>
  <p:tag name="PPSPLIT_DONE" val="1"/>
</p:tagLst>
</file>

<file path=ppt/tags/tag380.xml><?xml version="1.0" encoding="utf-8"?>
<p:tagLst xmlns:a="http://schemas.openxmlformats.org/drawingml/2006/main" xmlns:r="http://schemas.openxmlformats.org/officeDocument/2006/relationships" xmlns:p="http://schemas.openxmlformats.org/presentationml/2006/main">
  <p:tag name="PPSPLIT_ID" val=" 8"/>
</p:tagLst>
</file>

<file path=ppt/tags/tag381.xml><?xml version="1.0" encoding="utf-8"?>
<p:tagLst xmlns:a="http://schemas.openxmlformats.org/drawingml/2006/main" xmlns:r="http://schemas.openxmlformats.org/officeDocument/2006/relationships" xmlns:p="http://schemas.openxmlformats.org/presentationml/2006/main">
  <p:tag name="PPSPLIT_ID" val=" 10"/>
</p:tagLst>
</file>

<file path=ppt/tags/tag382.xml><?xml version="1.0" encoding="utf-8"?>
<p:tagLst xmlns:a="http://schemas.openxmlformats.org/drawingml/2006/main" xmlns:r="http://schemas.openxmlformats.org/officeDocument/2006/relationships" xmlns:p="http://schemas.openxmlformats.org/presentationml/2006/main">
  <p:tag name="PPSPLIT_ID" val=" 11"/>
</p:tagLst>
</file>

<file path=ppt/tags/tag383.xml><?xml version="1.0" encoding="utf-8"?>
<p:tagLst xmlns:a="http://schemas.openxmlformats.org/drawingml/2006/main" xmlns:r="http://schemas.openxmlformats.org/officeDocument/2006/relationships" xmlns:p="http://schemas.openxmlformats.org/presentationml/2006/main">
  <p:tag name="PPSPLIT_ID" val=" 3"/>
</p:tagLst>
</file>

<file path=ppt/tags/tag384.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4"/>
</p:tagLst>
</file>

<file path=ppt/tags/tag385.xml><?xml version="1.0" encoding="utf-8"?>
<p:tagLst xmlns:a="http://schemas.openxmlformats.org/drawingml/2006/main" xmlns:r="http://schemas.openxmlformats.org/officeDocument/2006/relationships" xmlns:p="http://schemas.openxmlformats.org/presentationml/2006/main">
  <p:tag name="PPSPLIT_ID" val=" 8"/>
</p:tagLst>
</file>

<file path=ppt/tags/tag386.xml><?xml version="1.0" encoding="utf-8"?>
<p:tagLst xmlns:a="http://schemas.openxmlformats.org/drawingml/2006/main" xmlns:r="http://schemas.openxmlformats.org/officeDocument/2006/relationships" xmlns:p="http://schemas.openxmlformats.org/presentationml/2006/main">
  <p:tag name="PPSPLIT_ID" val=" 10"/>
</p:tagLst>
</file>

<file path=ppt/tags/tag387.xml><?xml version="1.0" encoding="utf-8"?>
<p:tagLst xmlns:a="http://schemas.openxmlformats.org/drawingml/2006/main" xmlns:r="http://schemas.openxmlformats.org/officeDocument/2006/relationships" xmlns:p="http://schemas.openxmlformats.org/presentationml/2006/main">
  <p:tag name="PPSPLIT_ID" val=" 11"/>
</p:tagLst>
</file>

<file path=ppt/tags/tag388.xml><?xml version="1.0" encoding="utf-8"?>
<p:tagLst xmlns:a="http://schemas.openxmlformats.org/drawingml/2006/main" xmlns:r="http://schemas.openxmlformats.org/officeDocument/2006/relationships" xmlns:p="http://schemas.openxmlformats.org/presentationml/2006/main">
  <p:tag name="PPSPLIT_ID" val=" 9"/>
</p:tagLst>
</file>

<file path=ppt/tags/tag389.xml><?xml version="1.0" encoding="utf-8"?>
<p:tagLst xmlns:a="http://schemas.openxmlformats.org/drawingml/2006/main" xmlns:r="http://schemas.openxmlformats.org/officeDocument/2006/relationships" xmlns:p="http://schemas.openxmlformats.org/presentationml/2006/main">
  <p:tag name="PPSPLIT_ID" val=" 3"/>
</p:tagLst>
</file>

<file path=ppt/tags/tag39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5"/>
</p:tagLst>
</file>

<file path=ppt/tags/tag391.xml><?xml version="1.0" encoding="utf-8"?>
<p:tagLst xmlns:a="http://schemas.openxmlformats.org/drawingml/2006/main" xmlns:r="http://schemas.openxmlformats.org/officeDocument/2006/relationships" xmlns:p="http://schemas.openxmlformats.org/presentationml/2006/main">
  <p:tag name="PPSPLIT_ID" val=" 4"/>
</p:tagLst>
</file>

<file path=ppt/tags/tag392.xml><?xml version="1.0" encoding="utf-8"?>
<p:tagLst xmlns:a="http://schemas.openxmlformats.org/drawingml/2006/main" xmlns:r="http://schemas.openxmlformats.org/officeDocument/2006/relationships" xmlns:p="http://schemas.openxmlformats.org/presentationml/2006/main">
  <p:tag name="PPSPLIT_ID" val=" 5"/>
</p:tagLst>
</file>

<file path=ppt/tags/tag393.xml><?xml version="1.0" encoding="utf-8"?>
<p:tagLst xmlns:a="http://schemas.openxmlformats.org/drawingml/2006/main" xmlns:r="http://schemas.openxmlformats.org/officeDocument/2006/relationships" xmlns:p="http://schemas.openxmlformats.org/presentationml/2006/main">
  <p:tag name="PPSPLIT_ID" val=" 2"/>
</p:tagLst>
</file>

<file path=ppt/tags/tag394.xml><?xml version="1.0" encoding="utf-8"?>
<p:tagLst xmlns:a="http://schemas.openxmlformats.org/drawingml/2006/main" xmlns:r="http://schemas.openxmlformats.org/officeDocument/2006/relationships" xmlns:p="http://schemas.openxmlformats.org/presentationml/2006/main">
  <p:tag name="PPSPLIT_ID" val=" 7"/>
</p:tagLst>
</file>

<file path=ppt/tags/tag395.xml><?xml version="1.0" encoding="utf-8"?>
<p:tagLst xmlns:a="http://schemas.openxmlformats.org/drawingml/2006/main" xmlns:r="http://schemas.openxmlformats.org/officeDocument/2006/relationships" xmlns:p="http://schemas.openxmlformats.org/presentationml/2006/main">
  <p:tag name="PPSPLIT_ID" val=" 6"/>
</p:tagLst>
</file>

<file path=ppt/tags/tag396.xml><?xml version="1.0" encoding="utf-8"?>
<p:tagLst xmlns:a="http://schemas.openxmlformats.org/drawingml/2006/main" xmlns:r="http://schemas.openxmlformats.org/officeDocument/2006/relationships" xmlns:p="http://schemas.openxmlformats.org/presentationml/2006/main">
  <p:tag name="PPSPLIT_ID" val=" 10"/>
</p:tagLst>
</file>

<file path=ppt/tags/tag397.xml><?xml version="1.0" encoding="utf-8"?>
<p:tagLst xmlns:a="http://schemas.openxmlformats.org/drawingml/2006/main" xmlns:r="http://schemas.openxmlformats.org/officeDocument/2006/relationships" xmlns:p="http://schemas.openxmlformats.org/presentationml/2006/main">
  <p:tag name="PPSPLIT_ID" val=" 9"/>
</p:tagLst>
</file>

<file path=ppt/tags/tag398.xml><?xml version="1.0" encoding="utf-8"?>
<p:tagLst xmlns:a="http://schemas.openxmlformats.org/drawingml/2006/main" xmlns:r="http://schemas.openxmlformats.org/officeDocument/2006/relationships" xmlns:p="http://schemas.openxmlformats.org/presentationml/2006/main">
  <p:tag name="PPSPLIT_ID" val=" 12"/>
</p:tagLst>
</file>

<file path=ppt/tags/tag399.xml><?xml version="1.0" encoding="utf-8"?>
<p:tagLst xmlns:a="http://schemas.openxmlformats.org/drawingml/2006/main" xmlns:r="http://schemas.openxmlformats.org/officeDocument/2006/relationships" xmlns:p="http://schemas.openxmlformats.org/presentationml/2006/main">
  <p:tag name="PPSPLIT_ID" val=" 8"/>
</p:tagLst>
</file>

<file path=ppt/tags/tag40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6"/>
  <p:tag name="PPSPLIT_DONE" val="1"/>
</p:tagLst>
</file>

<file path=ppt/tags/tag401.xml><?xml version="1.0" encoding="utf-8"?>
<p:tagLst xmlns:a="http://schemas.openxmlformats.org/drawingml/2006/main" xmlns:r="http://schemas.openxmlformats.org/officeDocument/2006/relationships" xmlns:p="http://schemas.openxmlformats.org/presentationml/2006/main">
  <p:tag name="PPSPLIT_ID" val=" 6"/>
</p:tagLst>
</file>

<file path=ppt/tags/tag402.xml><?xml version="1.0" encoding="utf-8"?>
<p:tagLst xmlns:a="http://schemas.openxmlformats.org/drawingml/2006/main" xmlns:r="http://schemas.openxmlformats.org/officeDocument/2006/relationships" xmlns:p="http://schemas.openxmlformats.org/presentationml/2006/main">
  <p:tag name="PPSPLIT_ID" val=" 2"/>
</p:tagLst>
</file>

<file path=ppt/tags/tag403.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6"/>
</p:tagLst>
</file>

<file path=ppt/tags/tag404.xml><?xml version="1.0" encoding="utf-8"?>
<p:tagLst xmlns:a="http://schemas.openxmlformats.org/drawingml/2006/main" xmlns:r="http://schemas.openxmlformats.org/officeDocument/2006/relationships" xmlns:p="http://schemas.openxmlformats.org/presentationml/2006/main">
  <p:tag name="PPSPLIT_ID" val=" 6"/>
</p:tagLst>
</file>

<file path=ppt/tags/tag405.xml><?xml version="1.0" encoding="utf-8"?>
<p:tagLst xmlns:a="http://schemas.openxmlformats.org/drawingml/2006/main" xmlns:r="http://schemas.openxmlformats.org/officeDocument/2006/relationships" xmlns:p="http://schemas.openxmlformats.org/presentationml/2006/main">
  <p:tag name="PPSPLIT_ID" val=" 7"/>
</p:tagLst>
</file>

<file path=ppt/tags/tag406.xml><?xml version="1.0" encoding="utf-8"?>
<p:tagLst xmlns:a="http://schemas.openxmlformats.org/drawingml/2006/main" xmlns:r="http://schemas.openxmlformats.org/officeDocument/2006/relationships" xmlns:p="http://schemas.openxmlformats.org/presentationml/2006/main">
  <p:tag name="PPSPLIT_ID" val=" 2"/>
</p:tagLst>
</file>

<file path=ppt/tags/tag40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7"/>
  <p:tag name="PPSPLIT_DONE" val="1"/>
</p:tagLst>
</file>

<file path=ppt/tags/tag408.xml><?xml version="1.0" encoding="utf-8"?>
<p:tagLst xmlns:a="http://schemas.openxmlformats.org/drawingml/2006/main" xmlns:r="http://schemas.openxmlformats.org/officeDocument/2006/relationships" xmlns:p="http://schemas.openxmlformats.org/presentationml/2006/main">
  <p:tag name="PPSPLIT_ID" val=" 6"/>
</p:tagLst>
</file>

<file path=ppt/tags/tag409.xml><?xml version="1.0" encoding="utf-8"?>
<p:tagLst xmlns:a="http://schemas.openxmlformats.org/drawingml/2006/main" xmlns:r="http://schemas.openxmlformats.org/officeDocument/2006/relationships" xmlns:p="http://schemas.openxmlformats.org/presentationml/2006/main">
  <p:tag name="PPSPLIT_ID" val=" 7"/>
</p:tagLst>
</file>

<file path=ppt/tags/tag410.xml><?xml version="1.0" encoding="utf-8"?>
<p:tagLst xmlns:a="http://schemas.openxmlformats.org/drawingml/2006/main" xmlns:r="http://schemas.openxmlformats.org/officeDocument/2006/relationships" xmlns:p="http://schemas.openxmlformats.org/presentationml/2006/main">
  <p:tag name="PPSPLIT_ID" val=" 4"/>
</p:tagLst>
</file>

<file path=ppt/tags/tag41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7"/>
  <p:tag name="PPSPLIT_DONE" val="1"/>
</p:tagLst>
</file>

<file path=ppt/tags/tag412.xml><?xml version="1.0" encoding="utf-8"?>
<p:tagLst xmlns:a="http://schemas.openxmlformats.org/drawingml/2006/main" xmlns:r="http://schemas.openxmlformats.org/officeDocument/2006/relationships" xmlns:p="http://schemas.openxmlformats.org/presentationml/2006/main">
  <p:tag name="PPSPLIT_ID" val=" 6"/>
</p:tagLst>
</file>

<file path=ppt/tags/tag413.xml><?xml version="1.0" encoding="utf-8"?>
<p:tagLst xmlns:a="http://schemas.openxmlformats.org/drawingml/2006/main" xmlns:r="http://schemas.openxmlformats.org/officeDocument/2006/relationships" xmlns:p="http://schemas.openxmlformats.org/presentationml/2006/main">
  <p:tag name="PPSPLIT_ID" val=" 7"/>
</p:tagLst>
</file>

<file path=ppt/tags/tag414.xml><?xml version="1.0" encoding="utf-8"?>
<p:tagLst xmlns:a="http://schemas.openxmlformats.org/drawingml/2006/main" xmlns:r="http://schemas.openxmlformats.org/officeDocument/2006/relationships" xmlns:p="http://schemas.openxmlformats.org/presentationml/2006/main">
  <p:tag name="PPSPLIT_ID" val=" 4"/>
</p:tagLst>
</file>

<file path=ppt/tags/tag415.xml><?xml version="1.0" encoding="utf-8"?>
<p:tagLst xmlns:a="http://schemas.openxmlformats.org/drawingml/2006/main" xmlns:r="http://schemas.openxmlformats.org/officeDocument/2006/relationships" xmlns:p="http://schemas.openxmlformats.org/presentationml/2006/main">
  <p:tag name="PPSPLIT_ID" val=" 2"/>
</p:tagLst>
</file>

<file path=ppt/tags/tag41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7"/>
</p:tagLst>
</file>

<file path=ppt/tags/tag417.xml><?xml version="1.0" encoding="utf-8"?>
<p:tagLst xmlns:a="http://schemas.openxmlformats.org/drawingml/2006/main" xmlns:r="http://schemas.openxmlformats.org/officeDocument/2006/relationships" xmlns:p="http://schemas.openxmlformats.org/presentationml/2006/main">
  <p:tag name="PPSPLIT_ID" val=" 6"/>
</p:tagLst>
</file>

<file path=ppt/tags/tag418.xml><?xml version="1.0" encoding="utf-8"?>
<p:tagLst xmlns:a="http://schemas.openxmlformats.org/drawingml/2006/main" xmlns:r="http://schemas.openxmlformats.org/officeDocument/2006/relationships" xmlns:p="http://schemas.openxmlformats.org/presentationml/2006/main">
  <p:tag name="PPSPLIT_ID" val=" 7"/>
</p:tagLst>
</file>

<file path=ppt/tags/tag419.xml><?xml version="1.0" encoding="utf-8"?>
<p:tagLst xmlns:a="http://schemas.openxmlformats.org/drawingml/2006/main" xmlns:r="http://schemas.openxmlformats.org/officeDocument/2006/relationships" xmlns:p="http://schemas.openxmlformats.org/presentationml/2006/main">
  <p:tag name="PPSPLIT_ID" val=" 4"/>
</p:tagLst>
</file>

<file path=ppt/tags/tag420.xml><?xml version="1.0" encoding="utf-8"?>
<p:tagLst xmlns:a="http://schemas.openxmlformats.org/drawingml/2006/main" xmlns:r="http://schemas.openxmlformats.org/officeDocument/2006/relationships" xmlns:p="http://schemas.openxmlformats.org/presentationml/2006/main">
  <p:tag name="PPSPLIT_ID" val=" 2"/>
</p:tagLst>
</file>

<file path=ppt/tags/tag421.xml><?xml version="1.0" encoding="utf-8"?>
<p:tagLst xmlns:a="http://schemas.openxmlformats.org/drawingml/2006/main" xmlns:r="http://schemas.openxmlformats.org/officeDocument/2006/relationships" xmlns:p="http://schemas.openxmlformats.org/presentationml/2006/main">
  <p:tag name="PPSPLIT_ID" val=" 3"/>
</p:tagLst>
</file>

<file path=ppt/tags/tag42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8"/>
  <p:tag name="PPSPLIT_DONE" val="1"/>
</p:tagLst>
</file>

<file path=ppt/tags/tag423.xml><?xml version="1.0" encoding="utf-8"?>
<p:tagLst xmlns:a="http://schemas.openxmlformats.org/drawingml/2006/main" xmlns:r="http://schemas.openxmlformats.org/officeDocument/2006/relationships" xmlns:p="http://schemas.openxmlformats.org/presentationml/2006/main">
  <p:tag name="PPSPLIT_ID" val=" 4"/>
</p:tagLst>
</file>

<file path=ppt/tags/tag424.xml><?xml version="1.0" encoding="utf-8"?>
<p:tagLst xmlns:a="http://schemas.openxmlformats.org/drawingml/2006/main" xmlns:r="http://schemas.openxmlformats.org/officeDocument/2006/relationships" xmlns:p="http://schemas.openxmlformats.org/presentationml/2006/main">
  <p:tag name="PPSPLIT_ID" val=" 5"/>
</p:tagLst>
</file>

<file path=ppt/tags/tag425.xml><?xml version="1.0" encoding="utf-8"?>
<p:tagLst xmlns:a="http://schemas.openxmlformats.org/drawingml/2006/main" xmlns:r="http://schemas.openxmlformats.org/officeDocument/2006/relationships" xmlns:p="http://schemas.openxmlformats.org/presentationml/2006/main">
  <p:tag name="PPSPLIT_ID" val=" 9"/>
</p:tagLst>
</file>

<file path=ppt/tags/tag426.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8"/>
  <p:tag name="PPSPLIT_DONE" val="1"/>
</p:tagLst>
</file>

<file path=ppt/tags/tag427.xml><?xml version="1.0" encoding="utf-8"?>
<p:tagLst xmlns:a="http://schemas.openxmlformats.org/drawingml/2006/main" xmlns:r="http://schemas.openxmlformats.org/officeDocument/2006/relationships" xmlns:p="http://schemas.openxmlformats.org/presentationml/2006/main">
  <p:tag name="PPSPLIT_ID" val=" 2"/>
</p:tagLst>
</file>

<file path=ppt/tags/tag428.xml><?xml version="1.0" encoding="utf-8"?>
<p:tagLst xmlns:a="http://schemas.openxmlformats.org/drawingml/2006/main" xmlns:r="http://schemas.openxmlformats.org/officeDocument/2006/relationships" xmlns:p="http://schemas.openxmlformats.org/presentationml/2006/main">
  <p:tag name="PPSPLIT_ID" val=" 4"/>
</p:tagLst>
</file>

<file path=ppt/tags/tag429.xml><?xml version="1.0" encoding="utf-8"?>
<p:tagLst xmlns:a="http://schemas.openxmlformats.org/drawingml/2006/main" xmlns:r="http://schemas.openxmlformats.org/officeDocument/2006/relationships" xmlns:p="http://schemas.openxmlformats.org/presentationml/2006/main">
  <p:tag name="PPSPLIT_ID" val=" 5"/>
</p:tagLst>
</file>

<file path=ppt/tags/tag430.xml><?xml version="1.0" encoding="utf-8"?>
<p:tagLst xmlns:a="http://schemas.openxmlformats.org/drawingml/2006/main" xmlns:r="http://schemas.openxmlformats.org/officeDocument/2006/relationships" xmlns:p="http://schemas.openxmlformats.org/presentationml/2006/main">
  <p:tag name="PPSPLIT_ID" val=" 9"/>
</p:tagLst>
</file>

<file path=ppt/tags/tag43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8"/>
  <p:tag name="PPSPLIT_DONE" val="1"/>
</p:tagLst>
</file>

<file path=ppt/tags/tag432.xml><?xml version="1.0" encoding="utf-8"?>
<p:tagLst xmlns:a="http://schemas.openxmlformats.org/drawingml/2006/main" xmlns:r="http://schemas.openxmlformats.org/officeDocument/2006/relationships" xmlns:p="http://schemas.openxmlformats.org/presentationml/2006/main">
  <p:tag name="PPSPLIT_ID" val=" 2"/>
</p:tagLst>
</file>

<file path=ppt/tags/tag433.xml><?xml version="1.0" encoding="utf-8"?>
<p:tagLst xmlns:a="http://schemas.openxmlformats.org/drawingml/2006/main" xmlns:r="http://schemas.openxmlformats.org/officeDocument/2006/relationships" xmlns:p="http://schemas.openxmlformats.org/presentationml/2006/main">
  <p:tag name="PPSPLIT_ID" val=" 4"/>
</p:tagLst>
</file>

<file path=ppt/tags/tag434.xml><?xml version="1.0" encoding="utf-8"?>
<p:tagLst xmlns:a="http://schemas.openxmlformats.org/drawingml/2006/main" xmlns:r="http://schemas.openxmlformats.org/officeDocument/2006/relationships" xmlns:p="http://schemas.openxmlformats.org/presentationml/2006/main">
  <p:tag name="PPSPLIT_ID" val=" 5"/>
</p:tagLst>
</file>

<file path=ppt/tags/tag435.xml><?xml version="1.0" encoding="utf-8"?>
<p:tagLst xmlns:a="http://schemas.openxmlformats.org/drawingml/2006/main" xmlns:r="http://schemas.openxmlformats.org/officeDocument/2006/relationships" xmlns:p="http://schemas.openxmlformats.org/presentationml/2006/main">
  <p:tag name="PPSPLIT_ID" val=" 6"/>
</p:tagLst>
</file>

<file path=ppt/tags/tag436.xml><?xml version="1.0" encoding="utf-8"?>
<p:tagLst xmlns:a="http://schemas.openxmlformats.org/drawingml/2006/main" xmlns:r="http://schemas.openxmlformats.org/officeDocument/2006/relationships" xmlns:p="http://schemas.openxmlformats.org/presentationml/2006/main">
  <p:tag name="PPSPLIT_ID" val=" 9"/>
</p:tagLst>
</file>

<file path=ppt/tags/tag437.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8"/>
  <p:tag name="PPSPLIT_DONE" val="1"/>
</p:tagLst>
</file>

<file path=ppt/tags/tag438.xml><?xml version="1.0" encoding="utf-8"?>
<p:tagLst xmlns:a="http://schemas.openxmlformats.org/drawingml/2006/main" xmlns:r="http://schemas.openxmlformats.org/officeDocument/2006/relationships" xmlns:p="http://schemas.openxmlformats.org/presentationml/2006/main">
  <p:tag name="PPSPLIT_ID" val=" 2"/>
</p:tagLst>
</file>

<file path=ppt/tags/tag439.xml><?xml version="1.0" encoding="utf-8"?>
<p:tagLst xmlns:a="http://schemas.openxmlformats.org/drawingml/2006/main" xmlns:r="http://schemas.openxmlformats.org/officeDocument/2006/relationships" xmlns:p="http://schemas.openxmlformats.org/presentationml/2006/main">
  <p:tag name="PPSPLIT_ID" val=" 4"/>
</p:tagLst>
</file>

<file path=ppt/tags/tag440.xml><?xml version="1.0" encoding="utf-8"?>
<p:tagLst xmlns:a="http://schemas.openxmlformats.org/drawingml/2006/main" xmlns:r="http://schemas.openxmlformats.org/officeDocument/2006/relationships" xmlns:p="http://schemas.openxmlformats.org/presentationml/2006/main">
  <p:tag name="PPSPLIT_ID" val=" 5"/>
</p:tagLst>
</file>

<file path=ppt/tags/tag441.xml><?xml version="1.0" encoding="utf-8"?>
<p:tagLst xmlns:a="http://schemas.openxmlformats.org/drawingml/2006/main" xmlns:r="http://schemas.openxmlformats.org/officeDocument/2006/relationships" xmlns:p="http://schemas.openxmlformats.org/presentationml/2006/main">
  <p:tag name="PPSPLIT_ID" val=" 9"/>
</p:tagLst>
</file>

<file path=ppt/tags/tag44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8"/>
</p:tagLst>
</file>

<file path=ppt/tags/tag443.xml><?xml version="1.0" encoding="utf-8"?>
<p:tagLst xmlns:a="http://schemas.openxmlformats.org/drawingml/2006/main" xmlns:r="http://schemas.openxmlformats.org/officeDocument/2006/relationships" xmlns:p="http://schemas.openxmlformats.org/presentationml/2006/main">
  <p:tag name="PPSPLIT_ID" val=" 2"/>
</p:tagLst>
</file>

<file path=ppt/tags/tag444.xml><?xml version="1.0" encoding="utf-8"?>
<p:tagLst xmlns:a="http://schemas.openxmlformats.org/drawingml/2006/main" xmlns:r="http://schemas.openxmlformats.org/officeDocument/2006/relationships" xmlns:p="http://schemas.openxmlformats.org/presentationml/2006/main">
  <p:tag name="PPSPLIT_ID" val=" 4"/>
</p:tagLst>
</file>

<file path=ppt/tags/tag445.xml><?xml version="1.0" encoding="utf-8"?>
<p:tagLst xmlns:a="http://schemas.openxmlformats.org/drawingml/2006/main" xmlns:r="http://schemas.openxmlformats.org/officeDocument/2006/relationships" xmlns:p="http://schemas.openxmlformats.org/presentationml/2006/main">
  <p:tag name="PPSPLIT_ID" val=" 5"/>
</p:tagLst>
</file>

<file path=ppt/tags/tag446.xml><?xml version="1.0" encoding="utf-8"?>
<p:tagLst xmlns:a="http://schemas.openxmlformats.org/drawingml/2006/main" xmlns:r="http://schemas.openxmlformats.org/officeDocument/2006/relationships" xmlns:p="http://schemas.openxmlformats.org/presentationml/2006/main">
  <p:tag name="PPSPLIT_ID" val=" 7"/>
</p:tagLst>
</file>

<file path=ppt/tags/tag447.xml><?xml version="1.0" encoding="utf-8"?>
<p:tagLst xmlns:a="http://schemas.openxmlformats.org/drawingml/2006/main" xmlns:r="http://schemas.openxmlformats.org/officeDocument/2006/relationships" xmlns:p="http://schemas.openxmlformats.org/presentationml/2006/main">
  <p:tag name="PPSPLIT_ID" val=" 9"/>
</p:tagLst>
</file>

<file path=ppt/tags/tag448.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69"/>
</p:tagLst>
</file>

<file path=ppt/tags/tag449.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0"/>
</p:tagLst>
</file>

<file path=ppt/tags/tag450.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1"/>
</p:tagLst>
</file>

<file path=ppt/tags/tag451.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2"/>
</p:tagLst>
</file>

<file path=ppt/tags/tag452.xml><?xml version="1.0" encoding="utf-8"?>
<p:tagLst xmlns:a="http://schemas.openxmlformats.org/drawingml/2006/main" xmlns:r="http://schemas.openxmlformats.org/officeDocument/2006/relationships" xmlns:p="http://schemas.openxmlformats.org/presentationml/2006/main">
  <p:tag name="PPSPLIT_SPLIT" val="1"/>
  <p:tag name="PPSPLIT_ORIGINALSLIDENUMBER" val="7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12438</TotalTime>
  <Words>7247</Words>
  <Application>Microsoft Macintosh PowerPoint</Application>
  <PresentationFormat>Widescreen</PresentationFormat>
  <Paragraphs>1184</Paragraphs>
  <Slides>112</Slides>
  <Notes>81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112</vt:i4>
      </vt:variant>
    </vt:vector>
  </HeadingPairs>
  <TitlesOfParts>
    <vt:vector size="129" baseType="lpstr">
      <vt:lpstr>Lucida Console</vt:lpstr>
      <vt:lpstr>Charmonman</vt:lpstr>
      <vt:lpstr>Playfair Display Medium</vt:lpstr>
      <vt:lpstr>Cambria Math</vt:lpstr>
      <vt:lpstr>Calibri</vt:lpstr>
      <vt:lpstr>Gill Sans MT</vt:lpstr>
      <vt:lpstr>Wingdings</vt:lpstr>
      <vt:lpstr>Roboto Black</vt:lpstr>
      <vt:lpstr>Courier New</vt:lpstr>
      <vt:lpstr>Lucida Sans Typewriter</vt:lpstr>
      <vt:lpstr>Avenir Next</vt:lpstr>
      <vt:lpstr>Arial</vt:lpstr>
      <vt:lpstr>Playfair Display</vt:lpstr>
      <vt:lpstr>Broadway</vt:lpstr>
      <vt:lpstr>Times New Roman</vt:lpstr>
      <vt:lpstr>Tahoma</vt:lpstr>
      <vt:lpstr>Office Theme</vt:lpstr>
      <vt:lpstr>CSE 508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can the MITM attacker read the secret message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weaknesses of certificate-based authentication  does TLS interception exploit?</vt:lpstr>
      <vt:lpstr>What weaknesses of certificate-based authentication  does TLS interception exploit?</vt:lpstr>
      <vt:lpstr>There are some existing solutions</vt:lpstr>
      <vt:lpstr>There are some existing solutions</vt:lpstr>
      <vt:lpstr>There are some existing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Stony Brook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Omar H Chowdhury</dc:creator>
  <cp:keywords/>
  <dc:description/>
  <cp:lastModifiedBy>Omar Chowdhury</cp:lastModifiedBy>
  <cp:revision>1458</cp:revision>
  <cp:lastPrinted>2023-11-20T12:35:06Z</cp:lastPrinted>
  <dcterms:created xsi:type="dcterms:W3CDTF">2023-02-24T13:39:08Z</dcterms:created>
  <dcterms:modified xsi:type="dcterms:W3CDTF">2026-02-17T17:53:12Z</dcterms:modified>
  <cp:category/>
</cp:coreProperties>
</file>