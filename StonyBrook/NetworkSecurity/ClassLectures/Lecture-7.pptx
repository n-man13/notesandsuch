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tags/tag28.xml" ContentType="application/vnd.openxmlformats-officedocument.presentationml.tags+xml"/>
  <Override PartName="/ppt/notesSlides/notesSlide10.xml" ContentType="application/vnd.openxmlformats-officedocument.presentationml.notesSlide+xml"/>
  <Override PartName="/ppt/tags/tag29.xml" ContentType="application/vnd.openxmlformats-officedocument.presentationml.tags+xml"/>
  <Override PartName="/ppt/notesSlides/notesSlide1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2.xml" ContentType="application/vnd.openxmlformats-officedocument.presentationml.notesSlide+xml"/>
  <Override PartName="/ppt/tags/tag32.xml" ContentType="application/vnd.openxmlformats-officedocument.presentationml.tags+xml"/>
  <Override PartName="/ppt/notesSlides/notesSlide13.xml" ContentType="application/vnd.openxmlformats-officedocument.presentationml.notesSlide+xml"/>
  <Override PartName="/ppt/tags/tag33.xml" ContentType="application/vnd.openxmlformats-officedocument.presentationml.tags+xml"/>
  <Override PartName="/ppt/notesSlides/notesSlide14.xml" ContentType="application/vnd.openxmlformats-officedocument.presentationml.notesSlide+xml"/>
  <Override PartName="/ppt/tags/tag34.xml" ContentType="application/vnd.openxmlformats-officedocument.presentationml.tags+xml"/>
  <Override PartName="/ppt/notesSlides/notesSlide15.xml" ContentType="application/vnd.openxmlformats-officedocument.presentationml.notesSlide+xml"/>
  <Override PartName="/ppt/tags/tag35.xml" ContentType="application/vnd.openxmlformats-officedocument.presentationml.tags+xml"/>
  <Override PartName="/ppt/notesSlides/notesSlide16.xml" ContentType="application/vnd.openxmlformats-officedocument.presentationml.notesSlide+xml"/>
  <Override PartName="/ppt/tags/tag36.xml" ContentType="application/vnd.openxmlformats-officedocument.presentationml.tags+xml"/>
  <Override PartName="/ppt/notesSlides/notesSlide17.xml" ContentType="application/vnd.openxmlformats-officedocument.presentationml.notesSlide+xml"/>
  <Override PartName="/ppt/tags/tag37.xml" ContentType="application/vnd.openxmlformats-officedocument.presentationml.tags+xml"/>
  <Override PartName="/ppt/notesSlides/notesSlide18.xml" ContentType="application/vnd.openxmlformats-officedocument.presentationml.notesSlide+xml"/>
  <Override PartName="/ppt/tags/tag38.xml" ContentType="application/vnd.openxmlformats-officedocument.presentationml.tags+xml"/>
  <Override PartName="/ppt/notesSlides/notesSlide19.xml" ContentType="application/vnd.openxmlformats-officedocument.presentationml.notesSlide+xml"/>
  <Override PartName="/ppt/tags/tag39.xml" ContentType="application/vnd.openxmlformats-officedocument.presentationml.tags+xml"/>
  <Override PartName="/ppt/notesSlides/notesSlide20.xml" ContentType="application/vnd.openxmlformats-officedocument.presentationml.notesSlide+xml"/>
  <Override PartName="/ppt/tags/tag40.xml" ContentType="application/vnd.openxmlformats-officedocument.presentationml.tags+xml"/>
  <Override PartName="/ppt/notesSlides/notesSlide21.xml" ContentType="application/vnd.openxmlformats-officedocument.presentationml.notesSlide+xml"/>
  <Override PartName="/ppt/tags/tag41.xml" ContentType="application/vnd.openxmlformats-officedocument.presentationml.tags+xml"/>
  <Override PartName="/ppt/notesSlides/notesSlide22.xml" ContentType="application/vnd.openxmlformats-officedocument.presentationml.notesSlide+xml"/>
  <Override PartName="/ppt/tags/tag42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612" r:id="rId3"/>
    <p:sldId id="613" r:id="rId4"/>
    <p:sldId id="614" r:id="rId5"/>
    <p:sldId id="615" r:id="rId6"/>
    <p:sldId id="616" r:id="rId7"/>
    <p:sldId id="566" r:id="rId8"/>
    <p:sldId id="596" r:id="rId9"/>
    <p:sldId id="597" r:id="rId10"/>
    <p:sldId id="617" r:id="rId11"/>
    <p:sldId id="618" r:id="rId12"/>
    <p:sldId id="619" r:id="rId13"/>
    <p:sldId id="599" r:id="rId14"/>
    <p:sldId id="620" r:id="rId15"/>
    <p:sldId id="621" r:id="rId16"/>
    <p:sldId id="601" r:id="rId17"/>
    <p:sldId id="602" r:id="rId18"/>
    <p:sldId id="603" r:id="rId19"/>
    <p:sldId id="604" r:id="rId20"/>
    <p:sldId id="605" r:id="rId21"/>
    <p:sldId id="606" r:id="rId22"/>
    <p:sldId id="607" r:id="rId23"/>
    <p:sldId id="608" r:id="rId24"/>
    <p:sldId id="609" r:id="rId25"/>
    <p:sldId id="610" r:id="rId26"/>
    <p:sldId id="611" r:id="rId27"/>
  </p:sldIdLst>
  <p:sldSz cx="12192000" cy="6858000"/>
  <p:notesSz cx="6858000" cy="9144000"/>
  <p:embeddedFontLst>
    <p:embeddedFont>
      <p:font typeface="Avenir Next" panose="020B0503020202020204" pitchFamily="34" charset="0"/>
      <p:regular r:id="rId29"/>
      <p:bold r:id="rId30"/>
      <p:italic r:id="rId31"/>
      <p:boldItalic r:id="rId32"/>
    </p:embeddedFont>
    <p:embeddedFont>
      <p:font typeface="Broadway" pitchFamily="82" charset="77"/>
      <p:regular r:id="rId33"/>
    </p:embeddedFont>
    <p:embeddedFont>
      <p:font typeface="Playfair Display Medium" pitchFamily="2" charset="77"/>
      <p:regular r:id="rId34"/>
      <p:italic r:id="rId35"/>
    </p:embeddedFont>
    <p:embeddedFont>
      <p:font typeface="Roboto Black" panose="02000000000000000000" pitchFamily="2" charset="0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3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89524"/>
  </p:normalViewPr>
  <p:slideViewPr>
    <p:cSldViewPr snapToGrid="0">
      <p:cViewPr varScale="1">
        <p:scale>
          <a:sx n="114" d="100"/>
          <a:sy n="114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87E18-CAC3-7644-8F5A-A356800A1012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CA0B-5070-1C41-9095-27C8E677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3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3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33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33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24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90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27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44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44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44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53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20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20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15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10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38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560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43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29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45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36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849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15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CA0B-5070-1C41-9095-27C8E67755F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4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8108-892F-9329-1A67-AEA6E5211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985D6-3B28-9B3B-A664-9F9384F66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05921-6575-035D-1774-2506554C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"/>
              </a:defRPr>
            </a:lvl1pPr>
          </a:lstStyle>
          <a:p>
            <a:fld id="{7DB3996C-7414-5949-9F08-46CB74AC3D99}" type="datetimeFigureOut">
              <a:rPr lang="en-US" smtClean="0"/>
              <a:pPr/>
              <a:t>2/17/26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CD911-3926-3CE8-C506-1B549BB1E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ECB1-18FD-D613-6D7F-D4F45EB3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"/>
              </a:defRPr>
            </a:lvl1pPr>
          </a:lstStyle>
          <a:p>
            <a:fld id="{4B71F97A-2E03-164F-B9B6-A00EA61B5B0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0F3A4D-F985-7BCB-AB0F-64E16508C9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06137" y="23813"/>
            <a:ext cx="3167695" cy="54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3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B7FD-1F1D-229A-5278-1FDF294E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8BD49-CAD6-A556-E6CD-EE8B78C29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F33F4-845E-47E0-094D-6F8845BA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BE11F-62CD-EC80-0A16-95729593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BBF8-2A72-3253-EF0F-B907EBAB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3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3353-E236-4A5B-D93D-0BBA31C5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848F1-CDE4-C5BF-9223-E4D54B7DB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A3B19-E1D0-91B0-CF2A-536EB6AD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569CD-47FB-76D0-4F59-045FDA05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B523B-6FF8-9048-813C-A16F8354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82A3-2386-0AE3-0358-2BD48738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DCA16-F758-9C96-F157-4FDAF8831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5DC6A-4DF6-82F7-4C91-F5BBDD078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39355-B26D-9895-B5F3-F4E92F4C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5DCCB-BC65-85DA-7B91-48571750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C8268-BE38-C7FD-AE4D-CB999EE3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3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3587-2580-047A-5B5B-DF3DE3EDD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CB573-C4AA-96D8-3D8A-75494C376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104B6-E708-1E63-48A4-9DB23FFA2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D8DA3-8C6C-1BBF-0D5D-FD5D99A71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BAC7D-B5DC-F22D-914F-59A264611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1A7B6-E499-E375-DD61-3BC712E80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15DE18-CC0C-2503-6E76-83CD6B0EF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8EDDB-F37B-9CE1-1914-4036E469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4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C311-1AEA-3ACC-8B98-65151015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411E0-6CC8-A5A4-02F9-3C82FBA2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73077-8B1E-46A3-3115-4AA5C97F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1B0E8-18DD-EE30-DD04-E559BC90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5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1A7AFA-6632-3747-FEAF-65E324DA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14213-25B8-1E69-5223-D70FB2208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464E3-49D6-201B-CE73-0983A824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1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1C46-7459-BECE-4230-04F83E50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063E-85E7-C7B1-A123-ADACA2DC0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39347-CCEC-4A2D-90F7-0CDA14CA6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DC2AC-4AB7-599A-D126-54B59E2D5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EE9E8-999C-4B7E-D4F0-F29F42362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2F5BB-8083-85E4-D6BD-BA43E10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4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1AEE-3914-D2FC-FE69-C566FB78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3EE28-D247-9A23-5AA8-C4DD94FF7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AD766-60BF-3145-90BD-310A7EC5C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082EC-8E41-B7DC-E461-651F9394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F1186-3332-E4B8-7429-5C76B7F2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F68B-E796-6B79-50EA-199F34A8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9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1333B-D1E5-1749-F15C-E4388B10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46B2A-ABA6-C34E-B29B-E58CD9B42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786C-DA27-AC70-8FE2-15F58B67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F1281-46CE-15BC-3A4D-01FE547E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6759F-108D-890C-7234-6E2AF5B2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10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1DA53-121B-4023-4D79-9006AB128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EE257-C794-03C5-B676-B4A98A0E2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18162-FF9C-9DD0-DCC9-EA75BDDD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996C-7414-5949-9F08-46CB74AC3D9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22F60-6200-C475-7AF0-90404C18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D026A-A2CC-FA4C-4B7D-05D7995A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F97A-2E03-164F-B9B6-A00EA61B5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0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B024A-B22D-D1E4-B626-DEC3CDB3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B9F84-1988-0C6A-30F3-962E80B41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97656-7DA7-CB59-3848-0C89A5DF4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"/>
              </a:defRPr>
            </a:lvl1pPr>
          </a:lstStyle>
          <a:p>
            <a:fld id="{7DB3996C-7414-5949-9F08-46CB74AC3D99}" type="datetimeFigureOut">
              <a:rPr lang="en-US" smtClean="0"/>
              <a:pPr/>
              <a:t>2/17/26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653C9-13A9-7CE1-6D3F-33529EB75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FECCD-9034-9BD1-A67C-684EF8F10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"/>
              </a:defRPr>
            </a:lvl1pPr>
          </a:lstStyle>
          <a:p>
            <a:fld id="{4B71F97A-2E03-164F-B9B6-A00EA61B5B0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931F85-F9D7-9F92-1A14-B7FDDC77374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906137" y="23813"/>
            <a:ext cx="3167695" cy="54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4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hyperlink" Target="http://www.123.com/" TargetMode="External"/><Relationship Id="rId4" Type="http://schemas.openxmlformats.org/officeDocument/2006/relationships/hyperlink" Target="http://www.google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hyperlink" Target="http://www.google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hyperlink" Target="http://www.google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FC92-4554-0F87-93E2-4FB966131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895" y="801298"/>
            <a:ext cx="12253785" cy="1432815"/>
          </a:xfrm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Broadway" pitchFamily="82" charset="77"/>
                <a:ea typeface="Padyakke Expanded One" pitchFamily="2" charset="77"/>
                <a:cs typeface="Padyakke Expanded One" pitchFamily="2" charset="77"/>
              </a:rPr>
              <a:t>CSE 508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23C17-A2AC-41EE-5C52-A35072A9C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2393004"/>
            <a:ext cx="12191999" cy="2230884"/>
          </a:xfrm>
        </p:spPr>
        <p:txBody>
          <a:bodyPr>
            <a:normAutofit/>
          </a:bodyPr>
          <a:lstStyle/>
          <a:p>
            <a:r>
              <a:rPr lang="en-US" sz="6000" i="1" dirty="0">
                <a:latin typeface="Avenir Next" panose="020B0503020202020204" pitchFamily="34" charset="0"/>
              </a:rPr>
              <a:t>Network Security (</a:t>
            </a:r>
            <a:r>
              <a:rPr lang="en-US" sz="6000" i="1">
                <a:latin typeface="Avenir Next" panose="020B0503020202020204" pitchFamily="34" charset="0"/>
              </a:rPr>
              <a:t>Lecture 7 </a:t>
            </a:r>
            <a:r>
              <a:rPr lang="en-US" sz="6000" i="1" dirty="0">
                <a:latin typeface="Avenir Next" panose="020B0503020202020204" pitchFamily="34" charset="0"/>
              </a:rPr>
              <a:t>– Core Protocol DNS and its Security)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15D6F-2078-4E74-5A9E-502C766545B2}"/>
              </a:ext>
            </a:extLst>
          </p:cNvPr>
          <p:cNvSpPr txBox="1"/>
          <p:nvPr/>
        </p:nvSpPr>
        <p:spPr>
          <a:xfrm>
            <a:off x="24714" y="4589849"/>
            <a:ext cx="1216728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Omar Haider Chowdhury</a:t>
            </a:r>
          </a:p>
          <a:p>
            <a:pPr algn="ctr"/>
            <a:r>
              <a:rPr lang="en-US" sz="3200" i="1" dirty="0">
                <a:latin typeface="Avenir Next" panose="020B0503020202020204" pitchFamily="34" charset="0"/>
                <a:ea typeface="Roboto Black" panose="02000000000000000000" pitchFamily="2" charset="0"/>
                <a:cs typeface="Avenir Next LT Pro Light" panose="020F0302020204030204" pitchFamily="34" charset="0"/>
              </a:rPr>
              <a:t>Empire Innovation Scholar and Associate Professor</a:t>
            </a:r>
          </a:p>
          <a:p>
            <a:pPr algn="ctr"/>
            <a:r>
              <a:rPr lang="en-US" sz="3200" i="1" dirty="0">
                <a:latin typeface="Avenir Next" panose="020B0503020202020204" pitchFamily="34" charset="0"/>
                <a:ea typeface="Roboto Black" panose="02000000000000000000" pitchFamily="2" charset="0"/>
                <a:cs typeface="Avenir Next LT Pro Light" panose="020F0302020204030204" pitchFamily="34" charset="0"/>
              </a:rPr>
              <a:t>Department of Computer Science</a:t>
            </a:r>
          </a:p>
          <a:p>
            <a:pPr algn="ctr"/>
            <a:r>
              <a:rPr lang="en-US" sz="3200" i="1" dirty="0">
                <a:latin typeface="Avenir Next" panose="020B0503020202020204" pitchFamily="34" charset="0"/>
                <a:ea typeface="Roboto Black" panose="02000000000000000000" pitchFamily="2" charset="0"/>
                <a:cs typeface="Avenir Next LT Pro Light" panose="020F0302020204030204" pitchFamily="34" charset="0"/>
              </a:rPr>
              <a:t>Stony Brook University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0358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22E2-AF9D-6FDC-EACA-6715BE16EAE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069383"/>
            <a:ext cx="10515600" cy="5579390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/>
              <a:t>This class will have the following modules:</a:t>
            </a:r>
          </a:p>
          <a:p>
            <a:pPr lvl="1"/>
            <a:r>
              <a:rPr lang="en-US" sz="3600" dirty="0"/>
              <a:t>Background: </a:t>
            </a:r>
          </a:p>
          <a:p>
            <a:pPr lvl="2"/>
            <a:r>
              <a:rPr lang="en-US" sz="3200" dirty="0"/>
              <a:t>Cryptography</a:t>
            </a:r>
          </a:p>
          <a:p>
            <a:pPr lvl="2"/>
            <a:r>
              <a:rPr lang="en-US" sz="3200" dirty="0"/>
              <a:t>Introduction to Network and Protocols</a:t>
            </a:r>
          </a:p>
          <a:p>
            <a:pPr lvl="1"/>
            <a:r>
              <a:rPr lang="en-US" sz="3600" dirty="0"/>
              <a:t>Authentication</a:t>
            </a:r>
          </a:p>
          <a:p>
            <a:pPr lvl="1"/>
            <a:r>
              <a:rPr lang="en-US" sz="3600" dirty="0"/>
              <a:t>Access Control</a:t>
            </a:r>
          </a:p>
          <a:p>
            <a:pPr lvl="1"/>
            <a:r>
              <a:rPr lang="en-US" sz="3600" dirty="0"/>
              <a:t>Attacks and Defenses against protocols </a:t>
            </a:r>
          </a:p>
          <a:p>
            <a:pPr lvl="1"/>
            <a:r>
              <a:rPr lang="en-US" sz="3600" dirty="0"/>
              <a:t>Essential tools for attack and defense</a:t>
            </a:r>
          </a:p>
          <a:p>
            <a:pPr lvl="1"/>
            <a:r>
              <a:rPr lang="en-US" sz="3600" dirty="0"/>
              <a:t>Web Security</a:t>
            </a:r>
          </a:p>
          <a:p>
            <a:pPr lvl="1"/>
            <a:r>
              <a:rPr lang="en-US" sz="3600" dirty="0"/>
              <a:t>Privacy and Anonymity </a:t>
            </a:r>
          </a:p>
          <a:p>
            <a:pPr lvl="1"/>
            <a:r>
              <a:rPr lang="en-US" sz="3600" dirty="0"/>
              <a:t>Advanced Topics (Protocol Verification)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8092" y="-5493"/>
            <a:ext cx="6098058" cy="73866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200" dirty="0">
                <a:solidFill>
                  <a:schemeClr val="bg1"/>
                </a:solidFill>
                <a:latin typeface="Playfair Display Medium" pitchFamily="2" charset="77"/>
              </a:rPr>
              <a:t>Modules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828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22E2-AF9D-6FDC-EACA-6715BE16EAE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069383"/>
            <a:ext cx="10515600" cy="5579390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/>
              <a:t>This class will have the following modules:</a:t>
            </a:r>
          </a:p>
          <a:p>
            <a:pPr lvl="1"/>
            <a:r>
              <a:rPr lang="en-US" sz="3600" dirty="0"/>
              <a:t>Background: </a:t>
            </a:r>
          </a:p>
          <a:p>
            <a:pPr lvl="2"/>
            <a:r>
              <a:rPr lang="en-US" sz="3200" dirty="0"/>
              <a:t>Cryptography</a:t>
            </a:r>
          </a:p>
          <a:p>
            <a:pPr lvl="2"/>
            <a:r>
              <a:rPr lang="en-US" sz="3200" dirty="0"/>
              <a:t>Introduction to Network and Protocols</a:t>
            </a:r>
          </a:p>
          <a:p>
            <a:pPr lvl="1"/>
            <a:r>
              <a:rPr lang="en-US" sz="3600" dirty="0"/>
              <a:t>Authentication</a:t>
            </a:r>
          </a:p>
          <a:p>
            <a:pPr lvl="1"/>
            <a:r>
              <a:rPr lang="en-US" sz="3600" dirty="0"/>
              <a:t>Access Control</a:t>
            </a:r>
          </a:p>
          <a:p>
            <a:pPr lvl="1"/>
            <a:r>
              <a:rPr lang="en-US" sz="3600" dirty="0"/>
              <a:t>Attacks and Defenses against protocols </a:t>
            </a:r>
          </a:p>
          <a:p>
            <a:pPr lvl="1"/>
            <a:r>
              <a:rPr lang="en-US" sz="3600" dirty="0"/>
              <a:t>Essential tools for attack and defense</a:t>
            </a:r>
          </a:p>
          <a:p>
            <a:pPr lvl="1"/>
            <a:r>
              <a:rPr lang="en-US" sz="3600" dirty="0"/>
              <a:t>Web Security</a:t>
            </a:r>
          </a:p>
          <a:p>
            <a:pPr lvl="1"/>
            <a:r>
              <a:rPr lang="en-US" sz="3600" dirty="0"/>
              <a:t>Privacy and Anonymity </a:t>
            </a:r>
          </a:p>
          <a:p>
            <a:pPr lvl="1"/>
            <a:r>
              <a:rPr lang="en-US" sz="3600" dirty="0"/>
              <a:t>Advanced Topics (Protocol Verification)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8092" y="-5493"/>
            <a:ext cx="6098058" cy="73866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200" dirty="0">
                <a:solidFill>
                  <a:schemeClr val="bg1"/>
                </a:solidFill>
                <a:latin typeface="Playfair Display Medium" pitchFamily="2" charset="77"/>
              </a:rPr>
              <a:t>Modules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A4AF2-6993-CCCD-C180-90193F34055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52248" y="3774687"/>
            <a:ext cx="7480239" cy="524108"/>
          </a:xfrm>
          <a:prstGeom prst="rect">
            <a:avLst/>
          </a:prstGeom>
          <a:noFill/>
          <a:ln w="762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975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13591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ndamentally about transmitting information between two devices…">
            <a:extLst>
              <a:ext uri="{FF2B5EF4-FFF2-40B4-BE49-F238E27FC236}">
                <a16:creationId xmlns:a16="http://schemas.microsoft.com/office/drawing/2014/main" id="{52BE5A97-DA18-539A-95BA-DAF97A486A4E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0" y="1048215"/>
            <a:ext cx="12192000" cy="20406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  <a:defRPr sz="4700"/>
            </a:pPr>
            <a:r>
              <a:rPr lang="en-US" sz="6600" dirty="0">
                <a:solidFill>
                  <a:schemeClr val="bg1"/>
                </a:solidFill>
                <a:latin typeface="Avenir Next" panose="020B0503020202020204" pitchFamily="34" charset="0"/>
              </a:rPr>
              <a:t>So far, we have only seen attacks.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147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ndamentally about transmitting information between two devices…">
            <a:extLst>
              <a:ext uri="{FF2B5EF4-FFF2-40B4-BE49-F238E27FC236}">
                <a16:creationId xmlns:a16="http://schemas.microsoft.com/office/drawing/2014/main" id="{52BE5A97-DA18-539A-95BA-DAF97A486A4E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0" y="1048215"/>
            <a:ext cx="12192000" cy="20406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  <a:defRPr sz="4700"/>
            </a:pPr>
            <a:r>
              <a:rPr lang="en-US" sz="6600" dirty="0">
                <a:solidFill>
                  <a:schemeClr val="bg1"/>
                </a:solidFill>
                <a:latin typeface="Avenir Next" panose="020B0503020202020204" pitchFamily="34" charset="0"/>
              </a:rPr>
              <a:t>So far, we have only seen attacks. </a:t>
            </a:r>
          </a:p>
        </p:txBody>
      </p:sp>
      <p:sp>
        <p:nvSpPr>
          <p:cNvPr id="2" name="Fundamentally about transmitting information between two devices…">
            <a:extLst>
              <a:ext uri="{FF2B5EF4-FFF2-40B4-BE49-F238E27FC236}">
                <a16:creationId xmlns:a16="http://schemas.microsoft.com/office/drawing/2014/main" id="{E99F4337-2B9E-15A0-7BAA-8FA5C5A56E27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0" y="3653749"/>
            <a:ext cx="12192000" cy="24459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  <a:defRPr sz="4700"/>
            </a:pPr>
            <a:r>
              <a:rPr lang="en-US" sz="4800" dirty="0">
                <a:solidFill>
                  <a:schemeClr val="bg1"/>
                </a:solidFill>
                <a:latin typeface="Avenir Next" panose="020B0503020202020204" pitchFamily="34" charset="0"/>
              </a:rPr>
              <a:t>Our next focus will be on defenses that increase the entropy of the DNS response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5841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10874874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Source Port Randomization (Defense -1)</a:t>
            </a:r>
          </a:p>
        </p:txBody>
      </p:sp>
      <p:sp>
        <p:nvSpPr>
          <p:cNvPr id="6" name="Fundamentally about transmitting information between two devices…">
            <a:extLst>
              <a:ext uri="{FF2B5EF4-FFF2-40B4-BE49-F238E27FC236}">
                <a16:creationId xmlns:a16="http://schemas.microsoft.com/office/drawing/2014/main" id="{52BE5A97-DA18-539A-95BA-DAF97A486A4E}"/>
              </a:ext>
            </a:extLst>
          </p:cNvPr>
          <p:cNvSpPr txBox="1">
            <a:spLocks/>
          </p:cNvSpPr>
          <p:nvPr/>
        </p:nvSpPr>
        <p:spPr>
          <a:xfrm>
            <a:off x="0" y="927652"/>
            <a:ext cx="12192000" cy="59303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Avenir Next" panose="020B0503020202020204" pitchFamily="34" charset="0"/>
              </a:rPr>
              <a:t>Use a random source port for each out-going DNS query </a:t>
            </a:r>
          </a:p>
          <a:p>
            <a:r>
              <a:rPr lang="en-US" sz="4400" b="1" dirty="0">
                <a:latin typeface="Avenir Next" panose="020B0503020202020204" pitchFamily="34" charset="0"/>
              </a:rPr>
              <a:t>Entropy</a:t>
            </a:r>
            <a:r>
              <a:rPr lang="en-US" sz="4400" dirty="0">
                <a:latin typeface="Avenir Next" panose="020B0503020202020204" pitchFamily="34" charset="0"/>
              </a:rPr>
              <a:t>: 16-bit (from TXID) + 11-bit (from source port) = 27-bit entropy </a:t>
            </a:r>
          </a:p>
          <a:p>
            <a:r>
              <a:rPr lang="en-US" sz="4400" dirty="0">
                <a:latin typeface="Avenir Next" panose="020B0503020202020204" pitchFamily="34" charset="0"/>
              </a:rPr>
              <a:t>To win, the attacker has a much bigger space of possible IDs to forge a valid response </a:t>
            </a:r>
          </a:p>
          <a:p>
            <a:r>
              <a:rPr lang="en-US" sz="44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</a:t>
            </a:r>
            <a:r>
              <a:rPr lang="en-US" sz="4400" dirty="0">
                <a:latin typeface="Avenir Next" panose="020B0503020202020204" pitchFamily="34" charset="0"/>
              </a:rPr>
              <a:t>: When the resolver is behind a NAT device, the additional entropy provided by source port randomization is low (e.g., 2 bits)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841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8211187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0x20</a:t>
            </a:r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 Randomization (Defense -2)</a:t>
            </a:r>
          </a:p>
        </p:txBody>
      </p:sp>
      <p:sp>
        <p:nvSpPr>
          <p:cNvPr id="6" name="Fundamentally about transmitting information between two devices…">
            <a:extLst>
              <a:ext uri="{FF2B5EF4-FFF2-40B4-BE49-F238E27FC236}">
                <a16:creationId xmlns:a16="http://schemas.microsoft.com/office/drawing/2014/main" id="{52BE5A97-DA18-539A-95BA-DAF97A486A4E}"/>
              </a:ext>
            </a:extLst>
          </p:cNvPr>
          <p:cNvSpPr txBox="1">
            <a:spLocks/>
          </p:cNvSpPr>
          <p:nvPr/>
        </p:nvSpPr>
        <p:spPr>
          <a:xfrm>
            <a:off x="0" y="927652"/>
            <a:ext cx="12192000" cy="5930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latin typeface="Avenir Next" panose="020B0503020202020204" pitchFamily="34" charset="0"/>
              </a:rPr>
              <a:t>Domain names are case-insensitive</a:t>
            </a:r>
          </a:p>
          <a:p>
            <a:r>
              <a:rPr lang="en-US" sz="3200" dirty="0">
                <a:latin typeface="Avenir Next" panose="020B0503020202020204" pitchFamily="34" charset="0"/>
                <a:hlinkClick r:id="rId4"/>
              </a:rPr>
              <a:t>www.google.com</a:t>
            </a:r>
            <a:r>
              <a:rPr lang="en-US" sz="3200" dirty="0">
                <a:latin typeface="Avenir Next" panose="020B0503020202020204" pitchFamily="34" charset="0"/>
              </a:rPr>
              <a:t> and </a:t>
            </a:r>
            <a:r>
              <a:rPr lang="en-US" sz="3200" dirty="0">
                <a:latin typeface="Avenir Next" panose="020B0503020202020204" pitchFamily="34" charset="0"/>
                <a:hlinkClick r:id="rId4"/>
              </a:rPr>
              <a:t>WWW.GOOGLE.COM</a:t>
            </a:r>
            <a:r>
              <a:rPr lang="en-US" sz="3200" dirty="0">
                <a:latin typeface="Avenir Next" panose="020B0503020202020204" pitchFamily="34" charset="0"/>
              </a:rPr>
              <a:t> resolves to the same IP address </a:t>
            </a:r>
          </a:p>
          <a:p>
            <a:r>
              <a:rPr lang="en-US" sz="3200" i="1" dirty="0">
                <a:latin typeface="Avenir Next" panose="020B0503020202020204" pitchFamily="34" charset="0"/>
              </a:rPr>
              <a:t>Randomly change some of the characters in the domain name to upper case letters</a:t>
            </a:r>
            <a:r>
              <a:rPr lang="en-US" sz="3200" dirty="0">
                <a:latin typeface="Avenir Next" panose="020B0503020202020204" pitchFamily="34" charset="0"/>
              </a:rPr>
              <a:t> </a:t>
            </a:r>
          </a:p>
          <a:p>
            <a:r>
              <a:rPr lang="en-US" sz="3200" dirty="0">
                <a:latin typeface="Avenir Next" panose="020B0503020202020204" pitchFamily="34" charset="0"/>
              </a:rPr>
              <a:t>The expectation is that the resolver responding will copy the domain name in the response from the query </a:t>
            </a:r>
          </a:p>
          <a:p>
            <a:r>
              <a:rPr lang="en-US" sz="32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Limitations</a:t>
            </a:r>
            <a:r>
              <a:rPr lang="en-US" sz="3200" dirty="0">
                <a:latin typeface="Avenir Next" panose="020B0503020202020204" pitchFamily="34" charset="0"/>
              </a:rPr>
              <a:t>: </a:t>
            </a:r>
          </a:p>
          <a:p>
            <a:pPr lvl="1"/>
            <a:r>
              <a:rPr lang="en-US" sz="2800" dirty="0">
                <a:latin typeface="Avenir Next" panose="020B0503020202020204" pitchFamily="34" charset="0"/>
              </a:rPr>
              <a:t>Attacker can query: </a:t>
            </a:r>
            <a:r>
              <a:rPr lang="en-US" sz="2800" dirty="0">
                <a:latin typeface="Avenir Next" panose="020B0503020202020204" pitchFamily="34" charset="0"/>
                <a:hlinkClick r:id="rId5"/>
              </a:rPr>
              <a:t>www.123.com</a:t>
            </a:r>
            <a:r>
              <a:rPr lang="en-US" sz="2800" dirty="0">
                <a:latin typeface="Avenir Next" panose="020B0503020202020204" pitchFamily="34" charset="0"/>
              </a:rPr>
              <a:t> </a:t>
            </a:r>
          </a:p>
          <a:p>
            <a:pPr lvl="1"/>
            <a:r>
              <a:rPr lang="en-US" sz="2800" dirty="0">
                <a:latin typeface="Avenir Next" panose="020B0503020202020204" pitchFamily="34" charset="0"/>
              </a:rPr>
              <a:t>Some of the resolvers always return domain name in all lower-case  </a:t>
            </a:r>
          </a:p>
          <a:p>
            <a:pPr lvl="1"/>
            <a:r>
              <a:rPr lang="en-US" sz="2800" dirty="0">
                <a:latin typeface="Avenir Next" panose="020B0503020202020204" pitchFamily="34" charset="0"/>
              </a:rPr>
              <a:t>Some of the resolvers use a case-sensitive matching </a:t>
            </a:r>
          </a:p>
          <a:p>
            <a:pPr lvl="1"/>
            <a:r>
              <a:rPr lang="en-US" sz="2800" dirty="0">
                <a:latin typeface="Avenir Next" panose="020B0503020202020204" pitchFamily="34" charset="0"/>
              </a:rPr>
              <a:t>70% resolvers support 0x20 randomization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851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8211187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WSEC DNS</a:t>
            </a:r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 (Defense -3)</a:t>
            </a:r>
          </a:p>
        </p:txBody>
      </p:sp>
      <p:sp>
        <p:nvSpPr>
          <p:cNvPr id="6" name="Fundamentally about transmitting information between two devices…">
            <a:extLst>
              <a:ext uri="{FF2B5EF4-FFF2-40B4-BE49-F238E27FC236}">
                <a16:creationId xmlns:a16="http://schemas.microsoft.com/office/drawing/2014/main" id="{52BE5A97-DA18-539A-95BA-DAF97A486A4E}"/>
              </a:ext>
            </a:extLst>
          </p:cNvPr>
          <p:cNvSpPr txBox="1">
            <a:spLocks/>
          </p:cNvSpPr>
          <p:nvPr/>
        </p:nvSpPr>
        <p:spPr>
          <a:xfrm>
            <a:off x="0" y="927652"/>
            <a:ext cx="12192000" cy="5930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Avenir Next" panose="020B0503020202020204" pitchFamily="34" charset="0"/>
              </a:rPr>
              <a:t>While querying root or TLD DNS servers, </a:t>
            </a:r>
            <a:r>
              <a:rPr lang="en-US" sz="3600" dirty="0" err="1">
                <a:latin typeface="Avenir Next" panose="020B0503020202020204" pitchFamily="34" charset="0"/>
              </a:rPr>
              <a:t>preprend</a:t>
            </a:r>
            <a:r>
              <a:rPr lang="en-US" sz="3600" dirty="0">
                <a:latin typeface="Avenir Next" panose="020B0503020202020204" pitchFamily="34" charset="0"/>
              </a:rPr>
              <a:t> random prefix </a:t>
            </a:r>
          </a:p>
          <a:p>
            <a:r>
              <a:rPr lang="en-US" sz="3600" b="1" dirty="0">
                <a:solidFill>
                  <a:srgbClr val="FF0000"/>
                </a:solidFill>
                <a:latin typeface="Avenir Next" panose="020B0503020202020204" pitchFamily="34" charset="0"/>
              </a:rPr>
              <a:t>Ddsj030gojfd.</a:t>
            </a:r>
            <a:r>
              <a:rPr lang="en-US" sz="3600" b="1" dirty="0">
                <a:latin typeface="Avenir Next" panose="020B0503020202020204" pitchFamily="34" charset="0"/>
              </a:rPr>
              <a:t>www.google.com</a:t>
            </a:r>
            <a:r>
              <a:rPr lang="en-US" sz="3600" dirty="0">
                <a:latin typeface="Avenir Next" panose="020B0503020202020204" pitchFamily="34" charset="0"/>
              </a:rPr>
              <a:t> and </a:t>
            </a:r>
            <a:r>
              <a:rPr lang="en-US" sz="3600" dirty="0">
                <a:latin typeface="Avenir Next" panose="020B0503020202020204" pitchFamily="34" charset="0"/>
                <a:hlinkClick r:id="rId4"/>
              </a:rPr>
              <a:t>www.google.com</a:t>
            </a:r>
            <a:r>
              <a:rPr lang="en-US" sz="3600" dirty="0">
                <a:latin typeface="Avenir Next" panose="020B0503020202020204" pitchFamily="34" charset="0"/>
              </a:rPr>
              <a:t> returns the same RRs </a:t>
            </a:r>
            <a:br>
              <a:rPr lang="en-US" sz="3600" dirty="0">
                <a:latin typeface="Avenir Next" panose="020B0503020202020204" pitchFamily="34" charset="0"/>
              </a:rPr>
            </a:br>
            <a:r>
              <a:rPr lang="en-US" sz="3600" dirty="0">
                <a:latin typeface="Avenir Next" panose="020B0503020202020204" pitchFamily="34" charset="0"/>
              </a:rPr>
              <a:t>(not IP) </a:t>
            </a:r>
          </a:p>
          <a:p>
            <a:r>
              <a:rPr lang="en-US" sz="36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Limitations</a:t>
            </a:r>
            <a:r>
              <a:rPr lang="en-US" sz="3600" dirty="0">
                <a:latin typeface="Avenir Next" panose="020B0503020202020204" pitchFamily="34" charset="0"/>
              </a:rPr>
              <a:t>: </a:t>
            </a:r>
          </a:p>
          <a:p>
            <a:pPr lvl="1"/>
            <a:r>
              <a:rPr lang="en-US" sz="3200" dirty="0">
                <a:latin typeface="Avenir Next" panose="020B0503020202020204" pitchFamily="34" charset="0"/>
              </a:rPr>
              <a:t>Domain names can be maximum 255-byte length</a:t>
            </a:r>
          </a:p>
          <a:p>
            <a:pPr lvl="1"/>
            <a:r>
              <a:rPr lang="en-US" sz="3200" dirty="0">
                <a:latin typeface="Avenir Next" panose="020B0503020202020204" pitchFamily="34" charset="0"/>
              </a:rPr>
              <a:t>Attackers can query 255-byte domains </a:t>
            </a:r>
          </a:p>
          <a:p>
            <a:pPr lvl="1"/>
            <a:r>
              <a:rPr lang="en-US" sz="3200" dirty="0">
                <a:latin typeface="Avenir Next" panose="020B0503020202020204" pitchFamily="34" charset="0"/>
              </a:rPr>
              <a:t>This is applicable to referrals not A queries </a:t>
            </a:r>
          </a:p>
          <a:p>
            <a:pPr lvl="1"/>
            <a:r>
              <a:rPr lang="en-US" sz="3200" dirty="0">
                <a:latin typeface="Avenir Next" panose="020B0503020202020204" pitchFamily="34" charset="0"/>
              </a:rPr>
              <a:t>Some resolvers exclude long domain names as they are uncommon</a:t>
            </a:r>
            <a:endParaRPr lang="en-US" sz="3600" dirty="0">
              <a:latin typeface="Avenir Next" panose="020B0503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043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8091" y="-5493"/>
            <a:ext cx="1079536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Randomizing Destination IP</a:t>
            </a:r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 (Defense -4)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488490-CA93-65BA-01AF-3DD05E98B424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0" y="769913"/>
            <a:ext cx="12200091" cy="602311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venir Next" panose="020B0503020202020204" pitchFamily="34" charset="0"/>
              </a:rPr>
              <a:t>Multiple IP addresses for a DNS server </a:t>
            </a:r>
          </a:p>
          <a:p>
            <a:r>
              <a:rPr lang="en-US" sz="4000" dirty="0">
                <a:latin typeface="Avenir Next" panose="020B0503020202020204" pitchFamily="34" charset="0"/>
              </a:rPr>
              <a:t>Choose one randomly from that list to query </a:t>
            </a:r>
          </a:p>
          <a:p>
            <a:r>
              <a:rPr lang="en-US" sz="40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Limitations</a:t>
            </a:r>
            <a:r>
              <a:rPr lang="en-US" sz="4000" dirty="0">
                <a:latin typeface="Avenir Next" panose="020B0503020202020204" pitchFamily="34" charset="0"/>
              </a:rPr>
              <a:t>: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The set of IP addresses are small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They are many times predictable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Attack it to make it more predictable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4120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8091" y="-5493"/>
            <a:ext cx="1079536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Randomizing Destination IP</a:t>
            </a:r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 (Defense -4)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488490-CA93-65BA-01AF-3DD05E98B424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0" y="769913"/>
            <a:ext cx="12200091" cy="602311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venir Next" panose="020B0503020202020204" pitchFamily="34" charset="0"/>
              </a:rPr>
              <a:t>Multiple IP addresses for a DNS server </a:t>
            </a:r>
          </a:p>
          <a:p>
            <a:r>
              <a:rPr lang="en-US" sz="4000" dirty="0">
                <a:latin typeface="Avenir Next" panose="020B0503020202020204" pitchFamily="34" charset="0"/>
              </a:rPr>
              <a:t>Choose one randomly from that list to query </a:t>
            </a:r>
          </a:p>
          <a:p>
            <a:r>
              <a:rPr lang="en-US" sz="40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Limitations</a:t>
            </a:r>
            <a:r>
              <a:rPr lang="en-US" sz="4000" dirty="0">
                <a:latin typeface="Avenir Next" panose="020B0503020202020204" pitchFamily="34" charset="0"/>
              </a:rPr>
              <a:t>: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The set of IP addresses are small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They are many times predictable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Attack it to make it more predictable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007A07-A887-C3E6-C26D-BD06282A77F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8091" y="5208104"/>
            <a:ext cx="12200091" cy="1470992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whoisthere.stonybrook.edu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 IN A 129.49.7.250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mewho.stonybrook.edu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      IN A 199.110.254.244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nocnoc.stonybrook.edu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     IN A 129.49.7.3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0567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8091" y="-5493"/>
            <a:ext cx="1079536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Randomizing Destination IP</a:t>
            </a:r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 (Defense -4)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488490-CA93-65BA-01AF-3DD05E98B424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0" y="769913"/>
            <a:ext cx="12200091" cy="602311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venir Next" panose="020B0503020202020204" pitchFamily="34" charset="0"/>
              </a:rPr>
              <a:t>Multiple IP addresses for a DNS server </a:t>
            </a:r>
          </a:p>
          <a:p>
            <a:r>
              <a:rPr lang="en-US" sz="4000" dirty="0">
                <a:latin typeface="Avenir Next" panose="020B0503020202020204" pitchFamily="34" charset="0"/>
              </a:rPr>
              <a:t>Choose one randomly from that list to query </a:t>
            </a:r>
          </a:p>
          <a:p>
            <a:r>
              <a:rPr lang="en-US" sz="40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Limitations</a:t>
            </a:r>
            <a:r>
              <a:rPr lang="en-US" sz="4000" dirty="0">
                <a:latin typeface="Avenir Next" panose="020B0503020202020204" pitchFamily="34" charset="0"/>
              </a:rPr>
              <a:t>: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The set of IP addresses are small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They are many times predictable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Attack it to make it more predictable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3826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945689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Randomizing Source IP</a:t>
            </a:r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 (Defense -5)</a:t>
            </a:r>
          </a:p>
        </p:txBody>
      </p:sp>
      <p:sp>
        <p:nvSpPr>
          <p:cNvPr id="6" name="Fundamentally about transmitting information between two devices…">
            <a:extLst>
              <a:ext uri="{FF2B5EF4-FFF2-40B4-BE49-F238E27FC236}">
                <a16:creationId xmlns:a16="http://schemas.microsoft.com/office/drawing/2014/main" id="{52BE5A97-DA18-539A-95BA-DAF97A486A4E}"/>
              </a:ext>
            </a:extLst>
          </p:cNvPr>
          <p:cNvSpPr txBox="1">
            <a:spLocks/>
          </p:cNvSpPr>
          <p:nvPr/>
        </p:nvSpPr>
        <p:spPr>
          <a:xfrm>
            <a:off x="0" y="927652"/>
            <a:ext cx="12192000" cy="5930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>
                <a:latin typeface="Avenir Next" panose="020B0503020202020204" pitchFamily="34" charset="0"/>
              </a:rPr>
              <a:t>This is called the </a:t>
            </a:r>
            <a:r>
              <a:rPr lang="en-US" sz="4800" b="1" dirty="0">
                <a:latin typeface="Avenir Next" panose="020B0503020202020204" pitchFamily="34" charset="0"/>
              </a:rPr>
              <a:t>NAT-antidote</a:t>
            </a:r>
            <a:r>
              <a:rPr lang="en-US" sz="4800" dirty="0">
                <a:latin typeface="Avenir Next" panose="020B0503020202020204" pitchFamily="34" charset="0"/>
              </a:rPr>
              <a:t> </a:t>
            </a:r>
          </a:p>
          <a:p>
            <a:r>
              <a:rPr lang="en-US" sz="4800" dirty="0">
                <a:latin typeface="Avenir Next" panose="020B0503020202020204" pitchFamily="34" charset="0"/>
              </a:rPr>
              <a:t>This is applicable when the resolver is behind a NAT</a:t>
            </a:r>
          </a:p>
          <a:p>
            <a:r>
              <a:rPr lang="en-US" sz="4800" dirty="0">
                <a:latin typeface="Avenir Next" panose="020B0503020202020204" pitchFamily="34" charset="0"/>
              </a:rPr>
              <a:t>When NAT receives a query from the resolver, it randomly changes the source IP address to a random IP in that network </a:t>
            </a:r>
          </a:p>
          <a:p>
            <a:r>
              <a:rPr lang="en-US" sz="48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Limitations</a:t>
            </a:r>
            <a:r>
              <a:rPr lang="en-US" sz="4800" dirty="0">
                <a:latin typeface="Avenir Next" panose="020B0503020202020204" pitchFamily="34" charset="0"/>
              </a:rPr>
              <a:t>: </a:t>
            </a:r>
          </a:p>
          <a:p>
            <a:pPr lvl="1"/>
            <a:r>
              <a:rPr lang="en-US" sz="4400" dirty="0">
                <a:latin typeface="Avenir Next" panose="020B0503020202020204" pitchFamily="34" charset="0"/>
              </a:rPr>
              <a:t>Extra entropy depends on the network size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6151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703343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amentally about transmitting information between two devices…">
            <a:extLst>
              <a:ext uri="{FF2B5EF4-FFF2-40B4-BE49-F238E27FC236}">
                <a16:creationId xmlns:a16="http://schemas.microsoft.com/office/drawing/2014/main" id="{E99F4337-2B9E-15A0-7BAA-8FA5C5A56E2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0" y="2544417"/>
            <a:ext cx="12192000" cy="1268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  <a:defRPr sz="4700"/>
            </a:pPr>
            <a:r>
              <a:rPr lang="en-US" sz="8800" dirty="0">
                <a:solidFill>
                  <a:schemeClr val="bg1"/>
                </a:solidFill>
                <a:latin typeface="Avenir Next" panose="020B0503020202020204" pitchFamily="34" charset="0"/>
              </a:rPr>
              <a:t>Long-term Defenses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8842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0" y="-5493"/>
            <a:ext cx="5441482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Adaptive Defense</a:t>
            </a:r>
            <a:endParaRPr lang="en-US" sz="4000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6" name="Fundamentally about transmitting information between two devices…">
            <a:extLst>
              <a:ext uri="{FF2B5EF4-FFF2-40B4-BE49-F238E27FC236}">
                <a16:creationId xmlns:a16="http://schemas.microsoft.com/office/drawing/2014/main" id="{52BE5A97-DA18-539A-95BA-DAF97A486A4E}"/>
              </a:ext>
            </a:extLst>
          </p:cNvPr>
          <p:cNvSpPr txBox="1">
            <a:spLocks/>
          </p:cNvSpPr>
          <p:nvPr/>
        </p:nvSpPr>
        <p:spPr>
          <a:xfrm>
            <a:off x="0" y="1086678"/>
            <a:ext cx="12192000" cy="47707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Avenir Next" panose="020B0503020202020204" pitchFamily="34" charset="0"/>
              </a:rPr>
              <a:t> </a:t>
            </a:r>
            <a:r>
              <a:rPr lang="en-US" sz="4000" b="1" dirty="0">
                <a:latin typeface="Avenir Next" panose="020B0503020202020204" pitchFamily="34" charset="0"/>
              </a:rPr>
              <a:t>Attack</a:t>
            </a:r>
            <a:r>
              <a:rPr lang="en-US" sz="4000" dirty="0">
                <a:latin typeface="Avenir Next" panose="020B0503020202020204" pitchFamily="34" charset="0"/>
              </a:rPr>
              <a:t> = </a:t>
            </a:r>
            <a:r>
              <a:rPr lang="en-US" sz="4000" i="1" dirty="0">
                <a:latin typeface="Avenir Next" panose="020B0503020202020204" pitchFamily="34" charset="0"/>
              </a:rPr>
              <a:t>Received a response for a query and the TXID of the response does not match with the query’s TXID</a:t>
            </a:r>
            <a:br>
              <a:rPr lang="en-US" sz="4000" dirty="0">
                <a:latin typeface="Avenir Next" panose="020B0503020202020204" pitchFamily="34" charset="0"/>
              </a:rPr>
            </a:br>
            <a:br>
              <a:rPr lang="en-US" sz="4000" dirty="0">
                <a:latin typeface="Avenir Next" panose="020B0503020202020204" pitchFamily="34" charset="0"/>
              </a:rPr>
            </a:br>
            <a:br>
              <a:rPr lang="en-US" sz="4000" dirty="0">
                <a:latin typeface="Avenir Next" panose="020B0503020202020204" pitchFamily="34" charset="0"/>
              </a:rPr>
            </a:br>
            <a:endParaRPr lang="en-US" sz="4000" dirty="0">
              <a:latin typeface="Avenir Next" panose="020B0503020202020204" pitchFamily="34" charset="0"/>
            </a:endParaRPr>
          </a:p>
          <a:p>
            <a:r>
              <a:rPr lang="en-US" sz="4000" dirty="0">
                <a:latin typeface="Avenir Next" panose="020B0503020202020204" pitchFamily="34" charset="0"/>
              </a:rPr>
              <a:t> </a:t>
            </a:r>
            <a:r>
              <a:rPr lang="en-US" sz="4000" b="1" dirty="0">
                <a:latin typeface="Avenir Next" panose="020B0503020202020204" pitchFamily="34" charset="0"/>
              </a:rPr>
              <a:t>Can happen in benign cases as DNS runs on top of UDP</a:t>
            </a:r>
          </a:p>
          <a:p>
            <a:pPr marL="0" indent="0">
              <a:buNone/>
            </a:pPr>
            <a:r>
              <a:rPr lang="en-US" sz="4000" dirty="0">
                <a:latin typeface="Avenir Next" panose="020B0503020202020204" pitchFamily="34" charset="0"/>
              </a:rPr>
              <a:t> </a:t>
            </a:r>
          </a:p>
          <a:p>
            <a:endParaRPr lang="en-US" sz="4000" dirty="0">
              <a:latin typeface="Avenir Next" panose="020B0503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9181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945689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Sandwich Antidote</a:t>
            </a:r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 (Defense -6)</a:t>
            </a:r>
          </a:p>
        </p:txBody>
      </p:sp>
      <p:sp>
        <p:nvSpPr>
          <p:cNvPr id="6" name="Fundamentally about transmitting information between two devices…">
            <a:extLst>
              <a:ext uri="{FF2B5EF4-FFF2-40B4-BE49-F238E27FC236}">
                <a16:creationId xmlns:a16="http://schemas.microsoft.com/office/drawing/2014/main" id="{52BE5A97-DA18-539A-95BA-DAF97A486A4E}"/>
              </a:ext>
            </a:extLst>
          </p:cNvPr>
          <p:cNvSpPr txBox="1">
            <a:spLocks/>
          </p:cNvSpPr>
          <p:nvPr/>
        </p:nvSpPr>
        <p:spPr>
          <a:xfrm>
            <a:off x="0" y="927652"/>
            <a:ext cx="12192000" cy="5930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>
                <a:latin typeface="Avenir Next" panose="020B0503020202020204" pitchFamily="34" charset="0"/>
              </a:rPr>
              <a:t>Detect attack and apply sandwich antidote </a:t>
            </a:r>
          </a:p>
          <a:p>
            <a:r>
              <a:rPr lang="en-US" sz="4800" dirty="0">
                <a:latin typeface="Avenir Next" panose="020B0503020202020204" pitchFamily="34" charset="0"/>
              </a:rPr>
              <a:t>For querying 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www.google.com</a:t>
            </a:r>
            <a:r>
              <a:rPr lang="en-US" sz="4800" dirty="0">
                <a:latin typeface="Avenir Next" panose="020B0503020202020204" pitchFamily="34" charset="0"/>
              </a:rPr>
              <a:t> </a:t>
            </a:r>
          </a:p>
          <a:p>
            <a:pPr lvl="1"/>
            <a:r>
              <a:rPr lang="en-US" sz="4400" dirty="0">
                <a:latin typeface="Avenir Next" panose="020B0503020202020204" pitchFamily="34" charset="0"/>
              </a:rPr>
              <a:t>Query 1: 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dfjfdkjfhksdf.google.com</a:t>
            </a:r>
            <a:r>
              <a:rPr lang="en-US" sz="4400" dirty="0">
                <a:latin typeface="Avenir Next" panose="020B0503020202020204" pitchFamily="34" charset="0"/>
              </a:rPr>
              <a:t> </a:t>
            </a:r>
          </a:p>
          <a:p>
            <a:pPr lvl="1"/>
            <a:r>
              <a:rPr lang="en-US" sz="4400" dirty="0">
                <a:latin typeface="Avenir Next" panose="020B0503020202020204" pitchFamily="34" charset="0"/>
              </a:rPr>
              <a:t>Query 2: 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www.google.com</a:t>
            </a:r>
            <a:r>
              <a:rPr lang="en-US" sz="4400" dirty="0">
                <a:latin typeface="Avenir Next" panose="020B0503020202020204" pitchFamily="34" charset="0"/>
              </a:rPr>
              <a:t> [REAL QUERY]</a:t>
            </a:r>
          </a:p>
          <a:p>
            <a:pPr lvl="1"/>
            <a:r>
              <a:rPr lang="en-US" sz="4400" dirty="0">
                <a:latin typeface="Avenir Next" panose="020B0503020202020204" pitchFamily="34" charset="0"/>
              </a:rPr>
              <a:t>Query 3: 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jkjkjoiojohh.google.com</a:t>
            </a:r>
            <a:endParaRPr lang="en-US" sz="4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4800" dirty="0">
                <a:latin typeface="Avenir Next" panose="020B0503020202020204" pitchFamily="34" charset="0"/>
              </a:rPr>
              <a:t> </a:t>
            </a:r>
            <a:r>
              <a:rPr lang="en-US" sz="4800" b="1" dirty="0">
                <a:latin typeface="Avenir Next" panose="020B0503020202020204" pitchFamily="34" charset="0"/>
              </a:rPr>
              <a:t>Observe whether the response arrive in-order</a:t>
            </a:r>
            <a:r>
              <a:rPr lang="en-US" sz="4800" dirty="0">
                <a:latin typeface="Avenir Next" panose="020B0503020202020204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7236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945689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Sandwich Antidote</a:t>
            </a:r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 (Defense -6)</a:t>
            </a:r>
          </a:p>
        </p:txBody>
      </p:sp>
      <p:sp>
        <p:nvSpPr>
          <p:cNvPr id="2" name="Shape 213">
            <a:extLst>
              <a:ext uri="{FF2B5EF4-FFF2-40B4-BE49-F238E27FC236}">
                <a16:creationId xmlns:a16="http://schemas.microsoft.com/office/drawing/2014/main" id="{3DEBD0D6-BE61-6AA5-6808-420D12530C9D}"/>
              </a:ext>
            </a:extLst>
          </p:cNvPr>
          <p:cNvSpPr txBox="1">
            <a:spLocks/>
          </p:cNvSpPr>
          <p:nvPr/>
        </p:nvSpPr>
        <p:spPr>
          <a:xfrm>
            <a:off x="0" y="702394"/>
            <a:ext cx="12192000" cy="6155606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GB" sz="4400" b="1" dirty="0">
                <a:latin typeface="Avenir Next" panose="020B0503020202020204" pitchFamily="34" charset="0"/>
              </a:rPr>
              <a:t>UDP packets can arrive out of order</a:t>
            </a:r>
          </a:p>
        </p:txBody>
      </p:sp>
      <p:pic>
        <p:nvPicPr>
          <p:cNvPr id="3" name="Shape 214">
            <a:extLst>
              <a:ext uri="{FF2B5EF4-FFF2-40B4-BE49-F238E27FC236}">
                <a16:creationId xmlns:a16="http://schemas.microsoft.com/office/drawing/2014/main" id="{F5AC020B-793F-A994-2D53-35C96EBED91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6260" y="2169613"/>
            <a:ext cx="2622534" cy="187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Shape 215">
            <a:extLst>
              <a:ext uri="{FF2B5EF4-FFF2-40B4-BE49-F238E27FC236}">
                <a16:creationId xmlns:a16="http://schemas.microsoft.com/office/drawing/2014/main" id="{CA6827B3-8AEB-09A7-A1F6-E148F30ADBF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3880" t="14021" r="13062" b="7070"/>
          <a:stretch/>
        </p:blipFill>
        <p:spPr>
          <a:xfrm>
            <a:off x="9448800" y="4221041"/>
            <a:ext cx="1457455" cy="219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Shape 216">
            <a:extLst>
              <a:ext uri="{FF2B5EF4-FFF2-40B4-BE49-F238E27FC236}">
                <a16:creationId xmlns:a16="http://schemas.microsoft.com/office/drawing/2014/main" id="{D643AD3A-8C4A-C73C-B5A0-B18D92760B6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272" y="2169613"/>
            <a:ext cx="7707425" cy="460103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5000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945689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Sandwich Antidote</a:t>
            </a:r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</a:rPr>
              <a:t> (Defense -6)</a:t>
            </a:r>
          </a:p>
        </p:txBody>
      </p:sp>
      <p:sp>
        <p:nvSpPr>
          <p:cNvPr id="6" name="Shape 223">
            <a:extLst>
              <a:ext uri="{FF2B5EF4-FFF2-40B4-BE49-F238E27FC236}">
                <a16:creationId xmlns:a16="http://schemas.microsoft.com/office/drawing/2014/main" id="{80A91487-096D-6BE0-BD76-A1AFC97F3834}"/>
              </a:ext>
            </a:extLst>
          </p:cNvPr>
          <p:cNvSpPr txBox="1">
            <a:spLocks/>
          </p:cNvSpPr>
          <p:nvPr/>
        </p:nvSpPr>
        <p:spPr>
          <a:xfrm>
            <a:off x="0" y="702394"/>
            <a:ext cx="12191999" cy="6155606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>
              <a:lnSpc>
                <a:spcPct val="115000"/>
              </a:lnSpc>
              <a:spcAft>
                <a:spcPts val="1600"/>
              </a:spcAft>
            </a:pPr>
            <a:r>
              <a:rPr lang="en-GB" sz="2800" dirty="0">
                <a:latin typeface="Avenir Next" panose="020B0503020202020204" pitchFamily="34" charset="0"/>
              </a:rPr>
              <a:t>Attacker can try to deliver a correct response to the original (2nd) request</a:t>
            </a:r>
          </a:p>
          <a:p>
            <a:pPr marL="1371600" lvl="2">
              <a:lnSpc>
                <a:spcPct val="115000"/>
              </a:lnSpc>
              <a:spcAft>
                <a:spcPts val="1600"/>
              </a:spcAft>
            </a:pPr>
            <a:r>
              <a:rPr lang="en-GB" sz="2800" dirty="0">
                <a:latin typeface="Avenir Next" panose="020B0503020202020204" pitchFamily="34" charset="0"/>
              </a:rPr>
              <a:t>After the first response has been received</a:t>
            </a:r>
          </a:p>
          <a:p>
            <a:pPr marL="914400" lvl="1">
              <a:lnSpc>
                <a:spcPct val="115000"/>
              </a:lnSpc>
              <a:spcAft>
                <a:spcPts val="1600"/>
              </a:spcAft>
            </a:pPr>
            <a:r>
              <a:rPr lang="en-GB" sz="2800" dirty="0">
                <a:latin typeface="Avenir Next" panose="020B0503020202020204" pitchFamily="34" charset="0"/>
              </a:rPr>
              <a:t>This means sandwiching only shortens the window in which the forged response can arrive</a:t>
            </a:r>
          </a:p>
          <a:p>
            <a:pPr marL="914400" lvl="1">
              <a:lnSpc>
                <a:spcPct val="115000"/>
              </a:lnSpc>
              <a:spcAft>
                <a:spcPts val="1600"/>
              </a:spcAft>
            </a:pPr>
            <a:r>
              <a:rPr lang="en-GB" sz="2800" dirty="0">
                <a:latin typeface="Avenir Next" panose="020B0503020202020204" pitchFamily="34" charset="0"/>
              </a:rPr>
              <a:t>As shown previously, one would want certain interval between sandwiched requests to obtain a higher </a:t>
            </a:r>
            <a:r>
              <a:rPr lang="en-GB" sz="2800" dirty="0" err="1">
                <a:latin typeface="Avenir Next" panose="020B0503020202020204" pitchFamily="34" charset="0"/>
              </a:rPr>
              <a:t>inorder</a:t>
            </a:r>
            <a:r>
              <a:rPr lang="en-GB" sz="2800" dirty="0">
                <a:latin typeface="Avenir Next" panose="020B0503020202020204" pitchFamily="34" charset="0"/>
              </a:rPr>
              <a:t> rate</a:t>
            </a:r>
          </a:p>
          <a:p>
            <a:pPr marL="914400" lvl="1">
              <a:lnSpc>
                <a:spcPct val="115000"/>
              </a:lnSpc>
              <a:spcAft>
                <a:spcPts val="1600"/>
              </a:spcAft>
            </a:pPr>
            <a:r>
              <a:rPr lang="en-GB" sz="2800" b="1" dirty="0">
                <a:latin typeface="Avenir Next" panose="020B0503020202020204" pitchFamily="34" charset="0"/>
              </a:rPr>
              <a:t>Overhead concerns: </a:t>
            </a:r>
            <a:r>
              <a:rPr lang="en-GB" sz="2800" dirty="0">
                <a:latin typeface="Avenir Next" panose="020B0503020202020204" pitchFamily="34" charset="0"/>
              </a:rPr>
              <a:t>attacker sending some mismatched response would trigger 3 requests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4946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945689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DNSSEC (Defense – 7)</a:t>
            </a:r>
            <a:endParaRPr lang="en-US" sz="4000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6" name="Shape 223">
            <a:extLst>
              <a:ext uri="{FF2B5EF4-FFF2-40B4-BE49-F238E27FC236}">
                <a16:creationId xmlns:a16="http://schemas.microsoft.com/office/drawing/2014/main" id="{80A91487-096D-6BE0-BD76-A1AFC97F3834}"/>
              </a:ext>
            </a:extLst>
          </p:cNvPr>
          <p:cNvSpPr txBox="1">
            <a:spLocks/>
          </p:cNvSpPr>
          <p:nvPr/>
        </p:nvSpPr>
        <p:spPr>
          <a:xfrm>
            <a:off x="0" y="702394"/>
            <a:ext cx="12191999" cy="6155606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>
                <a:latin typeface="Avenir Next" panose="020B0503020202020204" pitchFamily="34" charset="0"/>
              </a:rPr>
              <a:t>Proposed as a long-term solution </a:t>
            </a:r>
          </a:p>
          <a:p>
            <a:r>
              <a:rPr lang="en-US" sz="4800" dirty="0">
                <a:latin typeface="Avenir Next" panose="020B0503020202020204" pitchFamily="34" charset="0"/>
              </a:rPr>
              <a:t>Uses digitally signed responses </a:t>
            </a:r>
          </a:p>
          <a:p>
            <a:r>
              <a:rPr lang="en-US" sz="4800" dirty="0">
                <a:latin typeface="Avenir Next" panose="020B0503020202020204" pitchFamily="34" charset="0"/>
              </a:rPr>
              <a:t>Prevents cache poisoning attacks </a:t>
            </a:r>
          </a:p>
          <a:p>
            <a:r>
              <a:rPr lang="en-US" sz="4800" b="1" dirty="0">
                <a:latin typeface="Avenir Next" panose="020B0503020202020204" pitchFamily="34" charset="0"/>
              </a:rPr>
              <a:t>Limitations: </a:t>
            </a:r>
          </a:p>
          <a:p>
            <a:pPr lvl="1"/>
            <a:r>
              <a:rPr lang="en-US" sz="4400" dirty="0">
                <a:latin typeface="Avenir Next" panose="020B0503020202020204" pitchFamily="34" charset="0"/>
              </a:rPr>
              <a:t> Adoption is very slow– 1% of all the .com and </a:t>
            </a:r>
            <a:r>
              <a:rPr lang="en-US" sz="4400" dirty="0" err="1">
                <a:latin typeface="Avenir Next" panose="020B0503020202020204" pitchFamily="34" charset="0"/>
              </a:rPr>
              <a:t>.net</a:t>
            </a:r>
            <a:r>
              <a:rPr lang="en-US" sz="4400" dirty="0">
                <a:latin typeface="Avenir Next" panose="020B0503020202020204" pitchFamily="34" charset="0"/>
              </a:rPr>
              <a:t> domains are secured by DNSSEC </a:t>
            </a:r>
          </a:p>
          <a:p>
            <a:pPr lvl="1"/>
            <a:r>
              <a:rPr lang="en-US" sz="4400" dirty="0">
                <a:latin typeface="Avenir Next" panose="020B0503020202020204" pitchFamily="34" charset="0"/>
              </a:rPr>
              <a:t> Opens door for DoS attack due to large response size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8404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945689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DNSSEC Adoption</a:t>
            </a:r>
            <a:endParaRPr lang="en-US" sz="4000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pic>
        <p:nvPicPr>
          <p:cNvPr id="2" name="Shape 253">
            <a:extLst>
              <a:ext uri="{FF2B5EF4-FFF2-40B4-BE49-F238E27FC236}">
                <a16:creationId xmlns:a16="http://schemas.microsoft.com/office/drawing/2014/main" id="{3703221F-B702-A872-A51D-AF4C1B0C862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8713" y="914400"/>
            <a:ext cx="9104244" cy="483538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77EA3-C8CE-B820-2C07-6F10963E8398}"/>
              </a:ext>
            </a:extLst>
          </p:cNvPr>
          <p:cNvSpPr txBox="1"/>
          <p:nvPr/>
        </p:nvSpPr>
        <p:spPr>
          <a:xfrm>
            <a:off x="1022785" y="5961790"/>
            <a:ext cx="101464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b="1" dirty="0">
                <a:latin typeface="Avenir Next" panose="020B0503020202020204" pitchFamily="34" charset="0"/>
              </a:rPr>
              <a:t>About 1% of them supports DNSSEC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939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945689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DNS over TCP (Defense – 8)</a:t>
            </a:r>
            <a:endParaRPr lang="en-US" sz="4000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6" name="Shape 223">
            <a:extLst>
              <a:ext uri="{FF2B5EF4-FFF2-40B4-BE49-F238E27FC236}">
                <a16:creationId xmlns:a16="http://schemas.microsoft.com/office/drawing/2014/main" id="{80A91487-096D-6BE0-BD76-A1AFC97F3834}"/>
              </a:ext>
            </a:extLst>
          </p:cNvPr>
          <p:cNvSpPr txBox="1">
            <a:spLocks/>
          </p:cNvSpPr>
          <p:nvPr/>
        </p:nvSpPr>
        <p:spPr>
          <a:xfrm>
            <a:off x="0" y="702394"/>
            <a:ext cx="12191999" cy="6155606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Avenir Next" panose="020B0503020202020204" pitchFamily="34" charset="0"/>
              </a:rPr>
              <a:t>Run DNS protocol on top of TCP instead of UDP </a:t>
            </a:r>
          </a:p>
          <a:p>
            <a:r>
              <a:rPr lang="en-US" sz="44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Limitations</a:t>
            </a:r>
            <a:r>
              <a:rPr lang="en-US" sz="4400" dirty="0">
                <a:latin typeface="Avenir Next" panose="020B0503020202020204" pitchFamily="34" charset="0"/>
              </a:rPr>
              <a:t>: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High latency (almost 2X)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Resolver throughput rate (1/10</a:t>
            </a:r>
            <a:r>
              <a:rPr lang="en-US" sz="4000" baseline="30000" dirty="0">
                <a:latin typeface="Avenir Next" panose="020B0503020202020204" pitchFamily="34" charset="0"/>
              </a:rPr>
              <a:t>th</a:t>
            </a:r>
            <a:r>
              <a:rPr lang="en-US" sz="4000" dirty="0">
                <a:latin typeface="Avenir Next" panose="020B0503020202020204" pitchFamily="34" charset="0"/>
              </a:rPr>
              <a:t>)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Not all resolvers support TCP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In our experiment with Alexa’s top 15K domains, 10% of their authoritative nameservers do not support TCP – includes </a:t>
            </a:r>
            <a:r>
              <a:rPr lang="en-US" sz="4000" b="1" dirty="0">
                <a:latin typeface="Avenir Next" panose="020B0503020202020204" pitchFamily="34" charset="0"/>
              </a:rPr>
              <a:t>Facebook </a:t>
            </a:r>
            <a:endParaRPr lang="en-US" sz="4000" dirty="0">
              <a:latin typeface="Avenir Next" panose="020B0503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9720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945689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Adaptively use TCP (Defense – 9)</a:t>
            </a:r>
            <a:endParaRPr lang="en-US" sz="4000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6" name="Shape 223">
            <a:extLst>
              <a:ext uri="{FF2B5EF4-FFF2-40B4-BE49-F238E27FC236}">
                <a16:creationId xmlns:a16="http://schemas.microsoft.com/office/drawing/2014/main" id="{80A91487-096D-6BE0-BD76-A1AFC97F3834}"/>
              </a:ext>
            </a:extLst>
          </p:cNvPr>
          <p:cNvSpPr txBox="1">
            <a:spLocks/>
          </p:cNvSpPr>
          <p:nvPr/>
        </p:nvSpPr>
        <p:spPr>
          <a:xfrm>
            <a:off x="0" y="702394"/>
            <a:ext cx="12191999" cy="6155606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Avenir Next" panose="020B0503020202020204" pitchFamily="34" charset="0"/>
              </a:rPr>
              <a:t>Run DNS protocol on top of TCP instead of UDP </a:t>
            </a:r>
            <a:r>
              <a:rPr lang="en-US" sz="4400" b="1" dirty="0">
                <a:solidFill>
                  <a:srgbClr val="FF0000"/>
                </a:solidFill>
                <a:latin typeface="Avenir Next" panose="020B0503020202020204" pitchFamily="34" charset="0"/>
              </a:rPr>
              <a:t>only when detected attack</a:t>
            </a:r>
            <a:r>
              <a:rPr lang="en-US" sz="4400" dirty="0">
                <a:latin typeface="Avenir Next" panose="020B0503020202020204" pitchFamily="34" charset="0"/>
              </a:rPr>
              <a:t> </a:t>
            </a:r>
          </a:p>
          <a:p>
            <a:r>
              <a:rPr lang="en-US" sz="4400" dirty="0" err="1">
                <a:latin typeface="Avenir Next" panose="020B0503020202020204" pitchFamily="34" charset="0"/>
              </a:rPr>
              <a:t>Nominum</a:t>
            </a:r>
            <a:r>
              <a:rPr lang="en-US" sz="4400" dirty="0">
                <a:latin typeface="Avenir Next" panose="020B0503020202020204" pitchFamily="34" charset="0"/>
              </a:rPr>
              <a:t> implemented it in their product </a:t>
            </a:r>
            <a:r>
              <a:rPr lang="en-US" sz="4400" dirty="0" err="1">
                <a:latin typeface="Avenir Next" panose="020B0503020202020204" pitchFamily="34" charset="0"/>
              </a:rPr>
              <a:t>Vantio</a:t>
            </a:r>
            <a:r>
              <a:rPr lang="en-US" sz="4400" dirty="0">
                <a:latin typeface="Avenir Next" panose="020B0503020202020204" pitchFamily="34" charset="0"/>
              </a:rPr>
              <a:t> </a:t>
            </a:r>
            <a:r>
              <a:rPr lang="en-US" sz="4400" dirty="0" err="1">
                <a:latin typeface="Avenir Next" panose="020B0503020202020204" pitchFamily="34" charset="0"/>
              </a:rPr>
              <a:t>CacheServe</a:t>
            </a:r>
            <a:r>
              <a:rPr lang="en-US" sz="4400" dirty="0">
                <a:latin typeface="Avenir Next" panose="020B0503020202020204" pitchFamily="34" charset="0"/>
              </a:rPr>
              <a:t> </a:t>
            </a:r>
          </a:p>
          <a:p>
            <a:r>
              <a:rPr lang="en-US" sz="44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Limitations</a:t>
            </a:r>
            <a:r>
              <a:rPr lang="en-US" sz="4400" dirty="0">
                <a:latin typeface="Avenir Next" panose="020B0503020202020204" pitchFamily="34" charset="0"/>
              </a:rPr>
              <a:t>: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Attack detection is not fine-grained – benign cases will be considered as attack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Same as before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Susceptible to the new attack we have proposed</a:t>
            </a:r>
            <a:endParaRPr lang="en-US" sz="4000" b="1" dirty="0">
              <a:solidFill>
                <a:srgbClr val="FF0000"/>
              </a:solidFill>
              <a:latin typeface="Avenir Next" panose="020B0503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9699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0" y="-5493"/>
            <a:ext cx="5560752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Hold-on (Defense – 10)</a:t>
            </a:r>
            <a:endParaRPr lang="en-US" sz="4000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6" name="Shape 223">
            <a:extLst>
              <a:ext uri="{FF2B5EF4-FFF2-40B4-BE49-F238E27FC236}">
                <a16:creationId xmlns:a16="http://schemas.microsoft.com/office/drawing/2014/main" id="{80A91487-096D-6BE0-BD76-A1AFC97F3834}"/>
              </a:ext>
            </a:extLst>
          </p:cNvPr>
          <p:cNvSpPr txBox="1">
            <a:spLocks/>
          </p:cNvSpPr>
          <p:nvPr/>
        </p:nvSpPr>
        <p:spPr>
          <a:xfrm>
            <a:off x="1" y="702394"/>
            <a:ext cx="9872870" cy="6155606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/>
            <a:r>
              <a:rPr lang="en-GB" sz="3600" dirty="0">
                <a:latin typeface="Avenir Next" panose="020B0503020202020204" pitchFamily="34" charset="0"/>
              </a:rPr>
              <a:t>Main idea:</a:t>
            </a:r>
          </a:p>
          <a:p>
            <a:pPr marL="914400" lvl="1"/>
            <a:r>
              <a:rPr lang="en-GB" sz="3200" dirty="0">
                <a:latin typeface="Avenir Next" panose="020B0503020202020204" pitchFamily="34" charset="0"/>
              </a:rPr>
              <a:t>After receiving one matching response, keep waiting until reached some upper-bound of RTT</a:t>
            </a:r>
            <a:br>
              <a:rPr lang="en-GB" sz="3200" dirty="0">
                <a:latin typeface="Avenir Next" panose="020B0503020202020204" pitchFamily="34" charset="0"/>
              </a:rPr>
            </a:br>
            <a:endParaRPr lang="en-GB" sz="3200" dirty="0">
              <a:latin typeface="Avenir Next" panose="020B0503020202020204" pitchFamily="34" charset="0"/>
            </a:endParaRPr>
          </a:p>
          <a:p>
            <a:pPr marL="914400" lvl="1"/>
            <a:r>
              <a:rPr lang="en-GB" sz="3200" dirty="0">
                <a:latin typeface="Avenir Next" panose="020B0503020202020204" pitchFamily="34" charset="0"/>
              </a:rPr>
              <a:t>By holding on, even if a successful forged response arrived, by holding on, may still receive the genuine response</a:t>
            </a:r>
            <a:br>
              <a:rPr lang="en-GB" sz="3200" dirty="0">
                <a:latin typeface="Avenir Next" panose="020B0503020202020204" pitchFamily="34" charset="0"/>
              </a:rPr>
            </a:br>
            <a:endParaRPr lang="en-GB" sz="3200" dirty="0">
              <a:latin typeface="Avenir Next" panose="020B0503020202020204" pitchFamily="34" charset="0"/>
            </a:endParaRPr>
          </a:p>
          <a:p>
            <a:pPr marL="914400" lvl="1"/>
            <a:r>
              <a:rPr lang="en-GB" sz="3200" dirty="0">
                <a:latin typeface="Avenir Next" panose="020B0503020202020204" pitchFamily="34" charset="0"/>
              </a:rPr>
              <a:t>When more than one matching response can be accepted, use arrival time (expect to be close to RTT) to decide </a:t>
            </a:r>
          </a:p>
        </p:txBody>
      </p:sp>
      <p:pic>
        <p:nvPicPr>
          <p:cNvPr id="2" name="Shape 232">
            <a:extLst>
              <a:ext uri="{FF2B5EF4-FFF2-40B4-BE49-F238E27FC236}">
                <a16:creationId xmlns:a16="http://schemas.microsoft.com/office/drawing/2014/main" id="{5D709FBE-1C20-C8F4-2BAE-98647456AE6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2871" y="1961321"/>
            <a:ext cx="2292626" cy="394914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2531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0" y="-5493"/>
            <a:ext cx="5560752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Hold-on (Defense – 10)</a:t>
            </a:r>
            <a:endParaRPr lang="en-US" sz="4000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6" name="Shape 223">
            <a:extLst>
              <a:ext uri="{FF2B5EF4-FFF2-40B4-BE49-F238E27FC236}">
                <a16:creationId xmlns:a16="http://schemas.microsoft.com/office/drawing/2014/main" id="{80A91487-096D-6BE0-BD76-A1AFC97F3834}"/>
              </a:ext>
            </a:extLst>
          </p:cNvPr>
          <p:cNvSpPr txBox="1">
            <a:spLocks/>
          </p:cNvSpPr>
          <p:nvPr/>
        </p:nvSpPr>
        <p:spPr>
          <a:xfrm>
            <a:off x="1" y="702393"/>
            <a:ext cx="12191998" cy="6155607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/>
            <a:r>
              <a:rPr lang="en-GB" sz="3600" b="1" dirty="0">
                <a:latin typeface="Avenir Next" panose="020B0503020202020204" pitchFamily="34" charset="0"/>
              </a:rPr>
              <a:t>Status:</a:t>
            </a:r>
            <a:r>
              <a:rPr lang="en-GB" sz="3600" dirty="0">
                <a:latin typeface="Avenir Next" panose="020B0503020202020204" pitchFamily="34" charset="0"/>
              </a:rPr>
              <a:t> Not sure. Does not seem to be widely deployed?</a:t>
            </a:r>
            <a:br>
              <a:rPr lang="en-GB" sz="3600" dirty="0">
                <a:latin typeface="Avenir Next" panose="020B0503020202020204" pitchFamily="34" charset="0"/>
              </a:rPr>
            </a:br>
            <a:endParaRPr lang="en-GB" sz="3600" dirty="0">
              <a:latin typeface="Avenir Next" panose="020B0503020202020204" pitchFamily="34" charset="0"/>
            </a:endParaRPr>
          </a:p>
          <a:p>
            <a:pPr marL="457200"/>
            <a:r>
              <a:rPr lang="en-GB" sz="3600" dirty="0">
                <a:latin typeface="Avenir Next" panose="020B0503020202020204" pitchFamily="34" charset="0"/>
              </a:rPr>
              <a:t>However:</a:t>
            </a:r>
          </a:p>
          <a:p>
            <a:pPr marL="914400" lvl="1"/>
            <a:r>
              <a:rPr lang="en-GB" sz="3200" dirty="0">
                <a:latin typeface="Avenir Next" panose="020B0503020202020204" pitchFamily="34" charset="0"/>
              </a:rPr>
              <a:t>&gt; 1 matching responses means under attack?</a:t>
            </a:r>
          </a:p>
          <a:p>
            <a:pPr marL="914400" lvl="1"/>
            <a:r>
              <a:rPr lang="en-GB" sz="3200" dirty="0">
                <a:latin typeface="Avenir Next" panose="020B0503020202020204" pitchFamily="34" charset="0"/>
              </a:rPr>
              <a:t>RTT can be estimated =&gt; not a good "trust anchor" for authentication</a:t>
            </a:r>
          </a:p>
          <a:p>
            <a:pPr marL="914400" lvl="1"/>
            <a:r>
              <a:rPr lang="en-GB" sz="3200" dirty="0">
                <a:latin typeface="Avenir Next" panose="020B0503020202020204" pitchFamily="34" charset="0"/>
              </a:rPr>
              <a:t>1 matching response means no attack?</a:t>
            </a:r>
          </a:p>
          <a:p>
            <a:pPr marL="1371600" lvl="2"/>
            <a:r>
              <a:rPr lang="en-GB" sz="2800" dirty="0">
                <a:latin typeface="Avenir Next" panose="020B0503020202020204" pitchFamily="34" charset="0"/>
              </a:rPr>
              <a:t>Not really: packets could be dropped in transit, servers could be overwhelmed so that queries could not be processed, some servers do not respond to non-existent domains</a:t>
            </a:r>
          </a:p>
        </p:txBody>
      </p:sp>
      <p:pic>
        <p:nvPicPr>
          <p:cNvPr id="3" name="Shape 239">
            <a:extLst>
              <a:ext uri="{FF2B5EF4-FFF2-40B4-BE49-F238E27FC236}">
                <a16:creationId xmlns:a16="http://schemas.microsoft.com/office/drawing/2014/main" id="{46433B7F-DC20-CAF2-A1B8-E2AF9A16DC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127" t="35137" r="9417" b="15802"/>
          <a:stretch/>
        </p:blipFill>
        <p:spPr>
          <a:xfrm>
            <a:off x="9466436" y="1417982"/>
            <a:ext cx="2725563" cy="1162954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1185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98BFF0-68A3-505A-AEDD-6BE77616F125}"/>
              </a:ext>
            </a:extLst>
          </p:cNvPr>
          <p:cNvSpPr txBox="1"/>
          <p:nvPr/>
        </p:nvSpPr>
        <p:spPr>
          <a:xfrm>
            <a:off x="-8091" y="-5493"/>
            <a:ext cx="9456891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layfair Display Medium" pitchFamily="2" charset="77"/>
                <a:cs typeface="Courier New" panose="02070309020205020404" pitchFamily="49" charset="0"/>
              </a:rPr>
              <a:t>DNS over TLS/HTTPS (Defense – 11)</a:t>
            </a:r>
            <a:endParaRPr lang="en-US" sz="4000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6" name="Shape 223">
            <a:extLst>
              <a:ext uri="{FF2B5EF4-FFF2-40B4-BE49-F238E27FC236}">
                <a16:creationId xmlns:a16="http://schemas.microsoft.com/office/drawing/2014/main" id="{80A91487-096D-6BE0-BD76-A1AFC97F3834}"/>
              </a:ext>
            </a:extLst>
          </p:cNvPr>
          <p:cNvSpPr txBox="1">
            <a:spLocks/>
          </p:cNvSpPr>
          <p:nvPr/>
        </p:nvSpPr>
        <p:spPr>
          <a:xfrm>
            <a:off x="0" y="702394"/>
            <a:ext cx="12191999" cy="6155606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Avenir Next" panose="020B0503020202020204" pitchFamily="34" charset="0"/>
              </a:rPr>
              <a:t> There is a proposal of using DNS over TLS or HTTPS</a:t>
            </a:r>
          </a:p>
          <a:p>
            <a:r>
              <a:rPr lang="en-US" sz="4400" dirty="0">
                <a:latin typeface="Avenir Next" panose="020B0503020202020204" pitchFamily="34" charset="0"/>
              </a:rPr>
              <a:t> Provides security against DNS cache poisoning attack </a:t>
            </a:r>
          </a:p>
          <a:p>
            <a:r>
              <a:rPr lang="en-US" sz="4400" b="1" dirty="0">
                <a:solidFill>
                  <a:srgbClr val="FF0000"/>
                </a:solidFill>
                <a:latin typeface="Avenir Next" panose="020B0503020202020204" pitchFamily="34" charset="0"/>
              </a:rPr>
              <a:t>Limitations</a:t>
            </a:r>
            <a:r>
              <a:rPr lang="en-US" sz="4400" dirty="0">
                <a:latin typeface="Avenir Next" panose="020B0503020202020204" pitchFamily="34" charset="0"/>
              </a:rPr>
              <a:t>: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 Deployment is low </a:t>
            </a:r>
          </a:p>
          <a:p>
            <a:pPr lvl="1"/>
            <a:r>
              <a:rPr lang="en-US" sz="4000" dirty="0">
                <a:latin typeface="Avenir Next" panose="020B0503020202020204" pitchFamily="34" charset="0"/>
              </a:rPr>
              <a:t> Overhead is high </a:t>
            </a:r>
          </a:p>
          <a:p>
            <a:pPr marL="457200" lvl="1" indent="0">
              <a:buNone/>
            </a:pPr>
            <a:endParaRPr lang="en-US" sz="4000" b="0" i="0" dirty="0">
              <a:solidFill>
                <a:srgbClr val="1D1F20"/>
              </a:solidFill>
              <a:effectLst/>
              <a:latin typeface="Avenir Next" panose="020B0503020202020204" pitchFamily="34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800" b="0" i="0" dirty="0" err="1">
                <a:solidFill>
                  <a:srgbClr val="1D1F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kdig</a:t>
            </a:r>
            <a:r>
              <a:rPr lang="en-US" sz="2800" b="0" i="0" dirty="0">
                <a:solidFill>
                  <a:srgbClr val="1D1F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-d @1.1.1.1 +</a:t>
            </a:r>
            <a:r>
              <a:rPr lang="en-US" sz="2800" b="0" i="0" dirty="0" err="1">
                <a:solidFill>
                  <a:srgbClr val="1D1F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tls</a:t>
            </a:r>
            <a:r>
              <a:rPr lang="en-US" sz="2800" b="0" i="0" dirty="0">
                <a:solidFill>
                  <a:srgbClr val="1D1F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-ca +</a:t>
            </a:r>
            <a:r>
              <a:rPr lang="en-US" sz="2800" b="0" i="0" dirty="0" err="1">
                <a:solidFill>
                  <a:srgbClr val="1D1F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tls</a:t>
            </a:r>
            <a:r>
              <a:rPr lang="en-US" sz="2800" b="0" i="0" dirty="0">
                <a:solidFill>
                  <a:srgbClr val="1D1F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-host=</a:t>
            </a:r>
            <a:r>
              <a:rPr lang="en-US" sz="2800" b="0" i="0" dirty="0" err="1">
                <a:solidFill>
                  <a:srgbClr val="1D1F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one.one.one.one</a:t>
            </a:r>
            <a:r>
              <a:rPr lang="en-US" sz="2800" b="0" i="0" dirty="0">
                <a:solidFill>
                  <a:srgbClr val="1D1F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0" i="0" dirty="0" err="1">
                <a:solidFill>
                  <a:srgbClr val="1D1F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example.com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56502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  <p:tag name="PPSPLIT_DON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  <p:tag name="PPSPLIT_DON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9"/>
  <p:tag name="PPSPLIT_DON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6399</TotalTime>
  <Words>1208</Words>
  <Application>Microsoft Macintosh PowerPoint</Application>
  <PresentationFormat>Widescreen</PresentationFormat>
  <Paragraphs>172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Broadway</vt:lpstr>
      <vt:lpstr>Playfair Display Medium</vt:lpstr>
      <vt:lpstr>Avenir Next</vt:lpstr>
      <vt:lpstr>Roboto Black</vt:lpstr>
      <vt:lpstr>Courier New</vt:lpstr>
      <vt:lpstr>Arial</vt:lpstr>
      <vt:lpstr>Calibri</vt:lpstr>
      <vt:lpstr>Office Theme</vt:lpstr>
      <vt:lpstr>CSE 508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Stony Brook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Omar H Chowdhury</dc:creator>
  <cp:keywords/>
  <dc:description/>
  <cp:lastModifiedBy>Omar Chowdhury</cp:lastModifiedBy>
  <cp:revision>1298</cp:revision>
  <dcterms:created xsi:type="dcterms:W3CDTF">2023-02-24T13:39:08Z</dcterms:created>
  <dcterms:modified xsi:type="dcterms:W3CDTF">2026-02-17T17:53:00Z</dcterms:modified>
  <cp:category/>
</cp:coreProperties>
</file>